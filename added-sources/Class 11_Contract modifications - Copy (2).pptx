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72" r:id="rId4"/>
    <p:sldId id="262" r:id="rId5"/>
    <p:sldId id="260" r:id="rId6"/>
    <p:sldId id="274" r:id="rId7"/>
    <p:sldId id="263" r:id="rId8"/>
    <p:sldId id="264" r:id="rId9"/>
    <p:sldId id="265" r:id="rId10"/>
    <p:sldId id="271" r:id="rId11"/>
    <p:sldId id="261" r:id="rId12"/>
    <p:sldId id="266" r:id="rId13"/>
    <p:sldId id="267" r:id="rId14"/>
    <p:sldId id="268" r:id="rId15"/>
    <p:sldId id="275" r:id="rId16"/>
    <p:sldId id="27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510958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990539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9/29/2026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97071568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605777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058595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1834335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055703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920421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9/29/2026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24057436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267555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2904412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12516485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9/29/2026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47489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lstStyle/>
          <a:p>
            <a:pPr eaLnBrk="1" hangingPunct="1"/>
            <a:r>
              <a:rPr lang="en-US" dirty="0"/>
              <a:t>Class 11: Contract modifications</a:t>
            </a:r>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extLst>
      <p:ext uri="{BB962C8B-B14F-4D97-AF65-F5344CB8AC3E}">
        <p14:creationId xmlns:p14="http://schemas.microsoft.com/office/powerpoint/2010/main" val="1130563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t>Topics</a:t>
            </a:r>
          </a:p>
        </p:txBody>
      </p:sp>
      <p:sp>
        <p:nvSpPr>
          <p:cNvPr id="10243" name="Content Placeholder 2"/>
          <p:cNvSpPr>
            <a:spLocks noGrp="1"/>
          </p:cNvSpPr>
          <p:nvPr>
            <p:ph sz="quarter" idx="1"/>
          </p:nvPr>
        </p:nvSpPr>
        <p:spPr>
          <a:xfrm>
            <a:off x="457200" y="1219200"/>
            <a:ext cx="8229600" cy="4937125"/>
          </a:xfrm>
        </p:spPr>
        <p:txBody>
          <a:bodyPr/>
          <a:lstStyle/>
          <a:p>
            <a:pPr eaLnBrk="1" hangingPunct="1"/>
            <a:r>
              <a:rPr lang="en-US" dirty="0"/>
              <a:t>The pre-existing duty rule</a:t>
            </a:r>
          </a:p>
          <a:p>
            <a:pPr eaLnBrk="1" hangingPunct="1"/>
            <a:r>
              <a:rPr lang="en-US" dirty="0"/>
              <a:t>Revision of the pre-existing duty rule</a:t>
            </a:r>
          </a:p>
          <a:p>
            <a:r>
              <a:rPr lang="en-US" dirty="0"/>
              <a:t>Economic duress and good faith as applied to contract modifications</a:t>
            </a:r>
          </a:p>
          <a:p>
            <a:r>
              <a:rPr lang="en-US" dirty="0"/>
              <a:t>RLCC approach to modifications</a:t>
            </a:r>
          </a:p>
          <a:p>
            <a:endParaRPr lang="en-US" dirty="0"/>
          </a:p>
          <a:p>
            <a:r>
              <a:rPr lang="en-US" dirty="0"/>
              <a:t>Economic implications of enforcing modifications</a:t>
            </a:r>
          </a:p>
          <a:p>
            <a:r>
              <a:rPr lang="en-US" dirty="0"/>
              <a:t>Ways to forestall modification</a:t>
            </a:r>
          </a:p>
          <a:p>
            <a:pPr eaLnBrk="1" hangingPunct="1"/>
            <a:endParaRPr lang="en-US" dirty="0"/>
          </a:p>
          <a:p>
            <a:pPr eaLnBrk="1" hangingPunct="1"/>
            <a:endParaRPr lang="en-US" dirty="0"/>
          </a:p>
        </p:txBody>
      </p:sp>
    </p:spTree>
    <p:extLst>
      <p:ext uri="{BB962C8B-B14F-4D97-AF65-F5344CB8AC3E}">
        <p14:creationId xmlns:p14="http://schemas.microsoft.com/office/powerpoint/2010/main" val="213254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4"/>
          <p:cNvSpPr>
            <a:spLocks noGrp="1"/>
          </p:cNvSpPr>
          <p:nvPr>
            <p:ph type="title"/>
          </p:nvPr>
        </p:nvSpPr>
        <p:spPr/>
        <p:txBody>
          <a:bodyPr/>
          <a:lstStyle/>
          <a:p>
            <a:r>
              <a:rPr lang="en-US" altLang="en-US"/>
              <a:t>Key questions</a:t>
            </a:r>
          </a:p>
        </p:txBody>
      </p:sp>
      <p:sp>
        <p:nvSpPr>
          <p:cNvPr id="11267" name="Content Placeholder 5"/>
          <p:cNvSpPr>
            <a:spLocks noGrp="1"/>
          </p:cNvSpPr>
          <p:nvPr>
            <p:ph sz="quarter" idx="1"/>
          </p:nvPr>
        </p:nvSpPr>
        <p:spPr>
          <a:xfrm>
            <a:off x="457200" y="1219200"/>
            <a:ext cx="8229600" cy="4937125"/>
          </a:xfrm>
        </p:spPr>
        <p:txBody>
          <a:bodyPr/>
          <a:lstStyle/>
          <a:p>
            <a:r>
              <a:rPr lang="en-US" altLang="en-US" b="1" dirty="0"/>
              <a:t>Is there an enforceable promise?</a:t>
            </a:r>
          </a:p>
          <a:p>
            <a:pPr lvl="1"/>
            <a:r>
              <a:rPr lang="en-US" altLang="en-US" dirty="0"/>
              <a:t>Mutual assent</a:t>
            </a:r>
          </a:p>
          <a:p>
            <a:pPr lvl="1"/>
            <a:r>
              <a:rPr lang="en-US" altLang="en-US" dirty="0"/>
              <a:t>Consideration</a:t>
            </a:r>
          </a:p>
          <a:p>
            <a:pPr lvl="1"/>
            <a:r>
              <a:rPr lang="en-US" altLang="en-US" dirty="0"/>
              <a:t>Definiteness</a:t>
            </a:r>
          </a:p>
          <a:p>
            <a:pPr lvl="1"/>
            <a:r>
              <a:rPr lang="en-US" altLang="en-US" dirty="0"/>
              <a:t>Defenses</a:t>
            </a:r>
          </a:p>
          <a:p>
            <a:pPr lvl="2"/>
            <a:r>
              <a:rPr lang="en-US" altLang="en-US" sz="2300" dirty="0"/>
              <a:t>Duress</a:t>
            </a:r>
          </a:p>
          <a:p>
            <a:r>
              <a:rPr lang="en-US" altLang="en-US" dirty="0"/>
              <a:t>Has it been performed?</a:t>
            </a:r>
          </a:p>
          <a:p>
            <a:r>
              <a:rPr lang="en-US" altLang="en-US" dirty="0"/>
              <a:t>Was performance excused?</a:t>
            </a:r>
          </a:p>
          <a:p>
            <a:r>
              <a:rPr lang="en-US" altLang="en-US" dirty="0"/>
              <a:t>How should it be enforced?</a:t>
            </a:r>
          </a:p>
        </p:txBody>
      </p:sp>
    </p:spTree>
    <p:extLst>
      <p:ext uri="{BB962C8B-B14F-4D97-AF65-F5344CB8AC3E}">
        <p14:creationId xmlns:p14="http://schemas.microsoft.com/office/powerpoint/2010/main" val="1826143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Alaska Packers </a:t>
            </a:r>
            <a:r>
              <a:rPr lang="en-US" dirty="0" err="1"/>
              <a:t>Ass’n</a:t>
            </a:r>
            <a:r>
              <a:rPr lang="en-US" dirty="0"/>
              <a:t> v. Domenico (470)</a:t>
            </a:r>
          </a:p>
        </p:txBody>
      </p:sp>
      <p:sp>
        <p:nvSpPr>
          <p:cNvPr id="3" name="Content Placeholder 2"/>
          <p:cNvSpPr>
            <a:spLocks noGrp="1"/>
          </p:cNvSpPr>
          <p:nvPr>
            <p:ph sz="quarter" idx="1"/>
          </p:nvPr>
        </p:nvSpPr>
        <p:spPr/>
        <p:txBody>
          <a:bodyPr/>
          <a:lstStyle/>
          <a:p>
            <a:r>
              <a:rPr lang="en-US" dirty="0"/>
              <a:t>What were the terms of the original contract?  What was the modification?</a:t>
            </a:r>
          </a:p>
          <a:p>
            <a:r>
              <a:rPr lang="en-US" dirty="0"/>
              <a:t>Why did the court refuse to enforce it?</a:t>
            </a:r>
          </a:p>
          <a:p>
            <a:r>
              <a:rPr lang="en-US" dirty="0"/>
              <a:t>Was it relevant that the promise was relied on?</a:t>
            </a:r>
          </a:p>
          <a:p>
            <a:r>
              <a:rPr lang="en-US" dirty="0"/>
              <a:t>What if the nets were defective?</a:t>
            </a:r>
          </a:p>
          <a:p>
            <a:r>
              <a:rPr lang="en-US" dirty="0"/>
              <a:t>What if the workers believed the nets were defective?</a:t>
            </a:r>
          </a:p>
          <a:p>
            <a:r>
              <a:rPr lang="en-US" dirty="0"/>
              <a:t>How could the parties have made the modification enforceable?</a:t>
            </a:r>
          </a:p>
          <a:p>
            <a:endParaRPr lang="en-US" dirty="0"/>
          </a:p>
        </p:txBody>
      </p:sp>
    </p:spTree>
    <p:extLst>
      <p:ext uri="{BB962C8B-B14F-4D97-AF65-F5344CB8AC3E}">
        <p14:creationId xmlns:p14="http://schemas.microsoft.com/office/powerpoint/2010/main" val="3697706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pre-existing duty rule</a:t>
            </a:r>
          </a:p>
        </p:txBody>
      </p:sp>
      <p:sp>
        <p:nvSpPr>
          <p:cNvPr id="3" name="Content Placeholder 2"/>
          <p:cNvSpPr>
            <a:spLocks noGrp="1"/>
          </p:cNvSpPr>
          <p:nvPr>
            <p:ph sz="quarter" idx="1"/>
          </p:nvPr>
        </p:nvSpPr>
        <p:spPr>
          <a:xfrm>
            <a:off x="457200" y="1219200"/>
            <a:ext cx="8382000" cy="4937760"/>
          </a:xfrm>
        </p:spPr>
        <p:txBody>
          <a:bodyPr>
            <a:normAutofit/>
          </a:bodyPr>
          <a:lstStyle/>
          <a:p>
            <a:pPr marL="0" indent="0">
              <a:buNone/>
            </a:pPr>
            <a:r>
              <a:rPr lang="en-US" sz="2400" dirty="0"/>
              <a:t>Restatement </a:t>
            </a:r>
            <a:r>
              <a:rPr lang="en-US" sz="2400" dirty="0">
                <a:latin typeface="Tahoma"/>
                <a:ea typeface="Tahoma"/>
                <a:cs typeface="Tahoma"/>
              </a:rPr>
              <a:t>§ </a:t>
            </a:r>
            <a:r>
              <a:rPr lang="en-US" sz="2400" dirty="0"/>
              <a:t>73</a:t>
            </a:r>
          </a:p>
          <a:p>
            <a:pPr marL="0" indent="0">
              <a:buNone/>
            </a:pPr>
            <a:r>
              <a:rPr lang="en-US" sz="2400" dirty="0"/>
              <a:t>“Performance of a legal duty owed to the promisor which is neither doubtful nor in honest dispute is not consideration.”</a:t>
            </a:r>
          </a:p>
          <a:p>
            <a:pPr marL="0" indent="0">
              <a:buNone/>
            </a:pPr>
            <a:endParaRPr lang="en-US" sz="2400" dirty="0"/>
          </a:p>
          <a:p>
            <a:pPr marL="0" indent="0">
              <a:buNone/>
            </a:pPr>
            <a:r>
              <a:rPr lang="en-US" sz="2400" dirty="0"/>
              <a:t>Caveats:</a:t>
            </a:r>
          </a:p>
          <a:p>
            <a:r>
              <a:rPr lang="en-US" sz="2400" dirty="0"/>
              <a:t>Mutual promises to rescind a contract will be supported by consideration.  Consequently, the pre-existing duty rule does not prevent parties from agreeing to rescind a contract and then replace it with a new agreement.</a:t>
            </a:r>
          </a:p>
          <a:p>
            <a:r>
              <a:rPr lang="en-US" sz="2400" dirty="0"/>
              <a:t>A modification supported by even minimal consideration will be enforceable under the pre-existing duty rule.</a:t>
            </a:r>
          </a:p>
        </p:txBody>
      </p:sp>
    </p:spTree>
    <p:extLst>
      <p:ext uri="{BB962C8B-B14F-4D97-AF65-F5344CB8AC3E}">
        <p14:creationId xmlns:p14="http://schemas.microsoft.com/office/powerpoint/2010/main" val="1662720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Alaska Packers </a:t>
            </a:r>
            <a:r>
              <a:rPr lang="en-US" dirty="0" err="1"/>
              <a:t>Ass’n</a:t>
            </a:r>
            <a:r>
              <a:rPr lang="en-US" dirty="0"/>
              <a:t> v. Domenico (470)</a:t>
            </a:r>
          </a:p>
        </p:txBody>
      </p:sp>
      <p:sp>
        <p:nvSpPr>
          <p:cNvPr id="3" name="Content Placeholder 2"/>
          <p:cNvSpPr>
            <a:spLocks noGrp="1"/>
          </p:cNvSpPr>
          <p:nvPr>
            <p:ph sz="quarter" idx="1"/>
          </p:nvPr>
        </p:nvSpPr>
        <p:spPr/>
        <p:txBody>
          <a:bodyPr>
            <a:normAutofit lnSpcReduction="10000"/>
          </a:bodyPr>
          <a:lstStyle/>
          <a:p>
            <a:r>
              <a:rPr lang="en-US" dirty="0"/>
              <a:t>What were the terms of the original contract?  What was the modification?</a:t>
            </a:r>
          </a:p>
          <a:p>
            <a:r>
              <a:rPr lang="en-US" dirty="0"/>
              <a:t>Why did the court refuse to enforce it?</a:t>
            </a:r>
          </a:p>
          <a:p>
            <a:r>
              <a:rPr lang="en-US" dirty="0"/>
              <a:t>Was it relevant that the promise was relied on?</a:t>
            </a:r>
          </a:p>
          <a:p>
            <a:r>
              <a:rPr lang="en-US" dirty="0"/>
              <a:t>What if the nets were defective?</a:t>
            </a:r>
          </a:p>
          <a:p>
            <a:r>
              <a:rPr lang="en-US" dirty="0"/>
              <a:t>What if the workers believed the nets were defective?</a:t>
            </a:r>
          </a:p>
          <a:p>
            <a:r>
              <a:rPr lang="en-US" dirty="0"/>
              <a:t>Could the workers have provided consideration?</a:t>
            </a:r>
          </a:p>
          <a:p>
            <a:pPr marL="0" indent="0">
              <a:buNone/>
            </a:pPr>
            <a:endParaRPr lang="en-US" dirty="0"/>
          </a:p>
          <a:p>
            <a:r>
              <a:rPr lang="en-US" dirty="0"/>
              <a:t>Why didn’t the workers make their pay conditional on the quality of the nets?</a:t>
            </a:r>
          </a:p>
          <a:p>
            <a:r>
              <a:rPr lang="en-US" dirty="0"/>
              <a:t>Why did Alaska Packers agree to the modification?</a:t>
            </a:r>
          </a:p>
          <a:p>
            <a:endParaRPr lang="en-US" dirty="0"/>
          </a:p>
          <a:p>
            <a:endParaRPr lang="en-US" dirty="0"/>
          </a:p>
        </p:txBody>
      </p:sp>
    </p:spTree>
    <p:extLst>
      <p:ext uri="{BB962C8B-B14F-4D97-AF65-F5344CB8AC3E}">
        <p14:creationId xmlns:p14="http://schemas.microsoft.com/office/powerpoint/2010/main" val="2957837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Holdup and incentives to modify</a:t>
            </a:r>
          </a:p>
        </p:txBody>
      </p:sp>
      <p:sp>
        <p:nvSpPr>
          <p:cNvPr id="3" name="Content Placeholder 2"/>
          <p:cNvSpPr>
            <a:spLocks noGrp="1"/>
          </p:cNvSpPr>
          <p:nvPr>
            <p:ph sz="quarter" idx="1"/>
          </p:nvPr>
        </p:nvSpPr>
        <p:spPr>
          <a:xfrm>
            <a:off x="457200" y="1219200"/>
            <a:ext cx="8382000" cy="4937760"/>
          </a:xfrm>
        </p:spPr>
        <p:txBody>
          <a:bodyPr>
            <a:normAutofit/>
          </a:bodyPr>
          <a:lstStyle/>
          <a:p>
            <a:pPr marL="273050" lvl="2" indent="-273050">
              <a:spcBef>
                <a:spcPts val="600"/>
              </a:spcBef>
              <a:buClr>
                <a:schemeClr val="accent1"/>
              </a:buClr>
            </a:pPr>
            <a:r>
              <a:rPr lang="en-US" sz="2600" dirty="0"/>
              <a:t>Suppose cannery has invested $150,000 for the season, has perishable fish with a market value of $1M on hand, and the workers have contracted for $10,000 in wages. </a:t>
            </a:r>
          </a:p>
          <a:p>
            <a:pPr marL="273050" lvl="2" indent="-273050">
              <a:spcBef>
                <a:spcPts val="600"/>
              </a:spcBef>
              <a:buClr>
                <a:schemeClr val="accent1"/>
              </a:buClr>
            </a:pPr>
            <a:r>
              <a:rPr lang="en-US" sz="2600" dirty="0"/>
              <a:t>What is the maximum amount the cannery should be willing to pay if the workers threaten to quit unless they are paid more money? </a:t>
            </a:r>
          </a:p>
          <a:p>
            <a:pPr lvl="1"/>
            <a:r>
              <a:rPr lang="en-US" dirty="0"/>
              <a:t>If workers quit and are judgment-proof, cannery receives $__.</a:t>
            </a:r>
          </a:p>
          <a:p>
            <a:pPr lvl="1"/>
            <a:r>
              <a:rPr lang="en-US" dirty="0"/>
              <a:t>If workers stay and are paid $X, cannery receives $ __. </a:t>
            </a:r>
          </a:p>
          <a:p>
            <a:r>
              <a:rPr lang="en-US" dirty="0"/>
              <a:t>What is the minimum amount the sailors should accept?</a:t>
            </a:r>
          </a:p>
          <a:p>
            <a:endParaRPr lang="en-US" dirty="0"/>
          </a:p>
        </p:txBody>
      </p:sp>
    </p:spTree>
    <p:extLst>
      <p:ext uri="{BB962C8B-B14F-4D97-AF65-F5344CB8AC3E}">
        <p14:creationId xmlns:p14="http://schemas.microsoft.com/office/powerpoint/2010/main" val="176070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sv-SE" dirty="0"/>
              <a:t>Alaska Packers Ass’n v. Domenico (470)</a:t>
            </a:r>
            <a:endParaRPr lang="en-US" dirty="0"/>
          </a:p>
        </p:txBody>
      </p:sp>
      <p:sp>
        <p:nvSpPr>
          <p:cNvPr id="3" name="Content Placeholder 2"/>
          <p:cNvSpPr>
            <a:spLocks noGrp="1"/>
          </p:cNvSpPr>
          <p:nvPr>
            <p:ph sz="quarter" idx="1"/>
          </p:nvPr>
        </p:nvSpPr>
        <p:spPr>
          <a:xfrm>
            <a:off x="457200" y="1219200"/>
            <a:ext cx="8305800" cy="4937760"/>
          </a:xfrm>
        </p:spPr>
        <p:txBody>
          <a:bodyPr>
            <a:normAutofit fontScale="85000" lnSpcReduction="20000"/>
          </a:bodyPr>
          <a:lstStyle/>
          <a:p>
            <a:r>
              <a:rPr lang="en-US" dirty="0"/>
              <a:t>What was the modification?</a:t>
            </a:r>
          </a:p>
          <a:p>
            <a:r>
              <a:rPr lang="en-US" dirty="0"/>
              <a:t>Why did the court refuse to enforce it?</a:t>
            </a:r>
          </a:p>
          <a:p>
            <a:r>
              <a:rPr lang="en-US" dirty="0"/>
              <a:t>Was it relevant that the promise was relied on?</a:t>
            </a:r>
          </a:p>
          <a:p>
            <a:r>
              <a:rPr lang="en-US" dirty="0"/>
              <a:t>What if the nets were defective?</a:t>
            </a:r>
          </a:p>
          <a:p>
            <a:r>
              <a:rPr lang="en-US" dirty="0"/>
              <a:t>What if the workers believed the nets were defective?</a:t>
            </a:r>
          </a:p>
          <a:p>
            <a:r>
              <a:rPr lang="en-US" dirty="0"/>
              <a:t>Could the workers have provided consideration?</a:t>
            </a:r>
          </a:p>
          <a:p>
            <a:r>
              <a:rPr lang="en-US" dirty="0"/>
              <a:t>Why didn’t the workers make their pay conditional on the quality of the nets?</a:t>
            </a:r>
          </a:p>
          <a:p>
            <a:r>
              <a:rPr lang="en-US" dirty="0"/>
              <a:t>Why did Alaska Packers agree to the modification?</a:t>
            </a:r>
          </a:p>
          <a:p>
            <a:pPr marL="0" indent="0">
              <a:buNone/>
            </a:pPr>
            <a:endParaRPr lang="en-US" dirty="0"/>
          </a:p>
          <a:p>
            <a:pPr marL="0" indent="0">
              <a:buNone/>
            </a:pPr>
            <a:r>
              <a:rPr lang="en-US" dirty="0"/>
              <a:t>What effect does this decision have on future workers’ incentives to: </a:t>
            </a:r>
          </a:p>
          <a:p>
            <a:r>
              <a:rPr lang="en-US" dirty="0"/>
              <a:t>Threaten to quit solely to improve the terms of an existing contract?</a:t>
            </a:r>
          </a:p>
          <a:p>
            <a:r>
              <a:rPr lang="en-US" dirty="0"/>
              <a:t>Neglect maintenance of the nets?</a:t>
            </a:r>
          </a:p>
          <a:p>
            <a:r>
              <a:rPr lang="en-US" dirty="0"/>
              <a:t>Negotiate over wages at the time of the initial contract?</a:t>
            </a:r>
          </a:p>
          <a:p>
            <a:endParaRPr lang="en-US" dirty="0"/>
          </a:p>
        </p:txBody>
      </p:sp>
    </p:spTree>
    <p:extLst>
      <p:ext uri="{BB962C8B-B14F-4D97-AF65-F5344CB8AC3E}">
        <p14:creationId xmlns:p14="http://schemas.microsoft.com/office/powerpoint/2010/main" val="2828802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implications of modifications</a:t>
            </a:r>
          </a:p>
        </p:txBody>
      </p:sp>
      <p:sp>
        <p:nvSpPr>
          <p:cNvPr id="3" name="Content Placeholder 2"/>
          <p:cNvSpPr>
            <a:spLocks noGrp="1"/>
          </p:cNvSpPr>
          <p:nvPr>
            <p:ph sz="quarter" idx="1"/>
          </p:nvPr>
        </p:nvSpPr>
        <p:spPr>
          <a:xfrm>
            <a:off x="457200" y="1219200"/>
            <a:ext cx="8534400" cy="4937760"/>
          </a:xfrm>
        </p:spPr>
        <p:txBody>
          <a:bodyPr>
            <a:normAutofit fontScale="92500" lnSpcReduction="10000"/>
          </a:bodyPr>
          <a:lstStyle/>
          <a:p>
            <a:r>
              <a:rPr lang="en-US" dirty="0"/>
              <a:t>At the time of the original contract, the prospect of enforceability may allow parties to reduce drafting costs.</a:t>
            </a:r>
          </a:p>
          <a:p>
            <a:r>
              <a:rPr lang="en-US" dirty="0"/>
              <a:t>At the time of the modification, enforceability will presumably make the parties better off.</a:t>
            </a:r>
          </a:p>
          <a:p>
            <a:r>
              <a:rPr lang="en-US" dirty="0"/>
              <a:t>Enforcement may required to protect a party who has relied upon the modification.</a:t>
            </a:r>
          </a:p>
          <a:p>
            <a:r>
              <a:rPr lang="en-US" dirty="0"/>
              <a:t>The prospect of eliciting an enforceable modification (i.e. a successful holdup) creates incentives for one party to:</a:t>
            </a:r>
          </a:p>
          <a:p>
            <a:pPr lvl="1"/>
            <a:r>
              <a:rPr lang="en-US" dirty="0"/>
              <a:t>misrepresent willingness to breach (‘bluff’)</a:t>
            </a:r>
          </a:p>
          <a:p>
            <a:pPr lvl="1"/>
            <a:r>
              <a:rPr lang="en-US" dirty="0"/>
              <a:t>avoid taking precautions against breach (‘shirk’)</a:t>
            </a:r>
          </a:p>
          <a:p>
            <a:pPr lvl="1"/>
            <a:r>
              <a:rPr lang="en-US" dirty="0"/>
              <a:t>misrepresent the terms upon which it is willing to deal (‘lowball’)</a:t>
            </a:r>
          </a:p>
          <a:p>
            <a:pPr marL="274638" lvl="1" indent="0">
              <a:buNone/>
            </a:pPr>
            <a:r>
              <a:rPr lang="en-US" sz="2600" dirty="0">
                <a:solidFill>
                  <a:schemeClr val="tx1"/>
                </a:solidFill>
              </a:rPr>
              <a:t>These behaviors are, arguably, coercive, unfair and inefficient.</a:t>
            </a:r>
          </a:p>
          <a:p>
            <a:r>
              <a:rPr lang="en-US" dirty="0"/>
              <a:t>Anticipation of these behaviors may discourage contracting.</a:t>
            </a:r>
            <a:endParaRPr lang="en-US" sz="2600" dirty="0">
              <a:solidFill>
                <a:schemeClr val="tx1"/>
              </a:solidFill>
            </a:endParaRPr>
          </a:p>
        </p:txBody>
      </p:sp>
    </p:spTree>
    <p:extLst>
      <p:ext uri="{BB962C8B-B14F-4D97-AF65-F5344CB8AC3E}">
        <p14:creationId xmlns:p14="http://schemas.microsoft.com/office/powerpoint/2010/main" val="2739061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Watkins &amp; Son v. </a:t>
            </a:r>
            <a:r>
              <a:rPr lang="en-US" dirty="0" err="1"/>
              <a:t>Carrig</a:t>
            </a:r>
            <a:r>
              <a:rPr lang="en-US" dirty="0"/>
              <a:t> (477)</a:t>
            </a:r>
          </a:p>
        </p:txBody>
      </p:sp>
      <p:sp>
        <p:nvSpPr>
          <p:cNvPr id="3" name="Content Placeholder 2"/>
          <p:cNvSpPr>
            <a:spLocks noGrp="1"/>
          </p:cNvSpPr>
          <p:nvPr>
            <p:ph sz="quarter" idx="1"/>
          </p:nvPr>
        </p:nvSpPr>
        <p:spPr>
          <a:xfrm>
            <a:off x="457200" y="1219200"/>
            <a:ext cx="8534400" cy="4937760"/>
          </a:xfrm>
        </p:spPr>
        <p:txBody>
          <a:bodyPr>
            <a:normAutofit/>
          </a:bodyPr>
          <a:lstStyle/>
          <a:p>
            <a:r>
              <a:rPr lang="en-US" dirty="0"/>
              <a:t>What were the terms of the original contract? How were they purportedly modified?</a:t>
            </a:r>
          </a:p>
          <a:p>
            <a:r>
              <a:rPr lang="en-US" dirty="0"/>
              <a:t>How did the defendant resist enforcement?</a:t>
            </a:r>
          </a:p>
          <a:p>
            <a:r>
              <a:rPr lang="en-US" dirty="0"/>
              <a:t>How did the court justify enforcement?</a:t>
            </a:r>
          </a:p>
          <a:p>
            <a:r>
              <a:rPr lang="en-US" dirty="0"/>
              <a:t>What if the modified price had been exorbitant?</a:t>
            </a:r>
          </a:p>
          <a:p>
            <a:r>
              <a:rPr lang="en-US" dirty="0"/>
              <a:t>What if the defendant had said, “I don’t want to do this, but if you insist….” before agreeing?</a:t>
            </a:r>
          </a:p>
          <a:p>
            <a:endParaRPr lang="en-US" dirty="0"/>
          </a:p>
          <a:p>
            <a:r>
              <a:rPr lang="en-US" dirty="0"/>
              <a:t>Why did the defendant agree to the modification?</a:t>
            </a:r>
          </a:p>
          <a:p>
            <a:r>
              <a:rPr lang="en-US" dirty="0"/>
              <a:t>What should the defendant do in the future?</a:t>
            </a:r>
          </a:p>
          <a:p>
            <a:endParaRPr lang="en-US" dirty="0"/>
          </a:p>
          <a:p>
            <a:endParaRPr lang="en-US" dirty="0"/>
          </a:p>
        </p:txBody>
      </p:sp>
    </p:spTree>
    <p:extLst>
      <p:ext uri="{BB962C8B-B14F-4D97-AF65-F5344CB8AC3E}">
        <p14:creationId xmlns:p14="http://schemas.microsoft.com/office/powerpoint/2010/main" val="2233241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doctrine</a:t>
            </a:r>
          </a:p>
        </p:txBody>
      </p:sp>
      <p:sp>
        <p:nvSpPr>
          <p:cNvPr id="3" name="Content Placeholder 2"/>
          <p:cNvSpPr>
            <a:spLocks noGrp="1"/>
          </p:cNvSpPr>
          <p:nvPr>
            <p:ph sz="quarter" idx="1"/>
          </p:nvPr>
        </p:nvSpPr>
        <p:spPr/>
        <p:txBody>
          <a:bodyPr>
            <a:normAutofit lnSpcReduction="10000"/>
          </a:bodyPr>
          <a:lstStyle/>
          <a:p>
            <a:pPr marL="0" lvl="1" indent="0">
              <a:spcBef>
                <a:spcPts val="600"/>
              </a:spcBef>
              <a:buClr>
                <a:schemeClr val="accent1"/>
              </a:buClr>
              <a:buNone/>
            </a:pPr>
            <a:r>
              <a:rPr lang="en-US" sz="2600" dirty="0">
                <a:solidFill>
                  <a:schemeClr val="tx1"/>
                </a:solidFill>
              </a:rPr>
              <a:t>Restatement § 89:  A promise modifying contract that has not been fully performed on either side is binding:</a:t>
            </a:r>
          </a:p>
          <a:p>
            <a:pPr marL="274638" lvl="1" indent="0">
              <a:buNone/>
            </a:pPr>
            <a:r>
              <a:rPr lang="en-US" sz="2600" dirty="0">
                <a:solidFill>
                  <a:schemeClr val="tx1"/>
                </a:solidFill>
              </a:rPr>
              <a:t>a) if the modification is fair and equitable in view of circumstances not anticipated by the parties when the contract was made.</a:t>
            </a:r>
          </a:p>
          <a:p>
            <a:pPr marL="274638" lvl="1" indent="0">
              <a:buNone/>
            </a:pPr>
            <a:r>
              <a:rPr lang="en-US" sz="2600" dirty="0">
                <a:solidFill>
                  <a:schemeClr val="tx1"/>
                </a:solidFill>
              </a:rPr>
              <a:t>b) to the extent provided by statute</a:t>
            </a:r>
          </a:p>
          <a:p>
            <a:pPr lvl="1"/>
            <a:r>
              <a:rPr lang="en-US" dirty="0"/>
              <a:t>UCC 2-209 and NY Gen </a:t>
            </a:r>
            <a:r>
              <a:rPr lang="en-US" dirty="0" err="1"/>
              <a:t>Oblig</a:t>
            </a:r>
            <a:r>
              <a:rPr lang="en-US" dirty="0"/>
              <a:t>. 5-1103 eliminate the requirement of consideration for contract modifications.</a:t>
            </a:r>
          </a:p>
          <a:p>
            <a:pPr marL="274638" lvl="1" indent="0">
              <a:buNone/>
            </a:pPr>
            <a:r>
              <a:rPr lang="en-US" sz="2600" dirty="0">
                <a:solidFill>
                  <a:schemeClr val="tx1"/>
                </a:solidFill>
              </a:rPr>
              <a:t>c) to the extent that justice requires enforcement in view of material change of position in reliance on the promise.</a:t>
            </a:r>
          </a:p>
          <a:p>
            <a:r>
              <a:rPr lang="en-US" dirty="0"/>
              <a:t>Modifications may be enforceable as waivers, but only until retracted, unless they have been relied upon.</a:t>
            </a:r>
          </a:p>
        </p:txBody>
      </p:sp>
    </p:spTree>
    <p:extLst>
      <p:ext uri="{BB962C8B-B14F-4D97-AF65-F5344CB8AC3E}">
        <p14:creationId xmlns:p14="http://schemas.microsoft.com/office/powerpoint/2010/main" val="2345257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Ways to forestall modification</a:t>
            </a:r>
          </a:p>
        </p:txBody>
      </p:sp>
      <p:sp>
        <p:nvSpPr>
          <p:cNvPr id="3" name="Content Placeholder 2"/>
          <p:cNvSpPr>
            <a:spLocks noGrp="1"/>
          </p:cNvSpPr>
          <p:nvPr>
            <p:ph sz="quarter" idx="1"/>
          </p:nvPr>
        </p:nvSpPr>
        <p:spPr>
          <a:xfrm>
            <a:off x="457200" y="1219200"/>
            <a:ext cx="8610600" cy="4937760"/>
          </a:xfrm>
        </p:spPr>
        <p:txBody>
          <a:bodyPr>
            <a:normAutofit/>
          </a:bodyPr>
          <a:lstStyle/>
          <a:p>
            <a:r>
              <a:rPr lang="en-US" dirty="0"/>
              <a:t>Contractual limitations on modification are ineffective: “Those who make a contract may unmake it.”</a:t>
            </a:r>
          </a:p>
          <a:p>
            <a:r>
              <a:rPr lang="en-US" dirty="0"/>
              <a:t>No-oral-modification clauses are rendered effective by statutes such as UCC § 2-209 and NY Gen </a:t>
            </a:r>
            <a:r>
              <a:rPr lang="en-US" dirty="0" err="1"/>
              <a:t>Oblig</a:t>
            </a:r>
            <a:r>
              <a:rPr lang="en-US" dirty="0"/>
              <a:t>. L. § 15-301.</a:t>
            </a:r>
          </a:p>
          <a:p>
            <a:pPr lvl="1"/>
            <a:r>
              <a:rPr lang="en-US" dirty="0"/>
              <a:t>May be construed narrowly, e.g. qualified by the doctrines of waiver and estoppel. </a:t>
            </a:r>
          </a:p>
          <a:p>
            <a:r>
              <a:rPr lang="en-US" dirty="0"/>
              <a:t>Limits on authority of agents.</a:t>
            </a:r>
          </a:p>
          <a:p>
            <a:r>
              <a:rPr lang="en-US" dirty="0"/>
              <a:t>Commitments to transfer value to third parties in the event of modification, e.g. pursuant to most-favored nation clauses.</a:t>
            </a:r>
          </a:p>
          <a:p>
            <a:endParaRPr lang="en-US" dirty="0"/>
          </a:p>
          <a:p>
            <a:endParaRPr lang="en-US" dirty="0"/>
          </a:p>
        </p:txBody>
      </p:sp>
    </p:spTree>
    <p:extLst>
      <p:ext uri="{BB962C8B-B14F-4D97-AF65-F5344CB8AC3E}">
        <p14:creationId xmlns:p14="http://schemas.microsoft.com/office/powerpoint/2010/main" val="257479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Duress and good faith</a:t>
            </a:r>
          </a:p>
        </p:txBody>
      </p:sp>
      <p:sp>
        <p:nvSpPr>
          <p:cNvPr id="3" name="Content Placeholder 2"/>
          <p:cNvSpPr>
            <a:spLocks noGrp="1"/>
          </p:cNvSpPr>
          <p:nvPr>
            <p:ph sz="quarter" idx="1"/>
          </p:nvPr>
        </p:nvSpPr>
        <p:spPr>
          <a:xfrm>
            <a:off x="457200" y="1219200"/>
            <a:ext cx="8534400" cy="4937760"/>
          </a:xfrm>
        </p:spPr>
        <p:txBody>
          <a:bodyPr>
            <a:normAutofit fontScale="92500" lnSpcReduction="10000"/>
          </a:bodyPr>
          <a:lstStyle/>
          <a:p>
            <a:pPr marL="0" indent="0">
              <a:buNone/>
            </a:pPr>
            <a:r>
              <a:rPr lang="en-US" dirty="0"/>
              <a:t>Key elements of duress:</a:t>
            </a:r>
          </a:p>
          <a:p>
            <a:r>
              <a:rPr lang="en-US" dirty="0"/>
              <a:t>Improper threat</a:t>
            </a:r>
          </a:p>
          <a:p>
            <a:pPr lvl="1"/>
            <a:r>
              <a:rPr lang="en-US" dirty="0"/>
              <a:t>Traditionally had to involve unlawful confinement or bodily harm</a:t>
            </a:r>
          </a:p>
          <a:p>
            <a:pPr lvl="1"/>
            <a:r>
              <a:rPr lang="en-US" dirty="0"/>
              <a:t>Expanded to include threats to property (“duress of goods”) and then all sorts of economic harm, including breach of contract.</a:t>
            </a:r>
          </a:p>
          <a:p>
            <a:pPr lvl="1"/>
            <a:r>
              <a:rPr lang="en-US" dirty="0"/>
              <a:t>Includes unjust, inequitable or unlawful behavior; can include threat to breach duty of good faith and fair dealing under an existing contract.</a:t>
            </a:r>
          </a:p>
          <a:p>
            <a:r>
              <a:rPr lang="en-US" dirty="0"/>
              <a:t>Absence of reasonable alternative/deprivation of free will</a:t>
            </a:r>
          </a:p>
          <a:p>
            <a:r>
              <a:rPr lang="en-US" dirty="0"/>
              <a:t>Unfair terms [less relevant if threat is sufficiently improper].</a:t>
            </a:r>
          </a:p>
          <a:p>
            <a:pPr marL="0" indent="0">
              <a:buNone/>
            </a:pPr>
            <a:endParaRPr lang="en-US" dirty="0"/>
          </a:p>
          <a:p>
            <a:pPr marL="0" indent="0">
              <a:buNone/>
            </a:pPr>
            <a:r>
              <a:rPr lang="en-US" dirty="0"/>
              <a:t>A threat to breach an existing contract “without legitimate commercial reason” can be characterized as a breach of the duty of good faith in performance.  See UCC § 2-209, </a:t>
            </a:r>
            <a:r>
              <a:rPr lang="en-US" dirty="0" err="1"/>
              <a:t>cmt</a:t>
            </a:r>
            <a:r>
              <a:rPr lang="en-US" dirty="0"/>
              <a:t> 2.</a:t>
            </a:r>
          </a:p>
        </p:txBody>
      </p:sp>
    </p:spTree>
    <p:extLst>
      <p:ext uri="{BB962C8B-B14F-4D97-AF65-F5344CB8AC3E}">
        <p14:creationId xmlns:p14="http://schemas.microsoft.com/office/powerpoint/2010/main" val="2455657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Austin Instrument v. Loral Corporation (487)</a:t>
            </a:r>
          </a:p>
        </p:txBody>
      </p:sp>
      <p:sp>
        <p:nvSpPr>
          <p:cNvPr id="3" name="Content Placeholder 2"/>
          <p:cNvSpPr>
            <a:spLocks noGrp="1"/>
          </p:cNvSpPr>
          <p:nvPr>
            <p:ph sz="quarter" idx="1"/>
          </p:nvPr>
        </p:nvSpPr>
        <p:spPr/>
        <p:txBody>
          <a:bodyPr/>
          <a:lstStyle/>
          <a:p>
            <a:r>
              <a:rPr lang="en-US" dirty="0"/>
              <a:t>What doctrine was used to determine the enforceability of the modification?</a:t>
            </a:r>
          </a:p>
          <a:p>
            <a:r>
              <a:rPr lang="en-US" dirty="0"/>
              <a:t>How did the court define economic duress?</a:t>
            </a:r>
          </a:p>
          <a:p>
            <a:r>
              <a:rPr lang="en-US" dirty="0"/>
              <a:t>What made the threat wrongful?</a:t>
            </a:r>
          </a:p>
          <a:p>
            <a:r>
              <a:rPr lang="en-US" dirty="0"/>
              <a:t>What if the modification was prompted by a cost increase?  </a:t>
            </a:r>
          </a:p>
          <a:p>
            <a:r>
              <a:rPr lang="en-US" dirty="0"/>
              <a:t>Why were Loral’s alternatives not adequate?</a:t>
            </a:r>
          </a:p>
          <a:p>
            <a:r>
              <a:rPr lang="en-US" dirty="0"/>
              <a:t>What would Austin have done if it had known that the modification would not have been enforceable?</a:t>
            </a:r>
          </a:p>
          <a:p>
            <a:endParaRPr lang="en-US" dirty="0"/>
          </a:p>
          <a:p>
            <a:endParaRPr lang="en-US" dirty="0"/>
          </a:p>
        </p:txBody>
      </p:sp>
    </p:spTree>
    <p:extLst>
      <p:ext uri="{BB962C8B-B14F-4D97-AF65-F5344CB8AC3E}">
        <p14:creationId xmlns:p14="http://schemas.microsoft.com/office/powerpoint/2010/main" val="25308321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RLCC §3</a:t>
            </a:r>
          </a:p>
        </p:txBody>
      </p:sp>
      <p:sp>
        <p:nvSpPr>
          <p:cNvPr id="3" name="Content Placeholder 2"/>
          <p:cNvSpPr>
            <a:spLocks noGrp="1"/>
          </p:cNvSpPr>
          <p:nvPr>
            <p:ph sz="quarter" idx="1"/>
          </p:nvPr>
        </p:nvSpPr>
        <p:spPr/>
        <p:txBody>
          <a:bodyPr>
            <a:normAutofit fontScale="92500" lnSpcReduction="10000"/>
          </a:bodyPr>
          <a:lstStyle/>
          <a:p>
            <a:pPr marL="0" indent="0">
              <a:buNone/>
            </a:pPr>
            <a:r>
              <a:rPr lang="en-US" dirty="0"/>
              <a:t>A modification of a standard term of a consumer contract is effective if:</a:t>
            </a:r>
          </a:p>
          <a:p>
            <a:r>
              <a:rPr lang="en-US" dirty="0"/>
              <a:t>the consumer receives:</a:t>
            </a:r>
          </a:p>
          <a:p>
            <a:pPr lvl="1"/>
            <a:r>
              <a:rPr lang="en-US" dirty="0"/>
              <a:t>reasonable notice and opportunity to review,</a:t>
            </a:r>
          </a:p>
          <a:p>
            <a:pPr lvl="1"/>
            <a:r>
              <a:rPr lang="en-US" dirty="0"/>
              <a:t>reasonable opportunity to reject or to terminate without unreasonable cost, and</a:t>
            </a:r>
          </a:p>
          <a:p>
            <a:pPr lvl="1"/>
            <a:r>
              <a:rPr lang="en-US" dirty="0"/>
              <a:t>assents or fails to reject [or terminate, if specified in original agreement]</a:t>
            </a:r>
          </a:p>
          <a:p>
            <a:r>
              <a:rPr lang="en-US" dirty="0"/>
              <a:t>“…it is proposed in good faith, if it is fair and equitable in view of circumstances not anticipated by the parties when made, and if it does not have the effect of undermining an affirmation or promise made by the business that was made part of the basis of the original bargain between the business and the customer.”</a:t>
            </a:r>
          </a:p>
        </p:txBody>
      </p:sp>
    </p:spTree>
    <p:extLst>
      <p:ext uri="{BB962C8B-B14F-4D97-AF65-F5344CB8AC3E}">
        <p14:creationId xmlns:p14="http://schemas.microsoft.com/office/powerpoint/2010/main" val="1067644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FCC18-73D5-B618-A294-7B31696FF89E}"/>
              </a:ext>
            </a:extLst>
          </p:cNvPr>
          <p:cNvSpPr>
            <a:spLocks noGrp="1"/>
          </p:cNvSpPr>
          <p:nvPr>
            <p:ph type="title"/>
          </p:nvPr>
        </p:nvSpPr>
        <p:spPr/>
        <p:txBody>
          <a:bodyPr/>
          <a:lstStyle/>
          <a:p>
            <a:r>
              <a:rPr lang="en-US" dirty="0"/>
              <a:t>Hawaiian Housing Problem (483)</a:t>
            </a:r>
          </a:p>
        </p:txBody>
      </p:sp>
      <p:sp>
        <p:nvSpPr>
          <p:cNvPr id="3" name="Content Placeholder 2">
            <a:extLst>
              <a:ext uri="{FF2B5EF4-FFF2-40B4-BE49-F238E27FC236}">
                <a16:creationId xmlns:a16="http://schemas.microsoft.com/office/drawing/2014/main" id="{FBA34AB5-A516-FF8C-D79E-870796CB4978}"/>
              </a:ext>
            </a:extLst>
          </p:cNvPr>
          <p:cNvSpPr>
            <a:spLocks noGrp="1"/>
          </p:cNvSpPr>
          <p:nvPr>
            <p:ph sz="quarter" idx="1"/>
          </p:nvPr>
        </p:nvSpPr>
        <p:spPr/>
        <p:txBody>
          <a:bodyPr/>
          <a:lstStyle/>
          <a:p>
            <a:pPr marL="0" indent="0">
              <a:buNone/>
            </a:pPr>
            <a:r>
              <a:rPr lang="en-US" dirty="0"/>
              <a:t>Subcontractor bid: $49K. Renegotiated price: $62K.</a:t>
            </a:r>
          </a:p>
          <a:p>
            <a:pPr marL="0" indent="0">
              <a:buNone/>
            </a:pPr>
            <a:r>
              <a:rPr lang="en-US" dirty="0"/>
              <a:t>Architect’s estimate: $16K. Other bids: $83-$173K.</a:t>
            </a:r>
          </a:p>
          <a:p>
            <a:pPr marL="0" indent="0">
              <a:buNone/>
            </a:pPr>
            <a:endParaRPr lang="en-US"/>
          </a:p>
          <a:p>
            <a:r>
              <a:rPr lang="en-US"/>
              <a:t>Was </a:t>
            </a:r>
            <a:r>
              <a:rPr lang="en-US" dirty="0"/>
              <a:t>there consideration?</a:t>
            </a:r>
          </a:p>
          <a:p>
            <a:r>
              <a:rPr lang="en-US" dirty="0"/>
              <a:t>Was this a fair and equitable response to unanticipated circumstances?</a:t>
            </a:r>
          </a:p>
          <a:p>
            <a:r>
              <a:rPr lang="en-US" dirty="0"/>
              <a:t>Was there duress or bad faith?</a:t>
            </a:r>
          </a:p>
        </p:txBody>
      </p:sp>
    </p:spTree>
    <p:extLst>
      <p:ext uri="{BB962C8B-B14F-4D97-AF65-F5344CB8AC3E}">
        <p14:creationId xmlns:p14="http://schemas.microsoft.com/office/powerpoint/2010/main" val="6943487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2375</TotalTime>
  <Words>1314</Words>
  <Application>Microsoft Office PowerPoint</Application>
  <PresentationFormat>On-screen Show (4:3)</PresentationFormat>
  <Paragraphs>126</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Bookman Old Style</vt:lpstr>
      <vt:lpstr>Gill Sans MT</vt:lpstr>
      <vt:lpstr>Tahoma</vt:lpstr>
      <vt:lpstr>Wingdings</vt:lpstr>
      <vt:lpstr>Wingdings 3</vt:lpstr>
      <vt:lpstr>Origin</vt:lpstr>
      <vt:lpstr>Class 11: Contract modifications</vt:lpstr>
      <vt:lpstr>Topics</vt:lpstr>
      <vt:lpstr>Key questions</vt:lpstr>
      <vt:lpstr>Alaska Packers Ass’n v. Domenico (470)</vt:lpstr>
      <vt:lpstr>The pre-existing duty rule</vt:lpstr>
      <vt:lpstr>Alaska Packers Ass’n v. Domenico (470)</vt:lpstr>
      <vt:lpstr>Holdup and incentives to modify</vt:lpstr>
      <vt:lpstr>Alaska Packers Ass’n v. Domenico (470)</vt:lpstr>
      <vt:lpstr>Economic implications of modifications</vt:lpstr>
      <vt:lpstr>Watkins &amp; Son v. Carrig (477)</vt:lpstr>
      <vt:lpstr>Modern doctrine</vt:lpstr>
      <vt:lpstr>Ways to forestall modification</vt:lpstr>
      <vt:lpstr>Duress and good faith</vt:lpstr>
      <vt:lpstr>Austin Instrument v. Loral Corporation (487)</vt:lpstr>
      <vt:lpstr>RLCC §3</vt:lpstr>
      <vt:lpstr>Hawaiian Housing Problem (483)</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11: Contract modifications</dc:title>
  <dc:creator>Davis, Kevin</dc:creator>
  <cp:lastModifiedBy>Davis, Kevin</cp:lastModifiedBy>
  <cp:revision>42</cp:revision>
  <dcterms:created xsi:type="dcterms:W3CDTF">2014-10-03T15:45:15Z</dcterms:created>
  <dcterms:modified xsi:type="dcterms:W3CDTF">2026-09-29T14:46:53Z</dcterms:modified>
</cp:coreProperties>
</file>