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79" r:id="rId3"/>
    <p:sldId id="288" r:id="rId4"/>
    <p:sldId id="327" r:id="rId5"/>
    <p:sldId id="328" r:id="rId6"/>
    <p:sldId id="330" r:id="rId7"/>
    <p:sldId id="276" r:id="rId8"/>
    <p:sldId id="329" r:id="rId9"/>
    <p:sldId id="320" r:id="rId10"/>
    <p:sldId id="321" r:id="rId11"/>
    <p:sldId id="331" r:id="rId12"/>
    <p:sldId id="332" r:id="rId13"/>
    <p:sldId id="316" r:id="rId14"/>
    <p:sldId id="309" r:id="rId15"/>
    <p:sldId id="305" r:id="rId16"/>
    <p:sldId id="306" r:id="rId17"/>
    <p:sldId id="310" r:id="rId18"/>
    <p:sldId id="311" r:id="rId19"/>
    <p:sldId id="318" r:id="rId20"/>
    <p:sldId id="312" r:id="rId21"/>
    <p:sldId id="313" r:id="rId22"/>
    <p:sldId id="265" r:id="rId23"/>
    <p:sldId id="284" r:id="rId24"/>
    <p:sldId id="280" r:id="rId25"/>
    <p:sldId id="281" r:id="rId26"/>
    <p:sldId id="285" r:id="rId27"/>
    <p:sldId id="262" r:id="rId28"/>
    <p:sldId id="278" r:id="rId29"/>
    <p:sldId id="275" r:id="rId30"/>
    <p:sldId id="266" r:id="rId3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varScale="1">
      <p:scale>
        <a:sx n="100" d="100"/>
        <a:sy n="100" d="100"/>
      </p:scale>
      <p:origin x="0" y="-35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488FD2A-7141-4813-BCC8-BE2DFF2E3A36}" type="datetimeFigureOut">
              <a:rPr lang="en-US" smtClean="0"/>
              <a:t>8/31/2026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B193C3E-3257-48DE-8B43-9F7F04B8F86F}" type="slidenum">
              <a:rPr lang="en-US" smtClean="0"/>
              <a:t>‹#›</a:t>
            </a:fld>
            <a:endParaRPr lang="en-US"/>
          </a:p>
        </p:txBody>
      </p:sp>
    </p:spTree>
    <p:extLst>
      <p:ext uri="{BB962C8B-B14F-4D97-AF65-F5344CB8AC3E}">
        <p14:creationId xmlns:p14="http://schemas.microsoft.com/office/powerpoint/2010/main" val="3134639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22</a:t>
            </a:fld>
            <a:endParaRPr lang="en-US"/>
          </a:p>
        </p:txBody>
      </p:sp>
    </p:spTree>
    <p:extLst>
      <p:ext uri="{BB962C8B-B14F-4D97-AF65-F5344CB8AC3E}">
        <p14:creationId xmlns:p14="http://schemas.microsoft.com/office/powerpoint/2010/main" val="2266761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E64DD50-2B68-4799-BF34-5D9B93E489A2}" type="slidenum">
              <a:rPr lang="en-US" smtClean="0"/>
              <a:t>27</a:t>
            </a:fld>
            <a:endParaRPr lang="en-US"/>
          </a:p>
        </p:txBody>
      </p:sp>
    </p:spTree>
    <p:extLst>
      <p:ext uri="{BB962C8B-B14F-4D97-AF65-F5344CB8AC3E}">
        <p14:creationId xmlns:p14="http://schemas.microsoft.com/office/powerpoint/2010/main" val="200682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E64DD50-2B68-4799-BF34-5D9B93E489A2}" type="slidenum">
              <a:rPr lang="en-US" smtClean="0"/>
              <a:t>28</a:t>
            </a:fld>
            <a:endParaRPr lang="en-US"/>
          </a:p>
        </p:txBody>
      </p:sp>
    </p:spTree>
    <p:extLst>
      <p:ext uri="{BB962C8B-B14F-4D97-AF65-F5344CB8AC3E}">
        <p14:creationId xmlns:p14="http://schemas.microsoft.com/office/powerpoint/2010/main" val="484746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E64DD50-2B68-4799-BF34-5D9B93E489A2}" type="slidenum">
              <a:rPr lang="en-US" smtClean="0"/>
              <a:t>29</a:t>
            </a:fld>
            <a:endParaRPr lang="en-US"/>
          </a:p>
        </p:txBody>
      </p:sp>
    </p:spTree>
    <p:extLst>
      <p:ext uri="{BB962C8B-B14F-4D97-AF65-F5344CB8AC3E}">
        <p14:creationId xmlns:p14="http://schemas.microsoft.com/office/powerpoint/2010/main" val="1280225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B808D35-F2E3-4BF2-AFE2-05A804A733C2}" type="slidenum">
              <a:rPr lang="en-US" smtClean="0"/>
              <a:pPr>
                <a:defRPr/>
              </a:pPr>
              <a:t>30</a:t>
            </a:fld>
            <a:endParaRPr lang="en-US"/>
          </a:p>
        </p:txBody>
      </p:sp>
    </p:spTree>
    <p:extLst>
      <p:ext uri="{BB962C8B-B14F-4D97-AF65-F5344CB8AC3E}">
        <p14:creationId xmlns:p14="http://schemas.microsoft.com/office/powerpoint/2010/main" val="224402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C79C-99D2-6C28-055C-9CE663E1B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47A3D5-A18D-E299-0B52-530F3D935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5A053-625A-87B8-4264-50126058A4AE}"/>
              </a:ext>
            </a:extLst>
          </p:cNvPr>
          <p:cNvSpPr>
            <a:spLocks noGrp="1"/>
          </p:cNvSpPr>
          <p:nvPr>
            <p:ph type="dt" sz="half" idx="10"/>
          </p:nvPr>
        </p:nvSpPr>
        <p:spPr/>
        <p:txBody>
          <a:bodyPr/>
          <a:lstStyle/>
          <a:p>
            <a:fld id="{C792E1DA-88CA-4635-905F-EC3BC6021A56}" type="datetime1">
              <a:rPr lang="en-US" smtClean="0"/>
              <a:t>8/31/2026</a:t>
            </a:fld>
            <a:endParaRPr lang="en-US"/>
          </a:p>
        </p:txBody>
      </p:sp>
      <p:sp>
        <p:nvSpPr>
          <p:cNvPr id="5" name="Footer Placeholder 4">
            <a:extLst>
              <a:ext uri="{FF2B5EF4-FFF2-40B4-BE49-F238E27FC236}">
                <a16:creationId xmlns:a16="http://schemas.microsoft.com/office/drawing/2014/main" id="{76ACBD97-FFF2-35DC-1905-766F30BB0CC2}"/>
              </a:ext>
            </a:extLst>
          </p:cNvPr>
          <p:cNvSpPr>
            <a:spLocks noGrp="1"/>
          </p:cNvSpPr>
          <p:nvPr>
            <p:ph type="ftr" sz="quarter" idx="11"/>
          </p:nvPr>
        </p:nvSpPr>
        <p:spPr/>
        <p:txBody>
          <a:bodyPr/>
          <a:lstStyle/>
          <a:p>
            <a:r>
              <a:rPr lang="en-US"/>
              <a:t>© Copyright 2026.  Peter M. Shane All rights reserved.</a:t>
            </a:r>
          </a:p>
        </p:txBody>
      </p:sp>
      <p:sp>
        <p:nvSpPr>
          <p:cNvPr id="6" name="Slide Number Placeholder 5">
            <a:extLst>
              <a:ext uri="{FF2B5EF4-FFF2-40B4-BE49-F238E27FC236}">
                <a16:creationId xmlns:a16="http://schemas.microsoft.com/office/drawing/2014/main" id="{1395F1EC-903A-8098-30C0-7F65F1B52F24}"/>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2174512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258C-2DA4-A1CC-D5E6-6F16DEFF9F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CB432-A110-09F6-D072-0AD9F50EFE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FDE35-C308-4DEE-21BE-36894A261EEC}"/>
              </a:ext>
            </a:extLst>
          </p:cNvPr>
          <p:cNvSpPr>
            <a:spLocks noGrp="1"/>
          </p:cNvSpPr>
          <p:nvPr>
            <p:ph type="dt" sz="half" idx="10"/>
          </p:nvPr>
        </p:nvSpPr>
        <p:spPr/>
        <p:txBody>
          <a:bodyPr/>
          <a:lstStyle/>
          <a:p>
            <a:fld id="{CC7D4365-E503-4582-9212-BBC79941BCB7}" type="datetime1">
              <a:rPr lang="en-US" smtClean="0"/>
              <a:t>8/31/2026</a:t>
            </a:fld>
            <a:endParaRPr lang="en-US"/>
          </a:p>
        </p:txBody>
      </p:sp>
      <p:sp>
        <p:nvSpPr>
          <p:cNvPr id="5" name="Footer Placeholder 4">
            <a:extLst>
              <a:ext uri="{FF2B5EF4-FFF2-40B4-BE49-F238E27FC236}">
                <a16:creationId xmlns:a16="http://schemas.microsoft.com/office/drawing/2014/main" id="{31F5C148-C43E-6592-84EA-E4BB32AC2D2F}"/>
              </a:ext>
            </a:extLst>
          </p:cNvPr>
          <p:cNvSpPr>
            <a:spLocks noGrp="1"/>
          </p:cNvSpPr>
          <p:nvPr>
            <p:ph type="ftr" sz="quarter" idx="11"/>
          </p:nvPr>
        </p:nvSpPr>
        <p:spPr/>
        <p:txBody>
          <a:bodyPr/>
          <a:lstStyle/>
          <a:p>
            <a:r>
              <a:rPr lang="en-US"/>
              <a:t>© Copyright 2026.  Peter M. Shane All rights reserved.</a:t>
            </a:r>
          </a:p>
        </p:txBody>
      </p:sp>
      <p:sp>
        <p:nvSpPr>
          <p:cNvPr id="6" name="Slide Number Placeholder 5">
            <a:extLst>
              <a:ext uri="{FF2B5EF4-FFF2-40B4-BE49-F238E27FC236}">
                <a16:creationId xmlns:a16="http://schemas.microsoft.com/office/drawing/2014/main" id="{3DF890EB-FE3F-7750-E905-9E9D7FA7AF51}"/>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116074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3E50-41F0-AF98-2870-3544643143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53ADCE-6763-CDFD-8710-10CC15DEE2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E69C4-6BB7-EC49-53EB-6AB1AA213A39}"/>
              </a:ext>
            </a:extLst>
          </p:cNvPr>
          <p:cNvSpPr>
            <a:spLocks noGrp="1"/>
          </p:cNvSpPr>
          <p:nvPr>
            <p:ph type="dt" sz="half" idx="10"/>
          </p:nvPr>
        </p:nvSpPr>
        <p:spPr/>
        <p:txBody>
          <a:bodyPr/>
          <a:lstStyle/>
          <a:p>
            <a:fld id="{9013238D-A758-48CC-857E-29345EF33BF0}" type="datetime1">
              <a:rPr lang="en-US" smtClean="0"/>
              <a:t>8/31/2026</a:t>
            </a:fld>
            <a:endParaRPr lang="en-US"/>
          </a:p>
        </p:txBody>
      </p:sp>
      <p:sp>
        <p:nvSpPr>
          <p:cNvPr id="5" name="Footer Placeholder 4">
            <a:extLst>
              <a:ext uri="{FF2B5EF4-FFF2-40B4-BE49-F238E27FC236}">
                <a16:creationId xmlns:a16="http://schemas.microsoft.com/office/drawing/2014/main" id="{E79677EC-A93E-131F-037F-38EF42AFC983}"/>
              </a:ext>
            </a:extLst>
          </p:cNvPr>
          <p:cNvSpPr>
            <a:spLocks noGrp="1"/>
          </p:cNvSpPr>
          <p:nvPr>
            <p:ph type="ftr" sz="quarter" idx="11"/>
          </p:nvPr>
        </p:nvSpPr>
        <p:spPr/>
        <p:txBody>
          <a:bodyPr/>
          <a:lstStyle/>
          <a:p>
            <a:r>
              <a:rPr lang="en-US"/>
              <a:t>© Copyright 2026.  Peter M. Shane All rights reserved.</a:t>
            </a:r>
          </a:p>
        </p:txBody>
      </p:sp>
      <p:sp>
        <p:nvSpPr>
          <p:cNvPr id="6" name="Slide Number Placeholder 5">
            <a:extLst>
              <a:ext uri="{FF2B5EF4-FFF2-40B4-BE49-F238E27FC236}">
                <a16:creationId xmlns:a16="http://schemas.microsoft.com/office/drawing/2014/main" id="{8B3EF23E-E0C3-2C39-EF9F-E32D914A7673}"/>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3027923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0C4E-31BB-19ED-370C-76924ED17F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8CCC21-0001-BCD6-CFAE-162970332D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062D51-9BA9-0023-4F20-8622A95076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6C6D07-535B-0086-1FD2-4A1B7E02613C}"/>
              </a:ext>
            </a:extLst>
          </p:cNvPr>
          <p:cNvSpPr>
            <a:spLocks noGrp="1"/>
          </p:cNvSpPr>
          <p:nvPr>
            <p:ph type="dt" sz="half" idx="10"/>
          </p:nvPr>
        </p:nvSpPr>
        <p:spPr/>
        <p:txBody>
          <a:bodyPr/>
          <a:lstStyle/>
          <a:p>
            <a:fld id="{A42E3E06-6A65-4F1A-8AA4-A7AECAA96DCA}" type="datetime1">
              <a:rPr lang="en-US" smtClean="0"/>
              <a:t>8/31/2026</a:t>
            </a:fld>
            <a:endParaRPr lang="en-US"/>
          </a:p>
        </p:txBody>
      </p:sp>
      <p:sp>
        <p:nvSpPr>
          <p:cNvPr id="6" name="Footer Placeholder 5">
            <a:extLst>
              <a:ext uri="{FF2B5EF4-FFF2-40B4-BE49-F238E27FC236}">
                <a16:creationId xmlns:a16="http://schemas.microsoft.com/office/drawing/2014/main" id="{BB3A27BA-632B-A160-F0E8-4FFEE0ADD455}"/>
              </a:ext>
            </a:extLst>
          </p:cNvPr>
          <p:cNvSpPr>
            <a:spLocks noGrp="1"/>
          </p:cNvSpPr>
          <p:nvPr>
            <p:ph type="ftr" sz="quarter" idx="11"/>
          </p:nvPr>
        </p:nvSpPr>
        <p:spPr/>
        <p:txBody>
          <a:bodyPr/>
          <a:lstStyle/>
          <a:p>
            <a:r>
              <a:rPr lang="en-US"/>
              <a:t>© Copyright 2026.  Peter M. Shane All rights reserved.</a:t>
            </a:r>
          </a:p>
        </p:txBody>
      </p:sp>
      <p:sp>
        <p:nvSpPr>
          <p:cNvPr id="7" name="Slide Number Placeholder 6">
            <a:extLst>
              <a:ext uri="{FF2B5EF4-FFF2-40B4-BE49-F238E27FC236}">
                <a16:creationId xmlns:a16="http://schemas.microsoft.com/office/drawing/2014/main" id="{C7F7DE00-DAF5-AF63-74F6-609E4CB0A55C}"/>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1035313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C2776-E05F-0B0E-70B1-0C7408D15B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FCF9FD-7AE3-1F5B-7960-E570B58B5D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DFE75C-1F37-F427-0F79-EE0D2C988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1034E4-2E21-E288-CAC1-82AB2FFF6A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C4384A-CEDD-1265-81D2-F1348903A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EE2677-DEE0-55CA-8BC8-3EA1B1C9D33A}"/>
              </a:ext>
            </a:extLst>
          </p:cNvPr>
          <p:cNvSpPr>
            <a:spLocks noGrp="1"/>
          </p:cNvSpPr>
          <p:nvPr>
            <p:ph type="dt" sz="half" idx="10"/>
          </p:nvPr>
        </p:nvSpPr>
        <p:spPr/>
        <p:txBody>
          <a:bodyPr/>
          <a:lstStyle/>
          <a:p>
            <a:fld id="{85BAB347-95F3-418C-B9EB-4AED708A27D8}" type="datetime1">
              <a:rPr lang="en-US" smtClean="0"/>
              <a:t>8/31/2026</a:t>
            </a:fld>
            <a:endParaRPr lang="en-US"/>
          </a:p>
        </p:txBody>
      </p:sp>
      <p:sp>
        <p:nvSpPr>
          <p:cNvPr id="8" name="Footer Placeholder 7">
            <a:extLst>
              <a:ext uri="{FF2B5EF4-FFF2-40B4-BE49-F238E27FC236}">
                <a16:creationId xmlns:a16="http://schemas.microsoft.com/office/drawing/2014/main" id="{50D3270F-01F9-E328-B686-A1C39FD5553C}"/>
              </a:ext>
            </a:extLst>
          </p:cNvPr>
          <p:cNvSpPr>
            <a:spLocks noGrp="1"/>
          </p:cNvSpPr>
          <p:nvPr>
            <p:ph type="ftr" sz="quarter" idx="11"/>
          </p:nvPr>
        </p:nvSpPr>
        <p:spPr/>
        <p:txBody>
          <a:bodyPr/>
          <a:lstStyle/>
          <a:p>
            <a:r>
              <a:rPr lang="en-US"/>
              <a:t>© Copyright 2026.  Peter M. Shane All rights reserved.</a:t>
            </a:r>
          </a:p>
        </p:txBody>
      </p:sp>
      <p:sp>
        <p:nvSpPr>
          <p:cNvPr id="9" name="Slide Number Placeholder 8">
            <a:extLst>
              <a:ext uri="{FF2B5EF4-FFF2-40B4-BE49-F238E27FC236}">
                <a16:creationId xmlns:a16="http://schemas.microsoft.com/office/drawing/2014/main" id="{D1897053-3E42-2829-67D2-45F952031EE4}"/>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3832691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97DF-7743-9737-E1B2-056F43C23C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357D1D-862A-3266-D960-DD86C7872EFA}"/>
              </a:ext>
            </a:extLst>
          </p:cNvPr>
          <p:cNvSpPr>
            <a:spLocks noGrp="1"/>
          </p:cNvSpPr>
          <p:nvPr>
            <p:ph type="dt" sz="half" idx="10"/>
          </p:nvPr>
        </p:nvSpPr>
        <p:spPr/>
        <p:txBody>
          <a:bodyPr/>
          <a:lstStyle/>
          <a:p>
            <a:fld id="{80038821-DA6B-4239-BBCF-E4458F559F03}" type="datetime1">
              <a:rPr lang="en-US" smtClean="0"/>
              <a:t>8/31/2026</a:t>
            </a:fld>
            <a:endParaRPr lang="en-US"/>
          </a:p>
        </p:txBody>
      </p:sp>
      <p:sp>
        <p:nvSpPr>
          <p:cNvPr id="4" name="Footer Placeholder 3">
            <a:extLst>
              <a:ext uri="{FF2B5EF4-FFF2-40B4-BE49-F238E27FC236}">
                <a16:creationId xmlns:a16="http://schemas.microsoft.com/office/drawing/2014/main" id="{001ACD72-0335-C101-D93E-C328243B9175}"/>
              </a:ext>
            </a:extLst>
          </p:cNvPr>
          <p:cNvSpPr>
            <a:spLocks noGrp="1"/>
          </p:cNvSpPr>
          <p:nvPr>
            <p:ph type="ftr" sz="quarter" idx="11"/>
          </p:nvPr>
        </p:nvSpPr>
        <p:spPr/>
        <p:txBody>
          <a:bodyPr/>
          <a:lstStyle/>
          <a:p>
            <a:r>
              <a:rPr lang="en-US"/>
              <a:t>© Copyright 2026.  Peter M. Shane All rights reserved.</a:t>
            </a:r>
          </a:p>
        </p:txBody>
      </p:sp>
      <p:sp>
        <p:nvSpPr>
          <p:cNvPr id="5" name="Slide Number Placeholder 4">
            <a:extLst>
              <a:ext uri="{FF2B5EF4-FFF2-40B4-BE49-F238E27FC236}">
                <a16:creationId xmlns:a16="http://schemas.microsoft.com/office/drawing/2014/main" id="{9E98A66A-B79B-E52B-E677-1AE1EDF885EF}"/>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975705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64B11-AFB1-FE7A-7B51-8297EE4B89DE}"/>
              </a:ext>
            </a:extLst>
          </p:cNvPr>
          <p:cNvSpPr>
            <a:spLocks noGrp="1"/>
          </p:cNvSpPr>
          <p:nvPr>
            <p:ph type="dt" sz="half" idx="10"/>
          </p:nvPr>
        </p:nvSpPr>
        <p:spPr/>
        <p:txBody>
          <a:bodyPr/>
          <a:lstStyle/>
          <a:p>
            <a:fld id="{4ADEAC29-69FE-47FB-BCD0-2EC90CB4C54C}" type="datetime1">
              <a:rPr lang="en-US" smtClean="0"/>
              <a:t>8/31/2026</a:t>
            </a:fld>
            <a:endParaRPr lang="en-US"/>
          </a:p>
        </p:txBody>
      </p:sp>
      <p:sp>
        <p:nvSpPr>
          <p:cNvPr id="3" name="Footer Placeholder 2">
            <a:extLst>
              <a:ext uri="{FF2B5EF4-FFF2-40B4-BE49-F238E27FC236}">
                <a16:creationId xmlns:a16="http://schemas.microsoft.com/office/drawing/2014/main" id="{C3EB05D8-9081-D52D-A683-F079C13C74B3}"/>
              </a:ext>
            </a:extLst>
          </p:cNvPr>
          <p:cNvSpPr>
            <a:spLocks noGrp="1"/>
          </p:cNvSpPr>
          <p:nvPr>
            <p:ph type="ftr" sz="quarter" idx="11"/>
          </p:nvPr>
        </p:nvSpPr>
        <p:spPr/>
        <p:txBody>
          <a:bodyPr/>
          <a:lstStyle/>
          <a:p>
            <a:r>
              <a:rPr lang="en-US"/>
              <a:t>© Copyright 2026.  Peter M. Shane All rights reserved.</a:t>
            </a:r>
          </a:p>
        </p:txBody>
      </p:sp>
      <p:sp>
        <p:nvSpPr>
          <p:cNvPr id="4" name="Slide Number Placeholder 3">
            <a:extLst>
              <a:ext uri="{FF2B5EF4-FFF2-40B4-BE49-F238E27FC236}">
                <a16:creationId xmlns:a16="http://schemas.microsoft.com/office/drawing/2014/main" id="{C7E41898-C133-4700-D6CF-9B88539B915C}"/>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4101081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C65C2-C3C9-0B44-9374-A05DB4F16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CDC1D9-C89A-F1F1-17BE-A11FCC4E9E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F4C58D-769E-7F19-E756-6C751D047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F1D94B-F747-8D24-91D0-E87956499711}"/>
              </a:ext>
            </a:extLst>
          </p:cNvPr>
          <p:cNvSpPr>
            <a:spLocks noGrp="1"/>
          </p:cNvSpPr>
          <p:nvPr>
            <p:ph type="dt" sz="half" idx="10"/>
          </p:nvPr>
        </p:nvSpPr>
        <p:spPr/>
        <p:txBody>
          <a:bodyPr/>
          <a:lstStyle/>
          <a:p>
            <a:fld id="{30D5E1D9-D484-44E3-B32C-420A8881DE47}" type="datetime1">
              <a:rPr lang="en-US" smtClean="0"/>
              <a:t>8/31/2026</a:t>
            </a:fld>
            <a:endParaRPr lang="en-US"/>
          </a:p>
        </p:txBody>
      </p:sp>
      <p:sp>
        <p:nvSpPr>
          <p:cNvPr id="6" name="Footer Placeholder 5">
            <a:extLst>
              <a:ext uri="{FF2B5EF4-FFF2-40B4-BE49-F238E27FC236}">
                <a16:creationId xmlns:a16="http://schemas.microsoft.com/office/drawing/2014/main" id="{38D3B55B-DB97-F3C4-378C-7D7C8A1040B2}"/>
              </a:ext>
            </a:extLst>
          </p:cNvPr>
          <p:cNvSpPr>
            <a:spLocks noGrp="1"/>
          </p:cNvSpPr>
          <p:nvPr>
            <p:ph type="ftr" sz="quarter" idx="11"/>
          </p:nvPr>
        </p:nvSpPr>
        <p:spPr/>
        <p:txBody>
          <a:bodyPr/>
          <a:lstStyle/>
          <a:p>
            <a:r>
              <a:rPr lang="en-US"/>
              <a:t>© Copyright 2026.  Peter M. Shane All rights reserved.</a:t>
            </a:r>
          </a:p>
        </p:txBody>
      </p:sp>
      <p:sp>
        <p:nvSpPr>
          <p:cNvPr id="7" name="Slide Number Placeholder 6">
            <a:extLst>
              <a:ext uri="{FF2B5EF4-FFF2-40B4-BE49-F238E27FC236}">
                <a16:creationId xmlns:a16="http://schemas.microsoft.com/office/drawing/2014/main" id="{486E72B3-5381-82AB-AE4A-045CE9A8393D}"/>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65776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9DC36-45FA-F5C6-B035-ED385F60B5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D39819-E57E-58C9-EEF2-B3D4CF0F8F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02BAB3-5E2C-F00F-75C2-72688E0493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EBF58-5CAD-6D6F-010E-E8054FCEAB9B}"/>
              </a:ext>
            </a:extLst>
          </p:cNvPr>
          <p:cNvSpPr>
            <a:spLocks noGrp="1"/>
          </p:cNvSpPr>
          <p:nvPr>
            <p:ph type="dt" sz="half" idx="10"/>
          </p:nvPr>
        </p:nvSpPr>
        <p:spPr/>
        <p:txBody>
          <a:bodyPr/>
          <a:lstStyle/>
          <a:p>
            <a:fld id="{BBABD8AA-0944-42B9-A0B1-7B78A958B399}" type="datetime1">
              <a:rPr lang="en-US" smtClean="0"/>
              <a:t>8/31/2026</a:t>
            </a:fld>
            <a:endParaRPr lang="en-US"/>
          </a:p>
        </p:txBody>
      </p:sp>
      <p:sp>
        <p:nvSpPr>
          <p:cNvPr id="6" name="Footer Placeholder 5">
            <a:extLst>
              <a:ext uri="{FF2B5EF4-FFF2-40B4-BE49-F238E27FC236}">
                <a16:creationId xmlns:a16="http://schemas.microsoft.com/office/drawing/2014/main" id="{17F8FE74-92B9-FFA9-C869-305A26742D17}"/>
              </a:ext>
            </a:extLst>
          </p:cNvPr>
          <p:cNvSpPr>
            <a:spLocks noGrp="1"/>
          </p:cNvSpPr>
          <p:nvPr>
            <p:ph type="ftr" sz="quarter" idx="11"/>
          </p:nvPr>
        </p:nvSpPr>
        <p:spPr/>
        <p:txBody>
          <a:bodyPr/>
          <a:lstStyle/>
          <a:p>
            <a:r>
              <a:rPr lang="en-US"/>
              <a:t>© Copyright 2026.  Peter M. Shane All rights reserved.</a:t>
            </a:r>
          </a:p>
        </p:txBody>
      </p:sp>
      <p:sp>
        <p:nvSpPr>
          <p:cNvPr id="7" name="Slide Number Placeholder 6">
            <a:extLst>
              <a:ext uri="{FF2B5EF4-FFF2-40B4-BE49-F238E27FC236}">
                <a16:creationId xmlns:a16="http://schemas.microsoft.com/office/drawing/2014/main" id="{BDD8ABA2-AADA-F417-8966-85C41FFE161B}"/>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262595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47169-34B8-14D8-EAC4-11A34D37E9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203E14-9043-BF0E-2507-83256D4C01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7B8355-39BF-CD35-AEDC-01C0F60FBED9}"/>
              </a:ext>
            </a:extLst>
          </p:cNvPr>
          <p:cNvSpPr>
            <a:spLocks noGrp="1"/>
          </p:cNvSpPr>
          <p:nvPr>
            <p:ph type="dt" sz="half" idx="10"/>
          </p:nvPr>
        </p:nvSpPr>
        <p:spPr/>
        <p:txBody>
          <a:bodyPr/>
          <a:lstStyle/>
          <a:p>
            <a:fld id="{EB186A04-D50C-4C26-AF86-270727D04EE7}" type="datetime1">
              <a:rPr lang="en-US" smtClean="0"/>
              <a:t>8/31/2026</a:t>
            </a:fld>
            <a:endParaRPr lang="en-US"/>
          </a:p>
        </p:txBody>
      </p:sp>
      <p:sp>
        <p:nvSpPr>
          <p:cNvPr id="5" name="Footer Placeholder 4">
            <a:extLst>
              <a:ext uri="{FF2B5EF4-FFF2-40B4-BE49-F238E27FC236}">
                <a16:creationId xmlns:a16="http://schemas.microsoft.com/office/drawing/2014/main" id="{17421057-C7AC-B4A6-32C3-73F207694BF1}"/>
              </a:ext>
            </a:extLst>
          </p:cNvPr>
          <p:cNvSpPr>
            <a:spLocks noGrp="1"/>
          </p:cNvSpPr>
          <p:nvPr>
            <p:ph type="ftr" sz="quarter" idx="11"/>
          </p:nvPr>
        </p:nvSpPr>
        <p:spPr/>
        <p:txBody>
          <a:bodyPr/>
          <a:lstStyle/>
          <a:p>
            <a:r>
              <a:rPr lang="en-US"/>
              <a:t>© Copyright 2026.  Peter M. Shane All rights reserved.</a:t>
            </a:r>
          </a:p>
        </p:txBody>
      </p:sp>
      <p:sp>
        <p:nvSpPr>
          <p:cNvPr id="6" name="Slide Number Placeholder 5">
            <a:extLst>
              <a:ext uri="{FF2B5EF4-FFF2-40B4-BE49-F238E27FC236}">
                <a16:creationId xmlns:a16="http://schemas.microsoft.com/office/drawing/2014/main" id="{89763A8A-C287-46FB-0B35-454274C75C1B}"/>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2844478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D5979C-4544-2EA3-A753-ECEC97CA44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14F878-A759-2ED5-E3EB-0B17F63D17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705EA7-67DF-FD93-4025-2F8F0C108D09}"/>
              </a:ext>
            </a:extLst>
          </p:cNvPr>
          <p:cNvSpPr>
            <a:spLocks noGrp="1"/>
          </p:cNvSpPr>
          <p:nvPr>
            <p:ph type="dt" sz="half" idx="10"/>
          </p:nvPr>
        </p:nvSpPr>
        <p:spPr/>
        <p:txBody>
          <a:bodyPr/>
          <a:lstStyle/>
          <a:p>
            <a:fld id="{5DBFD300-11DB-4784-AD5D-291819EF406F}" type="datetime1">
              <a:rPr lang="en-US" smtClean="0"/>
              <a:t>8/31/2026</a:t>
            </a:fld>
            <a:endParaRPr lang="en-US"/>
          </a:p>
        </p:txBody>
      </p:sp>
      <p:sp>
        <p:nvSpPr>
          <p:cNvPr id="5" name="Footer Placeholder 4">
            <a:extLst>
              <a:ext uri="{FF2B5EF4-FFF2-40B4-BE49-F238E27FC236}">
                <a16:creationId xmlns:a16="http://schemas.microsoft.com/office/drawing/2014/main" id="{48D32BC1-3BC3-8C82-CC7A-6014F1B8D95C}"/>
              </a:ext>
            </a:extLst>
          </p:cNvPr>
          <p:cNvSpPr>
            <a:spLocks noGrp="1"/>
          </p:cNvSpPr>
          <p:nvPr>
            <p:ph type="ftr" sz="quarter" idx="11"/>
          </p:nvPr>
        </p:nvSpPr>
        <p:spPr/>
        <p:txBody>
          <a:bodyPr/>
          <a:lstStyle/>
          <a:p>
            <a:r>
              <a:rPr lang="en-US"/>
              <a:t>© Copyright 2026.  Peter M. Shane All rights reserved.</a:t>
            </a:r>
          </a:p>
        </p:txBody>
      </p:sp>
      <p:sp>
        <p:nvSpPr>
          <p:cNvPr id="6" name="Slide Number Placeholder 5">
            <a:extLst>
              <a:ext uri="{FF2B5EF4-FFF2-40B4-BE49-F238E27FC236}">
                <a16:creationId xmlns:a16="http://schemas.microsoft.com/office/drawing/2014/main" id="{B5E08F32-0DCB-E566-6E3D-1061AC4A47AE}"/>
              </a:ext>
            </a:extLst>
          </p:cNvPr>
          <p:cNvSpPr>
            <a:spLocks noGrp="1"/>
          </p:cNvSpPr>
          <p:nvPr>
            <p:ph type="sldNum" sz="quarter" idx="12"/>
          </p:nvPr>
        </p:nvSpPr>
        <p:spPr/>
        <p:txBody>
          <a:bodyPr/>
          <a:lstStyle/>
          <a:p>
            <a:fld id="{1E07C3B0-0D47-4490-BE91-ADEA2354944A}" type="slidenum">
              <a:rPr lang="en-US" smtClean="0"/>
              <a:t>‹#›</a:t>
            </a:fld>
            <a:endParaRPr lang="en-US"/>
          </a:p>
        </p:txBody>
      </p:sp>
    </p:spTree>
    <p:extLst>
      <p:ext uri="{BB962C8B-B14F-4D97-AF65-F5344CB8AC3E}">
        <p14:creationId xmlns:p14="http://schemas.microsoft.com/office/powerpoint/2010/main" val="407489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225129-D0F7-3012-01D6-98F1178F5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E0B07C-F3AC-A0EF-F65F-22EE258555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1C602-672A-262F-372F-8752BD8C1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88042B-B2CF-4256-80E0-C479C8B68B40}" type="datetime1">
              <a:rPr lang="en-US" smtClean="0"/>
              <a:t>8/31/2026</a:t>
            </a:fld>
            <a:endParaRPr lang="en-US"/>
          </a:p>
        </p:txBody>
      </p:sp>
      <p:sp>
        <p:nvSpPr>
          <p:cNvPr id="5" name="Footer Placeholder 4">
            <a:extLst>
              <a:ext uri="{FF2B5EF4-FFF2-40B4-BE49-F238E27FC236}">
                <a16:creationId xmlns:a16="http://schemas.microsoft.com/office/drawing/2014/main" id="{F4E98F16-00E3-6D2E-6297-50F4FA606A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 Copyright 2026.  Peter M. Shane All rights reserved.</a:t>
            </a:r>
          </a:p>
        </p:txBody>
      </p:sp>
      <p:sp>
        <p:nvSpPr>
          <p:cNvPr id="6" name="Slide Number Placeholder 5">
            <a:extLst>
              <a:ext uri="{FF2B5EF4-FFF2-40B4-BE49-F238E27FC236}">
                <a16:creationId xmlns:a16="http://schemas.microsoft.com/office/drawing/2014/main" id="{7F3832F4-C5A5-71EF-E452-26F4DB79F2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07C3B0-0D47-4490-BE91-ADEA2354944A}" type="slidenum">
              <a:rPr lang="en-US" smtClean="0"/>
              <a:t>‹#›</a:t>
            </a:fld>
            <a:endParaRPr lang="en-US"/>
          </a:p>
        </p:txBody>
      </p:sp>
    </p:spTree>
    <p:extLst>
      <p:ext uri="{BB962C8B-B14F-4D97-AF65-F5344CB8AC3E}">
        <p14:creationId xmlns:p14="http://schemas.microsoft.com/office/powerpoint/2010/main" val="3780332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8005-C6EB-57C2-9C58-370B4E08208E}"/>
              </a:ext>
            </a:extLst>
          </p:cNvPr>
          <p:cNvSpPr>
            <a:spLocks noGrp="1"/>
          </p:cNvSpPr>
          <p:nvPr>
            <p:ph type="title"/>
          </p:nvPr>
        </p:nvSpPr>
        <p:spPr/>
        <p:txBody>
          <a:bodyPr/>
          <a:lstStyle/>
          <a:p>
            <a:r>
              <a:rPr lang="en-US" dirty="0"/>
              <a:t>Review of Class 1</a:t>
            </a:r>
          </a:p>
        </p:txBody>
      </p:sp>
      <p:sp>
        <p:nvSpPr>
          <p:cNvPr id="3" name="Content Placeholder 2">
            <a:extLst>
              <a:ext uri="{FF2B5EF4-FFF2-40B4-BE49-F238E27FC236}">
                <a16:creationId xmlns:a16="http://schemas.microsoft.com/office/drawing/2014/main" id="{3A0725AF-5E88-132A-F8D3-E8398CED5B4F}"/>
              </a:ext>
            </a:extLst>
          </p:cNvPr>
          <p:cNvSpPr>
            <a:spLocks noGrp="1"/>
          </p:cNvSpPr>
          <p:nvPr>
            <p:ph idx="1"/>
          </p:nvPr>
        </p:nvSpPr>
        <p:spPr/>
        <p:txBody>
          <a:bodyPr>
            <a:normAutofit/>
          </a:bodyPr>
          <a:lstStyle/>
          <a:p>
            <a:r>
              <a:rPr lang="en-US" dirty="0"/>
              <a:t>Hierarchy of federal law: Constitution → Statutes → Administration</a:t>
            </a:r>
          </a:p>
          <a:p>
            <a:r>
              <a:rPr lang="en-US" dirty="0"/>
              <a:t>Sources of interpretive guidance for the Constitution: Text, Structure, Historical Practice/Understanding, Purpose</a:t>
            </a:r>
          </a:p>
          <a:p>
            <a:r>
              <a:rPr lang="en-US" dirty="0"/>
              <a:t>Used Articles I-III to show how technical readings of text may lead to legally unsound answers</a:t>
            </a:r>
          </a:p>
          <a:p>
            <a:r>
              <a:rPr lang="en-US" dirty="0"/>
              <a:t>Elements of legislative history</a:t>
            </a:r>
          </a:p>
        </p:txBody>
      </p:sp>
      <p:sp>
        <p:nvSpPr>
          <p:cNvPr id="4" name="Footer Placeholder 3">
            <a:extLst>
              <a:ext uri="{FF2B5EF4-FFF2-40B4-BE49-F238E27FC236}">
                <a16:creationId xmlns:a16="http://schemas.microsoft.com/office/drawing/2014/main" id="{61BF7793-4780-347A-729D-86750705C6BC}"/>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46303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Why Understanding the Administrative State is Critical for Lawyers</a:t>
            </a:r>
          </a:p>
        </p:txBody>
      </p:sp>
      <p:sp>
        <p:nvSpPr>
          <p:cNvPr id="3" name="Content Placeholder 2"/>
          <p:cNvSpPr>
            <a:spLocks noGrp="1"/>
          </p:cNvSpPr>
          <p:nvPr>
            <p:ph idx="1"/>
          </p:nvPr>
        </p:nvSpPr>
        <p:spPr/>
        <p:txBody>
          <a:bodyPr>
            <a:normAutofit/>
          </a:bodyPr>
          <a:lstStyle/>
          <a:p>
            <a:pPr marL="0" indent="0">
              <a:buNone/>
            </a:pPr>
            <a:r>
              <a:rPr lang="en-US" sz="3600" dirty="0"/>
              <a:t>(1) Agencies enact more binding rules of conduct than Congress.</a:t>
            </a:r>
          </a:p>
          <a:p>
            <a:pPr marL="0" indent="0">
              <a:buNone/>
            </a:pPr>
            <a:r>
              <a:rPr lang="en-US" sz="3600" dirty="0"/>
              <a:t>(2) Agencies adjudicate more disputes than all the federal courts combined.</a:t>
            </a:r>
          </a:p>
          <a:p>
            <a:pPr marL="0" indent="0">
              <a:buNone/>
            </a:pPr>
            <a:r>
              <a:rPr lang="en-US" sz="3600" dirty="0"/>
              <a:t>(3) The annual cost of compliance with federal regulation has been estimated at $1 trillion, which is about 1/10th of gross domestic product.</a:t>
            </a:r>
          </a:p>
        </p:txBody>
      </p:sp>
      <p:sp>
        <p:nvSpPr>
          <p:cNvPr id="4" name="Footer Placeholder 3">
            <a:extLst>
              <a:ext uri="{FF2B5EF4-FFF2-40B4-BE49-F238E27FC236}">
                <a16:creationId xmlns:a16="http://schemas.microsoft.com/office/drawing/2014/main" id="{F28601A4-806E-B2FB-BCDD-AC7CE777739B}"/>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951661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 Democratic Puzzle?</a:t>
            </a:r>
          </a:p>
        </p:txBody>
      </p:sp>
      <p:sp>
        <p:nvSpPr>
          <p:cNvPr id="3" name="Content Placeholder 2"/>
          <p:cNvSpPr>
            <a:spLocks noGrp="1"/>
          </p:cNvSpPr>
          <p:nvPr>
            <p:ph idx="1"/>
          </p:nvPr>
        </p:nvSpPr>
        <p:spPr/>
        <p:txBody>
          <a:bodyPr>
            <a:normAutofit/>
          </a:bodyPr>
          <a:lstStyle/>
          <a:p>
            <a:pPr marL="0" indent="0">
              <a:buNone/>
            </a:pPr>
            <a:r>
              <a:rPr lang="en-US" sz="5400" dirty="0"/>
              <a:t>Why doesn’t Congress routinely enact measures that track the sometimes overwhelming majority of public opinion?</a:t>
            </a:r>
          </a:p>
        </p:txBody>
      </p:sp>
      <p:sp>
        <p:nvSpPr>
          <p:cNvPr id="4" name="Slide Number Placeholder 3"/>
          <p:cNvSpPr>
            <a:spLocks noGrp="1"/>
          </p:cNvSpPr>
          <p:nvPr>
            <p:ph type="sldNum" sz="quarter" idx="12"/>
          </p:nvPr>
        </p:nvSpPr>
        <p:spPr/>
        <p:txBody>
          <a:bodyPr/>
          <a:lstStyle/>
          <a:p>
            <a:fld id="{7ED1AE92-1F7A-794C-B2A7-2EEF60C9AF34}" type="slidenum">
              <a:rPr lang="en-US" smtClean="0"/>
              <a:t>3</a:t>
            </a:fld>
            <a:endParaRPr lang="en-US"/>
          </a:p>
        </p:txBody>
      </p:sp>
      <p:sp>
        <p:nvSpPr>
          <p:cNvPr id="5" name="Footer Placeholder 4">
            <a:extLst>
              <a:ext uri="{FF2B5EF4-FFF2-40B4-BE49-F238E27FC236}">
                <a16:creationId xmlns:a16="http://schemas.microsoft.com/office/drawing/2014/main" id="{B69E973A-02D1-8982-2554-B959FEDDFA1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75174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Complications: Senate</a:t>
            </a:r>
          </a:p>
        </p:txBody>
      </p:sp>
      <p:sp>
        <p:nvSpPr>
          <p:cNvPr id="3" name="Content Placeholder 2"/>
          <p:cNvSpPr>
            <a:spLocks noGrp="1"/>
          </p:cNvSpPr>
          <p:nvPr>
            <p:ph idx="1"/>
          </p:nvPr>
        </p:nvSpPr>
        <p:spPr/>
        <p:txBody>
          <a:bodyPr>
            <a:normAutofit/>
          </a:bodyPr>
          <a:lstStyle/>
          <a:p>
            <a:r>
              <a:rPr lang="en-US" sz="3600" dirty="0"/>
              <a:t>Senate practice for most bills permits unlimited debate</a:t>
            </a:r>
          </a:p>
          <a:p>
            <a:r>
              <a:rPr lang="en-US" sz="3600" dirty="0"/>
              <a:t>Vote to end debate = cloture</a:t>
            </a:r>
          </a:p>
          <a:p>
            <a:r>
              <a:rPr lang="en-US" sz="3600" dirty="0"/>
              <a:t>Impeding the end of debate = filibuster</a:t>
            </a:r>
          </a:p>
          <a:p>
            <a:r>
              <a:rPr lang="en-US" sz="3600" dirty="0"/>
              <a:t>Under Senate rules, cloture takes 60 votes (only majority for reconciliation bills, votes to confirm executive branch appointees and judges/Justices)</a:t>
            </a:r>
          </a:p>
        </p:txBody>
      </p:sp>
      <p:sp>
        <p:nvSpPr>
          <p:cNvPr id="4" name="Slide Number Placeholder 3"/>
          <p:cNvSpPr>
            <a:spLocks noGrp="1"/>
          </p:cNvSpPr>
          <p:nvPr>
            <p:ph type="sldNum" sz="quarter" idx="12"/>
          </p:nvPr>
        </p:nvSpPr>
        <p:spPr/>
        <p:txBody>
          <a:bodyPr/>
          <a:lstStyle/>
          <a:p>
            <a:fld id="{7ED1AE92-1F7A-794C-B2A7-2EEF60C9AF34}" type="slidenum">
              <a:rPr lang="en-US" smtClean="0"/>
              <a:t>4</a:t>
            </a:fld>
            <a:endParaRPr lang="en-US"/>
          </a:p>
        </p:txBody>
      </p:sp>
      <p:sp>
        <p:nvSpPr>
          <p:cNvPr id="5" name="Footer Placeholder 4">
            <a:extLst>
              <a:ext uri="{FF2B5EF4-FFF2-40B4-BE49-F238E27FC236}">
                <a16:creationId xmlns:a16="http://schemas.microsoft.com/office/drawing/2014/main" id="{B76B4577-3857-B526-BE27-0E95F69B73B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16038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Complications: House</a:t>
            </a:r>
          </a:p>
        </p:txBody>
      </p:sp>
      <p:sp>
        <p:nvSpPr>
          <p:cNvPr id="3" name="Content Placeholder 2"/>
          <p:cNvSpPr>
            <a:spLocks noGrp="1"/>
          </p:cNvSpPr>
          <p:nvPr>
            <p:ph idx="1"/>
          </p:nvPr>
        </p:nvSpPr>
        <p:spPr/>
        <p:txBody>
          <a:bodyPr>
            <a:normAutofit/>
          </a:bodyPr>
          <a:lstStyle/>
          <a:p>
            <a:r>
              <a:rPr lang="en-US" dirty="0"/>
              <a:t>Legislation called to the floor under rules specific for each piece of legislation</a:t>
            </a:r>
          </a:p>
          <a:p>
            <a:r>
              <a:rPr lang="en-US" dirty="0"/>
              <a:t>Rules Committee dominated by loyalists of majority party leadership – can stop bills from getting to the floor even if majority of House would support</a:t>
            </a:r>
          </a:p>
          <a:p>
            <a:r>
              <a:rPr lang="en-US" dirty="0"/>
              <a:t>Under GOP in recent Congresses, no bills got to floor unless supported by a majority of GOP reps (“Hastert Rule”)</a:t>
            </a:r>
          </a:p>
        </p:txBody>
      </p:sp>
      <p:sp>
        <p:nvSpPr>
          <p:cNvPr id="4" name="Slide Number Placeholder 3"/>
          <p:cNvSpPr>
            <a:spLocks noGrp="1"/>
          </p:cNvSpPr>
          <p:nvPr>
            <p:ph type="sldNum" sz="quarter" idx="12"/>
          </p:nvPr>
        </p:nvSpPr>
        <p:spPr/>
        <p:txBody>
          <a:bodyPr/>
          <a:lstStyle/>
          <a:p>
            <a:fld id="{7ED1AE92-1F7A-794C-B2A7-2EEF60C9AF34}" type="slidenum">
              <a:rPr lang="en-US" smtClean="0"/>
              <a:t>5</a:t>
            </a:fld>
            <a:endParaRPr lang="en-US"/>
          </a:p>
        </p:txBody>
      </p:sp>
      <p:sp>
        <p:nvSpPr>
          <p:cNvPr id="5" name="Footer Placeholder 4">
            <a:extLst>
              <a:ext uri="{FF2B5EF4-FFF2-40B4-BE49-F238E27FC236}">
                <a16:creationId xmlns:a16="http://schemas.microsoft.com/office/drawing/2014/main" id="{D25BBD3E-E4C4-8F36-DE6D-5333BFD3E20E}"/>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01000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Critical Features of Legislative Process</a:t>
            </a:r>
          </a:p>
        </p:txBody>
      </p:sp>
      <p:sp>
        <p:nvSpPr>
          <p:cNvPr id="3" name="Content Placeholder 2"/>
          <p:cNvSpPr>
            <a:spLocks noGrp="1"/>
          </p:cNvSpPr>
          <p:nvPr>
            <p:ph idx="1"/>
          </p:nvPr>
        </p:nvSpPr>
        <p:spPr/>
        <p:txBody>
          <a:bodyPr>
            <a:normAutofit/>
          </a:bodyPr>
          <a:lstStyle/>
          <a:p>
            <a:r>
              <a:rPr lang="en-US" dirty="0"/>
              <a:t>Obstacles to legislating designed to encourage deliberation, allow input from multiple constituencies</a:t>
            </a:r>
          </a:p>
          <a:p>
            <a:r>
              <a:rPr lang="en-US" dirty="0"/>
              <a:t>Importance of norms – customary modes of interaction not enforceable by rule</a:t>
            </a:r>
          </a:p>
          <a:p>
            <a:r>
              <a:rPr lang="en-US" dirty="0"/>
              <a:t>Multiple sources of incentives for legislators</a:t>
            </a:r>
          </a:p>
          <a:p>
            <a:pPr lvl="1"/>
            <a:r>
              <a:rPr lang="en-US" dirty="0"/>
              <a:t>Policy preferences</a:t>
            </a:r>
          </a:p>
          <a:p>
            <a:pPr lvl="1"/>
            <a:r>
              <a:rPr lang="en-US" dirty="0"/>
              <a:t>Impact on leadership, reelection prospects</a:t>
            </a:r>
          </a:p>
          <a:p>
            <a:pPr lvl="1"/>
            <a:r>
              <a:rPr lang="en-US" dirty="0"/>
              <a:t>Pressure for party loyalty</a:t>
            </a:r>
          </a:p>
          <a:p>
            <a:pPr lvl="1"/>
            <a:r>
              <a:rPr lang="en-US" dirty="0"/>
              <a:t>Availability of bargains</a:t>
            </a:r>
          </a:p>
          <a:p>
            <a:r>
              <a:rPr lang="en-US" dirty="0"/>
              <a:t>Importance of “collective action problems”</a:t>
            </a:r>
          </a:p>
        </p:txBody>
      </p:sp>
      <p:sp>
        <p:nvSpPr>
          <p:cNvPr id="4" name="Slide Number Placeholder 3"/>
          <p:cNvSpPr>
            <a:spLocks noGrp="1"/>
          </p:cNvSpPr>
          <p:nvPr>
            <p:ph type="sldNum" sz="quarter" idx="12"/>
          </p:nvPr>
        </p:nvSpPr>
        <p:spPr/>
        <p:txBody>
          <a:bodyPr/>
          <a:lstStyle/>
          <a:p>
            <a:fld id="{7ED1AE92-1F7A-794C-B2A7-2EEF60C9AF34}" type="slidenum">
              <a:rPr lang="en-US" smtClean="0"/>
              <a:t>6</a:t>
            </a:fld>
            <a:endParaRPr lang="en-US"/>
          </a:p>
        </p:txBody>
      </p:sp>
      <p:sp>
        <p:nvSpPr>
          <p:cNvPr id="5" name="Footer Placeholder 4">
            <a:extLst>
              <a:ext uri="{FF2B5EF4-FFF2-40B4-BE49-F238E27FC236}">
                <a16:creationId xmlns:a16="http://schemas.microsoft.com/office/drawing/2014/main" id="{D0ABBC9A-9A10-4DD3-104C-9ACB55AE2D42}"/>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024475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of Collective Action”</a:t>
            </a:r>
          </a:p>
        </p:txBody>
      </p:sp>
      <p:sp>
        <p:nvSpPr>
          <p:cNvPr id="3" name="Content Placeholder 2"/>
          <p:cNvSpPr>
            <a:spLocks noGrp="1"/>
          </p:cNvSpPr>
          <p:nvPr>
            <p:ph idx="1"/>
          </p:nvPr>
        </p:nvSpPr>
        <p:spPr/>
        <p:txBody>
          <a:bodyPr>
            <a:normAutofit/>
          </a:bodyPr>
          <a:lstStyle/>
          <a:p>
            <a:r>
              <a:rPr lang="en-US" sz="3600" dirty="0"/>
              <a:t>Legislation tracks influence of well-organized groups</a:t>
            </a:r>
          </a:p>
          <a:p>
            <a:r>
              <a:rPr lang="en-US" sz="3600" dirty="0"/>
              <a:t>More difficult to organize large groups with diffuse interests than small groups with intense common interests</a:t>
            </a:r>
          </a:p>
          <a:p>
            <a:r>
              <a:rPr lang="en-US" sz="3600" dirty="0"/>
              <a:t>[But how, then, to explain environmental laws, civil rights laws, safety laws?]</a:t>
            </a:r>
          </a:p>
        </p:txBody>
      </p:sp>
      <p:sp>
        <p:nvSpPr>
          <p:cNvPr id="4" name="Slide Number Placeholder 3"/>
          <p:cNvSpPr>
            <a:spLocks noGrp="1"/>
          </p:cNvSpPr>
          <p:nvPr>
            <p:ph type="sldNum" sz="quarter" idx="12"/>
          </p:nvPr>
        </p:nvSpPr>
        <p:spPr/>
        <p:txBody>
          <a:bodyPr/>
          <a:lstStyle/>
          <a:p>
            <a:fld id="{7ED1AE92-1F7A-794C-B2A7-2EEF60C9AF34}" type="slidenum">
              <a:rPr lang="en-US" smtClean="0"/>
              <a:t>7</a:t>
            </a:fld>
            <a:endParaRPr lang="en-US"/>
          </a:p>
        </p:txBody>
      </p:sp>
      <p:sp>
        <p:nvSpPr>
          <p:cNvPr id="5" name="Footer Placeholder 4">
            <a:extLst>
              <a:ext uri="{FF2B5EF4-FFF2-40B4-BE49-F238E27FC236}">
                <a16:creationId xmlns:a16="http://schemas.microsoft.com/office/drawing/2014/main" id="{71D53066-2E01-F9CA-9E0F-C67C0309B5E3}"/>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741530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Vetogates</a:t>
            </a:r>
            <a:r>
              <a:rPr lang="en-US" dirty="0"/>
              <a:t>”</a:t>
            </a:r>
          </a:p>
        </p:txBody>
      </p:sp>
      <p:sp>
        <p:nvSpPr>
          <p:cNvPr id="3" name="Content Placeholder 2"/>
          <p:cNvSpPr>
            <a:spLocks noGrp="1"/>
          </p:cNvSpPr>
          <p:nvPr>
            <p:ph idx="1"/>
          </p:nvPr>
        </p:nvSpPr>
        <p:spPr/>
        <p:txBody>
          <a:bodyPr>
            <a:normAutofit/>
          </a:bodyPr>
          <a:lstStyle/>
          <a:p>
            <a:r>
              <a:rPr lang="en-US" sz="3200" dirty="0"/>
              <a:t>Committee chair holds the most power; can refuse to assign to a subcommittee, refuse to hold a hearing, or assign to a hostile subcommittee.</a:t>
            </a:r>
          </a:p>
          <a:p>
            <a:r>
              <a:rPr lang="en-US" sz="3200" dirty="0"/>
              <a:t>Floor scheduling </a:t>
            </a:r>
            <a:r>
              <a:rPr lang="mr-IN" sz="3200" dirty="0"/>
              <a:t>–</a:t>
            </a:r>
            <a:r>
              <a:rPr lang="en-US" sz="3200" dirty="0"/>
              <a:t> can get low priority</a:t>
            </a:r>
          </a:p>
          <a:p>
            <a:r>
              <a:rPr lang="en-US" sz="3200" dirty="0"/>
              <a:t>Floor consideration </a:t>
            </a:r>
            <a:r>
              <a:rPr lang="mr-IN" sz="3200" dirty="0"/>
              <a:t>–</a:t>
            </a:r>
            <a:r>
              <a:rPr lang="en-US" sz="3200" dirty="0"/>
              <a:t> Senate filibuster</a:t>
            </a:r>
          </a:p>
          <a:p>
            <a:r>
              <a:rPr lang="en-US" sz="3200" dirty="0"/>
              <a:t>Refusal of either House to adopt the conference version</a:t>
            </a:r>
          </a:p>
          <a:p>
            <a:r>
              <a:rPr lang="en-US" sz="3200" dirty="0"/>
              <a:t>Presidential veto</a:t>
            </a:r>
          </a:p>
        </p:txBody>
      </p:sp>
      <p:sp>
        <p:nvSpPr>
          <p:cNvPr id="4" name="Slide Number Placeholder 3"/>
          <p:cNvSpPr>
            <a:spLocks noGrp="1"/>
          </p:cNvSpPr>
          <p:nvPr>
            <p:ph type="sldNum" sz="quarter" idx="12"/>
          </p:nvPr>
        </p:nvSpPr>
        <p:spPr/>
        <p:txBody>
          <a:bodyPr/>
          <a:lstStyle/>
          <a:p>
            <a:fld id="{7ED1AE92-1F7A-794C-B2A7-2EEF60C9AF34}" type="slidenum">
              <a:rPr lang="en-US" smtClean="0"/>
              <a:t>8</a:t>
            </a:fld>
            <a:endParaRPr lang="en-US"/>
          </a:p>
        </p:txBody>
      </p:sp>
      <p:sp>
        <p:nvSpPr>
          <p:cNvPr id="5" name="Footer Placeholder 4">
            <a:extLst>
              <a:ext uri="{FF2B5EF4-FFF2-40B4-BE49-F238E27FC236}">
                <a16:creationId xmlns:a16="http://schemas.microsoft.com/office/drawing/2014/main" id="{DF16156F-5EBB-99EA-E640-B87CC65EFB0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49144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0503405-13A9-3251-AEB1-6F7C2D5CE232}"/>
              </a:ext>
            </a:extLst>
          </p:cNvPr>
          <p:cNvSpPr>
            <a:spLocks noGrp="1"/>
          </p:cNvSpPr>
          <p:nvPr>
            <p:ph type="title"/>
          </p:nvPr>
        </p:nvSpPr>
        <p:spPr/>
        <p:txBody>
          <a:bodyPr>
            <a:normAutofit/>
          </a:bodyPr>
          <a:lstStyle/>
          <a:p>
            <a:r>
              <a:rPr lang="en-US" dirty="0"/>
              <a:t>How Party Discipline Works in the House</a:t>
            </a:r>
          </a:p>
        </p:txBody>
      </p:sp>
      <p:sp>
        <p:nvSpPr>
          <p:cNvPr id="8" name="Content Placeholder 7">
            <a:extLst>
              <a:ext uri="{FF2B5EF4-FFF2-40B4-BE49-F238E27FC236}">
                <a16:creationId xmlns:a16="http://schemas.microsoft.com/office/drawing/2014/main" id="{145BED6C-420E-05E4-B5C6-2322E67B1D99}"/>
              </a:ext>
            </a:extLst>
          </p:cNvPr>
          <p:cNvSpPr>
            <a:spLocks noGrp="1"/>
          </p:cNvSpPr>
          <p:nvPr>
            <p:ph idx="1"/>
          </p:nvPr>
        </p:nvSpPr>
        <p:spPr/>
        <p:txBody>
          <a:bodyPr>
            <a:normAutofit/>
          </a:bodyPr>
          <a:lstStyle/>
          <a:p>
            <a:r>
              <a:rPr lang="en-US" dirty="0"/>
              <a:t>Leadership controls the agenda through the Rules committee</a:t>
            </a:r>
          </a:p>
          <a:p>
            <a:r>
              <a:rPr lang="en-US" dirty="0"/>
              <a:t>House has 3 competing proposals on Policy X, C, M, and L</a:t>
            </a:r>
          </a:p>
          <a:p>
            <a:r>
              <a:rPr lang="en-US" dirty="0"/>
              <a:t>With GOP or Dems in control, neither most conservative R’s or most liberal D’s have a majority</a:t>
            </a:r>
          </a:p>
          <a:p>
            <a:r>
              <a:rPr lang="en-US" dirty="0"/>
              <a:t>But party moderates will support leadership rule preferences rather than forming interparty coalitions – why?</a:t>
            </a:r>
          </a:p>
          <a:p>
            <a:pPr lvl="1"/>
            <a:r>
              <a:rPr lang="en-US" dirty="0"/>
              <a:t>Strong norm of supporting special rules</a:t>
            </a:r>
          </a:p>
          <a:p>
            <a:pPr lvl="1"/>
            <a:r>
              <a:rPr lang="en-US" dirty="0"/>
              <a:t>Cost of going along &lt; Cost of dissent</a:t>
            </a:r>
          </a:p>
          <a:p>
            <a:pPr lvl="1"/>
            <a:r>
              <a:rPr lang="en-US" dirty="0"/>
              <a:t>Party leadership rewards loyalty</a:t>
            </a:r>
          </a:p>
        </p:txBody>
      </p:sp>
      <p:sp>
        <p:nvSpPr>
          <p:cNvPr id="5" name="Footer Placeholder 4">
            <a:extLst>
              <a:ext uri="{FF2B5EF4-FFF2-40B4-BE49-F238E27FC236}">
                <a16:creationId xmlns:a16="http://schemas.microsoft.com/office/drawing/2014/main" id="{2D1C43C5-146D-D65E-377D-78BAA8A53F65}"/>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F5D09DBC-C6A4-B46A-92D6-5FCC8D34CA0A}"/>
              </a:ext>
            </a:extLst>
          </p:cNvPr>
          <p:cNvSpPr>
            <a:spLocks noGrp="1"/>
          </p:cNvSpPr>
          <p:nvPr>
            <p:ph type="sldNum" sz="quarter" idx="12"/>
          </p:nvPr>
        </p:nvSpPr>
        <p:spPr/>
        <p:txBody>
          <a:bodyPr/>
          <a:lstStyle/>
          <a:p>
            <a:fld id="{7ED1AE92-1F7A-794C-B2A7-2EEF60C9AF34}" type="slidenum">
              <a:rPr lang="en-US" smtClean="0"/>
              <a:t>9</a:t>
            </a:fld>
            <a:endParaRPr lang="en-US"/>
          </a:p>
        </p:txBody>
      </p:sp>
    </p:spTree>
    <p:extLst>
      <p:ext uri="{BB962C8B-B14F-4D97-AF65-F5344CB8AC3E}">
        <p14:creationId xmlns:p14="http://schemas.microsoft.com/office/powerpoint/2010/main" val="3152066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E5FC-2B50-04C8-4CF8-4AEA99A37B52}"/>
              </a:ext>
            </a:extLst>
          </p:cNvPr>
          <p:cNvSpPr>
            <a:spLocks noGrp="1"/>
          </p:cNvSpPr>
          <p:nvPr>
            <p:ph type="title"/>
          </p:nvPr>
        </p:nvSpPr>
        <p:spPr/>
        <p:txBody>
          <a:bodyPr/>
          <a:lstStyle/>
          <a:p>
            <a:r>
              <a:rPr lang="en-US" dirty="0"/>
              <a:t>Greater Complexity in the Senate</a:t>
            </a:r>
          </a:p>
        </p:txBody>
      </p:sp>
      <p:sp>
        <p:nvSpPr>
          <p:cNvPr id="3" name="Content Placeholder 2">
            <a:extLst>
              <a:ext uri="{FF2B5EF4-FFF2-40B4-BE49-F238E27FC236}">
                <a16:creationId xmlns:a16="http://schemas.microsoft.com/office/drawing/2014/main" id="{34EC4332-4C41-3FB0-E0AC-AC09CE84FCF4}"/>
              </a:ext>
            </a:extLst>
          </p:cNvPr>
          <p:cNvSpPr>
            <a:spLocks noGrp="1"/>
          </p:cNvSpPr>
          <p:nvPr>
            <p:ph idx="1"/>
          </p:nvPr>
        </p:nvSpPr>
        <p:spPr/>
        <p:txBody>
          <a:bodyPr>
            <a:normAutofit/>
          </a:bodyPr>
          <a:lstStyle/>
          <a:p>
            <a:r>
              <a:rPr lang="en-US" dirty="0"/>
              <a:t>Foundational Problem: Standing rules provide no limit to debate – creates opportunities for filibuster</a:t>
            </a:r>
          </a:p>
          <a:p>
            <a:r>
              <a:rPr lang="en-US" dirty="0"/>
              <a:t>Workarounds:</a:t>
            </a:r>
          </a:p>
          <a:p>
            <a:pPr lvl="1"/>
            <a:r>
              <a:rPr lang="en-US" dirty="0"/>
              <a:t>Cloture votes</a:t>
            </a:r>
          </a:p>
          <a:p>
            <a:pPr lvl="1"/>
            <a:r>
              <a:rPr lang="en-US" dirty="0"/>
              <a:t>Unanimous consent agreements</a:t>
            </a:r>
          </a:p>
          <a:p>
            <a:r>
              <a:rPr lang="en-US" dirty="0"/>
              <a:t>Filibusters may frustrate the majority, but work to the benefit of moderates</a:t>
            </a:r>
          </a:p>
          <a:p>
            <a:pPr lvl="1"/>
            <a:r>
              <a:rPr lang="en-US" dirty="0"/>
              <a:t>Allows Senators to vote for things they know will not pass</a:t>
            </a:r>
          </a:p>
          <a:p>
            <a:pPr lvl="1"/>
            <a:r>
              <a:rPr lang="en-US" dirty="0"/>
              <a:t>Allows majority “dissenters” to vote “No” when it does not matter</a:t>
            </a:r>
          </a:p>
          <a:p>
            <a:r>
              <a:rPr lang="en-US" dirty="0"/>
              <a:t>Senate abolished filibusters for all POTUS nominations</a:t>
            </a:r>
          </a:p>
        </p:txBody>
      </p:sp>
      <p:sp>
        <p:nvSpPr>
          <p:cNvPr id="4" name="Footer Placeholder 3">
            <a:extLst>
              <a:ext uri="{FF2B5EF4-FFF2-40B4-BE49-F238E27FC236}">
                <a16:creationId xmlns:a16="http://schemas.microsoft.com/office/drawing/2014/main" id="{2C1D2244-6D3F-96CE-12A5-BBDDB431B20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9DE629FB-268D-12AB-069C-87CC3E5FD8BD}"/>
              </a:ext>
            </a:extLst>
          </p:cNvPr>
          <p:cNvSpPr>
            <a:spLocks noGrp="1"/>
          </p:cNvSpPr>
          <p:nvPr>
            <p:ph type="sldNum" sz="quarter" idx="12"/>
          </p:nvPr>
        </p:nvSpPr>
        <p:spPr/>
        <p:txBody>
          <a:bodyPr/>
          <a:lstStyle/>
          <a:p>
            <a:fld id="{7ED1AE92-1F7A-794C-B2A7-2EEF60C9AF34}" type="slidenum">
              <a:rPr lang="en-US" smtClean="0"/>
              <a:t>10</a:t>
            </a:fld>
            <a:endParaRPr lang="en-US"/>
          </a:p>
        </p:txBody>
      </p:sp>
    </p:spTree>
    <p:extLst>
      <p:ext uri="{BB962C8B-B14F-4D97-AF65-F5344CB8AC3E}">
        <p14:creationId xmlns:p14="http://schemas.microsoft.com/office/powerpoint/2010/main" val="2564739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 Process</a:t>
            </a:r>
          </a:p>
        </p:txBody>
      </p:sp>
      <p:sp>
        <p:nvSpPr>
          <p:cNvPr id="3" name="Content Placeholder 2"/>
          <p:cNvSpPr>
            <a:spLocks noGrp="1"/>
          </p:cNvSpPr>
          <p:nvPr>
            <p:ph idx="1"/>
          </p:nvPr>
        </p:nvSpPr>
        <p:spPr/>
        <p:txBody>
          <a:bodyPr>
            <a:normAutofit/>
          </a:bodyPr>
          <a:lstStyle/>
          <a:p>
            <a:r>
              <a:rPr lang="en-US" sz="3200" dirty="0"/>
              <a:t>Appropriations and Authorizations</a:t>
            </a:r>
          </a:p>
          <a:p>
            <a:r>
              <a:rPr lang="en-US" sz="3200" dirty="0"/>
              <a:t>Concurrent Budget Resolution (can’t be filibustered, not sent to President)</a:t>
            </a:r>
          </a:p>
          <a:p>
            <a:pPr lvl="1"/>
            <a:r>
              <a:rPr lang="en-US" sz="3200" dirty="0"/>
              <a:t>Directs committees to</a:t>
            </a:r>
          </a:p>
          <a:p>
            <a:pPr lvl="2"/>
            <a:r>
              <a:rPr lang="en-US" sz="2800" dirty="0"/>
              <a:t>Change spending (outlays) by specified amounts over a specified time;</a:t>
            </a:r>
          </a:p>
          <a:p>
            <a:pPr lvl="2"/>
            <a:r>
              <a:rPr lang="en-US" sz="2800" dirty="0"/>
              <a:t>Change revenues by specified amounts over a specified time; or</a:t>
            </a:r>
          </a:p>
          <a:p>
            <a:pPr lvl="2"/>
            <a:r>
              <a:rPr lang="en-US" sz="2800" dirty="0"/>
              <a:t>Raise or lower the public debt limit by a specified amount.</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7ED1AE92-1F7A-794C-B2A7-2EEF60C9AF34}" type="slidenum">
              <a:rPr lang="en-US" smtClean="0"/>
              <a:t>11</a:t>
            </a:fld>
            <a:endParaRPr lang="en-US"/>
          </a:p>
        </p:txBody>
      </p:sp>
      <p:sp>
        <p:nvSpPr>
          <p:cNvPr id="5" name="Footer Placeholder 4">
            <a:extLst>
              <a:ext uri="{FF2B5EF4-FFF2-40B4-BE49-F238E27FC236}">
                <a16:creationId xmlns:a16="http://schemas.microsoft.com/office/drawing/2014/main" id="{9014781E-F9D1-690F-4194-B89E21CC7CA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648734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Reconciliation Process</a:t>
            </a:r>
          </a:p>
        </p:txBody>
      </p:sp>
      <p:sp>
        <p:nvSpPr>
          <p:cNvPr id="4" name="Slide Number Placeholder 3"/>
          <p:cNvSpPr>
            <a:spLocks noGrp="1"/>
          </p:cNvSpPr>
          <p:nvPr>
            <p:ph type="sldNum" sz="quarter" idx="12"/>
          </p:nvPr>
        </p:nvSpPr>
        <p:spPr/>
        <p:txBody>
          <a:bodyPr/>
          <a:lstStyle/>
          <a:p>
            <a:fld id="{7ED1AE92-1F7A-794C-B2A7-2EEF60C9AF34}" type="slidenum">
              <a:rPr lang="en-US" smtClean="0"/>
              <a:t>12</a:t>
            </a:fld>
            <a:endParaRPr lang="en-US"/>
          </a:p>
        </p:txBody>
      </p:sp>
      <p:pic>
        <p:nvPicPr>
          <p:cNvPr id="10" name="Content Placeholder 9"/>
          <p:cNvPicPr>
            <a:picLocks noGrp="1" noChangeAspect="1"/>
          </p:cNvPicPr>
          <p:nvPr>
            <p:ph idx="1"/>
          </p:nvPr>
        </p:nvPicPr>
        <p:blipFill>
          <a:blip r:embed="rId2"/>
          <a:srcRect l="10151" r="10151"/>
          <a:stretch>
            <a:fillRect/>
          </a:stretch>
        </p:blipFill>
        <p:spPr/>
      </p:pic>
      <p:sp>
        <p:nvSpPr>
          <p:cNvPr id="3" name="Footer Placeholder 2">
            <a:extLst>
              <a:ext uri="{FF2B5EF4-FFF2-40B4-BE49-F238E27FC236}">
                <a16:creationId xmlns:a16="http://schemas.microsoft.com/office/drawing/2014/main" id="{6F04C760-5270-B0EA-28C5-AC6C3A9F316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384744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535B-61B2-72C0-EBB9-6F132E3F27E3}"/>
              </a:ext>
            </a:extLst>
          </p:cNvPr>
          <p:cNvSpPr>
            <a:spLocks noGrp="1"/>
          </p:cNvSpPr>
          <p:nvPr>
            <p:ph type="title"/>
          </p:nvPr>
        </p:nvSpPr>
        <p:spPr/>
        <p:txBody>
          <a:bodyPr>
            <a:normAutofit/>
          </a:bodyPr>
          <a:lstStyle/>
          <a:p>
            <a:r>
              <a:rPr lang="en-US" dirty="0"/>
              <a:t>Content of Legislation</a:t>
            </a:r>
            <a:br>
              <a:rPr lang="en-US" dirty="0"/>
            </a:br>
            <a:r>
              <a:rPr lang="en-US" dirty="0"/>
              <a:t>Reflects Multiple Inputs</a:t>
            </a:r>
          </a:p>
        </p:txBody>
      </p:sp>
      <p:sp>
        <p:nvSpPr>
          <p:cNvPr id="3" name="Content Placeholder 2">
            <a:extLst>
              <a:ext uri="{FF2B5EF4-FFF2-40B4-BE49-F238E27FC236}">
                <a16:creationId xmlns:a16="http://schemas.microsoft.com/office/drawing/2014/main" id="{49C0DBE3-AB4E-5EB8-6681-C50D48F780DA}"/>
              </a:ext>
            </a:extLst>
          </p:cNvPr>
          <p:cNvSpPr>
            <a:spLocks noGrp="1"/>
          </p:cNvSpPr>
          <p:nvPr>
            <p:ph idx="1"/>
          </p:nvPr>
        </p:nvSpPr>
        <p:spPr/>
        <p:txBody>
          <a:bodyPr>
            <a:normAutofit fontScale="92500" lnSpcReduction="20000"/>
          </a:bodyPr>
          <a:lstStyle/>
          <a:p>
            <a:r>
              <a:rPr lang="en-US" sz="4000" dirty="0"/>
              <a:t>Voters</a:t>
            </a:r>
          </a:p>
          <a:p>
            <a:r>
              <a:rPr lang="en-US" sz="4000" dirty="0"/>
              <a:t>Executive branch personnel</a:t>
            </a:r>
          </a:p>
          <a:p>
            <a:r>
              <a:rPr lang="en-US" sz="4000" dirty="0"/>
              <a:t>Congressional committee staff</a:t>
            </a:r>
          </a:p>
          <a:p>
            <a:r>
              <a:rPr lang="en-US" sz="4000" dirty="0"/>
              <a:t>Lobbyists</a:t>
            </a:r>
          </a:p>
          <a:p>
            <a:r>
              <a:rPr lang="en-US" sz="4000"/>
              <a:t>Legislative counsel</a:t>
            </a:r>
            <a:endParaRPr lang="en-US" sz="4000" dirty="0"/>
          </a:p>
          <a:p>
            <a:r>
              <a:rPr lang="en-US" sz="4000" dirty="0"/>
              <a:t>Press</a:t>
            </a:r>
          </a:p>
          <a:p>
            <a:pPr marL="0" indent="0">
              <a:buNone/>
            </a:pPr>
            <a:r>
              <a:rPr lang="en-US" sz="4000" dirty="0"/>
              <a:t>. . . Who also may or may not reflect popular majorities</a:t>
            </a:r>
          </a:p>
        </p:txBody>
      </p:sp>
      <p:sp>
        <p:nvSpPr>
          <p:cNvPr id="4" name="Footer Placeholder 3">
            <a:extLst>
              <a:ext uri="{FF2B5EF4-FFF2-40B4-BE49-F238E27FC236}">
                <a16:creationId xmlns:a16="http://schemas.microsoft.com/office/drawing/2014/main" id="{0288018F-4C04-DF6D-6CCE-DC0A32C71C6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586C2AE-5284-C2F5-A6CB-261CAAA526D7}"/>
              </a:ext>
            </a:extLst>
          </p:cNvPr>
          <p:cNvSpPr>
            <a:spLocks noGrp="1"/>
          </p:cNvSpPr>
          <p:nvPr>
            <p:ph type="sldNum" sz="quarter" idx="12"/>
          </p:nvPr>
        </p:nvSpPr>
        <p:spPr/>
        <p:txBody>
          <a:bodyPr/>
          <a:lstStyle/>
          <a:p>
            <a:fld id="{7ED1AE92-1F7A-794C-B2A7-2EEF60C9AF34}" type="slidenum">
              <a:rPr lang="en-US" smtClean="0"/>
              <a:t>13</a:t>
            </a:fld>
            <a:endParaRPr lang="en-US"/>
          </a:p>
        </p:txBody>
      </p:sp>
    </p:spTree>
    <p:extLst>
      <p:ext uri="{BB962C8B-B14F-4D97-AF65-F5344CB8AC3E}">
        <p14:creationId xmlns:p14="http://schemas.microsoft.com/office/powerpoint/2010/main" val="495620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Gerrymandering</a:t>
            </a:r>
          </a:p>
        </p:txBody>
      </p:sp>
      <p:pic>
        <p:nvPicPr>
          <p:cNvPr id="5" name="Content Placeholder 4" descr="Chart: Gerrymandering explained."/>
          <p:cNvPicPr>
            <a:picLocks noGrp="1" noChangeAspect="1"/>
          </p:cNvPicPr>
          <p:nvPr>
            <p:ph idx="1"/>
          </p:nvPr>
        </p:nvPicPr>
        <p:blipFill>
          <a:blip r:embed="rId2"/>
          <a:stretch>
            <a:fillRect/>
          </a:stretch>
        </p:blipFill>
        <p:spPr>
          <a:xfrm>
            <a:off x="3048574" y="1646238"/>
            <a:ext cx="6094853" cy="4525963"/>
          </a:xfrm>
          <a:prstGeom prst="rect">
            <a:avLst/>
          </a:prstGeom>
        </p:spPr>
      </p:pic>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3" name="Slide Number Placeholder 2">
            <a:extLst>
              <a:ext uri="{FF2B5EF4-FFF2-40B4-BE49-F238E27FC236}">
                <a16:creationId xmlns:a16="http://schemas.microsoft.com/office/drawing/2014/main" id="{DF32037A-ACE3-85DA-3237-61881A2E78F3}"/>
              </a:ext>
            </a:extLst>
          </p:cNvPr>
          <p:cNvSpPr>
            <a:spLocks noGrp="1"/>
          </p:cNvSpPr>
          <p:nvPr>
            <p:ph type="sldNum" sz="quarter" idx="12"/>
          </p:nvPr>
        </p:nvSpPr>
        <p:spPr/>
        <p:txBody>
          <a:bodyPr/>
          <a:lstStyle/>
          <a:p>
            <a:fld id="{BCFCE67A-E3E9-45FC-BA91-20554D1CBC4B}" type="slidenum">
              <a:rPr lang="en-US" smtClean="0"/>
              <a:t>14</a:t>
            </a:fld>
            <a:endParaRPr lang="en-US"/>
          </a:p>
        </p:txBody>
      </p:sp>
    </p:spTree>
    <p:extLst>
      <p:ext uri="{BB962C8B-B14F-4D97-AF65-F5344CB8AC3E}">
        <p14:creationId xmlns:p14="http://schemas.microsoft.com/office/powerpoint/2010/main" val="2042324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“Political Questions”</a:t>
            </a:r>
          </a:p>
        </p:txBody>
      </p:sp>
      <p:sp>
        <p:nvSpPr>
          <p:cNvPr id="3" name="Content Placeholder 2"/>
          <p:cNvSpPr>
            <a:spLocks noGrp="1"/>
          </p:cNvSpPr>
          <p:nvPr>
            <p:ph idx="1"/>
          </p:nvPr>
        </p:nvSpPr>
        <p:spPr/>
        <p:txBody>
          <a:bodyPr>
            <a:normAutofit/>
          </a:bodyPr>
          <a:lstStyle/>
          <a:p>
            <a:r>
              <a:rPr lang="en-US" dirty="0"/>
              <a:t>Textually committed to another branch</a:t>
            </a:r>
          </a:p>
          <a:p>
            <a:r>
              <a:rPr lang="en-US" dirty="0"/>
              <a:t>Lack of discoverable and manageable standards</a:t>
            </a:r>
          </a:p>
          <a:p>
            <a:r>
              <a:rPr lang="en-US" dirty="0"/>
              <a:t>Involves policymaking at the threshold of a kind that is </a:t>
            </a:r>
            <a:r>
              <a:rPr lang="en-US" dirty="0" err="1"/>
              <a:t>nonjudicial</a:t>
            </a:r>
            <a:endParaRPr lang="en-US" dirty="0"/>
          </a:p>
          <a:p>
            <a:r>
              <a:rPr lang="en-US" dirty="0"/>
              <a:t>Lack of respect for other branches</a:t>
            </a:r>
          </a:p>
          <a:p>
            <a:r>
              <a:rPr lang="en-US" dirty="0"/>
              <a:t>Need for adherence to prior political decisions</a:t>
            </a:r>
          </a:p>
          <a:p>
            <a:r>
              <a:rPr lang="en-US" dirty="0"/>
              <a:t>Potential for embarrassment from contradictory opinions</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3896929F-F872-0BC0-1BDB-C5968932C685}"/>
              </a:ext>
            </a:extLst>
          </p:cNvPr>
          <p:cNvSpPr>
            <a:spLocks noGrp="1"/>
          </p:cNvSpPr>
          <p:nvPr>
            <p:ph type="sldNum" sz="quarter" idx="12"/>
          </p:nvPr>
        </p:nvSpPr>
        <p:spPr/>
        <p:txBody>
          <a:bodyPr/>
          <a:lstStyle/>
          <a:p>
            <a:fld id="{BCFCE67A-E3E9-45FC-BA91-20554D1CBC4B}" type="slidenum">
              <a:rPr lang="en-US" smtClean="0"/>
              <a:t>15</a:t>
            </a:fld>
            <a:endParaRPr lang="en-US"/>
          </a:p>
        </p:txBody>
      </p:sp>
    </p:spTree>
    <p:extLst>
      <p:ext uri="{BB962C8B-B14F-4D97-AF65-F5344CB8AC3E}">
        <p14:creationId xmlns:p14="http://schemas.microsoft.com/office/powerpoint/2010/main" val="303405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normAutofit fontScale="92500" lnSpcReduction="10000"/>
          </a:bodyPr>
          <a:lstStyle/>
          <a:p>
            <a:r>
              <a:rPr lang="en-US" dirty="0"/>
              <a:t>Is tax bill unconstitutional because House impermissibly allowed Senate to vote first?</a:t>
            </a:r>
          </a:p>
          <a:p>
            <a:r>
              <a:rPr lang="en-US" dirty="0"/>
              <a:t>Did President lawfully withdraw from a treaty?</a:t>
            </a:r>
          </a:p>
          <a:p>
            <a:r>
              <a:rPr lang="en-US" dirty="0"/>
              <a:t>Was a bombing attack on [insert nation] in retaliation for that nation’s involvement in a terrorist plot that resulted in U.S. military casualties constitutional?</a:t>
            </a:r>
          </a:p>
          <a:p>
            <a:r>
              <a:rPr lang="en-US" dirty="0"/>
              <a:t>Did President impermissibly receive [Insert name] as an ambassador from [country], thus conferring undeserved diplomatic immunity?</a:t>
            </a:r>
          </a:p>
          <a:p>
            <a:r>
              <a:rPr lang="en-US" dirty="0"/>
              <a:t>Was a Senate impeachment trial that ousted a federal judge from office unconstitutional because the evidentiary hearing was held by a committee, not the Senate as a whole?</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92BCC614-593E-C58F-D0DF-FDDC8B1C04E8}"/>
              </a:ext>
            </a:extLst>
          </p:cNvPr>
          <p:cNvSpPr>
            <a:spLocks noGrp="1"/>
          </p:cNvSpPr>
          <p:nvPr>
            <p:ph type="sldNum" sz="quarter" idx="12"/>
          </p:nvPr>
        </p:nvSpPr>
        <p:spPr/>
        <p:txBody>
          <a:bodyPr/>
          <a:lstStyle/>
          <a:p>
            <a:fld id="{BCFCE67A-E3E9-45FC-BA91-20554D1CBC4B}" type="slidenum">
              <a:rPr lang="en-US" smtClean="0"/>
              <a:t>16</a:t>
            </a:fld>
            <a:endParaRPr lang="en-US"/>
          </a:p>
        </p:txBody>
      </p:sp>
    </p:spTree>
    <p:extLst>
      <p:ext uri="{BB962C8B-B14F-4D97-AF65-F5344CB8AC3E}">
        <p14:creationId xmlns:p14="http://schemas.microsoft.com/office/powerpoint/2010/main" val="2311473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Rucho</a:t>
            </a:r>
            <a:r>
              <a:rPr lang="en-US" dirty="0"/>
              <a:t> v. Common Cause (2019)</a:t>
            </a:r>
          </a:p>
        </p:txBody>
      </p:sp>
      <p:sp>
        <p:nvSpPr>
          <p:cNvPr id="3" name="Content Placeholder 2"/>
          <p:cNvSpPr>
            <a:spLocks noGrp="1"/>
          </p:cNvSpPr>
          <p:nvPr>
            <p:ph idx="1"/>
          </p:nvPr>
        </p:nvSpPr>
        <p:spPr/>
        <p:txBody>
          <a:bodyPr/>
          <a:lstStyle/>
          <a:p>
            <a:r>
              <a:rPr lang="en-US" dirty="0"/>
              <a:t>Extreme differences between composition of state’s votes for Congress and seats won</a:t>
            </a:r>
          </a:p>
          <a:p>
            <a:pPr lvl="1"/>
            <a:r>
              <a:rPr lang="en-US" dirty="0"/>
              <a:t>NC: Ds and </a:t>
            </a:r>
            <a:r>
              <a:rPr lang="en-US" dirty="0" err="1"/>
              <a:t>Rs</a:t>
            </a:r>
            <a:r>
              <a:rPr lang="en-US" dirty="0"/>
              <a:t> split vote 50/50, but </a:t>
            </a:r>
            <a:r>
              <a:rPr lang="en-US" dirty="0" err="1"/>
              <a:t>Rs</a:t>
            </a:r>
            <a:r>
              <a:rPr lang="en-US" dirty="0"/>
              <a:t> got 9/12 seats</a:t>
            </a:r>
          </a:p>
          <a:p>
            <a:pPr lvl="1"/>
            <a:r>
              <a:rPr lang="en-US" dirty="0"/>
              <a:t>MD: Vote splits 65% D, 35% R, but D’s get 7/8 seats</a:t>
            </a:r>
          </a:p>
          <a:p>
            <a:r>
              <a:rPr lang="en-US" dirty="0"/>
              <a:t>No doubt about motivation: Statements by GOP redistricting chairs in NC and Dem governor in MD</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33D2E0E-2B64-1385-3FF0-48F4D6A0BD31}"/>
              </a:ext>
            </a:extLst>
          </p:cNvPr>
          <p:cNvSpPr>
            <a:spLocks noGrp="1"/>
          </p:cNvSpPr>
          <p:nvPr>
            <p:ph type="sldNum" sz="quarter" idx="12"/>
          </p:nvPr>
        </p:nvSpPr>
        <p:spPr/>
        <p:txBody>
          <a:bodyPr/>
          <a:lstStyle/>
          <a:p>
            <a:fld id="{BCFCE67A-E3E9-45FC-BA91-20554D1CBC4B}" type="slidenum">
              <a:rPr lang="en-US" smtClean="0"/>
              <a:t>17</a:t>
            </a:fld>
            <a:endParaRPr lang="en-US"/>
          </a:p>
        </p:txBody>
      </p:sp>
    </p:spTree>
    <p:extLst>
      <p:ext uri="{BB962C8B-B14F-4D97-AF65-F5344CB8AC3E}">
        <p14:creationId xmlns:p14="http://schemas.microsoft.com/office/powerpoint/2010/main" val="127665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 Political Question?</a:t>
            </a:r>
          </a:p>
        </p:txBody>
      </p:sp>
      <p:sp>
        <p:nvSpPr>
          <p:cNvPr id="3" name="Content Placeholder 2"/>
          <p:cNvSpPr>
            <a:spLocks noGrp="1"/>
          </p:cNvSpPr>
          <p:nvPr>
            <p:ph idx="1"/>
          </p:nvPr>
        </p:nvSpPr>
        <p:spPr/>
        <p:txBody>
          <a:bodyPr>
            <a:normAutofit/>
          </a:bodyPr>
          <a:lstStyle/>
          <a:p>
            <a:r>
              <a:rPr lang="en-US" sz="3200" dirty="0"/>
              <a:t>Majority</a:t>
            </a:r>
          </a:p>
          <a:p>
            <a:pPr lvl="1"/>
            <a:r>
              <a:rPr lang="en-US" sz="2800" dirty="0"/>
              <a:t>Without a baseline notion of fairness, there is no manageable way to determine how much is too much, constitutionally speaking – no “limited and precise standard that is judicially discernible and manageable”</a:t>
            </a:r>
          </a:p>
          <a:p>
            <a:pPr lvl="1"/>
            <a:r>
              <a:rPr lang="en-US" sz="2800" dirty="0"/>
              <a:t>Voters have recourse to Congress, to state courts, and to state initiative processes</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6DE2A5D-8BC7-32EC-B407-809E151C8947}"/>
              </a:ext>
            </a:extLst>
          </p:cNvPr>
          <p:cNvSpPr>
            <a:spLocks noGrp="1"/>
          </p:cNvSpPr>
          <p:nvPr>
            <p:ph type="sldNum" sz="quarter" idx="12"/>
          </p:nvPr>
        </p:nvSpPr>
        <p:spPr/>
        <p:txBody>
          <a:bodyPr/>
          <a:lstStyle/>
          <a:p>
            <a:fld id="{BCFCE67A-E3E9-45FC-BA91-20554D1CBC4B}" type="slidenum">
              <a:rPr lang="en-US" smtClean="0"/>
              <a:t>18</a:t>
            </a:fld>
            <a:endParaRPr lang="en-US"/>
          </a:p>
        </p:txBody>
      </p:sp>
    </p:spTree>
    <p:extLst>
      <p:ext uri="{BB962C8B-B14F-4D97-AF65-F5344CB8AC3E}">
        <p14:creationId xmlns:p14="http://schemas.microsoft.com/office/powerpoint/2010/main" val="3122191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65FF-1267-56EB-0DC7-74729117B378}"/>
              </a:ext>
            </a:extLst>
          </p:cNvPr>
          <p:cNvSpPr>
            <a:spLocks noGrp="1"/>
          </p:cNvSpPr>
          <p:nvPr>
            <p:ph type="title"/>
          </p:nvPr>
        </p:nvSpPr>
        <p:spPr/>
        <p:txBody>
          <a:bodyPr/>
          <a:lstStyle/>
          <a:p>
            <a:r>
              <a:rPr lang="en-US" dirty="0"/>
              <a:t>Majority Argument</a:t>
            </a:r>
          </a:p>
        </p:txBody>
      </p:sp>
      <p:sp>
        <p:nvSpPr>
          <p:cNvPr id="3" name="Content Placeholder 2">
            <a:extLst>
              <a:ext uri="{FF2B5EF4-FFF2-40B4-BE49-F238E27FC236}">
                <a16:creationId xmlns:a16="http://schemas.microsoft.com/office/drawing/2014/main" id="{782399A7-2B54-D545-DB9A-7CDB679A877C}"/>
              </a:ext>
            </a:extLst>
          </p:cNvPr>
          <p:cNvSpPr>
            <a:spLocks noGrp="1"/>
          </p:cNvSpPr>
          <p:nvPr>
            <p:ph idx="1"/>
          </p:nvPr>
        </p:nvSpPr>
        <p:spPr/>
        <p:txBody>
          <a:bodyPr>
            <a:normAutofit/>
          </a:bodyPr>
          <a:lstStyle/>
          <a:p>
            <a:r>
              <a:rPr lang="en-US" dirty="0"/>
              <a:t>Partisan gerrymandering claims presuppose a norm of proportional representation</a:t>
            </a:r>
          </a:p>
          <a:p>
            <a:r>
              <a:rPr lang="en-US" dirty="0"/>
              <a:t>Uncertain if goal is overall competitiveness of districts, representative shares of total seats, adherence to traditional districting criteria</a:t>
            </a:r>
          </a:p>
          <a:p>
            <a:r>
              <a:rPr lang="en-US" dirty="0"/>
              <a:t>Uncertain how much deviation from the ideal is permissible, even when ideal is chosen</a:t>
            </a:r>
          </a:p>
          <a:p>
            <a:r>
              <a:rPr lang="en-US" dirty="0"/>
              <a:t>Disdains comparison to reapportionment, racial gerrymandering claims</a:t>
            </a:r>
          </a:p>
        </p:txBody>
      </p:sp>
      <p:sp>
        <p:nvSpPr>
          <p:cNvPr id="4" name="Footer Placeholder 3">
            <a:extLst>
              <a:ext uri="{FF2B5EF4-FFF2-40B4-BE49-F238E27FC236}">
                <a16:creationId xmlns:a16="http://schemas.microsoft.com/office/drawing/2014/main" id="{30857426-A9D9-1312-4013-07A67EDB8418}"/>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D76F020-E6F6-F34F-54CE-45EF17C310E3}"/>
              </a:ext>
            </a:extLst>
          </p:cNvPr>
          <p:cNvSpPr>
            <a:spLocks noGrp="1"/>
          </p:cNvSpPr>
          <p:nvPr>
            <p:ph type="sldNum" sz="quarter" idx="12"/>
          </p:nvPr>
        </p:nvSpPr>
        <p:spPr/>
        <p:txBody>
          <a:bodyPr/>
          <a:lstStyle/>
          <a:p>
            <a:fld id="{7ED1AE92-1F7A-794C-B2A7-2EEF60C9AF34}" type="slidenum">
              <a:rPr lang="en-US" smtClean="0"/>
              <a:t>19</a:t>
            </a:fld>
            <a:endParaRPr lang="en-US"/>
          </a:p>
        </p:txBody>
      </p:sp>
    </p:spTree>
    <p:extLst>
      <p:ext uri="{BB962C8B-B14F-4D97-AF65-F5344CB8AC3E}">
        <p14:creationId xmlns:p14="http://schemas.microsoft.com/office/powerpoint/2010/main" val="315882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Kagan Dissent</a:t>
            </a:r>
          </a:p>
        </p:txBody>
      </p:sp>
      <p:sp>
        <p:nvSpPr>
          <p:cNvPr id="3" name="Content Placeholder 2"/>
          <p:cNvSpPr>
            <a:spLocks noGrp="1"/>
          </p:cNvSpPr>
          <p:nvPr>
            <p:ph idx="1"/>
          </p:nvPr>
        </p:nvSpPr>
        <p:spPr/>
        <p:txBody>
          <a:bodyPr>
            <a:normAutofit/>
          </a:bodyPr>
          <a:lstStyle/>
          <a:p>
            <a:r>
              <a:rPr lang="en-US" dirty="0"/>
              <a:t>Extreme gerrymandering violates voters’ individual rights</a:t>
            </a:r>
          </a:p>
          <a:p>
            <a:pPr lvl="1"/>
            <a:r>
              <a:rPr lang="en-US" dirty="0"/>
              <a:t>Dilutes votes in violation of 14</a:t>
            </a:r>
            <a:r>
              <a:rPr lang="en-US" baseline="30000" dirty="0"/>
              <a:t>th</a:t>
            </a:r>
            <a:r>
              <a:rPr lang="en-US" dirty="0"/>
              <a:t> Amendment</a:t>
            </a:r>
          </a:p>
          <a:p>
            <a:pPr lvl="1"/>
            <a:r>
              <a:rPr lang="en-US" dirty="0"/>
              <a:t>Violates associational rights under 1</a:t>
            </a:r>
            <a:r>
              <a:rPr lang="en-US" baseline="30000" dirty="0"/>
              <a:t>st</a:t>
            </a:r>
            <a:r>
              <a:rPr lang="en-US" dirty="0"/>
              <a:t> Amendment</a:t>
            </a:r>
          </a:p>
          <a:p>
            <a:r>
              <a:rPr lang="en-US" dirty="0"/>
              <a:t>Adjudication would be routine—need to assess: Intent, Effects, Cause</a:t>
            </a:r>
          </a:p>
          <a:p>
            <a:r>
              <a:rPr lang="en-US" dirty="0"/>
              <a:t>Alternative sources of relief illusory</a:t>
            </a:r>
          </a:p>
          <a:p>
            <a:pPr lvl="1"/>
            <a:r>
              <a:rPr lang="en-US" dirty="0"/>
              <a:t>Not all states have initiative</a:t>
            </a:r>
          </a:p>
          <a:p>
            <a:pPr lvl="1"/>
            <a:r>
              <a:rPr lang="en-US" dirty="0"/>
              <a:t>Elected beneficiaries of gerrymandering won’t reform it</a:t>
            </a:r>
          </a:p>
          <a:p>
            <a:pPr lvl="1"/>
            <a:r>
              <a:rPr lang="en-US" dirty="0"/>
              <a:t>If state courts can remedy, then judges must have manageable standards available to them</a:t>
            </a:r>
          </a:p>
          <a:p>
            <a:pPr lvl="1"/>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E1EF0E7B-DBAF-002D-6445-E9EF8F1AB714}"/>
              </a:ext>
            </a:extLst>
          </p:cNvPr>
          <p:cNvSpPr>
            <a:spLocks noGrp="1"/>
          </p:cNvSpPr>
          <p:nvPr>
            <p:ph type="sldNum" sz="quarter" idx="12"/>
          </p:nvPr>
        </p:nvSpPr>
        <p:spPr/>
        <p:txBody>
          <a:bodyPr/>
          <a:lstStyle/>
          <a:p>
            <a:fld id="{BCFCE67A-E3E9-45FC-BA91-20554D1CBC4B}" type="slidenum">
              <a:rPr lang="en-US" smtClean="0"/>
              <a:t>20</a:t>
            </a:fld>
            <a:endParaRPr lang="en-US"/>
          </a:p>
        </p:txBody>
      </p:sp>
    </p:spTree>
    <p:extLst>
      <p:ext uri="{BB962C8B-B14F-4D97-AF65-F5344CB8AC3E}">
        <p14:creationId xmlns:p14="http://schemas.microsoft.com/office/powerpoint/2010/main" val="216243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Dissenters in Earlier Cases </a:t>
            </a:r>
            <a:br>
              <a:rPr lang="en-US" dirty="0"/>
            </a:br>
            <a:r>
              <a:rPr lang="en-US" dirty="0"/>
              <a:t>Offering Standards</a:t>
            </a:r>
          </a:p>
        </p:txBody>
      </p:sp>
      <p:sp>
        <p:nvSpPr>
          <p:cNvPr id="3" name="Content Placeholder 2"/>
          <p:cNvSpPr>
            <a:spLocks noGrp="1"/>
          </p:cNvSpPr>
          <p:nvPr>
            <p:ph idx="1"/>
          </p:nvPr>
        </p:nvSpPr>
        <p:spPr/>
        <p:txBody>
          <a:bodyPr>
            <a:normAutofit/>
          </a:bodyPr>
          <a:lstStyle/>
          <a:p>
            <a:r>
              <a:rPr lang="en-US" dirty="0"/>
              <a:t>Stevens: If district shape is bizarre and no neutral justification can be offered by way of explanation, scheme is unconstitutionally irrational and based on impermissible motive</a:t>
            </a:r>
          </a:p>
          <a:p>
            <a:r>
              <a:rPr lang="en-US" dirty="0"/>
              <a:t>Souter (with Ginsburg) – prima facie case</a:t>
            </a:r>
          </a:p>
          <a:p>
            <a:pPr lvl="1"/>
            <a:r>
              <a:rPr lang="en-US" dirty="0"/>
              <a:t>P part of cohesive political group</a:t>
            </a:r>
          </a:p>
          <a:p>
            <a:pPr lvl="1"/>
            <a:r>
              <a:rPr lang="en-US" dirty="0"/>
              <a:t>Traditional districting criteria ignored</a:t>
            </a:r>
          </a:p>
          <a:p>
            <a:pPr lvl="1"/>
            <a:r>
              <a:rPr lang="en-US" dirty="0"/>
              <a:t>Deviation from traditional criteria produced packing or cracking in P’s district</a:t>
            </a:r>
          </a:p>
          <a:p>
            <a:pPr lvl="1"/>
            <a:r>
              <a:rPr lang="en-US" dirty="0"/>
              <a:t>Alternative plan available with better outcome</a:t>
            </a:r>
          </a:p>
          <a:p>
            <a:pPr lvl="1"/>
            <a:r>
              <a:rPr lang="en-US" dirty="0"/>
              <a:t>Packing or cracking was intentional</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0AB7CFA5-F75F-68D6-7CB0-CFF328B09EC5}"/>
              </a:ext>
            </a:extLst>
          </p:cNvPr>
          <p:cNvSpPr>
            <a:spLocks noGrp="1"/>
          </p:cNvSpPr>
          <p:nvPr>
            <p:ph type="sldNum" sz="quarter" idx="12"/>
          </p:nvPr>
        </p:nvSpPr>
        <p:spPr/>
        <p:txBody>
          <a:bodyPr/>
          <a:lstStyle/>
          <a:p>
            <a:fld id="{BCFCE67A-E3E9-45FC-BA91-20554D1CBC4B}" type="slidenum">
              <a:rPr lang="en-US" smtClean="0"/>
              <a:t>21</a:t>
            </a:fld>
            <a:endParaRPr lang="en-US"/>
          </a:p>
        </p:txBody>
      </p:sp>
    </p:spTree>
    <p:extLst>
      <p:ext uri="{BB962C8B-B14F-4D97-AF65-F5344CB8AC3E}">
        <p14:creationId xmlns:p14="http://schemas.microsoft.com/office/powerpoint/2010/main" val="265085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title" idx="4294967295"/>
          </p:nvPr>
        </p:nvSpPr>
        <p:spPr bwMode="auto">
          <a:xfrm>
            <a:off x="4648200" y="6245225"/>
            <a:ext cx="2895600" cy="476250"/>
          </a:xfrm>
          <a:prstGeom prst="rect">
            <a:avLst/>
          </a:prstGeom>
          <a:noFill/>
          <a:ln>
            <a:noFill/>
            <a:prstDash/>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fontAlgn="base">
              <a:lnSpc>
                <a:spcPct val="100000"/>
              </a:lnSpc>
              <a:spcAft>
                <a:spcPct val="0"/>
              </a:spcAft>
              <a:defRPr/>
            </a:pPr>
            <a:endParaRPr lang="en-US" sz="1200" dirty="0">
              <a:latin typeface="Arial" charset="0"/>
              <a:ea typeface="+mn-ea"/>
              <a:cs typeface="Arial" charset="0"/>
            </a:endParaRPr>
          </a:p>
        </p:txBody>
      </p:sp>
      <p:pic>
        <p:nvPicPr>
          <p:cNvPr id="6" name="Picture 5" descr="Picture from NASA Earth Observatory">
            <a:extLs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457200"/>
            <a:ext cx="6286500" cy="5029200"/>
          </a:xfrm>
          <a:prstGeom prst="rect">
            <a:avLst/>
          </a:prstGeom>
        </p:spPr>
      </p:pic>
      <p:sp>
        <p:nvSpPr>
          <p:cNvPr id="3" name="Content Placeholder 2"/>
          <p:cNvSpPr>
            <a:spLocks noGrp="1"/>
          </p:cNvSpPr>
          <p:nvPr>
            <p:ph idx="1"/>
          </p:nvPr>
        </p:nvSpPr>
        <p:spPr/>
        <p:txBody>
          <a:bodyPr>
            <a:normAutofit lnSpcReduction="10000"/>
          </a:bodyPr>
          <a:lstStyle/>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2400" dirty="0"/>
          </a:p>
          <a:p>
            <a:pPr marL="0" indent="0">
              <a:buNone/>
            </a:pPr>
            <a:r>
              <a:rPr lang="en-US" sz="2400" dirty="0"/>
              <a:t>Photo Credit: NASA Earth Observatory</a:t>
            </a:r>
          </a:p>
        </p:txBody>
      </p:sp>
      <p:sp>
        <p:nvSpPr>
          <p:cNvPr id="2" name="Footer Placeholder 1">
            <a:extLst>
              <a:ext uri="{FF2B5EF4-FFF2-40B4-BE49-F238E27FC236}">
                <a16:creationId xmlns:a16="http://schemas.microsoft.com/office/drawing/2014/main" id="{09AA16B3-5C15-B881-28B4-E83130FE99E0}"/>
              </a:ext>
            </a:extLst>
          </p:cNvPr>
          <p:cNvSpPr>
            <a:spLocks noGrp="1"/>
          </p:cNvSpPr>
          <p:nvPr>
            <p:ph type="ftr" sz="quarter" idx="11"/>
          </p:nvPr>
        </p:nvSpPr>
        <p:spPr/>
        <p:txBody>
          <a:bodyPr/>
          <a:lstStyle/>
          <a:p>
            <a:r>
              <a:rPr lang="en-US" dirty="0"/>
              <a:t>© Copyright 2026.  Peter M. Shane All rights reserved.</a:t>
            </a:r>
          </a:p>
        </p:txBody>
      </p:sp>
    </p:spTree>
    <p:extLst>
      <p:ext uri="{BB962C8B-B14F-4D97-AF65-F5344CB8AC3E}">
        <p14:creationId xmlns:p14="http://schemas.microsoft.com/office/powerpoint/2010/main" val="167555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DDBE95-2E39-DAFC-0392-A3D5F7CFE6D6}"/>
              </a:ext>
            </a:extLst>
          </p:cNvPr>
          <p:cNvSpPr>
            <a:spLocks noGrp="1"/>
          </p:cNvSpPr>
          <p:nvPr>
            <p:ph type="title"/>
          </p:nvPr>
        </p:nvSpPr>
        <p:spPr/>
        <p:txBody>
          <a:bodyPr/>
          <a:lstStyle/>
          <a:p>
            <a:r>
              <a:rPr lang="en-US" dirty="0"/>
              <a:t>Causes and Harms of Algal Blooms</a:t>
            </a:r>
          </a:p>
        </p:txBody>
      </p:sp>
      <p:sp>
        <p:nvSpPr>
          <p:cNvPr id="5" name="Text Placeholder 4">
            <a:extLst>
              <a:ext uri="{FF2B5EF4-FFF2-40B4-BE49-F238E27FC236}">
                <a16:creationId xmlns:a16="http://schemas.microsoft.com/office/drawing/2014/main" id="{0C20B4E3-144D-70F1-343E-A4BB25688FDE}"/>
              </a:ext>
            </a:extLst>
          </p:cNvPr>
          <p:cNvSpPr>
            <a:spLocks noGrp="1"/>
          </p:cNvSpPr>
          <p:nvPr>
            <p:ph type="body" idx="1"/>
          </p:nvPr>
        </p:nvSpPr>
        <p:spPr/>
        <p:txBody>
          <a:bodyPr>
            <a:normAutofit fontScale="85000" lnSpcReduction="20000"/>
          </a:bodyPr>
          <a:lstStyle/>
          <a:p>
            <a:endParaRPr lang="en-US" sz="3200" b="0" dirty="0"/>
          </a:p>
          <a:p>
            <a:r>
              <a:rPr lang="en-US" sz="3200" dirty="0"/>
              <a:t>Causes</a:t>
            </a:r>
            <a:endParaRPr lang="en-US" dirty="0"/>
          </a:p>
          <a:p>
            <a:endParaRPr lang="en-US" dirty="0"/>
          </a:p>
        </p:txBody>
      </p:sp>
      <p:sp>
        <p:nvSpPr>
          <p:cNvPr id="6" name="Content Placeholder 5">
            <a:extLst>
              <a:ext uri="{FF2B5EF4-FFF2-40B4-BE49-F238E27FC236}">
                <a16:creationId xmlns:a16="http://schemas.microsoft.com/office/drawing/2014/main" id="{56D77EF2-1ECD-0B20-FB2F-EB254637EC37}"/>
              </a:ext>
            </a:extLst>
          </p:cNvPr>
          <p:cNvSpPr>
            <a:spLocks noGrp="1"/>
          </p:cNvSpPr>
          <p:nvPr>
            <p:ph sz="half" idx="2"/>
          </p:nvPr>
        </p:nvSpPr>
        <p:spPr/>
        <p:txBody>
          <a:bodyPr>
            <a:normAutofit fontScale="92500" lnSpcReduction="20000"/>
          </a:bodyPr>
          <a:lstStyle/>
          <a:p>
            <a:r>
              <a:rPr lang="en-US" dirty="0"/>
              <a:t>Agricultural Runoff: Excess crop fertilizers and livestock manure from farm fields into local streams and rivers that empty into the lakes.</a:t>
            </a:r>
          </a:p>
          <a:p>
            <a:r>
              <a:rPr lang="en-US" dirty="0"/>
              <a:t>Urban and Suburban Sources: Lawn fertilizers, sewage overflows, and failing septic systems add more nutrients to the water</a:t>
            </a:r>
          </a:p>
          <a:p>
            <a:r>
              <a:rPr lang="en-US" dirty="0"/>
              <a:t>Climate change; invasive species</a:t>
            </a:r>
          </a:p>
        </p:txBody>
      </p:sp>
      <p:sp>
        <p:nvSpPr>
          <p:cNvPr id="7" name="Text Placeholder 6">
            <a:extLst>
              <a:ext uri="{FF2B5EF4-FFF2-40B4-BE49-F238E27FC236}">
                <a16:creationId xmlns:a16="http://schemas.microsoft.com/office/drawing/2014/main" id="{4FD8C44F-B62E-2FC3-D8E9-BE617E2F8A0F}"/>
              </a:ext>
            </a:extLst>
          </p:cNvPr>
          <p:cNvSpPr>
            <a:spLocks noGrp="1"/>
          </p:cNvSpPr>
          <p:nvPr>
            <p:ph type="body" sz="quarter" idx="3"/>
          </p:nvPr>
        </p:nvSpPr>
        <p:spPr/>
        <p:txBody>
          <a:bodyPr>
            <a:normAutofit fontScale="85000" lnSpcReduction="20000"/>
          </a:bodyPr>
          <a:lstStyle/>
          <a:p>
            <a:r>
              <a:rPr lang="en-US" sz="3300" dirty="0"/>
              <a:t>Harms</a:t>
            </a:r>
            <a:endParaRPr lang="en-US" dirty="0"/>
          </a:p>
          <a:p>
            <a:endParaRPr lang="en-US" dirty="0"/>
          </a:p>
        </p:txBody>
      </p:sp>
      <p:sp>
        <p:nvSpPr>
          <p:cNvPr id="8" name="Content Placeholder 7">
            <a:extLst>
              <a:ext uri="{FF2B5EF4-FFF2-40B4-BE49-F238E27FC236}">
                <a16:creationId xmlns:a16="http://schemas.microsoft.com/office/drawing/2014/main" id="{8762CBED-4288-F4D8-D520-41F546A9CCD4}"/>
              </a:ext>
            </a:extLst>
          </p:cNvPr>
          <p:cNvSpPr>
            <a:spLocks noGrp="1"/>
          </p:cNvSpPr>
          <p:nvPr>
            <p:ph sz="quarter" idx="4"/>
          </p:nvPr>
        </p:nvSpPr>
        <p:spPr/>
        <p:txBody>
          <a:bodyPr>
            <a:normAutofit fontScale="92500" lnSpcReduction="20000"/>
          </a:bodyPr>
          <a:lstStyle/>
          <a:p>
            <a:r>
              <a:rPr lang="en-US" sz="3500" dirty="0"/>
              <a:t>Dangerous to public health</a:t>
            </a:r>
          </a:p>
          <a:p>
            <a:r>
              <a:rPr lang="en-US" sz="3500" dirty="0"/>
              <a:t>Destroying vital habitats and breeding grounds for birds, fish, and plants on which they rely</a:t>
            </a:r>
          </a:p>
          <a:p>
            <a:r>
              <a:rPr lang="en-US" sz="3500" dirty="0"/>
              <a:t>Decrease property values</a:t>
            </a:r>
          </a:p>
          <a:p>
            <a:r>
              <a:rPr lang="en-US" sz="3500" dirty="0"/>
              <a:t>Hurt tourism and recreation</a:t>
            </a:r>
          </a:p>
          <a:p>
            <a:endParaRPr lang="en-US" dirty="0"/>
          </a:p>
        </p:txBody>
      </p:sp>
      <p:sp>
        <p:nvSpPr>
          <p:cNvPr id="9" name="Footer Placeholder 8">
            <a:extLst>
              <a:ext uri="{FF2B5EF4-FFF2-40B4-BE49-F238E27FC236}">
                <a16:creationId xmlns:a16="http://schemas.microsoft.com/office/drawing/2014/main" id="{3CA2A7A3-9A8D-9A70-6FD8-2081645169E2}"/>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205324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additive="base">
                                        <p:cTn id="3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 calcmode="lin" valueType="num">
                                      <p:cBhvr additive="base">
                                        <p:cTn id="35"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anim calcmode="lin" valueType="num">
                                      <p:cBhvr additive="base">
                                        <p:cTn id="3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2" end="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anim calcmode="lin" valueType="num">
                                      <p:cBhvr additive="base">
                                        <p:cTn id="4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First Regime of U.S. Government Regulation Was the Common Law</a:t>
            </a:r>
          </a:p>
        </p:txBody>
      </p:sp>
      <p:sp>
        <p:nvSpPr>
          <p:cNvPr id="3" name="Content Placeholder 2"/>
          <p:cNvSpPr>
            <a:spLocks noGrp="1"/>
          </p:cNvSpPr>
          <p:nvPr>
            <p:ph idx="1"/>
          </p:nvPr>
        </p:nvSpPr>
        <p:spPr/>
        <p:txBody>
          <a:bodyPr>
            <a:normAutofit/>
          </a:bodyPr>
          <a:lstStyle/>
          <a:p>
            <a:r>
              <a:rPr lang="en-US" sz="4400" dirty="0"/>
              <a:t>Could affected parties enter into contracts with culpable polluters to pay for injuries?</a:t>
            </a:r>
          </a:p>
          <a:p>
            <a:r>
              <a:rPr lang="en-US" sz="4400" dirty="0"/>
              <a:t>Would tort suits by persons injured by the algal bloom eliminate the negative effects or at least make them manageable?</a:t>
            </a:r>
          </a:p>
        </p:txBody>
      </p:sp>
      <p:sp>
        <p:nvSpPr>
          <p:cNvPr id="4" name="Footer Placeholder 3">
            <a:extLst>
              <a:ext uri="{FF2B5EF4-FFF2-40B4-BE49-F238E27FC236}">
                <a16:creationId xmlns:a16="http://schemas.microsoft.com/office/drawing/2014/main" id="{9E40B523-57CF-F53E-F351-821C9F91C182}"/>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364449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Limits of Tort Law</a:t>
            </a:r>
          </a:p>
        </p:txBody>
      </p:sp>
      <p:sp>
        <p:nvSpPr>
          <p:cNvPr id="3" name="Content Placeholder 2"/>
          <p:cNvSpPr>
            <a:spLocks noGrp="1"/>
          </p:cNvSpPr>
          <p:nvPr>
            <p:ph idx="1"/>
          </p:nvPr>
        </p:nvSpPr>
        <p:spPr/>
        <p:txBody>
          <a:bodyPr>
            <a:normAutofit/>
          </a:bodyPr>
          <a:lstStyle/>
          <a:p>
            <a:r>
              <a:rPr lang="en-US" dirty="0"/>
              <a:t>Only incentivizes change to avoid harms that would elicit lawsuits </a:t>
            </a:r>
          </a:p>
          <a:p>
            <a:r>
              <a:rPr lang="en-US" dirty="0"/>
              <a:t>Retrospective v. prospective?</a:t>
            </a:r>
          </a:p>
          <a:p>
            <a:r>
              <a:rPr lang="en-US" dirty="0"/>
              <a:t>Reactive v. proactive?</a:t>
            </a:r>
          </a:p>
          <a:p>
            <a:r>
              <a:rPr lang="en-US" dirty="0"/>
              <a:t>Uncertainty</a:t>
            </a:r>
          </a:p>
          <a:p>
            <a:r>
              <a:rPr lang="en-US" dirty="0"/>
              <a:t>Institutional competence of courts</a:t>
            </a:r>
          </a:p>
          <a:p>
            <a:r>
              <a:rPr lang="en-US" dirty="0"/>
              <a:t>Political accountability</a:t>
            </a:r>
          </a:p>
          <a:p>
            <a:r>
              <a:rPr lang="en-US" dirty="0"/>
              <a:t>Parties v. Interested Participants</a:t>
            </a:r>
          </a:p>
          <a:p>
            <a:r>
              <a:rPr lang="en-US" dirty="0"/>
              <a:t>Collective action problems</a:t>
            </a:r>
          </a:p>
        </p:txBody>
      </p:sp>
      <p:sp>
        <p:nvSpPr>
          <p:cNvPr id="4" name="Footer Placeholder 3">
            <a:extLst>
              <a:ext uri="{FF2B5EF4-FFF2-40B4-BE49-F238E27FC236}">
                <a16:creationId xmlns:a16="http://schemas.microsoft.com/office/drawing/2014/main" id="{1F3B01DE-5ADB-8E21-7815-562CE2994BBE}"/>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2203994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A54D0-7CE6-0C40-D450-0C1DD1432B5E}"/>
              </a:ext>
            </a:extLst>
          </p:cNvPr>
          <p:cNvSpPr>
            <a:spLocks noGrp="1"/>
          </p:cNvSpPr>
          <p:nvPr>
            <p:ph type="title"/>
          </p:nvPr>
        </p:nvSpPr>
        <p:spPr/>
        <p:txBody>
          <a:bodyPr/>
          <a:lstStyle/>
          <a:p>
            <a:r>
              <a:rPr lang="en-US" dirty="0"/>
              <a:t>Potential Normative Arguments in Support of Particular Regulations</a:t>
            </a:r>
          </a:p>
        </p:txBody>
      </p:sp>
      <p:sp>
        <p:nvSpPr>
          <p:cNvPr id="3" name="Content Placeholder 2">
            <a:extLst>
              <a:ext uri="{FF2B5EF4-FFF2-40B4-BE49-F238E27FC236}">
                <a16:creationId xmlns:a16="http://schemas.microsoft.com/office/drawing/2014/main" id="{1BCB64F0-EE76-5931-B3E4-FA5A17C9DBB6}"/>
              </a:ext>
            </a:extLst>
          </p:cNvPr>
          <p:cNvSpPr>
            <a:spLocks noGrp="1"/>
          </p:cNvSpPr>
          <p:nvPr>
            <p:ph idx="1"/>
          </p:nvPr>
        </p:nvSpPr>
        <p:spPr/>
        <p:txBody>
          <a:bodyPr>
            <a:normAutofit fontScale="92500" lnSpcReduction="10000"/>
          </a:bodyPr>
          <a:lstStyle/>
          <a:p>
            <a:r>
              <a:rPr lang="en-US" dirty="0"/>
              <a:t>Market forces do not require parties who can inflict harm to internalize the cost of the harms they cause (negative externalities)</a:t>
            </a:r>
          </a:p>
          <a:p>
            <a:pPr lvl="1"/>
            <a:r>
              <a:rPr lang="en-US" dirty="0"/>
              <a:t>Information asymmetries</a:t>
            </a:r>
          </a:p>
          <a:p>
            <a:pPr lvl="1"/>
            <a:r>
              <a:rPr lang="en-US" dirty="0"/>
              <a:t>Barriers to free competition (</a:t>
            </a:r>
            <a:r>
              <a:rPr lang="en-US"/>
              <a:t>market concentration)</a:t>
            </a:r>
            <a:endParaRPr lang="en-US" dirty="0"/>
          </a:p>
          <a:p>
            <a:r>
              <a:rPr lang="en-US" dirty="0"/>
              <a:t>Promoting public goods</a:t>
            </a:r>
          </a:p>
          <a:p>
            <a:r>
              <a:rPr lang="en-US" dirty="0"/>
              <a:t>Eliminating social subordination of groups</a:t>
            </a:r>
          </a:p>
          <a:p>
            <a:r>
              <a:rPr lang="en-US" dirty="0"/>
              <a:t>Intergenerational equity</a:t>
            </a:r>
          </a:p>
          <a:p>
            <a:r>
              <a:rPr lang="en-US" dirty="0"/>
              <a:t>Protect public interest in some scarce resource </a:t>
            </a:r>
          </a:p>
          <a:p>
            <a:r>
              <a:rPr lang="en-US" dirty="0"/>
              <a:t>Values for their own sake</a:t>
            </a:r>
          </a:p>
          <a:p>
            <a:r>
              <a:rPr lang="en-US" dirty="0"/>
              <a:t>First successful national regulation: Steamboat boilers</a:t>
            </a:r>
          </a:p>
          <a:p>
            <a:endParaRPr lang="en-US" dirty="0"/>
          </a:p>
          <a:p>
            <a:endParaRPr lang="en-US" dirty="0"/>
          </a:p>
        </p:txBody>
      </p:sp>
      <p:sp>
        <p:nvSpPr>
          <p:cNvPr id="4" name="Footer Placeholder 3">
            <a:extLst>
              <a:ext uri="{FF2B5EF4-FFF2-40B4-BE49-F238E27FC236}">
                <a16:creationId xmlns:a16="http://schemas.microsoft.com/office/drawing/2014/main" id="{276F1D38-24B9-628D-41BF-C6B7B2BBB564}"/>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72749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Potential Normative Arguments Against Specific Regulations</a:t>
            </a:r>
          </a:p>
        </p:txBody>
      </p:sp>
      <p:sp>
        <p:nvSpPr>
          <p:cNvPr id="3" name="Content Placeholder 2"/>
          <p:cNvSpPr>
            <a:spLocks noGrp="1"/>
          </p:cNvSpPr>
          <p:nvPr>
            <p:ph idx="1"/>
          </p:nvPr>
        </p:nvSpPr>
        <p:spPr/>
        <p:txBody>
          <a:bodyPr>
            <a:normAutofit/>
          </a:bodyPr>
          <a:lstStyle/>
          <a:p>
            <a:r>
              <a:rPr lang="en-US" dirty="0"/>
              <a:t>Costs exceed benefits</a:t>
            </a:r>
          </a:p>
          <a:p>
            <a:r>
              <a:rPr lang="en-US" dirty="0"/>
              <a:t>Unfairness to regulated parties </a:t>
            </a:r>
            <a:r>
              <a:rPr lang="mr-IN" dirty="0"/>
              <a:t>–</a:t>
            </a:r>
            <a:r>
              <a:rPr lang="en-US" dirty="0"/>
              <a:t> too few paying the cost of benefits for all</a:t>
            </a:r>
          </a:p>
          <a:p>
            <a:r>
              <a:rPr lang="en-US" dirty="0"/>
              <a:t>Unintended consequences</a:t>
            </a:r>
          </a:p>
          <a:p>
            <a:pPr lvl="1"/>
            <a:r>
              <a:rPr lang="en-US" dirty="0"/>
              <a:t>Impact on innovation?</a:t>
            </a:r>
          </a:p>
          <a:p>
            <a:pPr lvl="1"/>
            <a:r>
              <a:rPr lang="en-US" dirty="0"/>
              <a:t>Barriers to new entrants?</a:t>
            </a:r>
          </a:p>
          <a:p>
            <a:r>
              <a:rPr lang="en-US" dirty="0"/>
              <a:t>Disputes over underlying values</a:t>
            </a:r>
          </a:p>
          <a:p>
            <a:r>
              <a:rPr lang="en-US" dirty="0"/>
              <a:t>Regulatory choice not rational or not adopted through fair procedure</a:t>
            </a:r>
          </a:p>
          <a:p>
            <a:endParaRPr lang="en-US" dirty="0"/>
          </a:p>
        </p:txBody>
      </p:sp>
      <p:sp>
        <p:nvSpPr>
          <p:cNvPr id="4" name="Footer Placeholder 3">
            <a:extLst>
              <a:ext uri="{FF2B5EF4-FFF2-40B4-BE49-F238E27FC236}">
                <a16:creationId xmlns:a16="http://schemas.microsoft.com/office/drawing/2014/main" id="{A844951B-053C-EC9B-4D1B-EF82BE7A7B67}"/>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136271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Normative v. Descriptive Explanations</a:t>
            </a:r>
          </a:p>
        </p:txBody>
      </p:sp>
      <p:sp>
        <p:nvSpPr>
          <p:cNvPr id="3" name="Content Placeholder 2"/>
          <p:cNvSpPr>
            <a:spLocks noGrp="1"/>
          </p:cNvSpPr>
          <p:nvPr>
            <p:ph idx="1"/>
          </p:nvPr>
        </p:nvSpPr>
        <p:spPr/>
        <p:txBody>
          <a:bodyPr/>
          <a:lstStyle/>
          <a:p>
            <a:r>
              <a:rPr lang="en-US" dirty="0"/>
              <a:t>Potential justifications in principle for adopting regulation ≠ Explanations for why regulation is adopted</a:t>
            </a:r>
          </a:p>
          <a:p>
            <a:r>
              <a:rPr lang="en-US" dirty="0"/>
              <a:t>Normative Account = analysis of why something should or should not happen</a:t>
            </a:r>
          </a:p>
          <a:p>
            <a:r>
              <a:rPr lang="en-US" dirty="0"/>
              <a:t>Positive or Descriptive Account = analysis of why something is or is not likely to happen </a:t>
            </a:r>
          </a:p>
        </p:txBody>
      </p:sp>
      <p:sp>
        <p:nvSpPr>
          <p:cNvPr id="4" name="Footer Placeholder 3">
            <a:extLst>
              <a:ext uri="{FF2B5EF4-FFF2-40B4-BE49-F238E27FC236}">
                <a16:creationId xmlns:a16="http://schemas.microsoft.com/office/drawing/2014/main" id="{1EFF62AD-B448-E293-935A-DFDAD0567CD1}"/>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3066572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Going Beyond Tort Law</a:t>
            </a:r>
          </a:p>
        </p:txBody>
      </p:sp>
      <p:sp>
        <p:nvSpPr>
          <p:cNvPr id="3" name="Content Placeholder 2"/>
          <p:cNvSpPr>
            <a:spLocks noGrp="1"/>
          </p:cNvSpPr>
          <p:nvPr>
            <p:ph idx="1"/>
          </p:nvPr>
        </p:nvSpPr>
        <p:spPr/>
        <p:txBody>
          <a:bodyPr>
            <a:normAutofit/>
          </a:bodyPr>
          <a:lstStyle/>
          <a:p>
            <a:r>
              <a:rPr lang="en-US" dirty="0"/>
              <a:t>Legislatures frequently persuaded, given limits of common law, to regulate political, social, economic activity to advance social goals, including increasing safety, protecting public health, eliminating unjustified discrimination, protecting natural environment, promoting integrity of markets.</a:t>
            </a:r>
          </a:p>
          <a:p>
            <a:r>
              <a:rPr lang="en-US" dirty="0"/>
              <a:t>But “Should there be a regulation?” ≠ “Should there be a regulatory agency?”</a:t>
            </a:r>
          </a:p>
        </p:txBody>
      </p:sp>
      <p:sp>
        <p:nvSpPr>
          <p:cNvPr id="4" name="Footer Placeholder 3">
            <a:extLst>
              <a:ext uri="{FF2B5EF4-FFF2-40B4-BE49-F238E27FC236}">
                <a16:creationId xmlns:a16="http://schemas.microsoft.com/office/drawing/2014/main" id="{3A36AAC3-3EC5-6A13-59C4-1C0088266C61}"/>
              </a:ext>
            </a:extLst>
          </p:cNvPr>
          <p:cNvSpPr>
            <a:spLocks noGrp="1"/>
          </p:cNvSpPr>
          <p:nvPr>
            <p:ph type="ftr" sz="quarter" idx="11"/>
          </p:nvPr>
        </p:nvSpPr>
        <p:spPr/>
        <p:txBody>
          <a:bodyPr/>
          <a:lstStyle/>
          <a:p>
            <a:r>
              <a:rPr lang="en-US"/>
              <a:t>© Copyright 2026.  Peter M. Shane All rights reserved.</a:t>
            </a:r>
          </a:p>
        </p:txBody>
      </p:sp>
    </p:spTree>
    <p:extLst>
      <p:ext uri="{BB962C8B-B14F-4D97-AF65-F5344CB8AC3E}">
        <p14:creationId xmlns:p14="http://schemas.microsoft.com/office/powerpoint/2010/main" val="3570875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Path to Administration</a:t>
            </a:r>
          </a:p>
        </p:txBody>
      </p:sp>
      <p:sp>
        <p:nvSpPr>
          <p:cNvPr id="3" name="Content Placeholder 2"/>
          <p:cNvSpPr>
            <a:spLocks noGrp="1"/>
          </p:cNvSpPr>
          <p:nvPr>
            <p:ph idx="1"/>
          </p:nvPr>
        </p:nvSpPr>
        <p:spPr/>
        <p:txBody>
          <a:bodyPr/>
          <a:lstStyle/>
          <a:p>
            <a:r>
              <a:rPr lang="en-US" dirty="0"/>
              <a:t>Is there a problem warranting government response?</a:t>
            </a:r>
          </a:p>
          <a:p>
            <a:r>
              <a:rPr lang="en-US" dirty="0"/>
              <a:t>Would private law remedies suffice?  (Liability rule + judicial enforcement at the behest of private parties)</a:t>
            </a:r>
          </a:p>
          <a:p>
            <a:r>
              <a:rPr lang="en-US" dirty="0"/>
              <a:t>Should legislature prescribe conduct rules?</a:t>
            </a:r>
          </a:p>
          <a:p>
            <a:r>
              <a:rPr lang="en-US" dirty="0"/>
              <a:t>Should an agency be put in charge?</a:t>
            </a:r>
          </a:p>
          <a:p>
            <a:r>
              <a:rPr lang="en-US" dirty="0"/>
              <a:t>What tools should it have?</a:t>
            </a:r>
          </a:p>
        </p:txBody>
      </p:sp>
      <p:sp>
        <p:nvSpPr>
          <p:cNvPr id="4" name="Footer Placeholder 3"/>
          <p:cNvSpPr>
            <a:spLocks noGrp="1"/>
          </p:cNvSpPr>
          <p:nvPr>
            <p:ph type="ftr" sz="quarter" idx="11"/>
          </p:nvPr>
        </p:nvSpPr>
        <p:spPr/>
        <p:txBody>
          <a:bodyPr/>
          <a:lstStyle/>
          <a:p>
            <a:pPr>
              <a:defRPr/>
            </a:pPr>
            <a:r>
              <a:rPr lang="en-US" sz="1400"/>
              <a:t>© Copyright 2026.  Peter M. Shane All rights reserved.</a:t>
            </a:r>
            <a:endParaRPr lang="en-US" dirty="0"/>
          </a:p>
        </p:txBody>
      </p:sp>
    </p:spTree>
    <p:extLst>
      <p:ext uri="{BB962C8B-B14F-4D97-AF65-F5344CB8AC3E}">
        <p14:creationId xmlns:p14="http://schemas.microsoft.com/office/powerpoint/2010/main" val="2078603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1234</TotalTime>
  <Words>1970</Words>
  <Application>Microsoft Office PowerPoint</Application>
  <PresentationFormat>Widescreen</PresentationFormat>
  <Paragraphs>234</Paragraphs>
  <Slides>30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Review of Class 1</vt:lpstr>
      <vt:lpstr>Why Understanding the Administrative State is Critical for Lawyers</vt:lpstr>
      <vt:lpstr> A Democratic Puzzle?</vt:lpstr>
      <vt:lpstr>Complications: Senate</vt:lpstr>
      <vt:lpstr>Complications: House</vt:lpstr>
      <vt:lpstr>Some Critical Features of Legislative Process</vt:lpstr>
      <vt:lpstr>“Logic of Collective Action”</vt:lpstr>
      <vt:lpstr>“Vetogates”</vt:lpstr>
      <vt:lpstr>How Party Discipline Works in the House</vt:lpstr>
      <vt:lpstr>Greater Complexity in the Senate</vt:lpstr>
      <vt:lpstr>Budget Process</vt:lpstr>
      <vt:lpstr>Reconciliation Process</vt:lpstr>
      <vt:lpstr>Content of Legislation Reflects Multiple Inputs</vt:lpstr>
      <vt:lpstr>Gerrymandering</vt:lpstr>
      <vt:lpstr>“Political Questions”</vt:lpstr>
      <vt:lpstr>Examples?</vt:lpstr>
      <vt:lpstr>Rucho v. Common Cause (2019)</vt:lpstr>
      <vt:lpstr>Why a Political Question?</vt:lpstr>
      <vt:lpstr>Majority Argument</vt:lpstr>
      <vt:lpstr>Kagan Dissent</vt:lpstr>
      <vt:lpstr>Dissenters in Earlier Cases  Offering Standards</vt:lpstr>
      <vt:lpstr>PowerPoint Presentation</vt:lpstr>
      <vt:lpstr>Causes and Harms of Algal Blooms</vt:lpstr>
      <vt:lpstr>First Regime of U.S. Government Regulation Was the Common Law</vt:lpstr>
      <vt:lpstr>Limits of Tort Law</vt:lpstr>
      <vt:lpstr>Potential Normative Arguments in Support of Particular Regulations</vt:lpstr>
      <vt:lpstr>Potential Normative Arguments Against Specific Regulations</vt:lpstr>
      <vt:lpstr>Normative v. Descriptive Explanations</vt:lpstr>
      <vt:lpstr>Going Beyond Tort Law</vt:lpstr>
      <vt:lpstr>The Path to Administration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Shane</dc:creator>
  <cp:lastModifiedBy>Shane, Peter</cp:lastModifiedBy>
  <cp:revision>8</cp:revision>
  <cp:lastPrinted>2026-08-31T14:09:02Z</cp:lastPrinted>
  <dcterms:created xsi:type="dcterms:W3CDTF">2026-08-10T14:19:02Z</dcterms:created>
  <dcterms:modified xsi:type="dcterms:W3CDTF">2026-08-31T17:59:06Z</dcterms:modified>
</cp:coreProperties>
</file>