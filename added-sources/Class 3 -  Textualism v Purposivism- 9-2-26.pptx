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handoutMasterIdLst>
    <p:handoutMasterId r:id="rId32"/>
  </p:handoutMasterIdLst>
  <p:sldIdLst>
    <p:sldId id="304" r:id="rId2"/>
    <p:sldId id="323" r:id="rId3"/>
    <p:sldId id="310" r:id="rId4"/>
    <p:sldId id="311" r:id="rId5"/>
    <p:sldId id="286" r:id="rId6"/>
    <p:sldId id="312" r:id="rId7"/>
    <p:sldId id="313" r:id="rId8"/>
    <p:sldId id="270" r:id="rId9"/>
    <p:sldId id="267" r:id="rId10"/>
    <p:sldId id="272" r:id="rId11"/>
    <p:sldId id="314" r:id="rId12"/>
    <p:sldId id="268" r:id="rId13"/>
    <p:sldId id="271" r:id="rId14"/>
    <p:sldId id="269" r:id="rId15"/>
    <p:sldId id="297" r:id="rId16"/>
    <p:sldId id="298" r:id="rId17"/>
    <p:sldId id="299" r:id="rId18"/>
    <p:sldId id="257" r:id="rId19"/>
    <p:sldId id="258" r:id="rId20"/>
    <p:sldId id="259" r:id="rId21"/>
    <p:sldId id="260" r:id="rId22"/>
    <p:sldId id="307" r:id="rId23"/>
    <p:sldId id="308" r:id="rId24"/>
    <p:sldId id="261" r:id="rId25"/>
    <p:sldId id="296" r:id="rId26"/>
    <p:sldId id="305" r:id="rId27"/>
    <p:sldId id="264" r:id="rId28"/>
    <p:sldId id="265" r:id="rId29"/>
    <p:sldId id="266"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napToObjects="1">
      <p:cViewPr varScale="1">
        <p:scale>
          <a:sx n="105" d="100"/>
          <a:sy n="105" d="100"/>
        </p:scale>
        <p:origin x="1830"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F1E9FCE-0EC1-994A-91A3-EE3AB1F5D003}" type="datetimeFigureOut">
              <a:rPr lang="en-US" smtClean="0"/>
              <a:t>9/2/2026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EEB04D1-9CA7-E046-A7EB-6B2BF18814AD}" type="slidenum">
              <a:rPr lang="en-US" smtClean="0"/>
              <a:t>‹#›</a:t>
            </a:fld>
            <a:endParaRPr lang="en-US"/>
          </a:p>
        </p:txBody>
      </p:sp>
    </p:spTree>
    <p:extLst>
      <p:ext uri="{BB962C8B-B14F-4D97-AF65-F5344CB8AC3E}">
        <p14:creationId xmlns:p14="http://schemas.microsoft.com/office/powerpoint/2010/main" val="293547238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33D1DE-67B2-D148-A7AE-81C60438535A}" type="datetimeFigureOut">
              <a:rPr lang="en-US" smtClean="0"/>
              <a:t>9/2/2026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04F5A8-D1E0-F243-A566-4618E928C3F4}" type="slidenum">
              <a:rPr lang="en-US" smtClean="0"/>
              <a:t>‹#›</a:t>
            </a:fld>
            <a:endParaRPr lang="en-US"/>
          </a:p>
        </p:txBody>
      </p:sp>
    </p:spTree>
    <p:extLst>
      <p:ext uri="{BB962C8B-B14F-4D97-AF65-F5344CB8AC3E}">
        <p14:creationId xmlns:p14="http://schemas.microsoft.com/office/powerpoint/2010/main" val="286220068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B808D35-F2E3-4BF2-AFE2-05A804A733C2}" type="slidenum">
              <a:rPr lang="en-US" smtClean="0"/>
              <a:pPr>
                <a:defRPr/>
              </a:pPr>
              <a:t>3</a:t>
            </a:fld>
            <a:endParaRPr lang="en-US"/>
          </a:p>
        </p:txBody>
      </p:sp>
    </p:spTree>
    <p:extLst>
      <p:ext uri="{BB962C8B-B14F-4D97-AF65-F5344CB8AC3E}">
        <p14:creationId xmlns:p14="http://schemas.microsoft.com/office/powerpoint/2010/main" val="2360407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B808D35-F2E3-4BF2-AFE2-05A804A733C2}" type="slidenum">
              <a:rPr lang="en-US" smtClean="0"/>
              <a:pPr>
                <a:defRPr/>
              </a:pPr>
              <a:t>4</a:t>
            </a:fld>
            <a:endParaRPr lang="en-US"/>
          </a:p>
        </p:txBody>
      </p:sp>
    </p:spTree>
    <p:extLst>
      <p:ext uri="{BB962C8B-B14F-4D97-AF65-F5344CB8AC3E}">
        <p14:creationId xmlns:p14="http://schemas.microsoft.com/office/powerpoint/2010/main" val="4192907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B808D35-F2E3-4BF2-AFE2-05A804A733C2}" type="slidenum">
              <a:rPr lang="en-US" smtClean="0"/>
              <a:pPr>
                <a:defRPr/>
              </a:pPr>
              <a:t>7</a:t>
            </a:fld>
            <a:endParaRPr lang="en-US"/>
          </a:p>
        </p:txBody>
      </p:sp>
    </p:spTree>
    <p:extLst>
      <p:ext uri="{BB962C8B-B14F-4D97-AF65-F5344CB8AC3E}">
        <p14:creationId xmlns:p14="http://schemas.microsoft.com/office/powerpoint/2010/main" val="1152109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B808D35-F2E3-4BF2-AFE2-05A804A733C2}" type="slidenum">
              <a:rPr lang="en-US" smtClean="0"/>
              <a:pPr>
                <a:defRPr/>
              </a:pPr>
              <a:t>8</a:t>
            </a:fld>
            <a:endParaRPr lang="en-US"/>
          </a:p>
        </p:txBody>
      </p:sp>
    </p:spTree>
    <p:extLst>
      <p:ext uri="{BB962C8B-B14F-4D97-AF65-F5344CB8AC3E}">
        <p14:creationId xmlns:p14="http://schemas.microsoft.com/office/powerpoint/2010/main" val="32155917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B808D35-F2E3-4BF2-AFE2-05A804A733C2}" type="slidenum">
              <a:rPr lang="en-US" smtClean="0"/>
              <a:pPr>
                <a:defRPr/>
              </a:pPr>
              <a:t>9</a:t>
            </a:fld>
            <a:endParaRPr lang="en-US"/>
          </a:p>
        </p:txBody>
      </p:sp>
    </p:spTree>
    <p:extLst>
      <p:ext uri="{BB962C8B-B14F-4D97-AF65-F5344CB8AC3E}">
        <p14:creationId xmlns:p14="http://schemas.microsoft.com/office/powerpoint/2010/main" val="12157905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B808D35-F2E3-4BF2-AFE2-05A804A733C2}" type="slidenum">
              <a:rPr lang="en-US" smtClean="0"/>
              <a:pPr>
                <a:defRPr/>
              </a:pPr>
              <a:t>11</a:t>
            </a:fld>
            <a:endParaRPr lang="en-US"/>
          </a:p>
        </p:txBody>
      </p:sp>
    </p:spTree>
    <p:extLst>
      <p:ext uri="{BB962C8B-B14F-4D97-AF65-F5344CB8AC3E}">
        <p14:creationId xmlns:p14="http://schemas.microsoft.com/office/powerpoint/2010/main" val="2082832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B808D35-F2E3-4BF2-AFE2-05A804A733C2}" type="slidenum">
              <a:rPr lang="en-US" smtClean="0"/>
              <a:pPr>
                <a:defRPr/>
              </a:pPr>
              <a:t>12</a:t>
            </a:fld>
            <a:endParaRPr lang="en-US"/>
          </a:p>
        </p:txBody>
      </p:sp>
    </p:spTree>
    <p:extLst>
      <p:ext uri="{BB962C8B-B14F-4D97-AF65-F5344CB8AC3E}">
        <p14:creationId xmlns:p14="http://schemas.microsoft.com/office/powerpoint/2010/main" val="1714960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B808D35-F2E3-4BF2-AFE2-05A804A733C2}" type="slidenum">
              <a:rPr lang="en-US" smtClean="0"/>
              <a:pPr>
                <a:defRPr/>
              </a:pPr>
              <a:t>13</a:t>
            </a:fld>
            <a:endParaRPr lang="en-US"/>
          </a:p>
        </p:txBody>
      </p:sp>
    </p:spTree>
    <p:extLst>
      <p:ext uri="{BB962C8B-B14F-4D97-AF65-F5344CB8AC3E}">
        <p14:creationId xmlns:p14="http://schemas.microsoft.com/office/powerpoint/2010/main" val="4017178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B808D35-F2E3-4BF2-AFE2-05A804A733C2}" type="slidenum">
              <a:rPr lang="en-US" smtClean="0"/>
              <a:pPr>
                <a:defRPr/>
              </a:pPr>
              <a:t>14</a:t>
            </a:fld>
            <a:endParaRPr lang="en-US"/>
          </a:p>
        </p:txBody>
      </p:sp>
    </p:spTree>
    <p:extLst>
      <p:ext uri="{BB962C8B-B14F-4D97-AF65-F5344CB8AC3E}">
        <p14:creationId xmlns:p14="http://schemas.microsoft.com/office/powerpoint/2010/main" val="39982673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6B96DF8-BDF9-4B55-8C41-FFE746361C27}" type="slidenum">
              <a:rPr lang="en-US" smtClean="0"/>
              <a:t>21</a:t>
            </a:fld>
            <a:endParaRPr lang="en-US"/>
          </a:p>
        </p:txBody>
      </p:sp>
    </p:spTree>
    <p:extLst>
      <p:ext uri="{BB962C8B-B14F-4D97-AF65-F5344CB8AC3E}">
        <p14:creationId xmlns:p14="http://schemas.microsoft.com/office/powerpoint/2010/main" val="3609462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6B96DF8-BDF9-4B55-8C41-FFE746361C27}" type="slidenum">
              <a:rPr lang="en-US" smtClean="0"/>
              <a:t>24</a:t>
            </a:fld>
            <a:endParaRPr lang="en-US"/>
          </a:p>
        </p:txBody>
      </p:sp>
    </p:spTree>
    <p:extLst>
      <p:ext uri="{BB962C8B-B14F-4D97-AF65-F5344CB8AC3E}">
        <p14:creationId xmlns:p14="http://schemas.microsoft.com/office/powerpoint/2010/main" val="9665127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57066" indent="-291179" eaLnBrk="0" hangingPunct="0">
              <a:defRPr>
                <a:solidFill>
                  <a:schemeClr val="tx1"/>
                </a:solidFill>
                <a:latin typeface="Arial" charset="0"/>
                <a:cs typeface="Arial" charset="0"/>
              </a:defRPr>
            </a:lvl2pPr>
            <a:lvl3pPr marL="1164717" indent="-232943" eaLnBrk="0" hangingPunct="0">
              <a:defRPr>
                <a:solidFill>
                  <a:schemeClr val="tx1"/>
                </a:solidFill>
                <a:latin typeface="Arial" charset="0"/>
                <a:cs typeface="Arial" charset="0"/>
              </a:defRPr>
            </a:lvl3pPr>
            <a:lvl4pPr marL="1630604" indent="-232943" eaLnBrk="0" hangingPunct="0">
              <a:defRPr>
                <a:solidFill>
                  <a:schemeClr val="tx1"/>
                </a:solidFill>
                <a:latin typeface="Arial" charset="0"/>
                <a:cs typeface="Arial" charset="0"/>
              </a:defRPr>
            </a:lvl4pPr>
            <a:lvl5pPr marL="2096491" indent="-232943" eaLnBrk="0" hangingPunct="0">
              <a:defRPr>
                <a:solidFill>
                  <a:schemeClr val="tx1"/>
                </a:solidFill>
                <a:latin typeface="Arial" charset="0"/>
                <a:cs typeface="Arial" charset="0"/>
              </a:defRPr>
            </a:lvl5pPr>
            <a:lvl6pPr marL="2562377" indent="-232943" eaLnBrk="0" fontAlgn="base" hangingPunct="0">
              <a:spcBef>
                <a:spcPct val="0"/>
              </a:spcBef>
              <a:spcAft>
                <a:spcPct val="0"/>
              </a:spcAft>
              <a:defRPr>
                <a:solidFill>
                  <a:schemeClr val="tx1"/>
                </a:solidFill>
                <a:latin typeface="Arial" charset="0"/>
                <a:cs typeface="Arial" charset="0"/>
              </a:defRPr>
            </a:lvl6pPr>
            <a:lvl7pPr marL="3028264" indent="-232943" eaLnBrk="0" fontAlgn="base" hangingPunct="0">
              <a:spcBef>
                <a:spcPct val="0"/>
              </a:spcBef>
              <a:spcAft>
                <a:spcPct val="0"/>
              </a:spcAft>
              <a:defRPr>
                <a:solidFill>
                  <a:schemeClr val="tx1"/>
                </a:solidFill>
                <a:latin typeface="Arial" charset="0"/>
                <a:cs typeface="Arial" charset="0"/>
              </a:defRPr>
            </a:lvl7pPr>
            <a:lvl8pPr marL="3494151" indent="-232943" eaLnBrk="0" fontAlgn="base" hangingPunct="0">
              <a:spcBef>
                <a:spcPct val="0"/>
              </a:spcBef>
              <a:spcAft>
                <a:spcPct val="0"/>
              </a:spcAft>
              <a:defRPr>
                <a:solidFill>
                  <a:schemeClr val="tx1"/>
                </a:solidFill>
                <a:latin typeface="Arial" charset="0"/>
                <a:cs typeface="Arial" charset="0"/>
              </a:defRPr>
            </a:lvl8pPr>
            <a:lvl9pPr marL="3960038" indent="-232943" eaLnBrk="0" fontAlgn="base" hangingPunct="0">
              <a:spcBef>
                <a:spcPct val="0"/>
              </a:spcBef>
              <a:spcAft>
                <a:spcPct val="0"/>
              </a:spcAft>
              <a:defRPr>
                <a:solidFill>
                  <a:schemeClr val="tx1"/>
                </a:solidFill>
                <a:latin typeface="Arial" charset="0"/>
                <a:cs typeface="Arial" charset="0"/>
              </a:defRPr>
            </a:lvl9pPr>
          </a:lstStyle>
          <a:p>
            <a:pPr eaLnBrk="1" hangingPunct="1"/>
            <a:fld id="{C0BD49BE-AD31-4F38-9E58-E87E6BD75256}" type="slidenum">
              <a:rPr lang="en-US" altLang="en-US"/>
              <a:pPr eaLnBrk="1" hangingPunct="1"/>
              <a:t>25</a:t>
            </a:fld>
            <a:endParaRPr lang="en-US" altLang="en-US"/>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920899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25DB6-62C3-263A-5582-0BBB861C7D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C64B52-2A3A-DB80-682A-74E71F52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D91A4C-C969-20A8-FE53-4A90314C6E5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55CC85-A80D-4C39-608B-74765251EBCF}"/>
              </a:ext>
            </a:extLst>
          </p:cNvPr>
          <p:cNvSpPr>
            <a:spLocks noGrp="1"/>
          </p:cNvSpPr>
          <p:nvPr>
            <p:ph type="sldNum" sz="quarter" idx="10"/>
          </p:nvPr>
        </p:nvSpPr>
        <p:spPr/>
        <p:txBody>
          <a:bodyPr/>
          <a:lstStyle/>
          <a:p>
            <a:fld id="{26B96DF8-BDF9-4B55-8C41-FFE746361C27}" type="slidenum">
              <a:rPr lang="en-US" smtClean="0"/>
              <a:t>26</a:t>
            </a:fld>
            <a:endParaRPr lang="en-US"/>
          </a:p>
        </p:txBody>
      </p:sp>
    </p:spTree>
    <p:extLst>
      <p:ext uri="{BB962C8B-B14F-4D97-AF65-F5344CB8AC3E}">
        <p14:creationId xmlns:p14="http://schemas.microsoft.com/office/powerpoint/2010/main" val="19694258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6B96DF8-BDF9-4B55-8C41-FFE746361C27}" type="slidenum">
              <a:rPr lang="en-US" smtClean="0"/>
              <a:t>27</a:t>
            </a:fld>
            <a:endParaRPr lang="en-US"/>
          </a:p>
        </p:txBody>
      </p:sp>
    </p:spTree>
    <p:extLst>
      <p:ext uri="{BB962C8B-B14F-4D97-AF65-F5344CB8AC3E}">
        <p14:creationId xmlns:p14="http://schemas.microsoft.com/office/powerpoint/2010/main" val="41441000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6B96DF8-BDF9-4B55-8C41-FFE746361C27}" type="slidenum">
              <a:rPr lang="en-US" smtClean="0"/>
              <a:t>28</a:t>
            </a:fld>
            <a:endParaRPr lang="en-US"/>
          </a:p>
        </p:txBody>
      </p:sp>
    </p:spTree>
    <p:extLst>
      <p:ext uri="{BB962C8B-B14F-4D97-AF65-F5344CB8AC3E}">
        <p14:creationId xmlns:p14="http://schemas.microsoft.com/office/powerpoint/2010/main" val="2096605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6B96DF8-BDF9-4B55-8C41-FFE746361C27}" type="slidenum">
              <a:rPr lang="en-US" smtClean="0"/>
              <a:t>29</a:t>
            </a:fld>
            <a:endParaRPr lang="en-US"/>
          </a:p>
        </p:txBody>
      </p:sp>
    </p:spTree>
    <p:extLst>
      <p:ext uri="{BB962C8B-B14F-4D97-AF65-F5344CB8AC3E}">
        <p14:creationId xmlns:p14="http://schemas.microsoft.com/office/powerpoint/2010/main" val="17606525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6A4A46D-C983-40F8-A227-6BEB0877A031}" type="datetime1">
              <a:rPr lang="en-US" smtClean="0"/>
              <a:t>9/2/2026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367876FE-DFB2-5046-ACCA-7B7895FA01F2}" type="slidenum">
              <a:rPr lang="en-US" smtClean="0"/>
              <a:t>‹#›</a:t>
            </a:fld>
            <a:endParaRPr lang="en-US"/>
          </a:p>
        </p:txBody>
      </p:sp>
    </p:spTree>
    <p:extLst>
      <p:ext uri="{BB962C8B-B14F-4D97-AF65-F5344CB8AC3E}">
        <p14:creationId xmlns:p14="http://schemas.microsoft.com/office/powerpoint/2010/main" val="2761905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456D38-9D7B-4974-88F2-C946150E0FC6}" type="datetime1">
              <a:rPr lang="en-US" smtClean="0"/>
              <a:t>9/2/2026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367876FE-DFB2-5046-ACCA-7B7895FA01F2}" type="slidenum">
              <a:rPr lang="en-US" smtClean="0"/>
              <a:t>‹#›</a:t>
            </a:fld>
            <a:endParaRPr lang="en-US"/>
          </a:p>
        </p:txBody>
      </p:sp>
    </p:spTree>
    <p:extLst>
      <p:ext uri="{BB962C8B-B14F-4D97-AF65-F5344CB8AC3E}">
        <p14:creationId xmlns:p14="http://schemas.microsoft.com/office/powerpoint/2010/main" val="1493469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3CFE81-027C-44D4-8873-FE2F492C2180}" type="datetime1">
              <a:rPr lang="en-US" smtClean="0"/>
              <a:t>9/2/2026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367876FE-DFB2-5046-ACCA-7B7895FA01F2}" type="slidenum">
              <a:rPr lang="en-US" smtClean="0"/>
              <a:t>‹#›</a:t>
            </a:fld>
            <a:endParaRPr lang="en-US"/>
          </a:p>
        </p:txBody>
      </p:sp>
    </p:spTree>
    <p:extLst>
      <p:ext uri="{BB962C8B-B14F-4D97-AF65-F5344CB8AC3E}">
        <p14:creationId xmlns:p14="http://schemas.microsoft.com/office/powerpoint/2010/main" val="526448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C8FB401-C4D9-4737-9B88-46849DE5565B}" type="datetime1">
              <a:rPr lang="en-US" smtClean="0"/>
              <a:t>9/2/2026</a:t>
            </a:fld>
            <a:endParaRPr lang="en-US"/>
          </a:p>
        </p:txBody>
      </p:sp>
      <p:sp>
        <p:nvSpPr>
          <p:cNvPr id="6" name="Footer Placeholder 5"/>
          <p:cNvSpPr>
            <a:spLocks noGrp="1"/>
          </p:cNvSpPr>
          <p:nvPr>
            <p:ph type="ftr" sz="quarter" idx="11"/>
          </p:nvPr>
        </p:nvSpPr>
        <p:spPr/>
        <p:txBody>
          <a:bodyPr/>
          <a:lstStyle/>
          <a:p>
            <a:r>
              <a:rPr lang="en-US"/>
              <a:t>© Copyright 2026.  Peter M. Shane All rights reserved. </a:t>
            </a:r>
          </a:p>
        </p:txBody>
      </p:sp>
      <p:sp>
        <p:nvSpPr>
          <p:cNvPr id="7" name="Slide Number Placeholder 6"/>
          <p:cNvSpPr>
            <a:spLocks noGrp="1"/>
          </p:cNvSpPr>
          <p:nvPr>
            <p:ph type="sldNum" sz="quarter" idx="12"/>
          </p:nvPr>
        </p:nvSpPr>
        <p:spPr/>
        <p:txBody>
          <a:bodyPr/>
          <a:lstStyle/>
          <a:p>
            <a:fld id="{367876FE-DFB2-5046-ACCA-7B7895FA01F2}" type="slidenum">
              <a:rPr lang="en-US" smtClean="0"/>
              <a:t>‹#›</a:t>
            </a:fld>
            <a:endParaRPr lang="en-US"/>
          </a:p>
        </p:txBody>
      </p:sp>
    </p:spTree>
    <p:extLst>
      <p:ext uri="{BB962C8B-B14F-4D97-AF65-F5344CB8AC3E}">
        <p14:creationId xmlns:p14="http://schemas.microsoft.com/office/powerpoint/2010/main" val="778728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72E064-8BEC-47C3-99F3-472C2591D609}" type="datetime1">
              <a:rPr lang="en-US" smtClean="0"/>
              <a:t>9/2/2026</a:t>
            </a:fld>
            <a:endParaRPr lang="en-US"/>
          </a:p>
        </p:txBody>
      </p:sp>
      <p:sp>
        <p:nvSpPr>
          <p:cNvPr id="8" name="Footer Placeholder 7"/>
          <p:cNvSpPr>
            <a:spLocks noGrp="1"/>
          </p:cNvSpPr>
          <p:nvPr>
            <p:ph type="ftr" sz="quarter" idx="11"/>
          </p:nvPr>
        </p:nvSpPr>
        <p:spPr/>
        <p:txBody>
          <a:bodyPr/>
          <a:lstStyle/>
          <a:p>
            <a:r>
              <a:rPr lang="en-US"/>
              <a:t>© Copyright 2026.  Peter M. Shane All rights reserved. </a:t>
            </a:r>
          </a:p>
        </p:txBody>
      </p:sp>
      <p:sp>
        <p:nvSpPr>
          <p:cNvPr id="9" name="Slide Number Placeholder 8"/>
          <p:cNvSpPr>
            <a:spLocks noGrp="1"/>
          </p:cNvSpPr>
          <p:nvPr>
            <p:ph type="sldNum" sz="quarter" idx="12"/>
          </p:nvPr>
        </p:nvSpPr>
        <p:spPr/>
        <p:txBody>
          <a:bodyPr/>
          <a:lstStyle/>
          <a:p>
            <a:fld id="{367876FE-DFB2-5046-ACCA-7B7895FA01F2}" type="slidenum">
              <a:rPr lang="en-US" smtClean="0"/>
              <a:t>‹#›</a:t>
            </a:fld>
            <a:endParaRPr lang="en-US"/>
          </a:p>
        </p:txBody>
      </p:sp>
    </p:spTree>
    <p:extLst>
      <p:ext uri="{BB962C8B-B14F-4D97-AF65-F5344CB8AC3E}">
        <p14:creationId xmlns:p14="http://schemas.microsoft.com/office/powerpoint/2010/main" val="3849783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7EFC289-1001-482B-AD27-78501EE13610}" type="datetime1">
              <a:rPr lang="en-US" smtClean="0"/>
              <a:t>9/2/2026</a:t>
            </a:fld>
            <a:endParaRPr lang="en-US"/>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367876FE-DFB2-5046-ACCA-7B7895FA01F2}" type="slidenum">
              <a:rPr lang="en-US" smtClean="0"/>
              <a:t>‹#›</a:t>
            </a:fld>
            <a:endParaRPr lang="en-US"/>
          </a:p>
        </p:txBody>
      </p:sp>
    </p:spTree>
    <p:extLst>
      <p:ext uri="{BB962C8B-B14F-4D97-AF65-F5344CB8AC3E}">
        <p14:creationId xmlns:p14="http://schemas.microsoft.com/office/powerpoint/2010/main" val="2028120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2B402C-0D38-44B6-ACA3-70F9F574B44B}" type="datetime1">
              <a:rPr lang="en-US" smtClean="0"/>
              <a:t>9/2/2026</a:t>
            </a:fld>
            <a:endParaRPr lang="en-US"/>
          </a:p>
        </p:txBody>
      </p:sp>
      <p:sp>
        <p:nvSpPr>
          <p:cNvPr id="3" name="Footer Placeholder 2"/>
          <p:cNvSpPr>
            <a:spLocks noGrp="1"/>
          </p:cNvSpPr>
          <p:nvPr>
            <p:ph type="ftr" sz="quarter" idx="11"/>
          </p:nvPr>
        </p:nvSpPr>
        <p:spPr/>
        <p:txBody>
          <a:bodyPr/>
          <a:lstStyle/>
          <a:p>
            <a:r>
              <a:rPr lang="en-US"/>
              <a:t>© Copyright 2026.  Peter M. Shane All rights reserved. </a:t>
            </a:r>
          </a:p>
        </p:txBody>
      </p:sp>
      <p:sp>
        <p:nvSpPr>
          <p:cNvPr id="4" name="Slide Number Placeholder 3"/>
          <p:cNvSpPr>
            <a:spLocks noGrp="1"/>
          </p:cNvSpPr>
          <p:nvPr>
            <p:ph type="sldNum" sz="quarter" idx="12"/>
          </p:nvPr>
        </p:nvSpPr>
        <p:spPr/>
        <p:txBody>
          <a:bodyPr/>
          <a:lstStyle/>
          <a:p>
            <a:fld id="{367876FE-DFB2-5046-ACCA-7B7895FA01F2}" type="slidenum">
              <a:rPr lang="en-US" smtClean="0"/>
              <a:t>‹#›</a:t>
            </a:fld>
            <a:endParaRPr lang="en-US"/>
          </a:p>
        </p:txBody>
      </p:sp>
    </p:spTree>
    <p:extLst>
      <p:ext uri="{BB962C8B-B14F-4D97-AF65-F5344CB8AC3E}">
        <p14:creationId xmlns:p14="http://schemas.microsoft.com/office/powerpoint/2010/main" val="4293959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7D10B0-D4FA-4EBC-BED8-4E2715CC8E6C}" type="datetime1">
              <a:rPr lang="en-US" smtClean="0"/>
              <a:t>9/2/2026</a:t>
            </a:fld>
            <a:endParaRPr lang="en-US"/>
          </a:p>
        </p:txBody>
      </p:sp>
      <p:sp>
        <p:nvSpPr>
          <p:cNvPr id="6" name="Footer Placeholder 5"/>
          <p:cNvSpPr>
            <a:spLocks noGrp="1"/>
          </p:cNvSpPr>
          <p:nvPr>
            <p:ph type="ftr" sz="quarter" idx="11"/>
          </p:nvPr>
        </p:nvSpPr>
        <p:spPr/>
        <p:txBody>
          <a:bodyPr/>
          <a:lstStyle/>
          <a:p>
            <a:r>
              <a:rPr lang="en-US"/>
              <a:t>© Copyright 2026.  Peter M. Shane All rights reserved. </a:t>
            </a:r>
          </a:p>
        </p:txBody>
      </p:sp>
      <p:sp>
        <p:nvSpPr>
          <p:cNvPr id="7" name="Slide Number Placeholder 6"/>
          <p:cNvSpPr>
            <a:spLocks noGrp="1"/>
          </p:cNvSpPr>
          <p:nvPr>
            <p:ph type="sldNum" sz="quarter" idx="12"/>
          </p:nvPr>
        </p:nvSpPr>
        <p:spPr/>
        <p:txBody>
          <a:bodyPr/>
          <a:lstStyle/>
          <a:p>
            <a:fld id="{367876FE-DFB2-5046-ACCA-7B7895FA01F2}" type="slidenum">
              <a:rPr lang="en-US" smtClean="0"/>
              <a:t>‹#›</a:t>
            </a:fld>
            <a:endParaRPr lang="en-US"/>
          </a:p>
        </p:txBody>
      </p:sp>
    </p:spTree>
    <p:extLst>
      <p:ext uri="{BB962C8B-B14F-4D97-AF65-F5344CB8AC3E}">
        <p14:creationId xmlns:p14="http://schemas.microsoft.com/office/powerpoint/2010/main" val="4243422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A76A77-02F6-4206-9A1C-F849806C34FF}" type="datetime1">
              <a:rPr lang="en-US" smtClean="0"/>
              <a:t>9/2/2026</a:t>
            </a:fld>
            <a:endParaRPr lang="en-US"/>
          </a:p>
        </p:txBody>
      </p:sp>
      <p:sp>
        <p:nvSpPr>
          <p:cNvPr id="6" name="Footer Placeholder 5"/>
          <p:cNvSpPr>
            <a:spLocks noGrp="1"/>
          </p:cNvSpPr>
          <p:nvPr>
            <p:ph type="ftr" sz="quarter" idx="11"/>
          </p:nvPr>
        </p:nvSpPr>
        <p:spPr/>
        <p:txBody>
          <a:bodyPr/>
          <a:lstStyle/>
          <a:p>
            <a:r>
              <a:rPr lang="en-US"/>
              <a:t>© Copyright 2026.  Peter M. Shane All rights reserved. </a:t>
            </a:r>
          </a:p>
        </p:txBody>
      </p:sp>
      <p:sp>
        <p:nvSpPr>
          <p:cNvPr id="7" name="Slide Number Placeholder 6"/>
          <p:cNvSpPr>
            <a:spLocks noGrp="1"/>
          </p:cNvSpPr>
          <p:nvPr>
            <p:ph type="sldNum" sz="quarter" idx="12"/>
          </p:nvPr>
        </p:nvSpPr>
        <p:spPr/>
        <p:txBody>
          <a:bodyPr/>
          <a:lstStyle/>
          <a:p>
            <a:fld id="{367876FE-DFB2-5046-ACCA-7B7895FA01F2}" type="slidenum">
              <a:rPr lang="en-US" smtClean="0"/>
              <a:t>‹#›</a:t>
            </a:fld>
            <a:endParaRPr lang="en-US"/>
          </a:p>
        </p:txBody>
      </p:sp>
    </p:spTree>
    <p:extLst>
      <p:ext uri="{BB962C8B-B14F-4D97-AF65-F5344CB8AC3E}">
        <p14:creationId xmlns:p14="http://schemas.microsoft.com/office/powerpoint/2010/main" val="644166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C0B74E-7CCB-4199-8486-BA253B512E88}" type="datetime1">
              <a:rPr lang="en-US" smtClean="0"/>
              <a:t>9/2/2026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367876FE-DFB2-5046-ACCA-7B7895FA01F2}" type="slidenum">
              <a:rPr lang="en-US" smtClean="0"/>
              <a:t>‹#›</a:t>
            </a:fld>
            <a:endParaRPr lang="en-US"/>
          </a:p>
        </p:txBody>
      </p:sp>
    </p:spTree>
    <p:extLst>
      <p:ext uri="{BB962C8B-B14F-4D97-AF65-F5344CB8AC3E}">
        <p14:creationId xmlns:p14="http://schemas.microsoft.com/office/powerpoint/2010/main" val="633505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1F89CA-33FE-4D6A-8078-F4136FD9CE7F}" type="datetime1">
              <a:rPr lang="en-US" smtClean="0"/>
              <a:t>9/2/2026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367876FE-DFB2-5046-ACCA-7B7895FA01F2}" type="slidenum">
              <a:rPr lang="en-US" smtClean="0"/>
              <a:t>‹#›</a:t>
            </a:fld>
            <a:endParaRPr lang="en-US"/>
          </a:p>
        </p:txBody>
      </p:sp>
    </p:spTree>
    <p:extLst>
      <p:ext uri="{BB962C8B-B14F-4D97-AF65-F5344CB8AC3E}">
        <p14:creationId xmlns:p14="http://schemas.microsoft.com/office/powerpoint/2010/main" val="812058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A2ED4-3063-4A07-89A2-0C46DDFDAAE6}" type="datetime1">
              <a:rPr lang="en-US" smtClean="0"/>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Copyright 2026.  Peter M. Shane All rights reserved.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7876FE-DFB2-5046-ACCA-7B7895FA01F2}" type="slidenum">
              <a:rPr lang="en-US" smtClean="0"/>
              <a:t>‹#›</a:t>
            </a:fld>
            <a:endParaRPr lang="en-US"/>
          </a:p>
        </p:txBody>
      </p:sp>
    </p:spTree>
    <p:extLst>
      <p:ext uri="{BB962C8B-B14F-4D97-AF65-F5344CB8AC3E}">
        <p14:creationId xmlns:p14="http://schemas.microsoft.com/office/powerpoint/2010/main" val="10663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4FCE6-31AA-F0E4-C41B-3D5364554EC4}"/>
              </a:ext>
            </a:extLst>
          </p:cNvPr>
          <p:cNvSpPr>
            <a:spLocks noGrp="1"/>
          </p:cNvSpPr>
          <p:nvPr>
            <p:ph type="title"/>
          </p:nvPr>
        </p:nvSpPr>
        <p:spPr/>
        <p:txBody>
          <a:bodyPr/>
          <a:lstStyle/>
          <a:p>
            <a:r>
              <a:rPr lang="en-US" dirty="0"/>
              <a:t>Recap of Class 2</a:t>
            </a:r>
          </a:p>
        </p:txBody>
      </p:sp>
      <p:sp>
        <p:nvSpPr>
          <p:cNvPr id="3" name="Content Placeholder 2">
            <a:extLst>
              <a:ext uri="{FF2B5EF4-FFF2-40B4-BE49-F238E27FC236}">
                <a16:creationId xmlns:a16="http://schemas.microsoft.com/office/drawing/2014/main" id="{52846C6C-6CB0-408D-AF2B-7BAAC7B47EA7}"/>
              </a:ext>
            </a:extLst>
          </p:cNvPr>
          <p:cNvSpPr>
            <a:spLocks noGrp="1"/>
          </p:cNvSpPr>
          <p:nvPr>
            <p:ph idx="1"/>
          </p:nvPr>
        </p:nvSpPr>
        <p:spPr/>
        <p:txBody>
          <a:bodyPr>
            <a:normAutofit fontScale="70000" lnSpcReduction="20000"/>
          </a:bodyPr>
          <a:lstStyle/>
          <a:p>
            <a:r>
              <a:rPr lang="en-US" dirty="0"/>
              <a:t>Introduction to congressional structure (including committees) and procedure</a:t>
            </a:r>
          </a:p>
          <a:p>
            <a:pPr lvl="1"/>
            <a:r>
              <a:rPr lang="en-US" dirty="0"/>
              <a:t>E.g., “a Congress,” session, appropriations, authorizations, ranking member, reconciliation, joint v. concurrent resolutions</a:t>
            </a:r>
          </a:p>
          <a:p>
            <a:r>
              <a:rPr lang="en-US" dirty="0"/>
              <a:t>Elements of legislative history</a:t>
            </a:r>
          </a:p>
          <a:p>
            <a:r>
              <a:rPr lang="en-US" dirty="0"/>
              <a:t>How “</a:t>
            </a:r>
            <a:r>
              <a:rPr lang="en-US" dirty="0" err="1"/>
              <a:t>vetogates</a:t>
            </a:r>
            <a:r>
              <a:rPr lang="en-US" dirty="0"/>
              <a:t>” serve as impediments to translating majority sentiment into actual legislation</a:t>
            </a:r>
          </a:p>
          <a:p>
            <a:pPr lvl="1"/>
            <a:r>
              <a:rPr lang="en-US" dirty="0"/>
              <a:t>Structural advantage of well-organized interests</a:t>
            </a:r>
          </a:p>
          <a:p>
            <a:pPr lvl="1"/>
            <a:r>
              <a:rPr lang="en-US" dirty="0"/>
              <a:t>Structure of elections (e.g., gerrymandering)</a:t>
            </a:r>
          </a:p>
          <a:p>
            <a:pPr lvl="1"/>
            <a:r>
              <a:rPr lang="en-US" dirty="0"/>
              <a:t>Limited role of courts in policing legislative process (</a:t>
            </a:r>
            <a:r>
              <a:rPr lang="en-US" i="1" dirty="0"/>
              <a:t>Rucho</a:t>
            </a:r>
            <a:r>
              <a:rPr lang="en-US" dirty="0"/>
              <a:t>)</a:t>
            </a:r>
          </a:p>
          <a:p>
            <a:r>
              <a:rPr lang="en-US" dirty="0"/>
              <a:t>Limits on torts and contract law to protect public against certain harms</a:t>
            </a:r>
          </a:p>
          <a:p>
            <a:r>
              <a:rPr lang="en-US" dirty="0"/>
              <a:t>Classic rationales for regulation in general and objections often made to particular regulations</a:t>
            </a:r>
          </a:p>
        </p:txBody>
      </p:sp>
      <p:sp>
        <p:nvSpPr>
          <p:cNvPr id="4" name="Footer Placeholder 3">
            <a:extLst>
              <a:ext uri="{FF2B5EF4-FFF2-40B4-BE49-F238E27FC236}">
                <a16:creationId xmlns:a16="http://schemas.microsoft.com/office/drawing/2014/main" id="{5C7ACEB6-C3B1-082E-A988-4BDB9B61289C}"/>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A6499784-D7DA-36BE-B1BC-A378F23145CC}"/>
              </a:ext>
            </a:extLst>
          </p:cNvPr>
          <p:cNvSpPr>
            <a:spLocks noGrp="1"/>
          </p:cNvSpPr>
          <p:nvPr>
            <p:ph type="sldNum" sz="quarter" idx="12"/>
          </p:nvPr>
        </p:nvSpPr>
        <p:spPr/>
        <p:txBody>
          <a:bodyPr/>
          <a:lstStyle/>
          <a:p>
            <a:fld id="{367876FE-DFB2-5046-ACCA-7B7895FA01F2}" type="slidenum">
              <a:rPr lang="en-US" smtClean="0"/>
              <a:t>1</a:t>
            </a:fld>
            <a:endParaRPr lang="en-US"/>
          </a:p>
        </p:txBody>
      </p:sp>
    </p:spTree>
    <p:extLst>
      <p:ext uri="{BB962C8B-B14F-4D97-AF65-F5344CB8AC3E}">
        <p14:creationId xmlns:p14="http://schemas.microsoft.com/office/powerpoint/2010/main" val="2771165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074B0-817E-17EA-4E05-D07CA28CEAA1}"/>
              </a:ext>
            </a:extLst>
          </p:cNvPr>
          <p:cNvSpPr>
            <a:spLocks noGrp="1"/>
          </p:cNvSpPr>
          <p:nvPr>
            <p:ph type="title"/>
          </p:nvPr>
        </p:nvSpPr>
        <p:spPr/>
        <p:txBody>
          <a:bodyPr/>
          <a:lstStyle/>
          <a:p>
            <a:r>
              <a:rPr lang="en-US" dirty="0"/>
              <a:t>Another Look at Reconciliation</a:t>
            </a:r>
          </a:p>
        </p:txBody>
      </p:sp>
      <p:pic>
        <p:nvPicPr>
          <p:cNvPr id="7" name="Content Placeholder 6">
            <a:extLst>
              <a:ext uri="{FF2B5EF4-FFF2-40B4-BE49-F238E27FC236}">
                <a16:creationId xmlns:a16="http://schemas.microsoft.com/office/drawing/2014/main" id="{20A66984-BCFD-4742-02C4-D5D89512F686}"/>
              </a:ext>
            </a:extLst>
          </p:cNvPr>
          <p:cNvPicPr>
            <a:picLocks noGrp="1" noChangeAspect="1"/>
          </p:cNvPicPr>
          <p:nvPr>
            <p:ph idx="1"/>
          </p:nvPr>
        </p:nvPicPr>
        <p:blipFill>
          <a:blip r:embed="rId2"/>
          <a:stretch>
            <a:fillRect/>
          </a:stretch>
        </p:blipFill>
        <p:spPr>
          <a:xfrm>
            <a:off x="545601" y="1600200"/>
            <a:ext cx="8052797" cy="4525963"/>
          </a:xfrm>
        </p:spPr>
      </p:pic>
      <p:sp>
        <p:nvSpPr>
          <p:cNvPr id="4" name="Footer Placeholder 3">
            <a:extLst>
              <a:ext uri="{FF2B5EF4-FFF2-40B4-BE49-F238E27FC236}">
                <a16:creationId xmlns:a16="http://schemas.microsoft.com/office/drawing/2014/main" id="{CD04B26C-8394-F6B2-CFAC-8D1A3B34123C}"/>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7926E66F-B0B2-700A-6BF6-A52E7BB74473}"/>
              </a:ext>
            </a:extLst>
          </p:cNvPr>
          <p:cNvSpPr>
            <a:spLocks noGrp="1"/>
          </p:cNvSpPr>
          <p:nvPr>
            <p:ph type="sldNum" sz="quarter" idx="12"/>
          </p:nvPr>
        </p:nvSpPr>
        <p:spPr/>
        <p:txBody>
          <a:bodyPr/>
          <a:lstStyle/>
          <a:p>
            <a:fld id="{367876FE-DFB2-5046-ACCA-7B7895FA01F2}" type="slidenum">
              <a:rPr lang="en-US" smtClean="0"/>
              <a:t>2</a:t>
            </a:fld>
            <a:endParaRPr lang="en-US"/>
          </a:p>
        </p:txBody>
      </p:sp>
    </p:spTree>
    <p:extLst>
      <p:ext uri="{BB962C8B-B14F-4D97-AF65-F5344CB8AC3E}">
        <p14:creationId xmlns:p14="http://schemas.microsoft.com/office/powerpoint/2010/main" val="2197838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Path to Administration</a:t>
            </a:r>
          </a:p>
        </p:txBody>
      </p:sp>
      <p:sp>
        <p:nvSpPr>
          <p:cNvPr id="3" name="Content Placeholder 2"/>
          <p:cNvSpPr>
            <a:spLocks noGrp="1"/>
          </p:cNvSpPr>
          <p:nvPr>
            <p:ph idx="1"/>
          </p:nvPr>
        </p:nvSpPr>
        <p:spPr/>
        <p:txBody>
          <a:bodyPr/>
          <a:lstStyle/>
          <a:p>
            <a:r>
              <a:rPr lang="en-US" dirty="0"/>
              <a:t>Is there a problem warranting government response?</a:t>
            </a:r>
          </a:p>
          <a:p>
            <a:r>
              <a:rPr lang="en-US" dirty="0"/>
              <a:t>Would private law remedies suffice?  (Liability rule + judicial enforcement at the behest of private parties)</a:t>
            </a:r>
          </a:p>
          <a:p>
            <a:r>
              <a:rPr lang="en-US" dirty="0"/>
              <a:t>Should legislature prescribe conduct rules?</a:t>
            </a:r>
          </a:p>
          <a:p>
            <a:r>
              <a:rPr lang="en-US" dirty="0"/>
              <a:t>Should an agency be put in charge?</a:t>
            </a:r>
          </a:p>
          <a:p>
            <a:r>
              <a:rPr lang="en-US" dirty="0"/>
              <a:t>What tools should it have?</a:t>
            </a:r>
          </a:p>
        </p:txBody>
      </p:sp>
      <p:sp>
        <p:nvSpPr>
          <p:cNvPr id="4" name="Footer Placeholder 3"/>
          <p:cNvSpPr>
            <a:spLocks noGrp="1"/>
          </p:cNvSpPr>
          <p:nvPr>
            <p:ph type="ftr" sz="quarter" idx="11"/>
          </p:nvPr>
        </p:nvSpPr>
        <p:spPr/>
        <p:txBody>
          <a:bodyPr/>
          <a:lstStyle/>
          <a:p>
            <a:pPr>
              <a:defRPr/>
            </a:pPr>
            <a:r>
              <a:rPr lang="en-US" sz="1050"/>
              <a:t>© Copyright 2026.  Peter M. Shane All rights reserved.</a:t>
            </a:r>
            <a:endParaRPr lang="en-US" dirty="0"/>
          </a:p>
        </p:txBody>
      </p:sp>
    </p:spTree>
    <p:extLst>
      <p:ext uri="{BB962C8B-B14F-4D97-AF65-F5344CB8AC3E}">
        <p14:creationId xmlns:p14="http://schemas.microsoft.com/office/powerpoint/2010/main" val="1024691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dirty="0"/>
              <a:t>Agencies From the Outset</a:t>
            </a:r>
          </a:p>
        </p:txBody>
      </p:sp>
      <p:sp>
        <p:nvSpPr>
          <p:cNvPr id="3" name="Content Placeholder 2"/>
          <p:cNvSpPr>
            <a:spLocks noGrp="1"/>
          </p:cNvSpPr>
          <p:nvPr>
            <p:ph idx="1"/>
          </p:nvPr>
        </p:nvSpPr>
        <p:spPr/>
        <p:txBody>
          <a:bodyPr/>
          <a:lstStyle/>
          <a:p>
            <a:pPr marL="0" indent="0">
              <a:buNone/>
              <a:defRPr/>
            </a:pPr>
            <a:r>
              <a:rPr lang="en-US" dirty="0"/>
              <a:t>Foreign Affairs                 War </a:t>
            </a:r>
          </a:p>
          <a:p>
            <a:pPr marL="0" indent="0">
              <a:buNone/>
              <a:defRPr/>
            </a:pPr>
            <a:endParaRPr lang="en-US" dirty="0"/>
          </a:p>
          <a:p>
            <a:pPr marL="0" indent="0">
              <a:buNone/>
              <a:defRPr/>
            </a:pPr>
            <a:endParaRPr lang="en-US" dirty="0"/>
          </a:p>
          <a:p>
            <a:pPr marL="0" indent="0" algn="ctr">
              <a:buNone/>
              <a:defRPr/>
            </a:pPr>
            <a:endParaRPr lang="en-US" dirty="0"/>
          </a:p>
          <a:p>
            <a:pPr marL="0" indent="0">
              <a:buNone/>
              <a:defRPr/>
            </a:pPr>
            <a:r>
              <a:rPr lang="en-US" dirty="0"/>
              <a:t>Treasury				Post Office</a:t>
            </a:r>
          </a:p>
          <a:p>
            <a:pPr marL="0" indent="0" algn="ctr">
              <a:buNone/>
              <a:defRPr/>
            </a:pPr>
            <a:endParaRPr lang="en-US" dirty="0"/>
          </a:p>
          <a:p>
            <a:pPr eaLnBrk="1" hangingPunct="1">
              <a:defRPr/>
            </a:pPr>
            <a:endParaRPr lang="en-US" dirty="0"/>
          </a:p>
        </p:txBody>
      </p:sp>
      <p:sp>
        <p:nvSpPr>
          <p:cNvPr id="3076" name="Footer Placeholder 3"/>
          <p:cNvSpPr>
            <a:spLocks noGrp="1"/>
          </p:cNvSpPr>
          <p:nvPr>
            <p:ph type="ftr" sz="quarter" idx="11"/>
          </p:nvPr>
        </p:nvSpPr>
        <p:spPr>
          <a:noFill/>
        </p:spPr>
        <p:txBody>
          <a:bodyPr/>
          <a:lstStyle>
            <a:lvl1pPr eaLnBrk="0" hangingPunct="0">
              <a:defRPr>
                <a:solidFill>
                  <a:schemeClr val="tx1"/>
                </a:solidFill>
                <a:latin typeface="Arial" charset="0"/>
                <a:cs typeface="Arial" charset="0"/>
              </a:defRPr>
            </a:lvl1pPr>
            <a:lvl2pPr marL="557213" indent="-214313" eaLnBrk="0" hangingPunct="0">
              <a:defRPr>
                <a:solidFill>
                  <a:schemeClr val="tx1"/>
                </a:solidFill>
                <a:latin typeface="Arial" charset="0"/>
                <a:cs typeface="Arial" charset="0"/>
              </a:defRPr>
            </a:lvl2pPr>
            <a:lvl3pPr marL="857250" indent="-171450" eaLnBrk="0" hangingPunct="0">
              <a:defRPr>
                <a:solidFill>
                  <a:schemeClr val="tx1"/>
                </a:solidFill>
                <a:latin typeface="Arial" charset="0"/>
                <a:cs typeface="Arial" charset="0"/>
              </a:defRPr>
            </a:lvl3pPr>
            <a:lvl4pPr marL="1200150" indent="-171450" eaLnBrk="0" hangingPunct="0">
              <a:defRPr>
                <a:solidFill>
                  <a:schemeClr val="tx1"/>
                </a:solidFill>
                <a:latin typeface="Arial" charset="0"/>
                <a:cs typeface="Arial" charset="0"/>
              </a:defRPr>
            </a:lvl4pPr>
            <a:lvl5pPr marL="1543050" indent="-171450" eaLnBrk="0" hangingPunct="0">
              <a:defRPr>
                <a:solidFill>
                  <a:schemeClr val="tx1"/>
                </a:solidFill>
                <a:latin typeface="Arial" charset="0"/>
                <a:cs typeface="Arial" charset="0"/>
              </a:defRPr>
            </a:lvl5pPr>
            <a:lvl6pPr marL="1885950" indent="-171450" eaLnBrk="0" fontAlgn="base" hangingPunct="0">
              <a:spcBef>
                <a:spcPct val="0"/>
              </a:spcBef>
              <a:spcAft>
                <a:spcPct val="0"/>
              </a:spcAft>
              <a:defRPr>
                <a:solidFill>
                  <a:schemeClr val="tx1"/>
                </a:solidFill>
                <a:latin typeface="Arial" charset="0"/>
                <a:cs typeface="Arial" charset="0"/>
              </a:defRPr>
            </a:lvl6pPr>
            <a:lvl7pPr marL="2228850" indent="-171450" eaLnBrk="0" fontAlgn="base" hangingPunct="0">
              <a:spcBef>
                <a:spcPct val="0"/>
              </a:spcBef>
              <a:spcAft>
                <a:spcPct val="0"/>
              </a:spcAft>
              <a:defRPr>
                <a:solidFill>
                  <a:schemeClr val="tx1"/>
                </a:solidFill>
                <a:latin typeface="Arial" charset="0"/>
                <a:cs typeface="Arial" charset="0"/>
              </a:defRPr>
            </a:lvl7pPr>
            <a:lvl8pPr marL="2571750" indent="-171450" eaLnBrk="0" fontAlgn="base" hangingPunct="0">
              <a:spcBef>
                <a:spcPct val="0"/>
              </a:spcBef>
              <a:spcAft>
                <a:spcPct val="0"/>
              </a:spcAft>
              <a:defRPr>
                <a:solidFill>
                  <a:schemeClr val="tx1"/>
                </a:solidFill>
                <a:latin typeface="Arial" charset="0"/>
                <a:cs typeface="Arial" charset="0"/>
              </a:defRPr>
            </a:lvl8pPr>
            <a:lvl9pPr marL="2914650" indent="-17145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50"/>
              <a:t>© Copyright 2026.  Peter M. Shane All rights reserved.</a:t>
            </a:r>
            <a:endParaRPr lang="en-US" dirty="0"/>
          </a:p>
        </p:txBody>
      </p:sp>
      <p:pic>
        <p:nvPicPr>
          <p:cNvPr id="307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8331" y="2555081"/>
            <a:ext cx="971550" cy="10858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7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701" y="2596753"/>
            <a:ext cx="898922" cy="10036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79"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6300" y="2522935"/>
            <a:ext cx="971550" cy="12275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8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43588" y="2572942"/>
            <a:ext cx="1714500" cy="112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81"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83569" y="4238626"/>
            <a:ext cx="971550" cy="11977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82"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28951" y="4238626"/>
            <a:ext cx="1793081" cy="12072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83"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76812" y="4238626"/>
            <a:ext cx="1004888" cy="12370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84" name="Picture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86501" y="4238626"/>
            <a:ext cx="1278731" cy="12501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4401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39DE8-902F-D4E8-7A76-80CE129B3138}"/>
              </a:ext>
            </a:extLst>
          </p:cNvPr>
          <p:cNvSpPr>
            <a:spLocks noGrp="1"/>
          </p:cNvSpPr>
          <p:nvPr>
            <p:ph type="title"/>
          </p:nvPr>
        </p:nvSpPr>
        <p:spPr/>
        <p:txBody>
          <a:bodyPr/>
          <a:lstStyle/>
          <a:p>
            <a:r>
              <a:rPr lang="en-US" dirty="0"/>
              <a:t>Why Agencies?</a:t>
            </a:r>
          </a:p>
        </p:txBody>
      </p:sp>
      <p:sp>
        <p:nvSpPr>
          <p:cNvPr id="6" name="Text Placeholder 5">
            <a:extLst>
              <a:ext uri="{FF2B5EF4-FFF2-40B4-BE49-F238E27FC236}">
                <a16:creationId xmlns:a16="http://schemas.microsoft.com/office/drawing/2014/main" id="{A5095EF1-3152-7B5E-2B75-F696861E6423}"/>
              </a:ext>
            </a:extLst>
          </p:cNvPr>
          <p:cNvSpPr>
            <a:spLocks noGrp="1"/>
          </p:cNvSpPr>
          <p:nvPr>
            <p:ph type="body" idx="1"/>
          </p:nvPr>
        </p:nvSpPr>
        <p:spPr/>
        <p:txBody>
          <a:bodyPr/>
          <a:lstStyle/>
          <a:p>
            <a:r>
              <a:rPr lang="en-US" dirty="0"/>
              <a:t>Advantages</a:t>
            </a:r>
          </a:p>
          <a:p>
            <a:endParaRPr lang="en-US" dirty="0"/>
          </a:p>
        </p:txBody>
      </p:sp>
      <p:sp>
        <p:nvSpPr>
          <p:cNvPr id="7" name="Content Placeholder 6">
            <a:extLst>
              <a:ext uri="{FF2B5EF4-FFF2-40B4-BE49-F238E27FC236}">
                <a16:creationId xmlns:a16="http://schemas.microsoft.com/office/drawing/2014/main" id="{D8CAB08C-B325-14C8-7A45-31347EA640DC}"/>
              </a:ext>
            </a:extLst>
          </p:cNvPr>
          <p:cNvSpPr>
            <a:spLocks noGrp="1"/>
          </p:cNvSpPr>
          <p:nvPr>
            <p:ph sz="half" idx="2"/>
          </p:nvPr>
        </p:nvSpPr>
        <p:spPr/>
        <p:txBody>
          <a:bodyPr>
            <a:normAutofit fontScale="92500"/>
          </a:bodyPr>
          <a:lstStyle/>
          <a:p>
            <a:r>
              <a:rPr lang="en-US" dirty="0"/>
              <a:t>Focused and sustained attention to a specific agenda</a:t>
            </a:r>
          </a:p>
          <a:p>
            <a:r>
              <a:rPr lang="en-US" dirty="0"/>
              <a:t>Can amass expertise and educated judgment over time</a:t>
            </a:r>
          </a:p>
          <a:p>
            <a:r>
              <a:rPr lang="en-US" dirty="0"/>
              <a:t>Allows Congress to set action in motion earlier rather than later</a:t>
            </a:r>
          </a:p>
          <a:p>
            <a:r>
              <a:rPr lang="en-US" dirty="0"/>
              <a:t>Institutional efficiency</a:t>
            </a:r>
          </a:p>
          <a:p>
            <a:r>
              <a:rPr lang="en-US" dirty="0"/>
              <a:t>Transparency and accountability</a:t>
            </a:r>
          </a:p>
          <a:p>
            <a:endParaRPr lang="en-US" dirty="0"/>
          </a:p>
        </p:txBody>
      </p:sp>
      <p:sp>
        <p:nvSpPr>
          <p:cNvPr id="8" name="Text Placeholder 7">
            <a:extLst>
              <a:ext uri="{FF2B5EF4-FFF2-40B4-BE49-F238E27FC236}">
                <a16:creationId xmlns:a16="http://schemas.microsoft.com/office/drawing/2014/main" id="{3AAC178E-F8B6-9E40-6BF4-EC91F2FE792C}"/>
              </a:ext>
            </a:extLst>
          </p:cNvPr>
          <p:cNvSpPr>
            <a:spLocks noGrp="1"/>
          </p:cNvSpPr>
          <p:nvPr>
            <p:ph type="body" sz="quarter" idx="3"/>
          </p:nvPr>
        </p:nvSpPr>
        <p:spPr/>
        <p:txBody>
          <a:bodyPr/>
          <a:lstStyle/>
          <a:p>
            <a:r>
              <a:rPr lang="en-US" dirty="0"/>
              <a:t>Problems</a:t>
            </a:r>
          </a:p>
          <a:p>
            <a:endParaRPr lang="en-US" dirty="0"/>
          </a:p>
        </p:txBody>
      </p:sp>
      <p:sp>
        <p:nvSpPr>
          <p:cNvPr id="9" name="Content Placeholder 8">
            <a:extLst>
              <a:ext uri="{FF2B5EF4-FFF2-40B4-BE49-F238E27FC236}">
                <a16:creationId xmlns:a16="http://schemas.microsoft.com/office/drawing/2014/main" id="{F1261E33-71DA-14A1-920C-768D9AF33A4C}"/>
              </a:ext>
            </a:extLst>
          </p:cNvPr>
          <p:cNvSpPr>
            <a:spLocks noGrp="1"/>
          </p:cNvSpPr>
          <p:nvPr>
            <p:ph sz="quarter" idx="4"/>
          </p:nvPr>
        </p:nvSpPr>
        <p:spPr/>
        <p:txBody>
          <a:bodyPr>
            <a:normAutofit fontScale="92500"/>
          </a:bodyPr>
          <a:lstStyle/>
          <a:p>
            <a:r>
              <a:rPr lang="en-US" dirty="0"/>
              <a:t>Not as directly accountable to the electorate</a:t>
            </a:r>
          </a:p>
          <a:p>
            <a:r>
              <a:rPr lang="en-US" dirty="0"/>
              <a:t>Susceptible to capture</a:t>
            </a:r>
          </a:p>
          <a:p>
            <a:r>
              <a:rPr lang="en-US" dirty="0"/>
              <a:t>Develop institutional interests related more to self-preservation than public interest mission</a:t>
            </a:r>
          </a:p>
          <a:p>
            <a:r>
              <a:rPr lang="en-US" dirty="0"/>
              <a:t>Challenging to coordinate</a:t>
            </a:r>
          </a:p>
        </p:txBody>
      </p:sp>
      <p:sp>
        <p:nvSpPr>
          <p:cNvPr id="10" name="Footer Placeholder 9">
            <a:extLst>
              <a:ext uri="{FF2B5EF4-FFF2-40B4-BE49-F238E27FC236}">
                <a16:creationId xmlns:a16="http://schemas.microsoft.com/office/drawing/2014/main" id="{2F5C8AF3-F108-FB10-3734-E115ADB6738D}"/>
              </a:ext>
            </a:extLst>
          </p:cNvPr>
          <p:cNvSpPr>
            <a:spLocks noGrp="1"/>
          </p:cNvSpPr>
          <p:nvPr>
            <p:ph type="ftr" sz="quarter" idx="11"/>
          </p:nvPr>
        </p:nvSpPr>
        <p:spPr/>
        <p:txBody>
          <a:bodyPr/>
          <a:lstStyle/>
          <a:p>
            <a:r>
              <a:rPr lang="en-US"/>
              <a:t>© Copyright 2026.  Peter M. Shane All rights reserved.</a:t>
            </a:r>
          </a:p>
        </p:txBody>
      </p:sp>
    </p:spTree>
    <p:extLst>
      <p:ext uri="{BB962C8B-B14F-4D97-AF65-F5344CB8AC3E}">
        <p14:creationId xmlns:p14="http://schemas.microsoft.com/office/powerpoint/2010/main" val="4268993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 calcmode="lin" valueType="num">
                                      <p:cBhvr additive="base">
                                        <p:cTn id="23"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xEl>
                                              <p:pRg st="0" end="0"/>
                                            </p:txEl>
                                          </p:spTgt>
                                        </p:tgtEl>
                                        <p:attrNameLst>
                                          <p:attrName>style.visibility</p:attrName>
                                        </p:attrNameLst>
                                      </p:cBhvr>
                                      <p:to>
                                        <p:strVal val="visible"/>
                                      </p:to>
                                    </p:set>
                                    <p:anim calcmode="lin" valueType="num">
                                      <p:cBhvr additive="base">
                                        <p:cTn id="29"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
                                            <p:txEl>
                                              <p:pRg st="0" end="0"/>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9">
                                            <p:txEl>
                                              <p:pRg st="1" end="1"/>
                                            </p:txEl>
                                          </p:spTgt>
                                        </p:tgtEl>
                                        <p:attrNameLst>
                                          <p:attrName>style.visibility</p:attrName>
                                        </p:attrNameLst>
                                      </p:cBhvr>
                                      <p:to>
                                        <p:strVal val="visible"/>
                                      </p:to>
                                    </p:set>
                                    <p:anim calcmode="lin" valueType="num">
                                      <p:cBhvr additive="base">
                                        <p:cTn id="3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
                                            <p:txEl>
                                              <p:pRg st="1" end="1"/>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9">
                                            <p:txEl>
                                              <p:pRg st="2" end="2"/>
                                            </p:txEl>
                                          </p:spTgt>
                                        </p:tgtEl>
                                        <p:attrNameLst>
                                          <p:attrName>style.visibility</p:attrName>
                                        </p:attrNameLst>
                                      </p:cBhvr>
                                      <p:to>
                                        <p:strVal val="visible"/>
                                      </p:to>
                                    </p:set>
                                    <p:anim calcmode="lin" valueType="num">
                                      <p:cBhvr additive="base">
                                        <p:cTn id="3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
                                            <p:txEl>
                                              <p:pRg st="2" end="2"/>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9">
                                            <p:txEl>
                                              <p:pRg st="3" end="3"/>
                                            </p:txEl>
                                          </p:spTgt>
                                        </p:tgtEl>
                                        <p:attrNameLst>
                                          <p:attrName>style.visibility</p:attrName>
                                        </p:attrNameLst>
                                      </p:cBhvr>
                                      <p:to>
                                        <p:strVal val="visible"/>
                                      </p:to>
                                    </p:set>
                                    <p:anim calcmode="lin" valueType="num">
                                      <p:cBhvr additive="base">
                                        <p:cTn id="41"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C3107-510D-99E8-E78C-281A50A02566}"/>
              </a:ext>
            </a:extLst>
          </p:cNvPr>
          <p:cNvSpPr>
            <a:spLocks noGrp="1"/>
          </p:cNvSpPr>
          <p:nvPr>
            <p:ph type="title"/>
          </p:nvPr>
        </p:nvSpPr>
        <p:spPr/>
        <p:txBody>
          <a:bodyPr/>
          <a:lstStyle/>
          <a:p>
            <a:r>
              <a:rPr lang="en-US" dirty="0"/>
              <a:t>Spurts of Growth</a:t>
            </a:r>
          </a:p>
        </p:txBody>
      </p:sp>
      <p:sp>
        <p:nvSpPr>
          <p:cNvPr id="3" name="Content Placeholder 2">
            <a:extLst>
              <a:ext uri="{FF2B5EF4-FFF2-40B4-BE49-F238E27FC236}">
                <a16:creationId xmlns:a16="http://schemas.microsoft.com/office/drawing/2014/main" id="{A2166222-808C-2122-0914-3599735FD013}"/>
              </a:ext>
            </a:extLst>
          </p:cNvPr>
          <p:cNvSpPr>
            <a:spLocks noGrp="1"/>
          </p:cNvSpPr>
          <p:nvPr>
            <p:ph idx="1"/>
          </p:nvPr>
        </p:nvSpPr>
        <p:spPr/>
        <p:txBody>
          <a:bodyPr/>
          <a:lstStyle/>
          <a:p>
            <a:r>
              <a:rPr lang="en-US" dirty="0"/>
              <a:t>Founding Period</a:t>
            </a:r>
          </a:p>
          <a:p>
            <a:r>
              <a:rPr lang="en-US" dirty="0"/>
              <a:t>Maturing of the National Economy</a:t>
            </a:r>
          </a:p>
          <a:p>
            <a:r>
              <a:rPr lang="en-US" dirty="0"/>
              <a:t>The New Deal (and the Labor Movement)</a:t>
            </a:r>
          </a:p>
          <a:p>
            <a:r>
              <a:rPr lang="en-US" dirty="0"/>
              <a:t>60’s-70’s: Responses to Social Movements (Civil Rights, Consumer, Environmental, Women’s)</a:t>
            </a:r>
          </a:p>
          <a:p>
            <a:r>
              <a:rPr lang="en-US" dirty="0"/>
              <a:t>Twenty-First Century Crises (9/11, Recession, Health Care)</a:t>
            </a:r>
          </a:p>
        </p:txBody>
      </p:sp>
      <p:sp>
        <p:nvSpPr>
          <p:cNvPr id="4" name="Footer Placeholder 3">
            <a:extLst>
              <a:ext uri="{FF2B5EF4-FFF2-40B4-BE49-F238E27FC236}">
                <a16:creationId xmlns:a16="http://schemas.microsoft.com/office/drawing/2014/main" id="{3677A4F3-CB72-710C-E0EB-B23D205D7D55}"/>
              </a:ext>
            </a:extLst>
          </p:cNvPr>
          <p:cNvSpPr>
            <a:spLocks noGrp="1"/>
          </p:cNvSpPr>
          <p:nvPr>
            <p:ph type="ftr" sz="quarter" idx="11"/>
          </p:nvPr>
        </p:nvSpPr>
        <p:spPr/>
        <p:txBody>
          <a:bodyPr/>
          <a:lstStyle/>
          <a:p>
            <a:r>
              <a:rPr lang="en-US"/>
              <a:t>© Copyright 2026.  Peter M. Shane All rights reserved.</a:t>
            </a:r>
          </a:p>
        </p:txBody>
      </p:sp>
    </p:spTree>
    <p:extLst>
      <p:ext uri="{BB962C8B-B14F-4D97-AF65-F5344CB8AC3E}">
        <p14:creationId xmlns:p14="http://schemas.microsoft.com/office/powerpoint/2010/main" val="658976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en-US" dirty="0"/>
              <a:t>Many Shapes of Agencies</a:t>
            </a:r>
          </a:p>
        </p:txBody>
      </p:sp>
      <p:sp>
        <p:nvSpPr>
          <p:cNvPr id="4100" name="Rectangle 3"/>
          <p:cNvSpPr>
            <a:spLocks noGrp="1" noChangeArrowheads="1"/>
          </p:cNvSpPr>
          <p:nvPr>
            <p:ph type="body" idx="1"/>
          </p:nvPr>
        </p:nvSpPr>
        <p:spPr/>
        <p:txBody>
          <a:bodyPr/>
          <a:lstStyle/>
          <a:p>
            <a:pPr eaLnBrk="1" hangingPunct="1">
              <a:lnSpc>
                <a:spcPct val="90000"/>
              </a:lnSpc>
            </a:pPr>
            <a:r>
              <a:rPr lang="en-US" sz="1800" dirty="0"/>
              <a:t>Department of the Treasury</a:t>
            </a:r>
          </a:p>
          <a:p>
            <a:pPr lvl="1" eaLnBrk="1" hangingPunct="1">
              <a:lnSpc>
                <a:spcPct val="90000"/>
              </a:lnSpc>
            </a:pPr>
            <a:r>
              <a:rPr lang="en-US" sz="1500" dirty="0"/>
              <a:t>Single head</a:t>
            </a:r>
          </a:p>
          <a:p>
            <a:pPr lvl="1" eaLnBrk="1" hangingPunct="1">
              <a:lnSpc>
                <a:spcPct val="90000"/>
              </a:lnSpc>
            </a:pPr>
            <a:r>
              <a:rPr lang="en-US" sz="1500" dirty="0"/>
              <a:t>Multiple internal office and agencies (IRS)</a:t>
            </a:r>
          </a:p>
          <a:p>
            <a:pPr lvl="1" eaLnBrk="1" hangingPunct="1">
              <a:lnSpc>
                <a:spcPct val="90000"/>
              </a:lnSpc>
            </a:pPr>
            <a:r>
              <a:rPr lang="en-US" sz="1500" dirty="0"/>
              <a:t>High visibility</a:t>
            </a:r>
          </a:p>
          <a:p>
            <a:pPr eaLnBrk="1" hangingPunct="1">
              <a:lnSpc>
                <a:spcPct val="90000"/>
              </a:lnSpc>
            </a:pPr>
            <a:r>
              <a:rPr lang="en-US" sz="1800" dirty="0"/>
              <a:t>National Labor Relations Board</a:t>
            </a:r>
          </a:p>
          <a:p>
            <a:pPr lvl="1" eaLnBrk="1" hangingPunct="1">
              <a:lnSpc>
                <a:spcPct val="90000"/>
              </a:lnSpc>
            </a:pPr>
            <a:r>
              <a:rPr lang="en-US" sz="1500" dirty="0"/>
              <a:t>Multiple heads</a:t>
            </a:r>
          </a:p>
          <a:p>
            <a:pPr lvl="1" eaLnBrk="1" hangingPunct="1">
              <a:lnSpc>
                <a:spcPct val="90000"/>
              </a:lnSpc>
            </a:pPr>
            <a:r>
              <a:rPr lang="en-US" sz="1500" dirty="0"/>
              <a:t>Regional offices but no sub-agencies</a:t>
            </a:r>
          </a:p>
          <a:p>
            <a:pPr lvl="1" eaLnBrk="1" hangingPunct="1">
              <a:lnSpc>
                <a:spcPct val="90000"/>
              </a:lnSpc>
            </a:pPr>
            <a:r>
              <a:rPr lang="en-US" sz="1500" dirty="0"/>
              <a:t>Makes policy chiefly through case-by-case administrative adjudication</a:t>
            </a:r>
          </a:p>
          <a:p>
            <a:pPr eaLnBrk="1" hangingPunct="1">
              <a:lnSpc>
                <a:spcPct val="90000"/>
              </a:lnSpc>
            </a:pPr>
            <a:r>
              <a:rPr lang="en-US" sz="1800" dirty="0"/>
              <a:t>National Institutes of Health</a:t>
            </a:r>
          </a:p>
          <a:p>
            <a:pPr eaLnBrk="1" hangingPunct="1">
              <a:lnSpc>
                <a:spcPct val="90000"/>
              </a:lnSpc>
            </a:pPr>
            <a:r>
              <a:rPr lang="en-US" sz="1800" dirty="0"/>
              <a:t>Coast Guard</a:t>
            </a:r>
          </a:p>
          <a:p>
            <a:pPr eaLnBrk="1" hangingPunct="1">
              <a:lnSpc>
                <a:spcPct val="90000"/>
              </a:lnSpc>
            </a:pPr>
            <a:r>
              <a:rPr lang="en-US" sz="1800" dirty="0"/>
              <a:t>Administrative Conference of the United States</a:t>
            </a:r>
          </a:p>
        </p:txBody>
      </p:sp>
      <p:sp>
        <p:nvSpPr>
          <p:cNvPr id="4098" name="Footer Placeholder 4"/>
          <p:cNvSpPr>
            <a:spLocks noGrp="1"/>
          </p:cNvSpPr>
          <p:nvPr>
            <p:ph type="ftr" sz="quarter" idx="11"/>
          </p:nvPr>
        </p:nvSpPr>
        <p:spPr>
          <a:noFill/>
        </p:spPr>
        <p:txBody>
          <a:bodyPr/>
          <a:lstStyle>
            <a:lvl1pPr eaLnBrk="0" hangingPunct="0">
              <a:defRPr>
                <a:solidFill>
                  <a:schemeClr val="tx1"/>
                </a:solidFill>
                <a:latin typeface="Arial" charset="0"/>
                <a:cs typeface="Arial" charset="0"/>
              </a:defRPr>
            </a:lvl1pPr>
            <a:lvl2pPr marL="557213" indent="-214313" eaLnBrk="0" hangingPunct="0">
              <a:defRPr>
                <a:solidFill>
                  <a:schemeClr val="tx1"/>
                </a:solidFill>
                <a:latin typeface="Arial" charset="0"/>
                <a:cs typeface="Arial" charset="0"/>
              </a:defRPr>
            </a:lvl2pPr>
            <a:lvl3pPr marL="857250" indent="-171450" eaLnBrk="0" hangingPunct="0">
              <a:defRPr>
                <a:solidFill>
                  <a:schemeClr val="tx1"/>
                </a:solidFill>
                <a:latin typeface="Arial" charset="0"/>
                <a:cs typeface="Arial" charset="0"/>
              </a:defRPr>
            </a:lvl3pPr>
            <a:lvl4pPr marL="1200150" indent="-171450" eaLnBrk="0" hangingPunct="0">
              <a:defRPr>
                <a:solidFill>
                  <a:schemeClr val="tx1"/>
                </a:solidFill>
                <a:latin typeface="Arial" charset="0"/>
                <a:cs typeface="Arial" charset="0"/>
              </a:defRPr>
            </a:lvl4pPr>
            <a:lvl5pPr marL="1543050" indent="-171450" eaLnBrk="0" hangingPunct="0">
              <a:defRPr>
                <a:solidFill>
                  <a:schemeClr val="tx1"/>
                </a:solidFill>
                <a:latin typeface="Arial" charset="0"/>
                <a:cs typeface="Arial" charset="0"/>
              </a:defRPr>
            </a:lvl5pPr>
            <a:lvl6pPr marL="1885950" indent="-171450" eaLnBrk="0" fontAlgn="base" hangingPunct="0">
              <a:spcBef>
                <a:spcPct val="0"/>
              </a:spcBef>
              <a:spcAft>
                <a:spcPct val="0"/>
              </a:spcAft>
              <a:defRPr>
                <a:solidFill>
                  <a:schemeClr val="tx1"/>
                </a:solidFill>
                <a:latin typeface="Arial" charset="0"/>
                <a:cs typeface="Arial" charset="0"/>
              </a:defRPr>
            </a:lvl6pPr>
            <a:lvl7pPr marL="2228850" indent="-171450" eaLnBrk="0" fontAlgn="base" hangingPunct="0">
              <a:spcBef>
                <a:spcPct val="0"/>
              </a:spcBef>
              <a:spcAft>
                <a:spcPct val="0"/>
              </a:spcAft>
              <a:defRPr>
                <a:solidFill>
                  <a:schemeClr val="tx1"/>
                </a:solidFill>
                <a:latin typeface="Arial" charset="0"/>
                <a:cs typeface="Arial" charset="0"/>
              </a:defRPr>
            </a:lvl7pPr>
            <a:lvl8pPr marL="2571750" indent="-171450" eaLnBrk="0" fontAlgn="base" hangingPunct="0">
              <a:spcBef>
                <a:spcPct val="0"/>
              </a:spcBef>
              <a:spcAft>
                <a:spcPct val="0"/>
              </a:spcAft>
              <a:defRPr>
                <a:solidFill>
                  <a:schemeClr val="tx1"/>
                </a:solidFill>
                <a:latin typeface="Arial" charset="0"/>
                <a:cs typeface="Arial" charset="0"/>
              </a:defRPr>
            </a:lvl8pPr>
            <a:lvl9pPr marL="2914650" indent="-17145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50"/>
              <a:t>© Copyright 2026.  Peter M. Shane All rights reserved.</a:t>
            </a:r>
            <a:endParaRPr lang="en-US" dirty="0"/>
          </a:p>
        </p:txBody>
      </p:sp>
    </p:spTree>
    <p:extLst>
      <p:ext uri="{BB962C8B-B14F-4D97-AF65-F5344CB8AC3E}">
        <p14:creationId xmlns:p14="http://schemas.microsoft.com/office/powerpoint/2010/main" val="2587508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t>Bureaucracy and Coordination</a:t>
            </a:r>
          </a:p>
        </p:txBody>
      </p:sp>
      <p:sp>
        <p:nvSpPr>
          <p:cNvPr id="4" name="Footer Placeholder 3"/>
          <p:cNvSpPr>
            <a:spLocks noGrp="1"/>
          </p:cNvSpPr>
          <p:nvPr>
            <p:ph type="ftr" sz="quarter" idx="11"/>
          </p:nvPr>
        </p:nvSpPr>
        <p:spPr/>
        <p:txBody>
          <a:bodyPr/>
          <a:lstStyle/>
          <a:p>
            <a:pPr>
              <a:defRPr/>
            </a:pPr>
            <a:r>
              <a:rPr lang="en-US" sz="1050"/>
              <a:t>© Copyright 2026.  Peter M. Shane All rights reserved.</a:t>
            </a:r>
            <a:endParaRPr lang="en-US" dirty="0"/>
          </a:p>
        </p:txBody>
      </p:sp>
      <p:pic>
        <p:nvPicPr>
          <p:cNvPr id="1026" name="Picture 2" descr="picture of organizational hierarchy of bureaucracy and coordination"/>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23289" y="2057401"/>
            <a:ext cx="5029693" cy="348614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7989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700" dirty="0"/>
              <a:t>The Foundational Problem of Administrative Law</a:t>
            </a:r>
          </a:p>
        </p:txBody>
      </p:sp>
      <p:sp>
        <p:nvSpPr>
          <p:cNvPr id="3" name="Content Placeholder 2"/>
          <p:cNvSpPr>
            <a:spLocks noGrp="1"/>
          </p:cNvSpPr>
          <p:nvPr>
            <p:ph idx="1"/>
          </p:nvPr>
        </p:nvSpPr>
        <p:spPr>
          <a:xfrm>
            <a:off x="1543050" y="2686051"/>
            <a:ext cx="6172200" cy="2400299"/>
          </a:xfrm>
        </p:spPr>
        <p:txBody>
          <a:bodyPr/>
          <a:lstStyle/>
          <a:p>
            <a:pPr marL="0" indent="0" algn="ctr">
              <a:buNone/>
            </a:pPr>
            <a:r>
              <a:rPr lang="en-US" sz="7200" b="1" i="1" dirty="0"/>
              <a:t>Discretion</a:t>
            </a:r>
          </a:p>
        </p:txBody>
      </p:sp>
      <p:sp>
        <p:nvSpPr>
          <p:cNvPr id="4" name="Footer Placeholder 3"/>
          <p:cNvSpPr>
            <a:spLocks noGrp="1"/>
          </p:cNvSpPr>
          <p:nvPr>
            <p:ph type="ftr" sz="quarter" idx="11"/>
          </p:nvPr>
        </p:nvSpPr>
        <p:spPr/>
        <p:txBody>
          <a:bodyPr/>
          <a:lstStyle/>
          <a:p>
            <a:pPr>
              <a:defRPr/>
            </a:pPr>
            <a:r>
              <a:rPr lang="en-US" sz="1050"/>
              <a:t>© Copyright 2026.  Peter M. Shane All rights reserved.</a:t>
            </a:r>
            <a:endParaRPr lang="en-US" dirty="0"/>
          </a:p>
        </p:txBody>
      </p:sp>
    </p:spTree>
    <p:extLst>
      <p:ext uri="{BB962C8B-B14F-4D97-AF65-F5344CB8AC3E}">
        <p14:creationId xmlns:p14="http://schemas.microsoft.com/office/powerpoint/2010/main" val="1847654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Levels of Discretion</a:t>
            </a:r>
          </a:p>
        </p:txBody>
      </p:sp>
      <p:sp>
        <p:nvSpPr>
          <p:cNvPr id="3" name="Content Placeholder 2"/>
          <p:cNvSpPr>
            <a:spLocks noGrp="1"/>
          </p:cNvSpPr>
          <p:nvPr>
            <p:ph idx="1"/>
          </p:nvPr>
        </p:nvSpPr>
        <p:spPr/>
        <p:txBody>
          <a:bodyPr/>
          <a:lstStyle/>
          <a:p>
            <a:r>
              <a:rPr lang="en-US" sz="2700" dirty="0"/>
              <a:t>“Mow my lawn every Saturday to a height of 3/4 inches, using an electric rotary mower.”</a:t>
            </a:r>
          </a:p>
          <a:p>
            <a:r>
              <a:rPr lang="en-US" sz="2700" dirty="0"/>
              <a:t>“Mow my lawn every week, as needed.”</a:t>
            </a:r>
          </a:p>
          <a:p>
            <a:r>
              <a:rPr lang="en-US" sz="2700" dirty="0"/>
              <a:t>“Take care of my yard.”</a:t>
            </a:r>
          </a:p>
          <a:p>
            <a:r>
              <a:rPr lang="en-US" sz="2700" dirty="0"/>
              <a:t>“Improve my </a:t>
            </a:r>
            <a:r>
              <a:rPr lang="en-US" sz="2700"/>
              <a:t>property.”</a:t>
            </a:r>
            <a:endParaRPr lang="en-US" sz="2700" dirty="0"/>
          </a:p>
        </p:txBody>
      </p:sp>
      <p:sp>
        <p:nvSpPr>
          <p:cNvPr id="4" name="Footer Placeholder 3"/>
          <p:cNvSpPr>
            <a:spLocks noGrp="1"/>
          </p:cNvSpPr>
          <p:nvPr>
            <p:ph type="ftr" sz="quarter" idx="11"/>
          </p:nvPr>
        </p:nvSpPr>
        <p:spPr/>
        <p:txBody>
          <a:bodyPr/>
          <a:lstStyle/>
          <a:p>
            <a:pPr>
              <a:defRPr/>
            </a:pPr>
            <a:r>
              <a:rPr lang="en-US" sz="1050"/>
              <a:t>© Copyright 2026.  Peter M. Shane All rights reserved.</a:t>
            </a:r>
            <a:endParaRPr lang="en-US"/>
          </a:p>
        </p:txBody>
      </p:sp>
    </p:spTree>
    <p:extLst>
      <p:ext uri="{BB962C8B-B14F-4D97-AF65-F5344CB8AC3E}">
        <p14:creationId xmlns:p14="http://schemas.microsoft.com/office/powerpoint/2010/main" val="4033659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en-US" dirty="0"/>
              <a:t>Principal-Agent Problem</a:t>
            </a:r>
          </a:p>
        </p:txBody>
      </p:sp>
      <p:sp>
        <p:nvSpPr>
          <p:cNvPr id="6148" name="Rectangle 3"/>
          <p:cNvSpPr>
            <a:spLocks noGrp="1" noChangeArrowheads="1"/>
          </p:cNvSpPr>
          <p:nvPr>
            <p:ph type="body" idx="1"/>
          </p:nvPr>
        </p:nvSpPr>
        <p:spPr/>
        <p:txBody>
          <a:bodyPr>
            <a:normAutofit fontScale="70000" lnSpcReduction="20000"/>
          </a:bodyPr>
          <a:lstStyle/>
          <a:p>
            <a:pPr eaLnBrk="1" hangingPunct="1">
              <a:lnSpc>
                <a:spcPct val="120000"/>
              </a:lnSpc>
            </a:pPr>
            <a:r>
              <a:rPr lang="en-US" dirty="0"/>
              <a:t>Agencies are called agencies because they are carrying out directions promulgated by their “principal,” which supposedly is Congress</a:t>
            </a:r>
          </a:p>
          <a:p>
            <a:pPr eaLnBrk="1" hangingPunct="1">
              <a:lnSpc>
                <a:spcPct val="120000"/>
              </a:lnSpc>
            </a:pPr>
            <a:r>
              <a:rPr lang="en-US" dirty="0"/>
              <a:t>Every statute creates a clear or fuzzy “zone of discretion”</a:t>
            </a:r>
          </a:p>
          <a:p>
            <a:pPr lvl="1" eaLnBrk="1" hangingPunct="1">
              <a:lnSpc>
                <a:spcPct val="120000"/>
              </a:lnSpc>
            </a:pPr>
            <a:r>
              <a:rPr lang="en-US" sz="2400" dirty="0"/>
              <a:t>The agent may not know how the principal wants discretion to be exercised</a:t>
            </a:r>
          </a:p>
          <a:p>
            <a:pPr lvl="1" eaLnBrk="1" hangingPunct="1">
              <a:lnSpc>
                <a:spcPct val="120000"/>
              </a:lnSpc>
            </a:pPr>
            <a:r>
              <a:rPr lang="en-US" sz="2400" dirty="0"/>
              <a:t>The agent may be exercising discretion at a time much later than when the statute was enacted</a:t>
            </a:r>
          </a:p>
          <a:p>
            <a:pPr eaLnBrk="1" hangingPunct="1">
              <a:lnSpc>
                <a:spcPct val="120000"/>
              </a:lnSpc>
            </a:pPr>
            <a:r>
              <a:rPr lang="en-US" dirty="0"/>
              <a:t>Who is “the principal” anyway?</a:t>
            </a:r>
          </a:p>
          <a:p>
            <a:pPr lvl="1" eaLnBrk="1" hangingPunct="1">
              <a:lnSpc>
                <a:spcPct val="120000"/>
              </a:lnSpc>
            </a:pPr>
            <a:r>
              <a:rPr lang="en-US" sz="2400" dirty="0"/>
              <a:t>The enacting Congress?</a:t>
            </a:r>
          </a:p>
          <a:p>
            <a:pPr lvl="1" eaLnBrk="1" hangingPunct="1">
              <a:lnSpc>
                <a:spcPct val="120000"/>
              </a:lnSpc>
            </a:pPr>
            <a:r>
              <a:rPr lang="en-US" sz="2400" dirty="0"/>
              <a:t>The sitting Congress?</a:t>
            </a:r>
          </a:p>
          <a:p>
            <a:pPr lvl="1" eaLnBrk="1" hangingPunct="1">
              <a:lnSpc>
                <a:spcPct val="120000"/>
              </a:lnSpc>
            </a:pPr>
            <a:r>
              <a:rPr lang="en-US" sz="2400" dirty="0"/>
              <a:t>The President?</a:t>
            </a:r>
          </a:p>
          <a:p>
            <a:pPr lvl="1" eaLnBrk="1" hangingPunct="1">
              <a:lnSpc>
                <a:spcPct val="120000"/>
              </a:lnSpc>
            </a:pPr>
            <a:r>
              <a:rPr lang="en-US" sz="2400" dirty="0"/>
              <a:t>Regulated parties?</a:t>
            </a:r>
          </a:p>
          <a:p>
            <a:pPr lvl="1" eaLnBrk="1" hangingPunct="1">
              <a:lnSpc>
                <a:spcPct val="120000"/>
              </a:lnSpc>
            </a:pPr>
            <a:r>
              <a:rPr lang="en-US" sz="2400" dirty="0"/>
              <a:t>The courts?</a:t>
            </a:r>
          </a:p>
        </p:txBody>
      </p:sp>
      <p:sp>
        <p:nvSpPr>
          <p:cNvPr id="6146" name="Footer Placeholder 4"/>
          <p:cNvSpPr>
            <a:spLocks noGrp="1"/>
          </p:cNvSpPr>
          <p:nvPr>
            <p:ph type="ftr" sz="quarter" idx="11"/>
          </p:nvPr>
        </p:nvSpPr>
        <p:spPr>
          <a:noFill/>
        </p:spPr>
        <p:txBody>
          <a:bodyPr/>
          <a:lstStyle>
            <a:lvl1pPr eaLnBrk="0" hangingPunct="0">
              <a:defRPr>
                <a:solidFill>
                  <a:schemeClr val="tx1"/>
                </a:solidFill>
                <a:latin typeface="Arial" charset="0"/>
                <a:cs typeface="Arial" charset="0"/>
              </a:defRPr>
            </a:lvl1pPr>
            <a:lvl2pPr marL="557213" indent="-214313" eaLnBrk="0" hangingPunct="0">
              <a:defRPr>
                <a:solidFill>
                  <a:schemeClr val="tx1"/>
                </a:solidFill>
                <a:latin typeface="Arial" charset="0"/>
                <a:cs typeface="Arial" charset="0"/>
              </a:defRPr>
            </a:lvl2pPr>
            <a:lvl3pPr marL="857250" indent="-171450" eaLnBrk="0" hangingPunct="0">
              <a:defRPr>
                <a:solidFill>
                  <a:schemeClr val="tx1"/>
                </a:solidFill>
                <a:latin typeface="Arial" charset="0"/>
                <a:cs typeface="Arial" charset="0"/>
              </a:defRPr>
            </a:lvl3pPr>
            <a:lvl4pPr marL="1200150" indent="-171450" eaLnBrk="0" hangingPunct="0">
              <a:defRPr>
                <a:solidFill>
                  <a:schemeClr val="tx1"/>
                </a:solidFill>
                <a:latin typeface="Arial" charset="0"/>
                <a:cs typeface="Arial" charset="0"/>
              </a:defRPr>
            </a:lvl4pPr>
            <a:lvl5pPr marL="1543050" indent="-171450" eaLnBrk="0" hangingPunct="0">
              <a:defRPr>
                <a:solidFill>
                  <a:schemeClr val="tx1"/>
                </a:solidFill>
                <a:latin typeface="Arial" charset="0"/>
                <a:cs typeface="Arial" charset="0"/>
              </a:defRPr>
            </a:lvl5pPr>
            <a:lvl6pPr marL="1885950" indent="-171450" eaLnBrk="0" fontAlgn="base" hangingPunct="0">
              <a:spcBef>
                <a:spcPct val="0"/>
              </a:spcBef>
              <a:spcAft>
                <a:spcPct val="0"/>
              </a:spcAft>
              <a:defRPr>
                <a:solidFill>
                  <a:schemeClr val="tx1"/>
                </a:solidFill>
                <a:latin typeface="Arial" charset="0"/>
                <a:cs typeface="Arial" charset="0"/>
              </a:defRPr>
            </a:lvl6pPr>
            <a:lvl7pPr marL="2228850" indent="-171450" eaLnBrk="0" fontAlgn="base" hangingPunct="0">
              <a:spcBef>
                <a:spcPct val="0"/>
              </a:spcBef>
              <a:spcAft>
                <a:spcPct val="0"/>
              </a:spcAft>
              <a:defRPr>
                <a:solidFill>
                  <a:schemeClr val="tx1"/>
                </a:solidFill>
                <a:latin typeface="Arial" charset="0"/>
                <a:cs typeface="Arial" charset="0"/>
              </a:defRPr>
            </a:lvl7pPr>
            <a:lvl8pPr marL="2571750" indent="-171450" eaLnBrk="0" fontAlgn="base" hangingPunct="0">
              <a:spcBef>
                <a:spcPct val="0"/>
              </a:spcBef>
              <a:spcAft>
                <a:spcPct val="0"/>
              </a:spcAft>
              <a:defRPr>
                <a:solidFill>
                  <a:schemeClr val="tx1"/>
                </a:solidFill>
                <a:latin typeface="Arial" charset="0"/>
                <a:cs typeface="Arial" charset="0"/>
              </a:defRPr>
            </a:lvl8pPr>
            <a:lvl9pPr marL="2914650" indent="-17145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50"/>
              <a:t>© Copyright 2026.  Peter M. Shane All rights reserved.</a:t>
            </a:r>
            <a:endParaRPr lang="en-US" dirty="0"/>
          </a:p>
        </p:txBody>
      </p:sp>
    </p:spTree>
    <p:extLst>
      <p:ext uri="{BB962C8B-B14F-4D97-AF65-F5344CB8AC3E}">
        <p14:creationId xmlns:p14="http://schemas.microsoft.com/office/powerpoint/2010/main" val="4234113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Lawyers . . .</a:t>
            </a:r>
          </a:p>
        </p:txBody>
      </p:sp>
      <p:sp>
        <p:nvSpPr>
          <p:cNvPr id="3" name="Content Placeholder 2"/>
          <p:cNvSpPr>
            <a:spLocks noGrp="1"/>
          </p:cNvSpPr>
          <p:nvPr>
            <p:ph idx="1"/>
          </p:nvPr>
        </p:nvSpPr>
        <p:spPr/>
        <p:txBody>
          <a:bodyPr/>
          <a:lstStyle/>
          <a:p>
            <a:r>
              <a:rPr lang="en-US" dirty="0"/>
              <a:t>Justice Department</a:t>
            </a:r>
          </a:p>
          <a:p>
            <a:pPr lvl="1"/>
            <a:r>
              <a:rPr lang="en-US" dirty="0"/>
              <a:t>Attorney General</a:t>
            </a:r>
          </a:p>
          <a:p>
            <a:pPr lvl="1"/>
            <a:r>
              <a:rPr lang="en-US" dirty="0"/>
              <a:t>Solicitor General</a:t>
            </a:r>
          </a:p>
          <a:p>
            <a:pPr lvl="1"/>
            <a:r>
              <a:rPr lang="en-US" dirty="0"/>
              <a:t>Office of Legal Counsel</a:t>
            </a:r>
          </a:p>
          <a:p>
            <a:r>
              <a:rPr lang="en-US" dirty="0"/>
              <a:t>Agency general counsels</a:t>
            </a:r>
          </a:p>
          <a:p>
            <a:r>
              <a:rPr lang="en-US" dirty="0"/>
              <a:t>Lawyers within offices, bureaus</a:t>
            </a:r>
          </a:p>
        </p:txBody>
      </p:sp>
      <p:sp>
        <p:nvSpPr>
          <p:cNvPr id="4" name="Footer Placeholder 3"/>
          <p:cNvSpPr>
            <a:spLocks noGrp="1"/>
          </p:cNvSpPr>
          <p:nvPr>
            <p:ph type="ftr" sz="quarter" idx="11"/>
          </p:nvPr>
        </p:nvSpPr>
        <p:spPr/>
        <p:txBody>
          <a:bodyPr/>
          <a:lstStyle/>
          <a:p>
            <a:pPr>
              <a:defRPr/>
            </a:pPr>
            <a:r>
              <a:rPr lang="en-US" sz="1050"/>
              <a:t>© Copyright 2026.  Peter M. Shane All rights reserved.</a:t>
            </a:r>
            <a:endParaRPr lang="en-US"/>
          </a:p>
        </p:txBody>
      </p:sp>
    </p:spTree>
    <p:extLst>
      <p:ext uri="{BB962C8B-B14F-4D97-AF65-F5344CB8AC3E}">
        <p14:creationId xmlns:p14="http://schemas.microsoft.com/office/powerpoint/2010/main" val="2234690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t>And Where They Look for Law</a:t>
            </a:r>
          </a:p>
        </p:txBody>
      </p:sp>
      <p:sp>
        <p:nvSpPr>
          <p:cNvPr id="3" name="Content Placeholder 2"/>
          <p:cNvSpPr>
            <a:spLocks noGrp="1"/>
          </p:cNvSpPr>
          <p:nvPr>
            <p:ph idx="1"/>
          </p:nvPr>
        </p:nvSpPr>
        <p:spPr/>
        <p:txBody>
          <a:bodyPr/>
          <a:lstStyle/>
          <a:p>
            <a:pPr lvl="0"/>
            <a:r>
              <a:rPr lang="en-US" sz="1500" dirty="0"/>
              <a:t>U.S. Constitution and cases interpreting it;</a:t>
            </a:r>
          </a:p>
          <a:p>
            <a:pPr lvl="0"/>
            <a:r>
              <a:rPr lang="en-US" sz="1500" dirty="0"/>
              <a:t>Organic agency statutes;</a:t>
            </a:r>
          </a:p>
          <a:p>
            <a:pPr lvl="0"/>
            <a:r>
              <a:rPr lang="en-US" sz="1500" dirty="0"/>
              <a:t>Authorization and Appropriations acts;</a:t>
            </a:r>
          </a:p>
          <a:p>
            <a:pPr lvl="0"/>
            <a:r>
              <a:rPr lang="en-US" sz="1500" dirty="0"/>
              <a:t>Generic statutes, such as the Administrative Procedure Act (APA), which apply to all bodies falling within each statute’s definition of “agency”;</a:t>
            </a:r>
          </a:p>
          <a:p>
            <a:pPr lvl="0"/>
            <a:r>
              <a:rPr lang="en-US" sz="1500" dirty="0"/>
              <a:t>judicial opinions</a:t>
            </a:r>
          </a:p>
          <a:p>
            <a:pPr lvl="0"/>
            <a:r>
              <a:rPr lang="en-US" sz="1500" dirty="0"/>
              <a:t>opinions of the U.S. Attorney General and OLC</a:t>
            </a:r>
          </a:p>
          <a:p>
            <a:pPr lvl="0"/>
            <a:r>
              <a:rPr lang="en-US" sz="1500" dirty="0"/>
              <a:t>presidential executive orders and other directives; and</a:t>
            </a:r>
          </a:p>
          <a:p>
            <a:pPr lvl="0"/>
            <a:r>
              <a:rPr lang="en-US" sz="1500" dirty="0"/>
              <a:t>agency law in the form of “circulars,” directives, manuals, precedential adjudicative orders, or rules (as they may appear in the Federal Register or, as codified, in the Code of Federal Regulations).</a:t>
            </a:r>
          </a:p>
        </p:txBody>
      </p:sp>
      <p:sp>
        <p:nvSpPr>
          <p:cNvPr id="4" name="Footer Placeholder 3"/>
          <p:cNvSpPr>
            <a:spLocks noGrp="1"/>
          </p:cNvSpPr>
          <p:nvPr>
            <p:ph type="ftr" sz="quarter" idx="11"/>
          </p:nvPr>
        </p:nvSpPr>
        <p:spPr/>
        <p:txBody>
          <a:bodyPr/>
          <a:lstStyle/>
          <a:p>
            <a:pPr>
              <a:defRPr/>
            </a:pPr>
            <a:r>
              <a:rPr lang="en-US" sz="1050"/>
              <a:t>© Copyright 2026.  Peter M. Shane All rights reserved.</a:t>
            </a:r>
            <a:endParaRPr lang="en-US"/>
          </a:p>
        </p:txBody>
      </p:sp>
    </p:spTree>
    <p:extLst>
      <p:ext uri="{BB962C8B-B14F-4D97-AF65-F5344CB8AC3E}">
        <p14:creationId xmlns:p14="http://schemas.microsoft.com/office/powerpoint/2010/main" val="3342048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000" dirty="0"/>
              <a:t>Systems Design:  The Challenges</a:t>
            </a:r>
          </a:p>
        </p:txBody>
      </p:sp>
      <p:sp>
        <p:nvSpPr>
          <p:cNvPr id="3" name="Content Placeholder 2"/>
          <p:cNvSpPr>
            <a:spLocks noGrp="1"/>
          </p:cNvSpPr>
          <p:nvPr>
            <p:ph idx="1"/>
          </p:nvPr>
        </p:nvSpPr>
        <p:spPr/>
        <p:txBody>
          <a:bodyPr>
            <a:normAutofit fontScale="92500" lnSpcReduction="10000"/>
          </a:bodyPr>
          <a:lstStyle/>
          <a:p>
            <a:pPr lvl="0"/>
            <a:r>
              <a:rPr lang="en-US" dirty="0"/>
              <a:t>Consistency with the rule of law.</a:t>
            </a:r>
          </a:p>
          <a:p>
            <a:pPr lvl="0"/>
            <a:r>
              <a:rPr lang="en-US" dirty="0"/>
              <a:t>Process fairness.</a:t>
            </a:r>
          </a:p>
          <a:p>
            <a:pPr lvl="0"/>
            <a:r>
              <a:rPr lang="en-US" dirty="0"/>
              <a:t>Instrumental rationality.</a:t>
            </a:r>
          </a:p>
          <a:p>
            <a:pPr lvl="0"/>
            <a:r>
              <a:rPr lang="en-US" dirty="0"/>
              <a:t>Cost-effectiveness.</a:t>
            </a:r>
          </a:p>
          <a:p>
            <a:pPr lvl="0"/>
            <a:r>
              <a:rPr lang="en-US" dirty="0"/>
              <a:t>Political accountability.</a:t>
            </a:r>
          </a:p>
          <a:p>
            <a:pPr lvl="0"/>
            <a:r>
              <a:rPr lang="en-US" dirty="0"/>
              <a:t>Interest representation.</a:t>
            </a:r>
          </a:p>
          <a:p>
            <a:pPr lvl="0"/>
            <a:r>
              <a:rPr lang="en-US" dirty="0"/>
              <a:t>Consistency with general public values (nondiscrimination, efficiency, environmental sensitivity, etc.).</a:t>
            </a:r>
          </a:p>
          <a:p>
            <a:endParaRPr lang="en-US" dirty="0"/>
          </a:p>
        </p:txBody>
      </p:sp>
      <p:sp>
        <p:nvSpPr>
          <p:cNvPr id="4" name="Footer Placeholder 3"/>
          <p:cNvSpPr>
            <a:spLocks noGrp="1"/>
          </p:cNvSpPr>
          <p:nvPr>
            <p:ph type="ftr" sz="quarter" idx="11"/>
          </p:nvPr>
        </p:nvSpPr>
        <p:spPr/>
        <p:txBody>
          <a:bodyPr/>
          <a:lstStyle/>
          <a:p>
            <a:pPr>
              <a:defRPr/>
            </a:pPr>
            <a:r>
              <a:rPr lang="en-US" sz="1050"/>
              <a:t>© Copyright 2026.  Peter M. Shane All rights reserved.</a:t>
            </a:r>
            <a:endParaRPr lang="en-US" dirty="0"/>
          </a:p>
        </p:txBody>
      </p:sp>
    </p:spTree>
    <p:extLst>
      <p:ext uri="{BB962C8B-B14F-4D97-AF65-F5344CB8AC3E}">
        <p14:creationId xmlns:p14="http://schemas.microsoft.com/office/powerpoint/2010/main" val="161129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Statutory Context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5400000">
            <a:off x="2939654" y="2634556"/>
            <a:ext cx="3264694" cy="2448520"/>
          </a:xfrm>
        </p:spPr>
      </p:pic>
      <p:sp>
        <p:nvSpPr>
          <p:cNvPr id="3" name="Footer Placeholder 2">
            <a:extLst>
              <a:ext uri="{FF2B5EF4-FFF2-40B4-BE49-F238E27FC236}">
                <a16:creationId xmlns:a16="http://schemas.microsoft.com/office/drawing/2014/main" id="{C20A1633-AEF0-F05A-D58F-9B8EE0CD9B9E}"/>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A5754B21-5F3E-9439-FD51-24C4BBECCADF}"/>
              </a:ext>
            </a:extLst>
          </p:cNvPr>
          <p:cNvSpPr>
            <a:spLocks noGrp="1"/>
          </p:cNvSpPr>
          <p:nvPr>
            <p:ph type="sldNum" sz="quarter" idx="12"/>
          </p:nvPr>
        </p:nvSpPr>
        <p:spPr/>
        <p:txBody>
          <a:bodyPr/>
          <a:lstStyle/>
          <a:p>
            <a:fld id="{367876FE-DFB2-5046-ACCA-7B7895FA01F2}" type="slidenum">
              <a:rPr lang="en-US" smtClean="0"/>
              <a:t>15</a:t>
            </a:fld>
            <a:endParaRPr lang="en-US"/>
          </a:p>
        </p:txBody>
      </p:sp>
    </p:spTree>
    <p:extLst>
      <p:ext uri="{BB962C8B-B14F-4D97-AF65-F5344CB8AC3E}">
        <p14:creationId xmlns:p14="http://schemas.microsoft.com/office/powerpoint/2010/main" val="2445505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statutory command: Must I eat any pastry I take with a knife and fork?</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0840" y="2226469"/>
            <a:ext cx="4122320" cy="3263504"/>
          </a:xfrm>
        </p:spPr>
      </p:pic>
      <p:sp>
        <p:nvSpPr>
          <p:cNvPr id="3" name="Footer Placeholder 2">
            <a:extLst>
              <a:ext uri="{FF2B5EF4-FFF2-40B4-BE49-F238E27FC236}">
                <a16:creationId xmlns:a16="http://schemas.microsoft.com/office/drawing/2014/main" id="{04B698F5-A354-3B06-DBAA-8F14E27FFF84}"/>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0A040F0D-1C49-7F64-A274-80047884F401}"/>
              </a:ext>
            </a:extLst>
          </p:cNvPr>
          <p:cNvSpPr>
            <a:spLocks noGrp="1"/>
          </p:cNvSpPr>
          <p:nvPr>
            <p:ph type="sldNum" sz="quarter" idx="12"/>
          </p:nvPr>
        </p:nvSpPr>
        <p:spPr/>
        <p:txBody>
          <a:bodyPr/>
          <a:lstStyle/>
          <a:p>
            <a:fld id="{367876FE-DFB2-5046-ACCA-7B7895FA01F2}" type="slidenum">
              <a:rPr lang="en-US" smtClean="0"/>
              <a:t>16</a:t>
            </a:fld>
            <a:endParaRPr lang="en-US"/>
          </a:p>
        </p:txBody>
      </p:sp>
    </p:spTree>
    <p:extLst>
      <p:ext uri="{BB962C8B-B14F-4D97-AF65-F5344CB8AC3E}">
        <p14:creationId xmlns:p14="http://schemas.microsoft.com/office/powerpoint/2010/main" val="3404759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Does the additional text limit the scope of the rule or simply illustrate one possible application?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5400000">
            <a:off x="2250357" y="2053713"/>
            <a:ext cx="4395020" cy="3296264"/>
          </a:xfrm>
        </p:spPr>
      </p:pic>
      <p:sp>
        <p:nvSpPr>
          <p:cNvPr id="3" name="Footer Placeholder 2">
            <a:extLst>
              <a:ext uri="{FF2B5EF4-FFF2-40B4-BE49-F238E27FC236}">
                <a16:creationId xmlns:a16="http://schemas.microsoft.com/office/drawing/2014/main" id="{838B7B19-553E-B60B-3C90-C43F143B4389}"/>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507FDF70-8151-49F3-5CEB-7BA4DAD1F746}"/>
              </a:ext>
            </a:extLst>
          </p:cNvPr>
          <p:cNvSpPr>
            <a:spLocks noGrp="1"/>
          </p:cNvSpPr>
          <p:nvPr>
            <p:ph type="sldNum" sz="quarter" idx="12"/>
          </p:nvPr>
        </p:nvSpPr>
        <p:spPr/>
        <p:txBody>
          <a:bodyPr/>
          <a:lstStyle/>
          <a:p>
            <a:fld id="{367876FE-DFB2-5046-ACCA-7B7895FA01F2}" type="slidenum">
              <a:rPr lang="en-US" smtClean="0"/>
              <a:t>17</a:t>
            </a:fld>
            <a:endParaRPr lang="en-US"/>
          </a:p>
        </p:txBody>
      </p:sp>
    </p:spTree>
    <p:extLst>
      <p:ext uri="{BB962C8B-B14F-4D97-AF65-F5344CB8AC3E}">
        <p14:creationId xmlns:p14="http://schemas.microsoft.com/office/powerpoint/2010/main" val="2747917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Complications of Statutory Construction (1)</a:t>
            </a:r>
          </a:p>
        </p:txBody>
      </p:sp>
      <p:sp>
        <p:nvSpPr>
          <p:cNvPr id="3" name="Content Placeholder 2"/>
          <p:cNvSpPr>
            <a:spLocks noGrp="1"/>
          </p:cNvSpPr>
          <p:nvPr>
            <p:ph idx="1"/>
          </p:nvPr>
        </p:nvSpPr>
        <p:spPr/>
        <p:txBody>
          <a:bodyPr>
            <a:normAutofit fontScale="92500" lnSpcReduction="10000"/>
          </a:bodyPr>
          <a:lstStyle/>
          <a:p>
            <a:r>
              <a:rPr lang="en-US" dirty="0"/>
              <a:t>Interpretation (meaning) v. construction (how to apply)</a:t>
            </a:r>
          </a:p>
          <a:p>
            <a:pPr lvl="1"/>
            <a:r>
              <a:rPr lang="en-US" dirty="0"/>
              <a:t>Even if we know an “ambulance” = “vehicle,” does ban on “vehicles” apply to ambulances?</a:t>
            </a:r>
          </a:p>
          <a:p>
            <a:r>
              <a:rPr lang="en-US" dirty="0"/>
              <a:t>Complexity Source 1: Properties of language: ambiguity, vagueness (see RAK at 15)</a:t>
            </a:r>
          </a:p>
          <a:p>
            <a:pPr lvl="1"/>
            <a:r>
              <a:rPr lang="en-US" dirty="0"/>
              <a:t>Unforeseen applications</a:t>
            </a:r>
          </a:p>
          <a:p>
            <a:pPr lvl="1"/>
            <a:r>
              <a:rPr lang="en-US" dirty="0"/>
              <a:t>Intentional delegation to executive branch</a:t>
            </a:r>
          </a:p>
          <a:p>
            <a:pPr lvl="1"/>
            <a:r>
              <a:rPr lang="en-US" dirty="0"/>
              <a:t>Coalitions fudge areas of disagreement</a:t>
            </a:r>
          </a:p>
          <a:p>
            <a:pPr lvl="1"/>
            <a:r>
              <a:rPr lang="en-US" dirty="0"/>
              <a:t>Inevitable properties of language</a:t>
            </a:r>
          </a:p>
        </p:txBody>
      </p:sp>
      <p:sp>
        <p:nvSpPr>
          <p:cNvPr id="4" name="Slide Number Placeholder 3"/>
          <p:cNvSpPr>
            <a:spLocks noGrp="1"/>
          </p:cNvSpPr>
          <p:nvPr>
            <p:ph type="sldNum" sz="quarter" idx="12"/>
          </p:nvPr>
        </p:nvSpPr>
        <p:spPr/>
        <p:txBody>
          <a:bodyPr/>
          <a:lstStyle/>
          <a:p>
            <a:fld id="{367876FE-DFB2-5046-ACCA-7B7895FA01F2}" type="slidenum">
              <a:rPr lang="en-US" smtClean="0"/>
              <a:t>18</a:t>
            </a:fld>
            <a:endParaRPr lang="en-US"/>
          </a:p>
        </p:txBody>
      </p:sp>
      <p:sp>
        <p:nvSpPr>
          <p:cNvPr id="5" name="Footer Placeholder 4">
            <a:extLst>
              <a:ext uri="{FF2B5EF4-FFF2-40B4-BE49-F238E27FC236}">
                <a16:creationId xmlns:a16="http://schemas.microsoft.com/office/drawing/2014/main" id="{15252D2D-08F4-0604-D420-B81235420134}"/>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280453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Complications of Statutory Construction (2)</a:t>
            </a:r>
          </a:p>
        </p:txBody>
      </p:sp>
      <p:sp>
        <p:nvSpPr>
          <p:cNvPr id="3" name="Content Placeholder 2"/>
          <p:cNvSpPr>
            <a:spLocks noGrp="1"/>
          </p:cNvSpPr>
          <p:nvPr>
            <p:ph idx="1"/>
          </p:nvPr>
        </p:nvSpPr>
        <p:spPr/>
        <p:txBody>
          <a:bodyPr>
            <a:normAutofit fontScale="92500"/>
          </a:bodyPr>
          <a:lstStyle/>
          <a:p>
            <a:r>
              <a:rPr lang="en-US" dirty="0"/>
              <a:t>Complexity Source 2:  Institutional Roles</a:t>
            </a:r>
          </a:p>
          <a:p>
            <a:pPr lvl="1"/>
            <a:r>
              <a:rPr lang="en-US" dirty="0" err="1"/>
              <a:t>Katzmann</a:t>
            </a:r>
            <a:r>
              <a:rPr lang="en-US" dirty="0"/>
              <a:t>: Judges should be “faithful to the work of the people’s representatives memorialized in statutory language” (105)</a:t>
            </a:r>
          </a:p>
          <a:p>
            <a:pPr lvl="1"/>
            <a:r>
              <a:rPr lang="en-US" dirty="0"/>
              <a:t>What does that mean?  Faithful to Congress’s </a:t>
            </a:r>
            <a:r>
              <a:rPr lang="en-US" b="1" dirty="0"/>
              <a:t>text</a:t>
            </a:r>
            <a:r>
              <a:rPr lang="en-US" dirty="0"/>
              <a:t>? To its </a:t>
            </a:r>
            <a:r>
              <a:rPr lang="en-US" b="1" dirty="0"/>
              <a:t>purposes</a:t>
            </a:r>
            <a:r>
              <a:rPr lang="en-US" dirty="0"/>
              <a:t>?</a:t>
            </a:r>
          </a:p>
          <a:p>
            <a:pPr lvl="1"/>
            <a:r>
              <a:rPr lang="en-US" dirty="0"/>
              <a:t>What if Congress has assigned a task to an agency that has already interpreted the statute a certain way? Should a judge defer to the agency?</a:t>
            </a:r>
          </a:p>
          <a:p>
            <a:pPr lvl="1"/>
            <a:r>
              <a:rPr lang="en-US" dirty="0"/>
              <a:t>Should processes of enactment affect interpretation?</a:t>
            </a:r>
          </a:p>
        </p:txBody>
      </p:sp>
      <p:sp>
        <p:nvSpPr>
          <p:cNvPr id="4" name="Slide Number Placeholder 3"/>
          <p:cNvSpPr>
            <a:spLocks noGrp="1"/>
          </p:cNvSpPr>
          <p:nvPr>
            <p:ph type="sldNum" sz="quarter" idx="12"/>
          </p:nvPr>
        </p:nvSpPr>
        <p:spPr/>
        <p:txBody>
          <a:bodyPr/>
          <a:lstStyle/>
          <a:p>
            <a:fld id="{367876FE-DFB2-5046-ACCA-7B7895FA01F2}" type="slidenum">
              <a:rPr lang="en-US" smtClean="0"/>
              <a:t>19</a:t>
            </a:fld>
            <a:endParaRPr lang="en-US"/>
          </a:p>
        </p:txBody>
      </p:sp>
      <p:sp>
        <p:nvSpPr>
          <p:cNvPr id="5" name="Footer Placeholder 4">
            <a:extLst>
              <a:ext uri="{FF2B5EF4-FFF2-40B4-BE49-F238E27FC236}">
                <a16:creationId xmlns:a16="http://schemas.microsoft.com/office/drawing/2014/main" id="{EAFE0388-10EE-CC56-B109-E0AD4C8224A8}"/>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818250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Structuring Your Analysis</a:t>
            </a:r>
          </a:p>
        </p:txBody>
      </p:sp>
      <p:sp>
        <p:nvSpPr>
          <p:cNvPr id="3" name="Content Placeholder 2"/>
          <p:cNvSpPr>
            <a:spLocks noGrp="1"/>
          </p:cNvSpPr>
          <p:nvPr>
            <p:ph idx="1"/>
          </p:nvPr>
        </p:nvSpPr>
        <p:spPr/>
        <p:txBody>
          <a:bodyPr>
            <a:normAutofit fontScale="92500" lnSpcReduction="10000"/>
          </a:bodyPr>
          <a:lstStyle/>
          <a:p>
            <a:r>
              <a:rPr lang="en-US" dirty="0"/>
              <a:t>What triggered the lawsuit?</a:t>
            </a:r>
          </a:p>
          <a:p>
            <a:r>
              <a:rPr lang="en-US" dirty="0"/>
              <a:t>What is the actual text in dispute?</a:t>
            </a:r>
          </a:p>
          <a:p>
            <a:r>
              <a:rPr lang="en-US" dirty="0"/>
              <a:t>What are the contending interpretations/constructions?</a:t>
            </a:r>
          </a:p>
          <a:p>
            <a:r>
              <a:rPr lang="en-US" dirty="0"/>
              <a:t>Why do the contending interpretations/constructions make a difference?</a:t>
            </a:r>
          </a:p>
          <a:p>
            <a:r>
              <a:rPr lang="en-US" dirty="0"/>
              <a:t>Which interpretation or construction does the court pick?</a:t>
            </a:r>
          </a:p>
          <a:p>
            <a:r>
              <a:rPr lang="en-US" dirty="0"/>
              <a:t>Why?</a:t>
            </a:r>
          </a:p>
        </p:txBody>
      </p:sp>
      <p:sp>
        <p:nvSpPr>
          <p:cNvPr id="4" name="Slide Number Placeholder 3"/>
          <p:cNvSpPr>
            <a:spLocks noGrp="1"/>
          </p:cNvSpPr>
          <p:nvPr>
            <p:ph type="sldNum" sz="quarter" idx="12"/>
          </p:nvPr>
        </p:nvSpPr>
        <p:spPr/>
        <p:txBody>
          <a:bodyPr/>
          <a:lstStyle/>
          <a:p>
            <a:fld id="{7ED1AE92-1F7A-794C-B2A7-2EEF60C9AF34}" type="slidenum">
              <a:rPr lang="en-US" smtClean="0"/>
              <a:t>20</a:t>
            </a:fld>
            <a:endParaRPr lang="en-US"/>
          </a:p>
        </p:txBody>
      </p:sp>
      <p:sp>
        <p:nvSpPr>
          <p:cNvPr id="5" name="Footer Placeholder 4">
            <a:extLst>
              <a:ext uri="{FF2B5EF4-FFF2-40B4-BE49-F238E27FC236}">
                <a16:creationId xmlns:a16="http://schemas.microsoft.com/office/drawing/2014/main" id="{20D38FDB-C192-2B13-C910-C6307E996681}"/>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526709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Approaches to Interpretation</a:t>
            </a:r>
          </a:p>
        </p:txBody>
      </p:sp>
      <p:sp>
        <p:nvSpPr>
          <p:cNvPr id="3" name="Content Placeholder 2"/>
          <p:cNvSpPr>
            <a:spLocks noGrp="1"/>
          </p:cNvSpPr>
          <p:nvPr>
            <p:ph idx="1"/>
          </p:nvPr>
        </p:nvSpPr>
        <p:spPr/>
        <p:txBody>
          <a:bodyPr/>
          <a:lstStyle/>
          <a:p>
            <a:r>
              <a:rPr lang="en-US" dirty="0" err="1"/>
              <a:t>Intentionalism</a:t>
            </a:r>
            <a:endParaRPr lang="en-US" dirty="0"/>
          </a:p>
          <a:p>
            <a:r>
              <a:rPr lang="en-US" dirty="0"/>
              <a:t>Purposivism</a:t>
            </a:r>
          </a:p>
          <a:p>
            <a:r>
              <a:rPr lang="en-US" dirty="0"/>
              <a:t>Textualism</a:t>
            </a:r>
          </a:p>
          <a:p>
            <a:r>
              <a:rPr lang="en-US" dirty="0"/>
              <a:t>Common characteristics</a:t>
            </a:r>
          </a:p>
          <a:p>
            <a:pPr lvl="1"/>
            <a:r>
              <a:rPr lang="en-US" dirty="0"/>
              <a:t>Largely same tools, but different emphasis</a:t>
            </a:r>
          </a:p>
          <a:p>
            <a:pPr lvl="1"/>
            <a:r>
              <a:rPr lang="en-US" dirty="0"/>
              <a:t>All start from premise of </a:t>
            </a:r>
            <a:r>
              <a:rPr lang="en-US"/>
              <a:t>legislative supremacy</a:t>
            </a:r>
            <a:endParaRPr lang="en-US" dirty="0"/>
          </a:p>
        </p:txBody>
      </p:sp>
      <p:sp>
        <p:nvSpPr>
          <p:cNvPr id="4" name="Slide Number Placeholder 3"/>
          <p:cNvSpPr>
            <a:spLocks noGrp="1"/>
          </p:cNvSpPr>
          <p:nvPr>
            <p:ph type="sldNum" sz="quarter" idx="12"/>
          </p:nvPr>
        </p:nvSpPr>
        <p:spPr/>
        <p:txBody>
          <a:bodyPr/>
          <a:lstStyle/>
          <a:p>
            <a:fld id="{367876FE-DFB2-5046-ACCA-7B7895FA01F2}" type="slidenum">
              <a:rPr lang="en-US" smtClean="0"/>
              <a:t>21</a:t>
            </a:fld>
            <a:endParaRPr lang="en-US"/>
          </a:p>
        </p:txBody>
      </p:sp>
      <p:sp>
        <p:nvSpPr>
          <p:cNvPr id="5" name="Footer Placeholder 4">
            <a:extLst>
              <a:ext uri="{FF2B5EF4-FFF2-40B4-BE49-F238E27FC236}">
                <a16:creationId xmlns:a16="http://schemas.microsoft.com/office/drawing/2014/main" id="{19A726A2-39A8-1B42-B3B1-F74B903C08F9}"/>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6774146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The Hierarchy of the Federal Courts</a:t>
            </a:r>
          </a:p>
        </p:txBody>
      </p:sp>
      <p:sp>
        <p:nvSpPr>
          <p:cNvPr id="3" name="Content Placeholder 2"/>
          <p:cNvSpPr>
            <a:spLocks noGrp="1"/>
          </p:cNvSpPr>
          <p:nvPr>
            <p:ph idx="1"/>
          </p:nvPr>
        </p:nvSpPr>
        <p:spPr/>
        <p:txBody>
          <a:bodyPr>
            <a:noAutofit/>
          </a:bodyPr>
          <a:lstStyle/>
          <a:p>
            <a:r>
              <a:rPr lang="en-US" sz="2000"/>
              <a:t>Supreme Court of the United States: nine Justices; discretionary review by certiorari; final word on federal law</a:t>
            </a:r>
          </a:p>
          <a:p>
            <a:r>
              <a:rPr lang="en-US" sz="2000"/>
              <a:t>U.S. Courts of Appeals: 13 circuits; appeals as of right, heard in three-judge panels</a:t>
            </a:r>
          </a:p>
          <a:p>
            <a:r>
              <a:rPr lang="en-US" sz="2000"/>
              <a:t>D.C. Circuit hears a large share of agency review cases; Federal Circuit is subject-matter based</a:t>
            </a:r>
          </a:p>
          <a:p>
            <a:r>
              <a:rPr lang="en-US" sz="2000"/>
              <a:t>U.S. District Courts: 94 trial courts; fact-finding and initial review of agency action</a:t>
            </a:r>
          </a:p>
          <a:p>
            <a:r>
              <a:rPr lang="en-US" sz="2000"/>
              <a:t>Specialized and Article I tribunals: Tax Court, Court of International Trade, bankruptcy courts</a:t>
            </a:r>
          </a:p>
          <a:p>
            <a:r>
              <a:rPr lang="en-US" sz="2000"/>
              <a:t>Why it matters: many statutes route agency review straight to the courts of appeals</a:t>
            </a:r>
          </a:p>
          <a:p>
            <a:r>
              <a:rPr lang="en-US" sz="2000"/>
              <a:t>Circuit splits shape agency practice until the Supreme Court resolves them</a:t>
            </a:r>
          </a:p>
        </p:txBody>
      </p:sp>
      <p:sp>
        <p:nvSpPr>
          <p:cNvPr id="4" name="Slide Number Placeholder 3"/>
          <p:cNvSpPr>
            <a:spLocks noGrp="1"/>
          </p:cNvSpPr>
          <p:nvPr>
            <p:ph type="sldNum" sz="quarter" idx="12"/>
          </p:nvPr>
        </p:nvSpPr>
        <p:spPr/>
        <p:txBody>
          <a:bodyPr/>
          <a:lstStyle/>
          <a:p>
            <a:fld id="{02C0F4E5-8638-48A8-A74A-BD294AB7105C}" type="slidenum">
              <a:rPr lang="en-US" smtClean="0"/>
              <a:t>22</a:t>
            </a:fld>
            <a:endParaRPr lang="en-US"/>
          </a:p>
        </p:txBody>
      </p:sp>
      <p:sp>
        <p:nvSpPr>
          <p:cNvPr id="5" name="Footer Placeholder 4">
            <a:extLst>
              <a:ext uri="{FF2B5EF4-FFF2-40B4-BE49-F238E27FC236}">
                <a16:creationId xmlns:a16="http://schemas.microsoft.com/office/drawing/2014/main" id="{B5F66121-BC5D-4531-9FB6-640D9B8D7BD2}"/>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060729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87DAC-EFE0-1657-078D-0E396C1F3C93}"/>
              </a:ext>
            </a:extLst>
          </p:cNvPr>
          <p:cNvSpPr>
            <a:spLocks noGrp="1"/>
          </p:cNvSpPr>
          <p:nvPr>
            <p:ph type="title"/>
          </p:nvPr>
        </p:nvSpPr>
        <p:spPr/>
        <p:txBody>
          <a:bodyPr/>
          <a:lstStyle/>
          <a:p>
            <a:r>
              <a:rPr lang="en-US" dirty="0"/>
              <a:t>Hierarchy of NYS Courts</a:t>
            </a:r>
          </a:p>
        </p:txBody>
      </p:sp>
      <p:sp>
        <p:nvSpPr>
          <p:cNvPr id="3" name="Content Placeholder 2">
            <a:extLst>
              <a:ext uri="{FF2B5EF4-FFF2-40B4-BE49-F238E27FC236}">
                <a16:creationId xmlns:a16="http://schemas.microsoft.com/office/drawing/2014/main" id="{C109AA37-E9EE-839E-BC8A-61A4EFE194C0}"/>
              </a:ext>
            </a:extLst>
          </p:cNvPr>
          <p:cNvSpPr>
            <a:spLocks noGrp="1"/>
          </p:cNvSpPr>
          <p:nvPr>
            <p:ph idx="1"/>
          </p:nvPr>
        </p:nvSpPr>
        <p:spPr/>
        <p:txBody>
          <a:bodyPr/>
          <a:lstStyle/>
          <a:p>
            <a:pPr marL="0" indent="0">
              <a:buNone/>
            </a:pPr>
            <a:endParaRPr lang="en-US" dirty="0"/>
          </a:p>
        </p:txBody>
      </p:sp>
      <p:sp>
        <p:nvSpPr>
          <p:cNvPr id="4" name="Footer Placeholder 3">
            <a:extLst>
              <a:ext uri="{FF2B5EF4-FFF2-40B4-BE49-F238E27FC236}">
                <a16:creationId xmlns:a16="http://schemas.microsoft.com/office/drawing/2014/main" id="{BDA3D3C7-7006-4D50-5215-48FB2CFB49AE}"/>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8210C14-0F9C-AF5E-7CA9-F77E99BB4421}"/>
              </a:ext>
            </a:extLst>
          </p:cNvPr>
          <p:cNvSpPr>
            <a:spLocks noGrp="1"/>
          </p:cNvSpPr>
          <p:nvPr>
            <p:ph type="sldNum" sz="quarter" idx="12"/>
          </p:nvPr>
        </p:nvSpPr>
        <p:spPr/>
        <p:txBody>
          <a:bodyPr/>
          <a:lstStyle/>
          <a:p>
            <a:fld id="{367876FE-DFB2-5046-ACCA-7B7895FA01F2}" type="slidenum">
              <a:rPr lang="en-US" smtClean="0"/>
              <a:t>23</a:t>
            </a:fld>
            <a:endParaRPr lang="en-US"/>
          </a:p>
        </p:txBody>
      </p:sp>
      <p:pic>
        <p:nvPicPr>
          <p:cNvPr id="7" name="Picture 6">
            <a:extLst>
              <a:ext uri="{FF2B5EF4-FFF2-40B4-BE49-F238E27FC236}">
                <a16:creationId xmlns:a16="http://schemas.microsoft.com/office/drawing/2014/main" id="{D70ABB86-B569-E108-F09E-22E86B41FD4A}"/>
              </a:ext>
            </a:extLst>
          </p:cNvPr>
          <p:cNvPicPr>
            <a:picLocks noChangeAspect="1"/>
          </p:cNvPicPr>
          <p:nvPr/>
        </p:nvPicPr>
        <p:blipFill>
          <a:blip r:embed="rId2"/>
          <a:stretch>
            <a:fillRect/>
          </a:stretch>
        </p:blipFill>
        <p:spPr>
          <a:xfrm>
            <a:off x="1228258" y="1600200"/>
            <a:ext cx="6687483" cy="4724804"/>
          </a:xfrm>
          <a:prstGeom prst="rect">
            <a:avLst/>
          </a:prstGeom>
        </p:spPr>
      </p:pic>
    </p:spTree>
    <p:extLst>
      <p:ext uri="{BB962C8B-B14F-4D97-AF65-F5344CB8AC3E}">
        <p14:creationId xmlns:p14="http://schemas.microsoft.com/office/powerpoint/2010/main" val="26166697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Riggs v. Palmer </a:t>
            </a:r>
            <a:br>
              <a:rPr lang="en-US" dirty="0"/>
            </a:br>
            <a:r>
              <a:rPr lang="en-US" dirty="0"/>
              <a:t>(N.Y. Court of Appeals 1889)</a:t>
            </a:r>
          </a:p>
        </p:txBody>
      </p:sp>
      <p:sp>
        <p:nvSpPr>
          <p:cNvPr id="3" name="Content Placeholder 2"/>
          <p:cNvSpPr>
            <a:spLocks noGrp="1"/>
          </p:cNvSpPr>
          <p:nvPr>
            <p:ph idx="1"/>
          </p:nvPr>
        </p:nvSpPr>
        <p:spPr/>
        <p:txBody>
          <a:bodyPr>
            <a:noAutofit/>
          </a:bodyPr>
          <a:lstStyle/>
          <a:p>
            <a:r>
              <a:rPr lang="en-US" sz="2000" dirty="0"/>
              <a:t>Statutes of NY (“No will in writing, except in the cases hereinafter mentioned, nor any part thereof, shall be revoked or altered otherwise, etc.”) prescribe conditions for the finality of a will</a:t>
            </a:r>
          </a:p>
          <a:p>
            <a:pPr lvl="1"/>
            <a:r>
              <a:rPr lang="en-US" sz="2000" dirty="0"/>
              <a:t>“[C]</a:t>
            </a:r>
            <a:r>
              <a:rPr lang="en-US" sz="2000" dirty="0" err="1"/>
              <a:t>ases</a:t>
            </a:r>
            <a:r>
              <a:rPr lang="en-US" sz="2000" dirty="0"/>
              <a:t> hereinafter mentioned” do not include “should an heir murder the testator” [only fraud, duress, or incapacity]</a:t>
            </a:r>
          </a:p>
          <a:p>
            <a:r>
              <a:rPr lang="en-US" sz="2000" dirty="0"/>
              <a:t>Three arguments for implying this “case” is also an exception</a:t>
            </a:r>
          </a:p>
          <a:p>
            <a:pPr lvl="1"/>
            <a:r>
              <a:rPr lang="en-US" sz="2000" dirty="0"/>
              <a:t>Absurdity of contrary result</a:t>
            </a:r>
          </a:p>
          <a:p>
            <a:pPr lvl="1"/>
            <a:r>
              <a:rPr lang="en-US" sz="2000" dirty="0"/>
              <a:t>Contrary to policy of the statute (preserving the peace)</a:t>
            </a:r>
          </a:p>
          <a:p>
            <a:pPr lvl="1"/>
            <a:r>
              <a:rPr lang="en-US" sz="2000" dirty="0">
                <a:solidFill>
                  <a:srgbClr val="FF0000"/>
                </a:solidFill>
              </a:rPr>
              <a:t>Common law </a:t>
            </a:r>
            <a:r>
              <a:rPr lang="en-US" sz="2000" dirty="0"/>
              <a:t>disfavors profiting from one’s own wrong</a:t>
            </a:r>
          </a:p>
          <a:p>
            <a:r>
              <a:rPr lang="en-US" sz="2000" dirty="0"/>
              <a:t>So, why the dissent?</a:t>
            </a:r>
          </a:p>
          <a:p>
            <a:pPr lvl="1"/>
            <a:r>
              <a:rPr lang="en-US" sz="2000" dirty="0"/>
              <a:t>Violates legislative supremacy</a:t>
            </a:r>
          </a:p>
          <a:p>
            <a:pPr lvl="1"/>
            <a:r>
              <a:rPr lang="en-US" sz="2000" dirty="0"/>
              <a:t>Violates policy to honor testator intent (daughters get too much?)</a:t>
            </a:r>
          </a:p>
          <a:p>
            <a:pPr lvl="1"/>
            <a:r>
              <a:rPr lang="en-US" sz="2000" dirty="0"/>
              <a:t>Amounts to the imposition of an ex post facto penalty</a:t>
            </a:r>
          </a:p>
        </p:txBody>
      </p:sp>
      <p:sp>
        <p:nvSpPr>
          <p:cNvPr id="4" name="Slide Number Placeholder 3"/>
          <p:cNvSpPr>
            <a:spLocks noGrp="1"/>
          </p:cNvSpPr>
          <p:nvPr>
            <p:ph type="sldNum" sz="quarter" idx="12"/>
          </p:nvPr>
        </p:nvSpPr>
        <p:spPr/>
        <p:txBody>
          <a:bodyPr/>
          <a:lstStyle/>
          <a:p>
            <a:fld id="{02C0F4E5-8638-48A8-A74A-BD294AB7105C}" type="slidenum">
              <a:rPr lang="en-US" smtClean="0"/>
              <a:t>24</a:t>
            </a:fld>
            <a:endParaRPr lang="en-US"/>
          </a:p>
        </p:txBody>
      </p:sp>
      <p:sp>
        <p:nvSpPr>
          <p:cNvPr id="5" name="Footer Placeholder 4">
            <a:extLst>
              <a:ext uri="{FF2B5EF4-FFF2-40B4-BE49-F238E27FC236}">
                <a16:creationId xmlns:a16="http://schemas.microsoft.com/office/drawing/2014/main" id="{3F0B882D-2822-A6C5-636A-9C1FAD879CA8}"/>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829336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 calcmode="lin" valueType="num">
                                      <p:cBhvr additive="base">
                                        <p:cTn id="5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
                                            <p:txEl>
                                              <p:pRg st="9" end="9"/>
                                            </p:txEl>
                                          </p:spTgt>
                                        </p:tgtEl>
                                        <p:attrNameLst>
                                          <p:attrName>style.visibility</p:attrName>
                                        </p:attrNameLst>
                                      </p:cBhvr>
                                      <p:to>
                                        <p:strVal val="visible"/>
                                      </p:to>
                                    </p:set>
                                    <p:anim calcmode="lin" valueType="num">
                                      <p:cBhvr additive="base">
                                        <p:cTn id="5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pPr eaLnBrk="1" hangingPunct="1"/>
            <a:r>
              <a:rPr lang="en-US" altLang="en-US" i="1" dirty="0"/>
              <a:t>Riggs v. Palmer </a:t>
            </a:r>
            <a:r>
              <a:rPr lang="en-US" altLang="en-US" dirty="0"/>
              <a:t>Hypos</a:t>
            </a:r>
          </a:p>
        </p:txBody>
      </p:sp>
      <p:sp>
        <p:nvSpPr>
          <p:cNvPr id="2051" name="Rectangle 3"/>
          <p:cNvSpPr>
            <a:spLocks noGrp="1" noChangeArrowheads="1"/>
          </p:cNvSpPr>
          <p:nvPr>
            <p:ph type="body" idx="1"/>
          </p:nvPr>
        </p:nvSpPr>
        <p:spPr/>
        <p:txBody>
          <a:bodyPr/>
          <a:lstStyle/>
          <a:p>
            <a:pPr marL="0" indent="0" eaLnBrk="1" hangingPunct="1">
              <a:lnSpc>
                <a:spcPct val="80000"/>
              </a:lnSpc>
              <a:buNone/>
            </a:pPr>
            <a:r>
              <a:rPr lang="en-US" altLang="en-US" sz="2400" dirty="0"/>
              <a:t>Background:  Grandfather leaves small legacies to 2 daughters, residuum to his grandson; state law makes wills final except in cases of fraud, duress, incapacity</a:t>
            </a:r>
          </a:p>
          <a:p>
            <a:pPr marL="609600" indent="-609600" eaLnBrk="1" hangingPunct="1">
              <a:lnSpc>
                <a:spcPct val="80000"/>
              </a:lnSpc>
              <a:buFontTx/>
              <a:buAutoNum type="arabicPeriod"/>
            </a:pPr>
            <a:r>
              <a:rPr lang="en-US" altLang="en-US" sz="2800" dirty="0"/>
              <a:t>Actual:  Grandson kills grandfather; NY disallows inheritance</a:t>
            </a:r>
          </a:p>
          <a:p>
            <a:pPr marL="609600" indent="-609600" eaLnBrk="1" hangingPunct="1">
              <a:lnSpc>
                <a:spcPct val="80000"/>
              </a:lnSpc>
              <a:buFontTx/>
              <a:buAutoNum type="arabicPeriod"/>
            </a:pPr>
            <a:r>
              <a:rPr lang="en-US" altLang="en-US" sz="2800" dirty="0"/>
              <a:t>Hypo 1:  Grandson kills grandfather’s best friend, but not discovered until after grandfather’s death</a:t>
            </a:r>
          </a:p>
          <a:p>
            <a:pPr marL="609600" indent="-609600" eaLnBrk="1" hangingPunct="1">
              <a:lnSpc>
                <a:spcPct val="80000"/>
              </a:lnSpc>
              <a:buFontTx/>
              <a:buAutoNum type="arabicPeriod"/>
            </a:pPr>
            <a:r>
              <a:rPr lang="en-US" altLang="en-US" sz="2800" dirty="0"/>
              <a:t>Hypo 2: Grandson kills one of the daughters, but not discovered until after grandfather’s death</a:t>
            </a:r>
          </a:p>
          <a:p>
            <a:pPr marL="990600" lvl="1" indent="-533400" eaLnBrk="1" hangingPunct="1">
              <a:lnSpc>
                <a:spcPct val="80000"/>
              </a:lnSpc>
              <a:buFontTx/>
              <a:buChar char="•"/>
            </a:pPr>
            <a:r>
              <a:rPr lang="en-US" altLang="en-US" sz="2400" dirty="0"/>
              <a:t>Does court have power to deny him the woman’s legacy as part of the residuum?</a:t>
            </a:r>
          </a:p>
          <a:p>
            <a:pPr marL="990600" lvl="1" indent="-533400" eaLnBrk="1" hangingPunct="1">
              <a:lnSpc>
                <a:spcPct val="80000"/>
              </a:lnSpc>
              <a:buFontTx/>
              <a:buChar char="•"/>
            </a:pPr>
            <a:r>
              <a:rPr lang="en-US" altLang="en-US" sz="2400" dirty="0"/>
              <a:t>Would court disallow his inheritance altogether?</a:t>
            </a:r>
          </a:p>
        </p:txBody>
      </p:sp>
      <p:sp>
        <p:nvSpPr>
          <p:cNvPr id="2" name="Slide Number Placeholder 1"/>
          <p:cNvSpPr>
            <a:spLocks noGrp="1"/>
          </p:cNvSpPr>
          <p:nvPr>
            <p:ph type="sldNum" sz="quarter" idx="12"/>
          </p:nvPr>
        </p:nvSpPr>
        <p:spPr/>
        <p:txBody>
          <a:bodyPr/>
          <a:lstStyle/>
          <a:p>
            <a:fld id="{02C0F4E5-8638-48A8-A74A-BD294AB7105C}" type="slidenum">
              <a:rPr lang="en-US" smtClean="0"/>
              <a:t>25</a:t>
            </a:fld>
            <a:endParaRPr lang="en-US"/>
          </a:p>
        </p:txBody>
      </p:sp>
      <p:sp>
        <p:nvSpPr>
          <p:cNvPr id="3" name="Footer Placeholder 2">
            <a:extLst>
              <a:ext uri="{FF2B5EF4-FFF2-40B4-BE49-F238E27FC236}">
                <a16:creationId xmlns:a16="http://schemas.microsoft.com/office/drawing/2014/main" id="{A3FCB658-2BDB-4FEC-61DE-4843D122BE7F}"/>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4100525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C4900-9C40-1AAC-1B1E-C83D759EC8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6EAF9-A412-AF93-E4A1-97EA18ACE1DB}"/>
              </a:ext>
            </a:extLst>
          </p:cNvPr>
          <p:cNvSpPr>
            <a:spLocks noGrp="1"/>
          </p:cNvSpPr>
          <p:nvPr>
            <p:ph type="title"/>
          </p:nvPr>
        </p:nvSpPr>
        <p:spPr/>
        <p:txBody>
          <a:bodyPr>
            <a:normAutofit fontScale="90000"/>
          </a:bodyPr>
          <a:lstStyle/>
          <a:p>
            <a:r>
              <a:rPr lang="en-US" dirty="0"/>
              <a:t>Church of the Holy Trinity v. U.S. (1892)</a:t>
            </a:r>
          </a:p>
        </p:txBody>
      </p:sp>
      <p:sp>
        <p:nvSpPr>
          <p:cNvPr id="3" name="Content Placeholder 2">
            <a:extLst>
              <a:ext uri="{FF2B5EF4-FFF2-40B4-BE49-F238E27FC236}">
                <a16:creationId xmlns:a16="http://schemas.microsoft.com/office/drawing/2014/main" id="{8E4D2CB2-0700-AA8B-605A-C0D2A252B71B}"/>
              </a:ext>
            </a:extLst>
          </p:cNvPr>
          <p:cNvSpPr>
            <a:spLocks noGrp="1"/>
          </p:cNvSpPr>
          <p:nvPr>
            <p:ph idx="1"/>
          </p:nvPr>
        </p:nvSpPr>
        <p:spPr/>
        <p:txBody>
          <a:bodyPr>
            <a:normAutofit fontScale="62500" lnSpcReduction="20000"/>
          </a:bodyPr>
          <a:lstStyle/>
          <a:p>
            <a:r>
              <a:rPr lang="en-US" dirty="0"/>
              <a:t>Be it enacted by the senate and house of representatives of the United States of America, in congress assembled, that from and after the passage of this act it shall be unlawful for </a:t>
            </a:r>
            <a:r>
              <a:rPr lang="en-US" dirty="0">
                <a:solidFill>
                  <a:srgbClr val="FF0000"/>
                </a:solidFill>
              </a:rPr>
              <a:t>[</a:t>
            </a:r>
            <a:r>
              <a:rPr lang="en-US" dirty="0"/>
              <a:t>any person, company, partnership, or corporation</a:t>
            </a:r>
            <a:r>
              <a:rPr lang="en-US" dirty="0">
                <a:solidFill>
                  <a:srgbClr val="FF0000"/>
                </a:solidFill>
              </a:rPr>
              <a:t>]</a:t>
            </a:r>
            <a:r>
              <a:rPr lang="en-US" dirty="0"/>
              <a:t>, </a:t>
            </a:r>
            <a:r>
              <a:rPr lang="en-US" dirty="0">
                <a:solidFill>
                  <a:srgbClr val="FF0000"/>
                </a:solidFill>
              </a:rPr>
              <a:t>[</a:t>
            </a:r>
            <a:r>
              <a:rPr lang="en-US" dirty="0"/>
              <a:t>in any manner whatsoever</a:t>
            </a:r>
            <a:r>
              <a:rPr lang="en-US" dirty="0">
                <a:solidFill>
                  <a:srgbClr val="FF0000"/>
                </a:solidFill>
              </a:rPr>
              <a:t>]</a:t>
            </a:r>
            <a:r>
              <a:rPr lang="en-US" dirty="0"/>
              <a:t>, </a:t>
            </a:r>
            <a:r>
              <a:rPr lang="en-US" dirty="0">
                <a:solidFill>
                  <a:srgbClr val="FF0000"/>
                </a:solidFill>
              </a:rPr>
              <a:t>[</a:t>
            </a:r>
            <a:r>
              <a:rPr lang="en-US" dirty="0"/>
              <a:t>to prepay the transportation, or in any way assist or encourage the importation or migration,</a:t>
            </a:r>
            <a:r>
              <a:rPr lang="en-US" dirty="0">
                <a:solidFill>
                  <a:srgbClr val="FF0000"/>
                </a:solidFill>
              </a:rPr>
              <a:t>]</a:t>
            </a:r>
            <a:r>
              <a:rPr lang="en-US" dirty="0"/>
              <a:t> </a:t>
            </a:r>
            <a:r>
              <a:rPr lang="en-US" dirty="0">
                <a:solidFill>
                  <a:srgbClr val="FF0000"/>
                </a:solidFill>
              </a:rPr>
              <a:t>[</a:t>
            </a:r>
            <a:r>
              <a:rPr lang="en-US" dirty="0"/>
              <a:t>of any alien or aliens, any foreigner or foreigners,</a:t>
            </a:r>
            <a:r>
              <a:rPr lang="en-US" dirty="0">
                <a:solidFill>
                  <a:srgbClr val="FF0000"/>
                </a:solidFill>
              </a:rPr>
              <a:t>]</a:t>
            </a:r>
            <a:r>
              <a:rPr lang="en-US" dirty="0"/>
              <a:t> </a:t>
            </a:r>
            <a:r>
              <a:rPr lang="en-US" dirty="0">
                <a:solidFill>
                  <a:srgbClr val="FF0000"/>
                </a:solidFill>
              </a:rPr>
              <a:t>[</a:t>
            </a:r>
            <a:r>
              <a:rPr lang="en-US" dirty="0"/>
              <a:t>into the United States, its territories, or the District of Columbia,</a:t>
            </a:r>
            <a:r>
              <a:rPr lang="en-US" dirty="0">
                <a:solidFill>
                  <a:srgbClr val="FF0000"/>
                </a:solidFill>
              </a:rPr>
              <a:t>]</a:t>
            </a:r>
            <a:r>
              <a:rPr lang="en-US" dirty="0"/>
              <a:t> </a:t>
            </a:r>
            <a:r>
              <a:rPr lang="en-US" dirty="0">
                <a:solidFill>
                  <a:srgbClr val="FF0000"/>
                </a:solidFill>
              </a:rPr>
              <a:t>[</a:t>
            </a:r>
            <a:r>
              <a:rPr lang="en-US" dirty="0"/>
              <a:t>under contract or agreement, </a:t>
            </a:r>
            <a:r>
              <a:rPr lang="en-US" dirty="0" err="1"/>
              <a:t>parol</a:t>
            </a:r>
            <a:r>
              <a:rPr lang="en-US" dirty="0"/>
              <a:t> or special, express or implied,</a:t>
            </a:r>
            <a:r>
              <a:rPr lang="en-US" dirty="0">
                <a:solidFill>
                  <a:srgbClr val="FF0000"/>
                </a:solidFill>
              </a:rPr>
              <a:t>]</a:t>
            </a:r>
            <a:r>
              <a:rPr lang="en-US" dirty="0"/>
              <a:t> </a:t>
            </a:r>
            <a:r>
              <a:rPr lang="en-US" dirty="0">
                <a:solidFill>
                  <a:srgbClr val="FF0000"/>
                </a:solidFill>
              </a:rPr>
              <a:t>[</a:t>
            </a:r>
            <a:r>
              <a:rPr lang="en-US" dirty="0"/>
              <a:t>made previous to the importation or migration of such alien or aliens, foreigner or foreigners,</a:t>
            </a:r>
            <a:r>
              <a:rPr lang="en-US" dirty="0">
                <a:solidFill>
                  <a:srgbClr val="FF0000"/>
                </a:solidFill>
              </a:rPr>
              <a:t>]</a:t>
            </a:r>
            <a:r>
              <a:rPr lang="en-US" dirty="0"/>
              <a:t> </a:t>
            </a:r>
            <a:r>
              <a:rPr lang="en-US" dirty="0">
                <a:solidFill>
                  <a:srgbClr val="FF0000"/>
                </a:solidFill>
              </a:rPr>
              <a:t>[</a:t>
            </a:r>
            <a:r>
              <a:rPr lang="en-US" dirty="0"/>
              <a:t>to </a:t>
            </a:r>
            <a:r>
              <a:rPr lang="en-US" b="1" dirty="0">
                <a:solidFill>
                  <a:srgbClr val="FF0000"/>
                </a:solidFill>
              </a:rPr>
              <a:t>perform labor or service </a:t>
            </a:r>
            <a:r>
              <a:rPr lang="en-US" dirty="0"/>
              <a:t>of any kind</a:t>
            </a:r>
            <a:r>
              <a:rPr lang="en-US" dirty="0">
                <a:solidFill>
                  <a:srgbClr val="FF0000"/>
                </a:solidFill>
              </a:rPr>
              <a:t>]</a:t>
            </a:r>
            <a:r>
              <a:rPr lang="en-US" dirty="0"/>
              <a:t> </a:t>
            </a:r>
            <a:r>
              <a:rPr lang="en-US" dirty="0">
                <a:solidFill>
                  <a:srgbClr val="FF0000"/>
                </a:solidFill>
              </a:rPr>
              <a:t>[</a:t>
            </a:r>
            <a:r>
              <a:rPr lang="en-US" dirty="0"/>
              <a:t>in the United States, its territories, or the District of Columbia.</a:t>
            </a:r>
            <a:r>
              <a:rPr lang="en-US" dirty="0">
                <a:solidFill>
                  <a:srgbClr val="FF0000"/>
                </a:solidFill>
              </a:rPr>
              <a:t>]</a:t>
            </a:r>
            <a:endParaRPr lang="en-US" dirty="0"/>
          </a:p>
          <a:p>
            <a:pPr lvl="1"/>
            <a:r>
              <a:rPr lang="en-US" dirty="0"/>
              <a:t>A Seattle-based construction company prepays for ocean transport of Chinese workers to work as lumberjacks on Canadian forest land leased to the company?</a:t>
            </a:r>
          </a:p>
          <a:p>
            <a:pPr lvl="1"/>
            <a:r>
              <a:rPr lang="en-US" dirty="0"/>
              <a:t>A NY restaurant agrees to reimburse for ocean transport of English men and women as far as Nova Scotia if they agree to work in the restaurant; the workers must fend for themselves getting from Nova Scotia to New York?</a:t>
            </a:r>
          </a:p>
        </p:txBody>
      </p:sp>
      <p:sp>
        <p:nvSpPr>
          <p:cNvPr id="4" name="Slide Number Placeholder 3">
            <a:extLst>
              <a:ext uri="{FF2B5EF4-FFF2-40B4-BE49-F238E27FC236}">
                <a16:creationId xmlns:a16="http://schemas.microsoft.com/office/drawing/2014/main" id="{6EEC44CA-D6C3-42D8-85B0-9CF4368CF8CF}"/>
              </a:ext>
            </a:extLst>
          </p:cNvPr>
          <p:cNvSpPr>
            <a:spLocks noGrp="1"/>
          </p:cNvSpPr>
          <p:nvPr>
            <p:ph type="sldNum" sz="quarter" idx="12"/>
          </p:nvPr>
        </p:nvSpPr>
        <p:spPr/>
        <p:txBody>
          <a:bodyPr/>
          <a:lstStyle/>
          <a:p>
            <a:fld id="{02C0F4E5-8638-48A8-A74A-BD294AB7105C}" type="slidenum">
              <a:rPr lang="en-US" smtClean="0"/>
              <a:t>26</a:t>
            </a:fld>
            <a:endParaRPr lang="en-US"/>
          </a:p>
        </p:txBody>
      </p:sp>
      <p:sp>
        <p:nvSpPr>
          <p:cNvPr id="5" name="Footer Placeholder 4">
            <a:extLst>
              <a:ext uri="{FF2B5EF4-FFF2-40B4-BE49-F238E27FC236}">
                <a16:creationId xmlns:a16="http://schemas.microsoft.com/office/drawing/2014/main" id="{451B9FBD-CFD2-31C7-417E-CE4267D46EDB}"/>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258937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Holy Trinity </a:t>
            </a:r>
            <a:r>
              <a:rPr lang="en-US" dirty="0"/>
              <a:t>- 2</a:t>
            </a:r>
          </a:p>
        </p:txBody>
      </p:sp>
      <p:sp>
        <p:nvSpPr>
          <p:cNvPr id="3" name="Content Placeholder 2"/>
          <p:cNvSpPr>
            <a:spLocks noGrp="1"/>
          </p:cNvSpPr>
          <p:nvPr>
            <p:ph idx="1"/>
          </p:nvPr>
        </p:nvSpPr>
        <p:spPr/>
        <p:txBody>
          <a:bodyPr>
            <a:normAutofit fontScale="92500" lnSpcReduction="10000"/>
          </a:bodyPr>
          <a:lstStyle/>
          <a:p>
            <a:r>
              <a:rPr lang="en-US" dirty="0"/>
              <a:t>Facts:  Church of the Holy Trinity contracted with Rev. E. Walpole Warren, of England, to be its pastor; statute makes exceptions to its terms, but not for clerics</a:t>
            </a:r>
          </a:p>
          <a:p>
            <a:r>
              <a:rPr lang="en-US" dirty="0"/>
              <a:t>Why does majority infer an exception?</a:t>
            </a:r>
          </a:p>
          <a:p>
            <a:pPr lvl="1"/>
            <a:r>
              <a:rPr lang="en-US" dirty="0"/>
              <a:t>Title of the Act: “An act to prohibit the importation and migration of foreigners and aliens under contract or agreement to perform </a:t>
            </a:r>
            <a:r>
              <a:rPr lang="en-US" dirty="0">
                <a:solidFill>
                  <a:srgbClr val="FF0000"/>
                </a:solidFill>
              </a:rPr>
              <a:t>labor</a:t>
            </a:r>
            <a:r>
              <a:rPr lang="en-US" dirty="0"/>
              <a:t> in the United States, its territories, and the District of Columbia.” </a:t>
            </a:r>
          </a:p>
          <a:p>
            <a:pPr lvl="2"/>
            <a:r>
              <a:rPr lang="en-US" dirty="0"/>
              <a:t>Labor = manual labor according to “common understanding” and “ordinary meaning” </a:t>
            </a:r>
          </a:p>
        </p:txBody>
      </p:sp>
      <p:sp>
        <p:nvSpPr>
          <p:cNvPr id="4" name="Slide Number Placeholder 3"/>
          <p:cNvSpPr>
            <a:spLocks noGrp="1"/>
          </p:cNvSpPr>
          <p:nvPr>
            <p:ph type="sldNum" sz="quarter" idx="12"/>
          </p:nvPr>
        </p:nvSpPr>
        <p:spPr/>
        <p:txBody>
          <a:bodyPr/>
          <a:lstStyle/>
          <a:p>
            <a:fld id="{02C0F4E5-8638-48A8-A74A-BD294AB7105C}" type="slidenum">
              <a:rPr lang="en-US" smtClean="0"/>
              <a:t>27</a:t>
            </a:fld>
            <a:endParaRPr lang="en-US"/>
          </a:p>
        </p:txBody>
      </p:sp>
      <p:sp>
        <p:nvSpPr>
          <p:cNvPr id="5" name="Footer Placeholder 4">
            <a:extLst>
              <a:ext uri="{FF2B5EF4-FFF2-40B4-BE49-F238E27FC236}">
                <a16:creationId xmlns:a16="http://schemas.microsoft.com/office/drawing/2014/main" id="{A27B88C4-21EF-9B08-C0DC-54295C9F6C2E}"/>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070354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Holy Trinity </a:t>
            </a:r>
            <a:r>
              <a:rPr lang="en-US" dirty="0"/>
              <a:t>- 3</a:t>
            </a:r>
          </a:p>
        </p:txBody>
      </p:sp>
      <p:sp>
        <p:nvSpPr>
          <p:cNvPr id="3" name="Content Placeholder 2"/>
          <p:cNvSpPr>
            <a:spLocks noGrp="1"/>
          </p:cNvSpPr>
          <p:nvPr>
            <p:ph idx="1"/>
          </p:nvPr>
        </p:nvSpPr>
        <p:spPr/>
        <p:txBody>
          <a:bodyPr/>
          <a:lstStyle/>
          <a:p>
            <a:pPr marL="342900" lvl="1" indent="-342900">
              <a:buFont typeface="Arial" pitchFamily="34" charset="0"/>
              <a:buChar char="•"/>
            </a:pPr>
            <a:r>
              <a:rPr lang="en-US" sz="3200" dirty="0"/>
              <a:t>Aim of act = protect wages of U.S. workers</a:t>
            </a:r>
          </a:p>
          <a:p>
            <a:pPr marL="742950" lvl="2" indent="-342900"/>
            <a:r>
              <a:rPr lang="en-US" dirty="0"/>
              <a:t>Illuminated by reference to the events preceding the legislation </a:t>
            </a:r>
          </a:p>
          <a:p>
            <a:pPr marL="342900" lvl="1" indent="-342900"/>
            <a:r>
              <a:rPr lang="en-US" dirty="0"/>
              <a:t>Legislative history:  </a:t>
            </a:r>
          </a:p>
          <a:p>
            <a:pPr lvl="1"/>
            <a:r>
              <a:rPr lang="en-US" dirty="0"/>
              <a:t>Petitions and testimony refer to “cheap, unskilled labor” (the “mischief” to be remedied)</a:t>
            </a:r>
          </a:p>
          <a:p>
            <a:pPr lvl="1"/>
            <a:r>
              <a:rPr lang="en-US" dirty="0"/>
              <a:t>Senate report</a:t>
            </a:r>
          </a:p>
          <a:p>
            <a:pPr lvl="1"/>
            <a:r>
              <a:rPr lang="en-US" dirty="0"/>
              <a:t>Congressional record</a:t>
            </a:r>
          </a:p>
        </p:txBody>
      </p:sp>
      <p:sp>
        <p:nvSpPr>
          <p:cNvPr id="4" name="Slide Number Placeholder 3"/>
          <p:cNvSpPr>
            <a:spLocks noGrp="1"/>
          </p:cNvSpPr>
          <p:nvPr>
            <p:ph type="sldNum" sz="quarter" idx="12"/>
          </p:nvPr>
        </p:nvSpPr>
        <p:spPr/>
        <p:txBody>
          <a:bodyPr/>
          <a:lstStyle/>
          <a:p>
            <a:fld id="{02C0F4E5-8638-48A8-A74A-BD294AB7105C}" type="slidenum">
              <a:rPr lang="en-US" smtClean="0"/>
              <a:t>28</a:t>
            </a:fld>
            <a:endParaRPr lang="en-US"/>
          </a:p>
        </p:txBody>
      </p:sp>
      <p:sp>
        <p:nvSpPr>
          <p:cNvPr id="5" name="Footer Placeholder 4">
            <a:extLst>
              <a:ext uri="{FF2B5EF4-FFF2-40B4-BE49-F238E27FC236}">
                <a16:creationId xmlns:a16="http://schemas.microsoft.com/office/drawing/2014/main" id="{A0AE00C9-C68D-6EEC-E5C8-656881D054EC}"/>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643325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Holy Trinity </a:t>
            </a:r>
            <a:r>
              <a:rPr lang="en-US" dirty="0"/>
              <a:t>- 4</a:t>
            </a:r>
          </a:p>
        </p:txBody>
      </p:sp>
      <p:sp>
        <p:nvSpPr>
          <p:cNvPr id="3" name="Content Placeholder 2"/>
          <p:cNvSpPr>
            <a:spLocks noGrp="1"/>
          </p:cNvSpPr>
          <p:nvPr>
            <p:ph idx="1"/>
          </p:nvPr>
        </p:nvSpPr>
        <p:spPr/>
        <p:txBody>
          <a:bodyPr>
            <a:normAutofit/>
          </a:bodyPr>
          <a:lstStyle/>
          <a:p>
            <a:r>
              <a:rPr lang="en-US" dirty="0"/>
              <a:t>Public policy</a:t>
            </a:r>
          </a:p>
          <a:p>
            <a:pPr lvl="1"/>
            <a:r>
              <a:rPr lang="en-US" dirty="0"/>
              <a:t>[N]o purpose of action against religion can be imputed to any legislation, state or national, because this is a religious people. This is historically true. From the discovery of this continent to the present hour, there is a single voice making this affirmation. . . . These, and many other matters which might be noticed, add a volume of unofficial declarations to the mass of organic utterances that this is a Christian nation.</a:t>
            </a:r>
          </a:p>
        </p:txBody>
      </p:sp>
      <p:sp>
        <p:nvSpPr>
          <p:cNvPr id="4" name="Slide Number Placeholder 3"/>
          <p:cNvSpPr>
            <a:spLocks noGrp="1"/>
          </p:cNvSpPr>
          <p:nvPr>
            <p:ph type="sldNum" sz="quarter" idx="12"/>
          </p:nvPr>
        </p:nvSpPr>
        <p:spPr/>
        <p:txBody>
          <a:bodyPr/>
          <a:lstStyle/>
          <a:p>
            <a:fld id="{02C0F4E5-8638-48A8-A74A-BD294AB7105C}" type="slidenum">
              <a:rPr lang="en-US" smtClean="0"/>
              <a:t>29</a:t>
            </a:fld>
            <a:endParaRPr lang="en-US"/>
          </a:p>
        </p:txBody>
      </p:sp>
      <p:sp>
        <p:nvSpPr>
          <p:cNvPr id="5" name="Footer Placeholder 4">
            <a:extLst>
              <a:ext uri="{FF2B5EF4-FFF2-40B4-BE49-F238E27FC236}">
                <a16:creationId xmlns:a16="http://schemas.microsoft.com/office/drawing/2014/main" id="{F93AA46F-FCEF-DAE5-B150-24B4788FF66A}"/>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74352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9075</TotalTime>
  <Words>2133</Words>
  <Application>Microsoft Office PowerPoint</Application>
  <PresentationFormat>On-screen Show (4:3)</PresentationFormat>
  <Paragraphs>234</Paragraphs>
  <Slides>29</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Recap of Class 2</vt:lpstr>
      <vt:lpstr>Another Look at Reconciliation</vt:lpstr>
      <vt:lpstr>The Path to Administration</vt:lpstr>
      <vt:lpstr>Agencies From the Outset</vt:lpstr>
      <vt:lpstr>Why Agencies?</vt:lpstr>
      <vt:lpstr>Spurts of Growth</vt:lpstr>
      <vt:lpstr>Many Shapes of Agencies</vt:lpstr>
      <vt:lpstr>Bureaucracy and Coordination</vt:lpstr>
      <vt:lpstr>The Foundational Problem of Administrative Law</vt:lpstr>
      <vt:lpstr>Levels of Discretion</vt:lpstr>
      <vt:lpstr>Principal-Agent Problem</vt:lpstr>
      <vt:lpstr>Lawyers . . .</vt:lpstr>
      <vt:lpstr>And Where They Look for Law</vt:lpstr>
      <vt:lpstr>Systems Design:  The Challenges</vt:lpstr>
      <vt:lpstr>Statutory Context</vt:lpstr>
      <vt:lpstr>The statutory command: Must I eat any pastry I take with a knife and fork?</vt:lpstr>
      <vt:lpstr>Does the additional text limit the scope of the rule or simply illustrate one possible application?</vt:lpstr>
      <vt:lpstr>Complications of Statutory Construction (1)</vt:lpstr>
      <vt:lpstr>Complications of Statutory Construction (2)</vt:lpstr>
      <vt:lpstr>Structuring Your Analysis</vt:lpstr>
      <vt:lpstr>Approaches to Interpretation</vt:lpstr>
      <vt:lpstr>The Hierarchy of the Federal Courts</vt:lpstr>
      <vt:lpstr>Hierarchy of NYS Courts</vt:lpstr>
      <vt:lpstr>Riggs v. Palmer  (N.Y. Court of Appeals 1889)</vt:lpstr>
      <vt:lpstr>Riggs v. Palmer Hypos</vt:lpstr>
      <vt:lpstr>Church of the Holy Trinity v. U.S. (1892)</vt:lpstr>
      <vt:lpstr>Holy Trinity - 2</vt:lpstr>
      <vt:lpstr>Holy Trinity - 3</vt:lpstr>
      <vt:lpstr>Holy Trinity - 4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Peter Shane</dc:creator>
  <cp:lastModifiedBy>Shane, Peter</cp:lastModifiedBy>
  <cp:revision>33</cp:revision>
  <dcterms:created xsi:type="dcterms:W3CDTF">2017-01-02T17:06:06Z</dcterms:created>
  <dcterms:modified xsi:type="dcterms:W3CDTF">2026-09-02T17:49:22Z</dcterms:modified>
</cp:coreProperties>
</file>