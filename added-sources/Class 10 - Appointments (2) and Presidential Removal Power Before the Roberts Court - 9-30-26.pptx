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91" r:id="rId2"/>
    <p:sldId id="293" r:id="rId3"/>
    <p:sldId id="294" r:id="rId4"/>
    <p:sldId id="295" r:id="rId5"/>
    <p:sldId id="296" r:id="rId6"/>
    <p:sldId id="303" r:id="rId7"/>
    <p:sldId id="302" r:id="rId8"/>
    <p:sldId id="307" r:id="rId9"/>
    <p:sldId id="306" r:id="rId10"/>
    <p:sldId id="304" r:id="rId11"/>
    <p:sldId id="305" r:id="rId12"/>
    <p:sldId id="308" r:id="rId13"/>
    <p:sldId id="292" r:id="rId14"/>
    <p:sldId id="309" r:id="rId15"/>
    <p:sldId id="310" r:id="rId16"/>
    <p:sldId id="311" r:id="rId17"/>
    <p:sldId id="262" r:id="rId18"/>
    <p:sldId id="274" r:id="rId19"/>
    <p:sldId id="261" r:id="rId20"/>
    <p:sldId id="275" r:id="rId21"/>
    <p:sldId id="276" r:id="rId22"/>
    <p:sldId id="277" r:id="rId23"/>
    <p:sldId id="288" r:id="rId24"/>
    <p:sldId id="286" r:id="rId25"/>
    <p:sldId id="287" r:id="rId26"/>
    <p:sldId id="285" r:id="rId2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A77C04F-18AD-E005-2F00-3AE8A278B263}"/>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71CCA670-78E2-5D12-47AC-E226303566EE}"/>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1A215844-0DE8-43E5-AFBD-A9A40C78B4C8}" type="datetimeFigureOut">
              <a:rPr lang="en-US"/>
              <a:pPr>
                <a:defRPr/>
              </a:pPr>
              <a:t>9/30/2026</a:t>
            </a:fld>
            <a:endParaRPr lang="en-US"/>
          </a:p>
        </p:txBody>
      </p:sp>
      <p:sp>
        <p:nvSpPr>
          <p:cNvPr id="4" name="Slide Image Placeholder 3">
            <a:extLst>
              <a:ext uri="{FF2B5EF4-FFF2-40B4-BE49-F238E27FC236}">
                <a16:creationId xmlns:a16="http://schemas.microsoft.com/office/drawing/2014/main" id="{A34F6177-FF78-C277-9EB7-08A14D332A20}"/>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C3B34AF-B148-64EC-8A33-CEECF637D6E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B1E469DC-0FA3-5A63-269F-8F1C63F96A1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E87B0FB3-7142-CAAD-8919-C2CE21DD50A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A63C762-A49A-4480-B85B-29BA4F11BFC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489063-8C67-1C4F-A6EE-20A7F6AAB496}" type="slidenum">
              <a:rPr lang="en-US" smtClean="0"/>
              <a:t>7</a:t>
            </a:fld>
            <a:endParaRPr lang="en-US"/>
          </a:p>
        </p:txBody>
      </p:sp>
    </p:spTree>
    <p:extLst>
      <p:ext uri="{BB962C8B-B14F-4D97-AF65-F5344CB8AC3E}">
        <p14:creationId xmlns:p14="http://schemas.microsoft.com/office/powerpoint/2010/main" val="3781365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FA9FE92B-FCCD-9621-D7F8-8606D12EBD0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Notes Placeholder 2">
            <a:extLst>
              <a:ext uri="{FF2B5EF4-FFF2-40B4-BE49-F238E27FC236}">
                <a16:creationId xmlns:a16="http://schemas.microsoft.com/office/drawing/2014/main" id="{7F080D36-521B-081F-B424-6F0E7B6A3C7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0483" name="Slide Number Placeholder 3">
            <a:extLst>
              <a:ext uri="{FF2B5EF4-FFF2-40B4-BE49-F238E27FC236}">
                <a16:creationId xmlns:a16="http://schemas.microsoft.com/office/drawing/2014/main" id="{4B7BF70B-DA18-1FE7-1B67-056077A758E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C4BEEB-9096-4103-BF01-0E91CB3BF067}" type="slidenum">
              <a:rPr lang="en-US" altLang="en-US" smtClean="0"/>
              <a:pPr/>
              <a:t>17</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C4320947-3C5E-299B-5014-FF702D5BF29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3232DD9A-1338-0928-8B72-B650020F9DB7}"/>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6" name="Rectangle 6">
            <a:extLst>
              <a:ext uri="{FF2B5EF4-FFF2-40B4-BE49-F238E27FC236}">
                <a16:creationId xmlns:a16="http://schemas.microsoft.com/office/drawing/2014/main" id="{7031FBCA-56B9-2020-8BC9-DA4339A4333B}"/>
              </a:ext>
            </a:extLst>
          </p:cNvPr>
          <p:cNvSpPr>
            <a:spLocks noGrp="1" noChangeArrowheads="1"/>
          </p:cNvSpPr>
          <p:nvPr>
            <p:ph type="sldNum" sz="quarter" idx="12"/>
          </p:nvPr>
        </p:nvSpPr>
        <p:spPr>
          <a:ln/>
        </p:spPr>
        <p:txBody>
          <a:bodyPr/>
          <a:lstStyle>
            <a:lvl1pPr>
              <a:defRPr/>
            </a:lvl1pPr>
          </a:lstStyle>
          <a:p>
            <a:pPr>
              <a:defRPr/>
            </a:pPr>
            <a:fld id="{B4D7215E-EADB-402A-8936-3625487B134B}" type="slidenum">
              <a:rPr lang="en-US" altLang="en-US"/>
              <a:pPr>
                <a:defRPr/>
              </a:pPr>
              <a:t>‹#›</a:t>
            </a:fld>
            <a:endParaRPr lang="en-US" altLang="en-US"/>
          </a:p>
        </p:txBody>
      </p:sp>
    </p:spTree>
    <p:extLst>
      <p:ext uri="{BB962C8B-B14F-4D97-AF65-F5344CB8AC3E}">
        <p14:creationId xmlns:p14="http://schemas.microsoft.com/office/powerpoint/2010/main" val="1431678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F6EEEE4-50E1-D58D-0E5B-C1F31559125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513D8DA6-8C3B-7C31-F8D5-8C24283EE8E4}"/>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6" name="Rectangle 6">
            <a:extLst>
              <a:ext uri="{FF2B5EF4-FFF2-40B4-BE49-F238E27FC236}">
                <a16:creationId xmlns:a16="http://schemas.microsoft.com/office/drawing/2014/main" id="{92F621AD-BD95-05F9-4CFC-26D95547F60D}"/>
              </a:ext>
            </a:extLst>
          </p:cNvPr>
          <p:cNvSpPr>
            <a:spLocks noGrp="1" noChangeArrowheads="1"/>
          </p:cNvSpPr>
          <p:nvPr>
            <p:ph type="sldNum" sz="quarter" idx="12"/>
          </p:nvPr>
        </p:nvSpPr>
        <p:spPr>
          <a:ln/>
        </p:spPr>
        <p:txBody>
          <a:bodyPr/>
          <a:lstStyle>
            <a:lvl1pPr>
              <a:defRPr/>
            </a:lvl1pPr>
          </a:lstStyle>
          <a:p>
            <a:pPr>
              <a:defRPr/>
            </a:pPr>
            <a:fld id="{E3574F4A-C3CF-4B85-9364-62150E7DAB4B}" type="slidenum">
              <a:rPr lang="en-US" altLang="en-US"/>
              <a:pPr>
                <a:defRPr/>
              </a:pPr>
              <a:t>‹#›</a:t>
            </a:fld>
            <a:endParaRPr lang="en-US" altLang="en-US"/>
          </a:p>
        </p:txBody>
      </p:sp>
    </p:spTree>
    <p:extLst>
      <p:ext uri="{BB962C8B-B14F-4D97-AF65-F5344CB8AC3E}">
        <p14:creationId xmlns:p14="http://schemas.microsoft.com/office/powerpoint/2010/main" val="2752778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035FF10-AB54-43CE-18EA-42E13A4D2E1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F5FAC51F-69A1-A365-4C93-DF99E814BE57}"/>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6" name="Rectangle 6">
            <a:extLst>
              <a:ext uri="{FF2B5EF4-FFF2-40B4-BE49-F238E27FC236}">
                <a16:creationId xmlns:a16="http://schemas.microsoft.com/office/drawing/2014/main" id="{7ADBDFCB-F70F-25D0-E394-73E9AE756ABF}"/>
              </a:ext>
            </a:extLst>
          </p:cNvPr>
          <p:cNvSpPr>
            <a:spLocks noGrp="1" noChangeArrowheads="1"/>
          </p:cNvSpPr>
          <p:nvPr>
            <p:ph type="sldNum" sz="quarter" idx="12"/>
          </p:nvPr>
        </p:nvSpPr>
        <p:spPr>
          <a:ln/>
        </p:spPr>
        <p:txBody>
          <a:bodyPr/>
          <a:lstStyle>
            <a:lvl1pPr>
              <a:defRPr/>
            </a:lvl1pPr>
          </a:lstStyle>
          <a:p>
            <a:pPr>
              <a:defRPr/>
            </a:pPr>
            <a:fld id="{B189BE10-249A-4A72-A3CD-C8A544C63F27}" type="slidenum">
              <a:rPr lang="en-US" altLang="en-US"/>
              <a:pPr>
                <a:defRPr/>
              </a:pPr>
              <a:t>‹#›</a:t>
            </a:fld>
            <a:endParaRPr lang="en-US" altLang="en-US"/>
          </a:p>
        </p:txBody>
      </p:sp>
    </p:spTree>
    <p:extLst>
      <p:ext uri="{BB962C8B-B14F-4D97-AF65-F5344CB8AC3E}">
        <p14:creationId xmlns:p14="http://schemas.microsoft.com/office/powerpoint/2010/main" val="3941318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E4E81167-BD8A-E9C5-B9E4-B581173DA75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7D718A17-9A04-A804-E030-C3CFAB8ABF0F}"/>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7" name="Rectangle 6">
            <a:extLst>
              <a:ext uri="{FF2B5EF4-FFF2-40B4-BE49-F238E27FC236}">
                <a16:creationId xmlns:a16="http://schemas.microsoft.com/office/drawing/2014/main" id="{24255A8E-8DC6-E00D-2E99-CD23F0F92A2B}"/>
              </a:ext>
            </a:extLst>
          </p:cNvPr>
          <p:cNvSpPr>
            <a:spLocks noGrp="1" noChangeArrowheads="1"/>
          </p:cNvSpPr>
          <p:nvPr>
            <p:ph type="sldNum" sz="quarter" idx="12"/>
          </p:nvPr>
        </p:nvSpPr>
        <p:spPr>
          <a:ln/>
        </p:spPr>
        <p:txBody>
          <a:bodyPr/>
          <a:lstStyle>
            <a:lvl1pPr>
              <a:defRPr/>
            </a:lvl1pPr>
          </a:lstStyle>
          <a:p>
            <a:pPr>
              <a:defRPr/>
            </a:pPr>
            <a:fld id="{DB5C1B9F-BA61-4F5D-9601-3092122E38FF}" type="slidenum">
              <a:rPr lang="en-US" altLang="en-US"/>
              <a:pPr>
                <a:defRPr/>
              </a:pPr>
              <a:t>‹#›</a:t>
            </a:fld>
            <a:endParaRPr lang="en-US" altLang="en-US"/>
          </a:p>
        </p:txBody>
      </p:sp>
    </p:spTree>
    <p:extLst>
      <p:ext uri="{BB962C8B-B14F-4D97-AF65-F5344CB8AC3E}">
        <p14:creationId xmlns:p14="http://schemas.microsoft.com/office/powerpoint/2010/main" val="213801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09998C21-A9BB-E3AD-66C6-BE6A365E2C3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FACB306B-50A0-1F0C-E805-4A841593DDE9}"/>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9" name="Rectangle 6">
            <a:extLst>
              <a:ext uri="{FF2B5EF4-FFF2-40B4-BE49-F238E27FC236}">
                <a16:creationId xmlns:a16="http://schemas.microsoft.com/office/drawing/2014/main" id="{DAD72EA8-56AA-3BF9-2868-0458677CD4DE}"/>
              </a:ext>
            </a:extLst>
          </p:cNvPr>
          <p:cNvSpPr>
            <a:spLocks noGrp="1" noChangeArrowheads="1"/>
          </p:cNvSpPr>
          <p:nvPr>
            <p:ph type="sldNum" sz="quarter" idx="12"/>
          </p:nvPr>
        </p:nvSpPr>
        <p:spPr>
          <a:ln/>
        </p:spPr>
        <p:txBody>
          <a:bodyPr/>
          <a:lstStyle>
            <a:lvl1pPr>
              <a:defRPr/>
            </a:lvl1pPr>
          </a:lstStyle>
          <a:p>
            <a:pPr>
              <a:defRPr/>
            </a:pPr>
            <a:fld id="{D2A8C1BA-7D5B-453F-9E45-5A25AE23588A}" type="slidenum">
              <a:rPr lang="en-US" altLang="en-US"/>
              <a:pPr>
                <a:defRPr/>
              </a:pPr>
              <a:t>‹#›</a:t>
            </a:fld>
            <a:endParaRPr lang="en-US" altLang="en-US"/>
          </a:p>
        </p:txBody>
      </p:sp>
    </p:spTree>
    <p:extLst>
      <p:ext uri="{BB962C8B-B14F-4D97-AF65-F5344CB8AC3E}">
        <p14:creationId xmlns:p14="http://schemas.microsoft.com/office/powerpoint/2010/main" val="3480805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07E67F1-D7E6-1855-D7F7-2629DCA5782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982BD9D6-8581-D84F-C604-78E94944B37F}"/>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5" name="Rectangle 6">
            <a:extLst>
              <a:ext uri="{FF2B5EF4-FFF2-40B4-BE49-F238E27FC236}">
                <a16:creationId xmlns:a16="http://schemas.microsoft.com/office/drawing/2014/main" id="{0B1D8203-2917-7F04-6CBB-8E14AFDDE94B}"/>
              </a:ext>
            </a:extLst>
          </p:cNvPr>
          <p:cNvSpPr>
            <a:spLocks noGrp="1" noChangeArrowheads="1"/>
          </p:cNvSpPr>
          <p:nvPr>
            <p:ph type="sldNum" sz="quarter" idx="12"/>
          </p:nvPr>
        </p:nvSpPr>
        <p:spPr>
          <a:ln/>
        </p:spPr>
        <p:txBody>
          <a:bodyPr/>
          <a:lstStyle>
            <a:lvl1pPr>
              <a:defRPr/>
            </a:lvl1pPr>
          </a:lstStyle>
          <a:p>
            <a:pPr>
              <a:defRPr/>
            </a:pPr>
            <a:fld id="{B61889B5-2565-4F0A-B1AC-1612C8A13EFB}" type="slidenum">
              <a:rPr lang="en-US" altLang="en-US"/>
              <a:pPr>
                <a:defRPr/>
              </a:pPr>
              <a:t>‹#›</a:t>
            </a:fld>
            <a:endParaRPr lang="en-US" altLang="en-US"/>
          </a:p>
        </p:txBody>
      </p:sp>
    </p:spTree>
    <p:extLst>
      <p:ext uri="{BB962C8B-B14F-4D97-AF65-F5344CB8AC3E}">
        <p14:creationId xmlns:p14="http://schemas.microsoft.com/office/powerpoint/2010/main" val="628315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CC788B1-90C2-C987-EC8A-DBE6C90F644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261EA1D9-18E4-E666-9CB1-A2457CB78837}"/>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4" name="Rectangle 6">
            <a:extLst>
              <a:ext uri="{FF2B5EF4-FFF2-40B4-BE49-F238E27FC236}">
                <a16:creationId xmlns:a16="http://schemas.microsoft.com/office/drawing/2014/main" id="{57BB8B93-2A2A-E6CD-5BB5-16FAEB9F36F2}"/>
              </a:ext>
            </a:extLst>
          </p:cNvPr>
          <p:cNvSpPr>
            <a:spLocks noGrp="1" noChangeArrowheads="1"/>
          </p:cNvSpPr>
          <p:nvPr>
            <p:ph type="sldNum" sz="quarter" idx="12"/>
          </p:nvPr>
        </p:nvSpPr>
        <p:spPr>
          <a:ln/>
        </p:spPr>
        <p:txBody>
          <a:bodyPr/>
          <a:lstStyle>
            <a:lvl1pPr>
              <a:defRPr/>
            </a:lvl1pPr>
          </a:lstStyle>
          <a:p>
            <a:pPr>
              <a:defRPr/>
            </a:pPr>
            <a:fld id="{47329769-5E2D-4425-841E-DFF9746D7EF1}" type="slidenum">
              <a:rPr lang="en-US" altLang="en-US"/>
              <a:pPr>
                <a:defRPr/>
              </a:pPr>
              <a:t>‹#›</a:t>
            </a:fld>
            <a:endParaRPr lang="en-US" altLang="en-US"/>
          </a:p>
        </p:txBody>
      </p:sp>
    </p:spTree>
    <p:extLst>
      <p:ext uri="{BB962C8B-B14F-4D97-AF65-F5344CB8AC3E}">
        <p14:creationId xmlns:p14="http://schemas.microsoft.com/office/powerpoint/2010/main" val="98672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9650012-E718-3458-6FC4-B26CAD088D6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64CBF87B-E056-A1ED-268D-CE701C22222C}"/>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7" name="Rectangle 6">
            <a:extLst>
              <a:ext uri="{FF2B5EF4-FFF2-40B4-BE49-F238E27FC236}">
                <a16:creationId xmlns:a16="http://schemas.microsoft.com/office/drawing/2014/main" id="{FDE49DE8-3039-157C-4FA7-AEAC4E0AB39B}"/>
              </a:ext>
            </a:extLst>
          </p:cNvPr>
          <p:cNvSpPr>
            <a:spLocks noGrp="1" noChangeArrowheads="1"/>
          </p:cNvSpPr>
          <p:nvPr>
            <p:ph type="sldNum" sz="quarter" idx="12"/>
          </p:nvPr>
        </p:nvSpPr>
        <p:spPr>
          <a:ln/>
        </p:spPr>
        <p:txBody>
          <a:bodyPr/>
          <a:lstStyle>
            <a:lvl1pPr>
              <a:defRPr/>
            </a:lvl1pPr>
          </a:lstStyle>
          <a:p>
            <a:pPr>
              <a:defRPr/>
            </a:pPr>
            <a:fld id="{ACC2D595-8CB9-4EC6-A332-2A904938FB08}" type="slidenum">
              <a:rPr lang="en-US" altLang="en-US"/>
              <a:pPr>
                <a:defRPr/>
              </a:pPr>
              <a:t>‹#›</a:t>
            </a:fld>
            <a:endParaRPr lang="en-US" altLang="en-US"/>
          </a:p>
        </p:txBody>
      </p:sp>
    </p:spTree>
    <p:extLst>
      <p:ext uri="{BB962C8B-B14F-4D97-AF65-F5344CB8AC3E}">
        <p14:creationId xmlns:p14="http://schemas.microsoft.com/office/powerpoint/2010/main" val="1797692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CDFC603-66A8-1F0F-248C-B70248EBFB0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14F67CE2-E8B6-4968-1FA4-EBA59A91909E}"/>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7" name="Rectangle 6">
            <a:extLst>
              <a:ext uri="{FF2B5EF4-FFF2-40B4-BE49-F238E27FC236}">
                <a16:creationId xmlns:a16="http://schemas.microsoft.com/office/drawing/2014/main" id="{246F662F-F857-DD07-3659-9579335AA394}"/>
              </a:ext>
            </a:extLst>
          </p:cNvPr>
          <p:cNvSpPr>
            <a:spLocks noGrp="1" noChangeArrowheads="1"/>
          </p:cNvSpPr>
          <p:nvPr>
            <p:ph type="sldNum" sz="quarter" idx="12"/>
          </p:nvPr>
        </p:nvSpPr>
        <p:spPr>
          <a:ln/>
        </p:spPr>
        <p:txBody>
          <a:bodyPr/>
          <a:lstStyle>
            <a:lvl1pPr>
              <a:defRPr/>
            </a:lvl1pPr>
          </a:lstStyle>
          <a:p>
            <a:pPr>
              <a:defRPr/>
            </a:pPr>
            <a:fld id="{9A6F7E35-F77B-4C02-983D-94FBB4BDCFDF}" type="slidenum">
              <a:rPr lang="en-US" altLang="en-US"/>
              <a:pPr>
                <a:defRPr/>
              </a:pPr>
              <a:t>‹#›</a:t>
            </a:fld>
            <a:endParaRPr lang="en-US" altLang="en-US"/>
          </a:p>
        </p:txBody>
      </p:sp>
    </p:spTree>
    <p:extLst>
      <p:ext uri="{BB962C8B-B14F-4D97-AF65-F5344CB8AC3E}">
        <p14:creationId xmlns:p14="http://schemas.microsoft.com/office/powerpoint/2010/main" val="2110343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BA57BA7-844C-191A-4631-0BB224563DC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9FA2A70D-31A1-734F-1979-48391DE71CA8}"/>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6" name="Rectangle 6">
            <a:extLst>
              <a:ext uri="{FF2B5EF4-FFF2-40B4-BE49-F238E27FC236}">
                <a16:creationId xmlns:a16="http://schemas.microsoft.com/office/drawing/2014/main" id="{ED0B6301-64E2-43D6-81B4-9719BE387C87}"/>
              </a:ext>
            </a:extLst>
          </p:cNvPr>
          <p:cNvSpPr>
            <a:spLocks noGrp="1" noChangeArrowheads="1"/>
          </p:cNvSpPr>
          <p:nvPr>
            <p:ph type="sldNum" sz="quarter" idx="12"/>
          </p:nvPr>
        </p:nvSpPr>
        <p:spPr>
          <a:ln/>
        </p:spPr>
        <p:txBody>
          <a:bodyPr/>
          <a:lstStyle>
            <a:lvl1pPr>
              <a:defRPr/>
            </a:lvl1pPr>
          </a:lstStyle>
          <a:p>
            <a:pPr>
              <a:defRPr/>
            </a:pPr>
            <a:fld id="{4C022877-05A5-440C-99F1-2D2AF7E351F5}" type="slidenum">
              <a:rPr lang="en-US" altLang="en-US"/>
              <a:pPr>
                <a:defRPr/>
              </a:pPr>
              <a:t>‹#›</a:t>
            </a:fld>
            <a:endParaRPr lang="en-US" altLang="en-US"/>
          </a:p>
        </p:txBody>
      </p:sp>
    </p:spTree>
    <p:extLst>
      <p:ext uri="{BB962C8B-B14F-4D97-AF65-F5344CB8AC3E}">
        <p14:creationId xmlns:p14="http://schemas.microsoft.com/office/powerpoint/2010/main" val="2112839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D542EB3-1BC0-6457-F858-4A55EE1B271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F53565AA-3E4F-56EB-634A-5261FA98E1B9}"/>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6" name="Rectangle 6">
            <a:extLst>
              <a:ext uri="{FF2B5EF4-FFF2-40B4-BE49-F238E27FC236}">
                <a16:creationId xmlns:a16="http://schemas.microsoft.com/office/drawing/2014/main" id="{5D7BB495-0439-667E-4D04-C447F82E06BA}"/>
              </a:ext>
            </a:extLst>
          </p:cNvPr>
          <p:cNvSpPr>
            <a:spLocks noGrp="1" noChangeArrowheads="1"/>
          </p:cNvSpPr>
          <p:nvPr>
            <p:ph type="sldNum" sz="quarter" idx="12"/>
          </p:nvPr>
        </p:nvSpPr>
        <p:spPr>
          <a:ln/>
        </p:spPr>
        <p:txBody>
          <a:bodyPr/>
          <a:lstStyle>
            <a:lvl1pPr>
              <a:defRPr/>
            </a:lvl1pPr>
          </a:lstStyle>
          <a:p>
            <a:pPr>
              <a:defRPr/>
            </a:pPr>
            <a:fld id="{EE49226E-1094-4D09-8862-2678072C0AF0}" type="slidenum">
              <a:rPr lang="en-US" altLang="en-US"/>
              <a:pPr>
                <a:defRPr/>
              </a:pPr>
              <a:t>‹#›</a:t>
            </a:fld>
            <a:endParaRPr lang="en-US" altLang="en-US"/>
          </a:p>
        </p:txBody>
      </p:sp>
    </p:spTree>
    <p:extLst>
      <p:ext uri="{BB962C8B-B14F-4D97-AF65-F5344CB8AC3E}">
        <p14:creationId xmlns:p14="http://schemas.microsoft.com/office/powerpoint/2010/main" val="4082287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a:p>
        </p:txBody>
      </p:sp>
      <p:sp>
        <p:nvSpPr>
          <p:cNvPr id="4" name="Rectangle 4">
            <a:extLst>
              <a:ext uri="{FF2B5EF4-FFF2-40B4-BE49-F238E27FC236}">
                <a16:creationId xmlns:a16="http://schemas.microsoft.com/office/drawing/2014/main" id="{B07A56A6-C704-C7DC-B355-42CB922CC1F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3BEC55AD-4629-81B8-2ED6-04F6D5397771}"/>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6" name="Rectangle 6">
            <a:extLst>
              <a:ext uri="{FF2B5EF4-FFF2-40B4-BE49-F238E27FC236}">
                <a16:creationId xmlns:a16="http://schemas.microsoft.com/office/drawing/2014/main" id="{5B750EF6-EDA6-FAEA-158D-F94E0E266AC7}"/>
              </a:ext>
            </a:extLst>
          </p:cNvPr>
          <p:cNvSpPr>
            <a:spLocks noGrp="1" noChangeArrowheads="1"/>
          </p:cNvSpPr>
          <p:nvPr>
            <p:ph type="sldNum" sz="quarter" idx="12"/>
          </p:nvPr>
        </p:nvSpPr>
        <p:spPr>
          <a:ln/>
        </p:spPr>
        <p:txBody>
          <a:bodyPr/>
          <a:lstStyle>
            <a:lvl1pPr>
              <a:defRPr/>
            </a:lvl1pPr>
          </a:lstStyle>
          <a:p>
            <a:pPr>
              <a:defRPr/>
            </a:pPr>
            <a:fld id="{DF9A8ED4-E2E7-4B1D-8D92-FA77DB5777AE}" type="slidenum">
              <a:rPr lang="en-US" altLang="en-US"/>
              <a:pPr>
                <a:defRPr/>
              </a:pPr>
              <a:t>‹#›</a:t>
            </a:fld>
            <a:endParaRPr lang="en-US" altLang="en-US"/>
          </a:p>
        </p:txBody>
      </p:sp>
    </p:spTree>
    <p:extLst>
      <p:ext uri="{BB962C8B-B14F-4D97-AF65-F5344CB8AC3E}">
        <p14:creationId xmlns:p14="http://schemas.microsoft.com/office/powerpoint/2010/main" val="1895166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7CE1A10-CC1D-60B1-C5BD-B6730B9444C6}"/>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AFA0229-A3A9-769D-D52F-29D4682E9E69}"/>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F123B631-87D0-2C78-EA31-01F7A2328A8F}"/>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ltLang="en-US"/>
          </a:p>
        </p:txBody>
      </p:sp>
      <p:sp>
        <p:nvSpPr>
          <p:cNvPr id="1029" name="Rectangle 5">
            <a:extLst>
              <a:ext uri="{FF2B5EF4-FFF2-40B4-BE49-F238E27FC236}">
                <a16:creationId xmlns:a16="http://schemas.microsoft.com/office/drawing/2014/main" id="{46333B86-1DE2-774C-5DC9-E1D16E642C01}"/>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200">
                <a:latin typeface="Arial" charset="0"/>
              </a:defRPr>
            </a:lvl1pPr>
          </a:lstStyle>
          <a:p>
            <a:pPr>
              <a:defRPr/>
            </a:pPr>
            <a:r>
              <a:rPr lang="en-US" altLang="en-US"/>
              <a:t>© Copyright 2026.  Peter M. Shane All rights reserved. </a:t>
            </a:r>
          </a:p>
        </p:txBody>
      </p:sp>
      <p:sp>
        <p:nvSpPr>
          <p:cNvPr id="1030" name="Rectangle 6">
            <a:extLst>
              <a:ext uri="{FF2B5EF4-FFF2-40B4-BE49-F238E27FC236}">
                <a16:creationId xmlns:a16="http://schemas.microsoft.com/office/drawing/2014/main" id="{F0B12E2C-45D7-0F1C-D6D0-741F79EF9755}"/>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BDBCCD30-B456-43D0-A486-C50B6610593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6DEB9-BFA6-8D2F-180D-7230FA555596}"/>
              </a:ext>
            </a:extLst>
          </p:cNvPr>
          <p:cNvSpPr>
            <a:spLocks noGrp="1"/>
          </p:cNvSpPr>
          <p:nvPr>
            <p:ph type="title"/>
          </p:nvPr>
        </p:nvSpPr>
        <p:spPr/>
        <p:txBody>
          <a:bodyPr/>
          <a:lstStyle/>
          <a:p>
            <a:r>
              <a:rPr lang="en-US" dirty="0"/>
              <a:t>Recap of Class 9</a:t>
            </a:r>
          </a:p>
        </p:txBody>
      </p:sp>
      <p:sp>
        <p:nvSpPr>
          <p:cNvPr id="3" name="Content Placeholder 2">
            <a:extLst>
              <a:ext uri="{FF2B5EF4-FFF2-40B4-BE49-F238E27FC236}">
                <a16:creationId xmlns:a16="http://schemas.microsoft.com/office/drawing/2014/main" id="{28DCBB14-AF07-3937-7A58-3AADF3D80153}"/>
              </a:ext>
            </a:extLst>
          </p:cNvPr>
          <p:cNvSpPr>
            <a:spLocks noGrp="1"/>
          </p:cNvSpPr>
          <p:nvPr>
            <p:ph idx="1"/>
          </p:nvPr>
        </p:nvSpPr>
        <p:spPr/>
        <p:txBody>
          <a:bodyPr/>
          <a:lstStyle/>
          <a:p>
            <a:r>
              <a:rPr lang="en-US" dirty="0"/>
              <a:t>History of congressional control over executive branch organization</a:t>
            </a:r>
          </a:p>
          <a:p>
            <a:r>
              <a:rPr lang="en-US" dirty="0"/>
              <a:t>Introduced debate over unitary executive theory/theories</a:t>
            </a:r>
          </a:p>
          <a:p>
            <a:r>
              <a:rPr lang="en-US" dirty="0"/>
              <a:t>Appointments</a:t>
            </a:r>
          </a:p>
          <a:p>
            <a:pPr lvl="1"/>
            <a:r>
              <a:rPr lang="en-US" dirty="0"/>
              <a:t>One method for principal officers; four options for inferior officers</a:t>
            </a:r>
          </a:p>
          <a:p>
            <a:pPr lvl="1"/>
            <a:r>
              <a:rPr lang="en-US" dirty="0"/>
              <a:t>Officers exercise “significant functions pursuant to public law” - </a:t>
            </a:r>
            <a:r>
              <a:rPr lang="en-US" i="1" dirty="0"/>
              <a:t>Buckley</a:t>
            </a:r>
          </a:p>
        </p:txBody>
      </p:sp>
      <p:sp>
        <p:nvSpPr>
          <p:cNvPr id="4" name="Footer Placeholder 3">
            <a:extLst>
              <a:ext uri="{FF2B5EF4-FFF2-40B4-BE49-F238E27FC236}">
                <a16:creationId xmlns:a16="http://schemas.microsoft.com/office/drawing/2014/main" id="{1B0A287C-CE06-8531-1405-31FE9421B29C}"/>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49B5DF63-A3EF-805C-9AA8-5C33B383D4C6}"/>
              </a:ext>
            </a:extLst>
          </p:cNvPr>
          <p:cNvSpPr>
            <a:spLocks noGrp="1"/>
          </p:cNvSpPr>
          <p:nvPr>
            <p:ph type="sldNum" sz="quarter" idx="12"/>
          </p:nvPr>
        </p:nvSpPr>
        <p:spPr/>
        <p:txBody>
          <a:bodyPr/>
          <a:lstStyle/>
          <a:p>
            <a:pPr>
              <a:defRPr/>
            </a:pPr>
            <a:fld id="{E3574F4A-C3CF-4B85-9364-62150E7DAB4B}" type="slidenum">
              <a:rPr lang="en-US" altLang="en-US" smtClean="0"/>
              <a:pPr>
                <a:defRPr/>
              </a:pPr>
              <a:t>1</a:t>
            </a:fld>
            <a:endParaRPr lang="en-US" altLang="en-US"/>
          </a:p>
        </p:txBody>
      </p:sp>
    </p:spTree>
    <p:extLst>
      <p:ext uri="{BB962C8B-B14F-4D97-AF65-F5344CB8AC3E}">
        <p14:creationId xmlns:p14="http://schemas.microsoft.com/office/powerpoint/2010/main" val="330370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Footer Placeholder 4">
            <a:extLst>
              <a:ext uri="{FF2B5EF4-FFF2-40B4-BE49-F238E27FC236}">
                <a16:creationId xmlns:a16="http://schemas.microsoft.com/office/drawing/2014/main" id="{8D535E91-E091-7D35-E4C3-1AD2A3C2DE6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 Copyright 2026.  Peter M. Shane All rights reserved. </a:t>
            </a:r>
          </a:p>
        </p:txBody>
      </p:sp>
      <p:sp>
        <p:nvSpPr>
          <p:cNvPr id="24578" name="Rectangle 2">
            <a:extLst>
              <a:ext uri="{FF2B5EF4-FFF2-40B4-BE49-F238E27FC236}">
                <a16:creationId xmlns:a16="http://schemas.microsoft.com/office/drawing/2014/main" id="{51F6DAC8-6534-C563-E34B-84346C88479F}"/>
              </a:ext>
            </a:extLst>
          </p:cNvPr>
          <p:cNvSpPr>
            <a:spLocks noGrp="1" noChangeArrowheads="1"/>
          </p:cNvSpPr>
          <p:nvPr>
            <p:ph type="title"/>
          </p:nvPr>
        </p:nvSpPr>
        <p:spPr/>
        <p:txBody>
          <a:bodyPr/>
          <a:lstStyle/>
          <a:p>
            <a:pPr eaLnBrk="1" hangingPunct="1"/>
            <a:r>
              <a:rPr lang="en-US" altLang="en-US"/>
              <a:t>Puzzles of </a:t>
            </a:r>
            <a:r>
              <a:rPr lang="en-US" altLang="en-US" i="1"/>
              <a:t>Buckley</a:t>
            </a:r>
          </a:p>
        </p:txBody>
      </p:sp>
      <p:sp>
        <p:nvSpPr>
          <p:cNvPr id="14339" name="Rectangle 3">
            <a:extLst>
              <a:ext uri="{FF2B5EF4-FFF2-40B4-BE49-F238E27FC236}">
                <a16:creationId xmlns:a16="http://schemas.microsoft.com/office/drawing/2014/main" id="{FC12251A-218D-DA99-AB53-647D1B806B35}"/>
              </a:ext>
            </a:extLst>
          </p:cNvPr>
          <p:cNvSpPr>
            <a:spLocks noGrp="1" noChangeArrowheads="1"/>
          </p:cNvSpPr>
          <p:nvPr>
            <p:ph type="body" idx="1"/>
          </p:nvPr>
        </p:nvSpPr>
        <p:spPr/>
        <p:txBody>
          <a:bodyPr/>
          <a:lstStyle/>
          <a:p>
            <a:pPr eaLnBrk="1" hangingPunct="1">
              <a:lnSpc>
                <a:spcPct val="90000"/>
              </a:lnSpc>
            </a:pPr>
            <a:r>
              <a:rPr lang="en-US" altLang="en-US" sz="2000" dirty="0"/>
              <a:t>If the agency were limited to rulemaking and quasi-adjudicative functions – i.e., none of its administrative activity was law enforcement of a traditionally executive kind – would the Court have come out the other way?</a:t>
            </a:r>
          </a:p>
          <a:p>
            <a:pPr lvl="1" eaLnBrk="1" hangingPunct="1">
              <a:lnSpc>
                <a:spcPct val="90000"/>
              </a:lnSpc>
            </a:pPr>
            <a:r>
              <a:rPr lang="en-US" altLang="en-US" sz="2000" dirty="0"/>
              <a:t>No -- the Court does not test powers by their “nature” in some abstract sense</a:t>
            </a:r>
          </a:p>
          <a:p>
            <a:pPr lvl="1" eaLnBrk="1" hangingPunct="1">
              <a:lnSpc>
                <a:spcPct val="90000"/>
              </a:lnSpc>
            </a:pPr>
            <a:r>
              <a:rPr lang="en-US" altLang="en-US" sz="2000" dirty="0"/>
              <a:t>The test = are the powers under discussion powers that Congress could have delegated to one of its own committees? </a:t>
            </a:r>
          </a:p>
          <a:p>
            <a:pPr eaLnBrk="1" hangingPunct="1">
              <a:lnSpc>
                <a:spcPct val="90000"/>
              </a:lnSpc>
            </a:pPr>
            <a:r>
              <a:rPr lang="en-US" altLang="en-US" sz="2000" dirty="0"/>
              <a:t>Why – given that the Appointments provisions of Article II do not explicitly refer to themselves as “exclusive” – does Court insist that Congress may not authorize appointment of officers of the United States through any other method?</a:t>
            </a:r>
          </a:p>
          <a:p>
            <a:pPr lvl="1" eaLnBrk="1" hangingPunct="1">
              <a:lnSpc>
                <a:spcPct val="90000"/>
              </a:lnSpc>
            </a:pPr>
            <a:r>
              <a:rPr lang="en-US" altLang="en-US" sz="2000" dirty="0"/>
              <a:t>Constitution intends separation of legislation and administration</a:t>
            </a:r>
          </a:p>
          <a:p>
            <a:pPr lvl="1" eaLnBrk="1" hangingPunct="1">
              <a:lnSpc>
                <a:spcPct val="90000"/>
              </a:lnSpc>
            </a:pPr>
            <a:r>
              <a:rPr lang="en-US" altLang="en-US" sz="2000" dirty="0"/>
              <a:t>Also refers to Incompatibility Clause to frame the point</a:t>
            </a:r>
          </a:p>
          <a:p>
            <a:pPr lvl="1" eaLnBrk="1" hangingPunct="1">
              <a:lnSpc>
                <a:spcPct val="90000"/>
              </a:lnSpc>
            </a:pPr>
            <a:endParaRPr lang="en-US" altLang="en-US" sz="2000" dirty="0"/>
          </a:p>
        </p:txBody>
      </p:sp>
      <p:sp>
        <p:nvSpPr>
          <p:cNvPr id="24580" name="Slide Number Placeholder 1">
            <a:extLst>
              <a:ext uri="{FF2B5EF4-FFF2-40B4-BE49-F238E27FC236}">
                <a16:creationId xmlns:a16="http://schemas.microsoft.com/office/drawing/2014/main" id="{F24D6360-95D0-0496-F8B7-BCD4E6F19E2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D88339B-C786-4842-B29C-86136A50036F}" type="slidenum">
              <a:rPr lang="en-US" altLang="en-US" sz="1400" smtClean="0"/>
              <a:pPr>
                <a:spcBef>
                  <a:spcPct val="0"/>
                </a:spcBef>
                <a:buFontTx/>
                <a:buNone/>
              </a:pPr>
              <a:t>2</a:t>
            </a:fld>
            <a:endParaRPr lang="en-US" altLang="en-US" sz="1400"/>
          </a:p>
        </p:txBody>
      </p:sp>
    </p:spTree>
    <p:extLst>
      <p:ext uri="{BB962C8B-B14F-4D97-AF65-F5344CB8AC3E}">
        <p14:creationId xmlns:p14="http://schemas.microsoft.com/office/powerpoint/2010/main" val="14763638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339">
                                            <p:txEl>
                                              <p:pRg st="1" end="1"/>
                                            </p:txEl>
                                          </p:spTgt>
                                        </p:tgtEl>
                                        <p:attrNameLst>
                                          <p:attrName>style.visibility</p:attrName>
                                        </p:attrNameLst>
                                      </p:cBhvr>
                                      <p:to>
                                        <p:strVal val="visible"/>
                                      </p:to>
                                    </p:set>
                                    <p:anim calcmode="lin" valueType="num">
                                      <p:cBhvr additive="base">
                                        <p:cTn id="13" dur="500" fill="hold"/>
                                        <p:tgtEl>
                                          <p:spTgt spid="143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33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 calcmode="lin" valueType="num">
                                      <p:cBhvr additive="base">
                                        <p:cTn id="17" dur="500" fill="hold"/>
                                        <p:tgtEl>
                                          <p:spTgt spid="1433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43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14339">
                                            <p:txEl>
                                              <p:pRg st="3" end="3"/>
                                            </p:txEl>
                                          </p:spTgt>
                                        </p:tgtEl>
                                        <p:attrNameLst>
                                          <p:attrName>style.visibility</p:attrName>
                                        </p:attrNameLst>
                                      </p:cBhvr>
                                      <p:to>
                                        <p:strVal val="visible"/>
                                      </p:to>
                                    </p:set>
                                    <p:anim calcmode="lin" valueType="num">
                                      <p:cBhvr additive="base">
                                        <p:cTn id="23" dur="500" fill="hold"/>
                                        <p:tgtEl>
                                          <p:spTgt spid="14339">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43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4339">
                                            <p:txEl>
                                              <p:pRg st="4" end="4"/>
                                            </p:txEl>
                                          </p:spTgt>
                                        </p:tgtEl>
                                        <p:attrNameLst>
                                          <p:attrName>style.visibility</p:attrName>
                                        </p:attrNameLst>
                                      </p:cBhvr>
                                      <p:to>
                                        <p:strVal val="visible"/>
                                      </p:to>
                                    </p:set>
                                    <p:anim calcmode="lin" valueType="num">
                                      <p:cBhvr additive="base">
                                        <p:cTn id="29" dur="500" fill="hold"/>
                                        <p:tgtEl>
                                          <p:spTgt spid="14339">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433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14339">
                                            <p:txEl>
                                              <p:pRg st="5" end="5"/>
                                            </p:txEl>
                                          </p:spTgt>
                                        </p:tgtEl>
                                        <p:attrNameLst>
                                          <p:attrName>style.visibility</p:attrName>
                                        </p:attrNameLst>
                                      </p:cBhvr>
                                      <p:to>
                                        <p:strVal val="visible"/>
                                      </p:to>
                                    </p:set>
                                    <p:anim calcmode="lin" valueType="num">
                                      <p:cBhvr additive="base">
                                        <p:cTn id="35" dur="500" fill="hold"/>
                                        <p:tgtEl>
                                          <p:spTgt spid="14339">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433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4">
            <a:extLst>
              <a:ext uri="{FF2B5EF4-FFF2-40B4-BE49-F238E27FC236}">
                <a16:creationId xmlns:a16="http://schemas.microsoft.com/office/drawing/2014/main" id="{0C2194C5-7D7C-94CF-2DC1-0537D8FA4A2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 Copyright 2026.  Peter M. Shane All rights reserved. </a:t>
            </a:r>
          </a:p>
        </p:txBody>
      </p:sp>
      <p:sp>
        <p:nvSpPr>
          <p:cNvPr id="25602" name="Rectangle 2">
            <a:extLst>
              <a:ext uri="{FF2B5EF4-FFF2-40B4-BE49-F238E27FC236}">
                <a16:creationId xmlns:a16="http://schemas.microsoft.com/office/drawing/2014/main" id="{BF81DA4B-AA3A-5754-9E18-602C955B9876}"/>
              </a:ext>
            </a:extLst>
          </p:cNvPr>
          <p:cNvSpPr>
            <a:spLocks noGrp="1" noChangeArrowheads="1"/>
          </p:cNvSpPr>
          <p:nvPr>
            <p:ph type="title"/>
          </p:nvPr>
        </p:nvSpPr>
        <p:spPr/>
        <p:txBody>
          <a:bodyPr/>
          <a:lstStyle/>
          <a:p>
            <a:pPr eaLnBrk="1" hangingPunct="1"/>
            <a:r>
              <a:rPr lang="en-US" altLang="en-US" sz="4000"/>
              <a:t>U.S. Civil Rights Commission</a:t>
            </a:r>
          </a:p>
        </p:txBody>
      </p:sp>
      <p:sp>
        <p:nvSpPr>
          <p:cNvPr id="25603" name="Rectangle 3">
            <a:extLst>
              <a:ext uri="{FF2B5EF4-FFF2-40B4-BE49-F238E27FC236}">
                <a16:creationId xmlns:a16="http://schemas.microsoft.com/office/drawing/2014/main" id="{96F282C5-AD8C-EA17-3519-8694BB3761A6}"/>
              </a:ext>
            </a:extLst>
          </p:cNvPr>
          <p:cNvSpPr>
            <a:spLocks noGrp="1" noChangeArrowheads="1"/>
          </p:cNvSpPr>
          <p:nvPr>
            <p:ph type="body" idx="1"/>
          </p:nvPr>
        </p:nvSpPr>
        <p:spPr/>
        <p:txBody>
          <a:bodyPr/>
          <a:lstStyle/>
          <a:p>
            <a:pPr eaLnBrk="1" hangingPunct="1">
              <a:lnSpc>
                <a:spcPct val="90000"/>
              </a:lnSpc>
            </a:pPr>
            <a:r>
              <a:rPr lang="en-US" altLang="en-US" sz="2400"/>
              <a:t>Investigate complaints of voting rights violations</a:t>
            </a:r>
          </a:p>
          <a:p>
            <a:pPr eaLnBrk="1" hangingPunct="1">
              <a:lnSpc>
                <a:spcPct val="90000"/>
              </a:lnSpc>
            </a:pPr>
            <a:r>
              <a:rPr lang="en-US" altLang="en-US" sz="2400"/>
              <a:t>Study and issue analyses of legal developments in civil rights law</a:t>
            </a:r>
          </a:p>
          <a:p>
            <a:pPr eaLnBrk="1" hangingPunct="1">
              <a:lnSpc>
                <a:spcPct val="90000"/>
              </a:lnSpc>
            </a:pPr>
            <a:r>
              <a:rPr lang="en-US" altLang="en-US" sz="2400"/>
              <a:t>Study efficacy of current law in protecting civil rights</a:t>
            </a:r>
          </a:p>
          <a:p>
            <a:pPr eaLnBrk="1" hangingPunct="1">
              <a:lnSpc>
                <a:spcPct val="90000"/>
              </a:lnSpc>
            </a:pPr>
            <a:r>
              <a:rPr lang="en-US" altLang="en-US" sz="2400"/>
              <a:t>National clearinghouse for civil rights information</a:t>
            </a:r>
          </a:p>
          <a:p>
            <a:pPr eaLnBrk="1" hangingPunct="1">
              <a:lnSpc>
                <a:spcPct val="90000"/>
              </a:lnSpc>
            </a:pPr>
            <a:r>
              <a:rPr lang="en-US" altLang="en-US" sz="2400"/>
              <a:t>Hire a staff</a:t>
            </a:r>
          </a:p>
          <a:p>
            <a:pPr eaLnBrk="1" hangingPunct="1">
              <a:lnSpc>
                <a:spcPct val="90000"/>
              </a:lnSpc>
            </a:pPr>
            <a:r>
              <a:rPr lang="en-US" altLang="en-US" sz="2400"/>
              <a:t>Set up advisory committees in the 50 states to report to the commission</a:t>
            </a:r>
          </a:p>
          <a:p>
            <a:pPr eaLnBrk="1" hangingPunct="1">
              <a:lnSpc>
                <a:spcPct val="90000"/>
              </a:lnSpc>
            </a:pPr>
            <a:r>
              <a:rPr lang="en-US" altLang="en-US" sz="2400"/>
              <a:t>Hold public hearings</a:t>
            </a:r>
          </a:p>
          <a:p>
            <a:pPr eaLnBrk="1" hangingPunct="1">
              <a:lnSpc>
                <a:spcPct val="90000"/>
              </a:lnSpc>
            </a:pPr>
            <a:r>
              <a:rPr lang="en-US" altLang="en-US" sz="2400"/>
              <a:t>Issue subpoenas for attendance at such hearings, which the Comm’n may ask the AG to enforce by going to court</a:t>
            </a:r>
          </a:p>
        </p:txBody>
      </p:sp>
      <p:sp>
        <p:nvSpPr>
          <p:cNvPr id="25604" name="Slide Number Placeholder 1">
            <a:extLst>
              <a:ext uri="{FF2B5EF4-FFF2-40B4-BE49-F238E27FC236}">
                <a16:creationId xmlns:a16="http://schemas.microsoft.com/office/drawing/2014/main" id="{C57DBB33-D4F3-07E6-9C32-89A64713C58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B47D19A-7C22-4577-B62D-239B0F9853B4}" type="slidenum">
              <a:rPr lang="en-US" altLang="en-US" sz="1400" smtClean="0"/>
              <a:pPr>
                <a:spcBef>
                  <a:spcPct val="0"/>
                </a:spcBef>
                <a:buFontTx/>
                <a:buNone/>
              </a:pPr>
              <a:t>3</a:t>
            </a:fld>
            <a:endParaRPr lang="en-US" altLang="en-US" sz="1400"/>
          </a:p>
        </p:txBody>
      </p:sp>
    </p:spTree>
    <p:extLst>
      <p:ext uri="{BB962C8B-B14F-4D97-AF65-F5344CB8AC3E}">
        <p14:creationId xmlns:p14="http://schemas.microsoft.com/office/powerpoint/2010/main" val="3727862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1471B-3F70-2848-E971-18F545C21E7A}"/>
              </a:ext>
            </a:extLst>
          </p:cNvPr>
          <p:cNvSpPr>
            <a:spLocks noGrp="1"/>
          </p:cNvSpPr>
          <p:nvPr>
            <p:ph type="title"/>
          </p:nvPr>
        </p:nvSpPr>
        <p:spPr/>
        <p:txBody>
          <a:bodyPr/>
          <a:lstStyle/>
          <a:p>
            <a:r>
              <a:rPr lang="en-US" i="1" dirty="0"/>
              <a:t>Officers</a:t>
            </a:r>
            <a:r>
              <a:rPr lang="en-US" dirty="0"/>
              <a:t> or </a:t>
            </a:r>
            <a:r>
              <a:rPr lang="en-US" i="1" dirty="0"/>
              <a:t>Employees</a:t>
            </a:r>
            <a:r>
              <a:rPr lang="en-US" dirty="0"/>
              <a:t>?</a:t>
            </a:r>
          </a:p>
        </p:txBody>
      </p:sp>
      <p:sp>
        <p:nvSpPr>
          <p:cNvPr id="3" name="Content Placeholder 2">
            <a:extLst>
              <a:ext uri="{FF2B5EF4-FFF2-40B4-BE49-F238E27FC236}">
                <a16:creationId xmlns:a16="http://schemas.microsoft.com/office/drawing/2014/main" id="{3D6D13E3-77C2-0D30-54E8-5BBAAF4C7C65}"/>
              </a:ext>
            </a:extLst>
          </p:cNvPr>
          <p:cNvSpPr>
            <a:spLocks noGrp="1"/>
          </p:cNvSpPr>
          <p:nvPr>
            <p:ph idx="1"/>
          </p:nvPr>
        </p:nvSpPr>
        <p:spPr/>
        <p:txBody>
          <a:bodyPr/>
          <a:lstStyle/>
          <a:p>
            <a:r>
              <a:rPr lang="en-US" i="1" dirty="0"/>
              <a:t>Freytag</a:t>
            </a:r>
            <a:r>
              <a:rPr lang="en-US" dirty="0"/>
              <a:t> (1991) – Special Trial Judges of the U.S. Tax Court hold statutory positions that perform more than ministerial tasks involving significant discretion (153)</a:t>
            </a:r>
          </a:p>
          <a:p>
            <a:r>
              <a:rPr lang="en-US" i="1" dirty="0"/>
              <a:t>Lucia</a:t>
            </a:r>
            <a:r>
              <a:rPr lang="en-US" dirty="0"/>
              <a:t> (2018) – ALJ’s working for the Securities and Exchange Commission are officers</a:t>
            </a:r>
          </a:p>
        </p:txBody>
      </p:sp>
      <p:sp>
        <p:nvSpPr>
          <p:cNvPr id="4" name="Footer Placeholder 3">
            <a:extLst>
              <a:ext uri="{FF2B5EF4-FFF2-40B4-BE49-F238E27FC236}">
                <a16:creationId xmlns:a16="http://schemas.microsoft.com/office/drawing/2014/main" id="{02A80C68-F4E2-BF23-651D-4855B4E6646C}"/>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41E248AC-4FFD-4EBD-DBD8-9F78B2787C35}"/>
              </a:ext>
            </a:extLst>
          </p:cNvPr>
          <p:cNvSpPr>
            <a:spLocks noGrp="1"/>
          </p:cNvSpPr>
          <p:nvPr>
            <p:ph type="sldNum" sz="quarter" idx="12"/>
          </p:nvPr>
        </p:nvSpPr>
        <p:spPr/>
        <p:txBody>
          <a:bodyPr/>
          <a:lstStyle/>
          <a:p>
            <a:pPr>
              <a:defRPr/>
            </a:pPr>
            <a:fld id="{1B61F791-5E91-481A-9C45-1F0075BBB47C}" type="slidenum">
              <a:rPr lang="en-US" altLang="en-US" smtClean="0"/>
              <a:pPr>
                <a:defRPr/>
              </a:pPr>
              <a:t>4</a:t>
            </a:fld>
            <a:endParaRPr lang="en-US" altLang="en-US"/>
          </a:p>
        </p:txBody>
      </p:sp>
    </p:spTree>
    <p:extLst>
      <p:ext uri="{BB962C8B-B14F-4D97-AF65-F5344CB8AC3E}">
        <p14:creationId xmlns:p14="http://schemas.microsoft.com/office/powerpoint/2010/main" val="4207708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C25FF-6E4E-DD7A-5410-241730ACBC7D}"/>
              </a:ext>
            </a:extLst>
          </p:cNvPr>
          <p:cNvSpPr>
            <a:spLocks noGrp="1"/>
          </p:cNvSpPr>
          <p:nvPr>
            <p:ph type="title"/>
          </p:nvPr>
        </p:nvSpPr>
        <p:spPr/>
        <p:txBody>
          <a:bodyPr/>
          <a:lstStyle/>
          <a:p>
            <a:r>
              <a:rPr lang="en-US" i="1" dirty="0"/>
              <a:t>Principal</a:t>
            </a:r>
            <a:r>
              <a:rPr lang="en-US" dirty="0"/>
              <a:t> or </a:t>
            </a:r>
            <a:r>
              <a:rPr lang="en-US" i="1" dirty="0"/>
              <a:t>Inferior</a:t>
            </a:r>
            <a:r>
              <a:rPr lang="en-US" dirty="0"/>
              <a:t>?</a:t>
            </a:r>
          </a:p>
        </p:txBody>
      </p:sp>
      <p:sp>
        <p:nvSpPr>
          <p:cNvPr id="3" name="Content Placeholder 2">
            <a:extLst>
              <a:ext uri="{FF2B5EF4-FFF2-40B4-BE49-F238E27FC236}">
                <a16:creationId xmlns:a16="http://schemas.microsoft.com/office/drawing/2014/main" id="{7C95F713-1460-EC19-3219-ACAD3B5EFFE3}"/>
              </a:ext>
            </a:extLst>
          </p:cNvPr>
          <p:cNvSpPr>
            <a:spLocks noGrp="1"/>
          </p:cNvSpPr>
          <p:nvPr>
            <p:ph idx="1"/>
          </p:nvPr>
        </p:nvSpPr>
        <p:spPr/>
        <p:txBody>
          <a:bodyPr/>
          <a:lstStyle/>
          <a:p>
            <a:r>
              <a:rPr lang="en-US" sz="2600" dirty="0"/>
              <a:t>“We need not attempt here to decide exactly where the line falls between the two types of officers . . .[A]</a:t>
            </a:r>
            <a:r>
              <a:rPr lang="en-US" sz="2600" dirty="0" err="1"/>
              <a:t>ppellant</a:t>
            </a:r>
            <a:r>
              <a:rPr lang="en-US" sz="2600" dirty="0"/>
              <a:t> is subject to removal by a higher Executive Branch official. . .Second, appellant is empowered by the Act to perform only certain, limited duties. . . .[T]his grant of authority does not include any authority to formulate policy for the Government or the Executive Branch . . .Third, appellant's office is limited in jurisdiction.” [171]</a:t>
            </a:r>
          </a:p>
          <a:p>
            <a:r>
              <a:rPr lang="en-US" sz="2600" i="1" dirty="0"/>
              <a:t>Morrison v. Olson</a:t>
            </a:r>
            <a:r>
              <a:rPr lang="en-US" sz="2600" dirty="0"/>
              <a:t>, 487 U.S. 654, 671–72 (1988).</a:t>
            </a:r>
          </a:p>
        </p:txBody>
      </p:sp>
      <p:sp>
        <p:nvSpPr>
          <p:cNvPr id="4" name="Footer Placeholder 3">
            <a:extLst>
              <a:ext uri="{FF2B5EF4-FFF2-40B4-BE49-F238E27FC236}">
                <a16:creationId xmlns:a16="http://schemas.microsoft.com/office/drawing/2014/main" id="{965E0528-DDB2-DA6B-B94F-88BB8C3DB397}"/>
              </a:ext>
            </a:extLst>
          </p:cNvPr>
          <p:cNvSpPr>
            <a:spLocks noGrp="1"/>
          </p:cNvSpPr>
          <p:nvPr>
            <p:ph type="ftr" sz="quarter" idx="11"/>
          </p:nvPr>
        </p:nvSpPr>
        <p:spPr/>
        <p:txBody>
          <a:bodyPr/>
          <a:lstStyle/>
          <a:p>
            <a:pPr>
              <a:defRPr/>
            </a:pPr>
            <a:r>
              <a:rPr lang="en-US" altLang="en-US"/>
              <a:t>© Copyright 2026.  Peter M. Shane All rights reserved. </a:t>
            </a:r>
            <a:endParaRPr lang="en-US" altLang="en-US" dirty="0"/>
          </a:p>
        </p:txBody>
      </p:sp>
      <p:sp>
        <p:nvSpPr>
          <p:cNvPr id="5" name="Slide Number Placeholder 4">
            <a:extLst>
              <a:ext uri="{FF2B5EF4-FFF2-40B4-BE49-F238E27FC236}">
                <a16:creationId xmlns:a16="http://schemas.microsoft.com/office/drawing/2014/main" id="{6044FEAE-C9B1-A19A-1980-8C5B8EC6D3CF}"/>
              </a:ext>
            </a:extLst>
          </p:cNvPr>
          <p:cNvSpPr>
            <a:spLocks noGrp="1"/>
          </p:cNvSpPr>
          <p:nvPr>
            <p:ph type="sldNum" sz="quarter" idx="12"/>
          </p:nvPr>
        </p:nvSpPr>
        <p:spPr/>
        <p:txBody>
          <a:bodyPr/>
          <a:lstStyle/>
          <a:p>
            <a:pPr>
              <a:defRPr/>
            </a:pPr>
            <a:fld id="{1B61F791-5E91-481A-9C45-1F0075BBB47C}" type="slidenum">
              <a:rPr lang="en-US" altLang="en-US" smtClean="0"/>
              <a:pPr>
                <a:defRPr/>
              </a:pPr>
              <a:t>5</a:t>
            </a:fld>
            <a:endParaRPr lang="en-US" altLang="en-US"/>
          </a:p>
        </p:txBody>
      </p:sp>
    </p:spTree>
    <p:extLst>
      <p:ext uri="{BB962C8B-B14F-4D97-AF65-F5344CB8AC3E}">
        <p14:creationId xmlns:p14="http://schemas.microsoft.com/office/powerpoint/2010/main" val="3351377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dirty="0"/>
              <a:t>“Inferior Officer” Cases</a:t>
            </a:r>
          </a:p>
        </p:txBody>
      </p:sp>
      <p:sp>
        <p:nvSpPr>
          <p:cNvPr id="11267" name="Rectangle 3"/>
          <p:cNvSpPr>
            <a:spLocks noGrp="1" noChangeArrowheads="1"/>
          </p:cNvSpPr>
          <p:nvPr>
            <p:ph type="body" idx="1"/>
          </p:nvPr>
        </p:nvSpPr>
        <p:spPr/>
        <p:txBody>
          <a:bodyPr>
            <a:normAutofit fontScale="92500" lnSpcReduction="10000"/>
          </a:bodyPr>
          <a:lstStyle/>
          <a:p>
            <a:pPr>
              <a:lnSpc>
                <a:spcPct val="80000"/>
              </a:lnSpc>
            </a:pPr>
            <a:r>
              <a:rPr lang="en-US" i="1" dirty="0"/>
              <a:t>Edmond v. United States</a:t>
            </a:r>
            <a:r>
              <a:rPr lang="en-US" dirty="0"/>
              <a:t>, 520 U.S. 651 (1997): Court unanimously (through an opinion by Justice Scalia) upholds the appointment by the Secretary of Transportation of civilian members of the Coast Guard Court of Criminal Appeals; invoked formal test, but would also pass balancing</a:t>
            </a:r>
          </a:p>
          <a:p>
            <a:pPr eaLnBrk="1" hangingPunct="1">
              <a:lnSpc>
                <a:spcPct val="80000"/>
              </a:lnSpc>
            </a:pPr>
            <a:r>
              <a:rPr lang="en-US" i="1" dirty="0"/>
              <a:t>Fair Enterprise Fund v. Public Company Accounting Oversight Board</a:t>
            </a:r>
            <a:r>
              <a:rPr lang="en-US" dirty="0"/>
              <a:t>, 130 </a:t>
            </a:r>
            <a:r>
              <a:rPr lang="en-US" dirty="0" err="1"/>
              <a:t>S.Ct</a:t>
            </a:r>
            <a:r>
              <a:rPr lang="en-US" dirty="0"/>
              <a:t>. 3138 (2010) – Follows </a:t>
            </a:r>
            <a:r>
              <a:rPr lang="en-US" i="1" dirty="0"/>
              <a:t>Edmond </a:t>
            </a:r>
            <a:r>
              <a:rPr lang="en-US" dirty="0"/>
              <a:t>test in deciding whether PCAOB members are “inferior officers”</a:t>
            </a:r>
            <a:endParaRPr lang="en-US" i="1" dirty="0"/>
          </a:p>
        </p:txBody>
      </p:sp>
      <p:sp>
        <p:nvSpPr>
          <p:cNvPr id="5"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2" name="Slide Number Placeholder 1">
            <a:extLst>
              <a:ext uri="{FF2B5EF4-FFF2-40B4-BE49-F238E27FC236}">
                <a16:creationId xmlns:a16="http://schemas.microsoft.com/office/drawing/2014/main" id="{3E06E0A4-E51D-B129-C4BF-CB4BD14CF578}"/>
              </a:ext>
            </a:extLst>
          </p:cNvPr>
          <p:cNvSpPr>
            <a:spLocks noGrp="1"/>
          </p:cNvSpPr>
          <p:nvPr>
            <p:ph type="sldNum" sz="quarter" idx="12"/>
          </p:nvPr>
        </p:nvSpPr>
        <p:spPr/>
        <p:txBody>
          <a:bodyPr/>
          <a:lstStyle/>
          <a:p>
            <a:fld id="{DF6084E1-DA98-A045-8E28-6B79FF81B4FA}" type="slidenum">
              <a:rPr lang="en-US" smtClean="0"/>
              <a:t>6</a:t>
            </a:fld>
            <a:endParaRPr lang="en-US"/>
          </a:p>
        </p:txBody>
      </p:sp>
    </p:spTree>
    <p:extLst>
      <p:ext uri="{BB962C8B-B14F-4D97-AF65-F5344CB8AC3E}">
        <p14:creationId xmlns:p14="http://schemas.microsoft.com/office/powerpoint/2010/main" val="376361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i="1" dirty="0"/>
              <a:t>U.S. v. Arthrex</a:t>
            </a:r>
            <a:r>
              <a:rPr lang="en-US" dirty="0"/>
              <a:t> (2021)</a:t>
            </a:r>
          </a:p>
        </p:txBody>
      </p:sp>
      <p:sp>
        <p:nvSpPr>
          <p:cNvPr id="10243" name="Rectangle 3"/>
          <p:cNvSpPr>
            <a:spLocks noGrp="1" noChangeArrowheads="1"/>
          </p:cNvSpPr>
          <p:nvPr>
            <p:ph type="body" idx="1"/>
          </p:nvPr>
        </p:nvSpPr>
        <p:spPr/>
        <p:txBody>
          <a:bodyPr>
            <a:normAutofit fontScale="85000" lnSpcReduction="20000"/>
          </a:bodyPr>
          <a:lstStyle/>
          <a:p>
            <a:pPr>
              <a:lnSpc>
                <a:spcPct val="90000"/>
              </a:lnSpc>
            </a:pPr>
            <a:endParaRPr lang="en-US" sz="2800" dirty="0"/>
          </a:p>
          <a:p>
            <a:pPr>
              <a:lnSpc>
                <a:spcPct val="90000"/>
              </a:lnSpc>
            </a:pPr>
            <a:endParaRPr lang="en-US" sz="2800" dirty="0"/>
          </a:p>
          <a:p>
            <a:pPr>
              <a:lnSpc>
                <a:spcPct val="90000"/>
              </a:lnSpc>
            </a:pPr>
            <a:endParaRPr lang="en-US" sz="2800" dirty="0"/>
          </a:p>
          <a:p>
            <a:pPr>
              <a:lnSpc>
                <a:spcPct val="90000"/>
              </a:lnSpc>
            </a:pPr>
            <a:endParaRPr lang="en-US" sz="2800" dirty="0"/>
          </a:p>
          <a:p>
            <a:pPr>
              <a:lnSpc>
                <a:spcPct val="90000"/>
              </a:lnSpc>
            </a:pPr>
            <a:endParaRPr lang="en-US" sz="2800" dirty="0"/>
          </a:p>
          <a:p>
            <a:pPr>
              <a:lnSpc>
                <a:spcPct val="90000"/>
              </a:lnSpc>
            </a:pPr>
            <a:endParaRPr lang="en-US" sz="2800" dirty="0"/>
          </a:p>
          <a:p>
            <a:pPr>
              <a:lnSpc>
                <a:spcPct val="90000"/>
              </a:lnSpc>
            </a:pPr>
            <a:endParaRPr lang="en-US" sz="2800" dirty="0"/>
          </a:p>
          <a:p>
            <a:pPr>
              <a:lnSpc>
                <a:spcPct val="90000"/>
              </a:lnSpc>
            </a:pPr>
            <a:endParaRPr lang="en-US" sz="2800" dirty="0"/>
          </a:p>
          <a:p>
            <a:pPr>
              <a:lnSpc>
                <a:spcPct val="90000"/>
              </a:lnSpc>
            </a:pPr>
            <a:endParaRPr lang="en-US" sz="2800" dirty="0"/>
          </a:p>
          <a:p>
            <a:pPr>
              <a:lnSpc>
                <a:spcPct val="90000"/>
              </a:lnSpc>
            </a:pPr>
            <a:endParaRPr lang="en-US" sz="2800" dirty="0"/>
          </a:p>
          <a:p>
            <a:pPr>
              <a:lnSpc>
                <a:spcPct val="90000"/>
              </a:lnSpc>
            </a:pPr>
            <a:endParaRPr lang="en-US" sz="2800" dirty="0"/>
          </a:p>
          <a:p>
            <a:pPr marL="0" indent="0" algn="ctr">
              <a:lnSpc>
                <a:spcPct val="90000"/>
              </a:lnSpc>
              <a:buNone/>
            </a:pPr>
            <a:r>
              <a:rPr lang="en-US" sz="3300" dirty="0"/>
              <a:t>Why is there an issue whether the Secretary of Commerce may appoint PTAB members?</a:t>
            </a:r>
          </a:p>
        </p:txBody>
      </p:sp>
      <p:sp>
        <p:nvSpPr>
          <p:cNvPr id="5"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2" name="Slide Number Placeholder 1">
            <a:extLst>
              <a:ext uri="{FF2B5EF4-FFF2-40B4-BE49-F238E27FC236}">
                <a16:creationId xmlns:a16="http://schemas.microsoft.com/office/drawing/2014/main" id="{892BBA0E-93E8-13C3-314F-44DCAB7CAA26}"/>
              </a:ext>
            </a:extLst>
          </p:cNvPr>
          <p:cNvSpPr>
            <a:spLocks noGrp="1"/>
          </p:cNvSpPr>
          <p:nvPr>
            <p:ph type="sldNum" sz="quarter" idx="12"/>
          </p:nvPr>
        </p:nvSpPr>
        <p:spPr/>
        <p:txBody>
          <a:bodyPr/>
          <a:lstStyle/>
          <a:p>
            <a:fld id="{DF6084E1-DA98-A045-8E28-6B79FF81B4FA}" type="slidenum">
              <a:rPr lang="en-US" smtClean="0"/>
              <a:t>7</a:t>
            </a:fld>
            <a:endParaRPr lang="en-US"/>
          </a:p>
        </p:txBody>
      </p:sp>
      <p:sp>
        <p:nvSpPr>
          <p:cNvPr id="3" name="Rectangle 2">
            <a:extLst>
              <a:ext uri="{FF2B5EF4-FFF2-40B4-BE49-F238E27FC236}">
                <a16:creationId xmlns:a16="http://schemas.microsoft.com/office/drawing/2014/main" id="{B91A200E-C61D-E13D-376F-13D0169208FA}"/>
              </a:ext>
            </a:extLst>
          </p:cNvPr>
          <p:cNvSpPr/>
          <p:nvPr/>
        </p:nvSpPr>
        <p:spPr>
          <a:xfrm>
            <a:off x="2093976" y="1648619"/>
            <a:ext cx="5138928" cy="157276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Director of Patent and Trademark Office</a:t>
            </a:r>
          </a:p>
          <a:p>
            <a:pPr algn="ctr"/>
            <a:r>
              <a:rPr lang="en-US" dirty="0">
                <a:ln w="0"/>
                <a:solidFill>
                  <a:schemeClr val="tx1"/>
                </a:solidFill>
                <a:effectLst>
                  <a:outerShdw blurRad="38100" dist="19050" dir="2700000" algn="tl" rotWithShape="0">
                    <a:schemeClr val="dk1">
                      <a:alpha val="40000"/>
                    </a:schemeClr>
                  </a:outerShdw>
                </a:effectLst>
              </a:rPr>
              <a:t>(Appointed by POTUS w/ A &amp; C):</a:t>
            </a:r>
          </a:p>
          <a:p>
            <a:pPr algn="ctr"/>
            <a:r>
              <a:rPr lang="en-US" dirty="0">
                <a:ln w="0"/>
                <a:solidFill>
                  <a:schemeClr val="tx1"/>
                </a:solidFill>
                <a:effectLst>
                  <a:outerShdw blurRad="38100" dist="19050" dir="2700000" algn="tl" rotWithShape="0">
                    <a:schemeClr val="dk1">
                      <a:alpha val="40000"/>
                    </a:schemeClr>
                  </a:outerShdw>
                </a:effectLst>
              </a:rPr>
              <a:t>Decides Whether to Hold Inter </a:t>
            </a:r>
            <a:r>
              <a:rPr lang="en-US" dirty="0" err="1">
                <a:ln w="0"/>
                <a:solidFill>
                  <a:schemeClr val="tx1"/>
                </a:solidFill>
                <a:effectLst>
                  <a:outerShdw blurRad="38100" dist="19050" dir="2700000" algn="tl" rotWithShape="0">
                    <a:schemeClr val="dk1">
                      <a:alpha val="40000"/>
                    </a:schemeClr>
                  </a:outerShdw>
                </a:effectLst>
              </a:rPr>
              <a:t>Partes</a:t>
            </a:r>
            <a:r>
              <a:rPr lang="en-US" dirty="0">
                <a:ln w="0"/>
                <a:solidFill>
                  <a:schemeClr val="tx1"/>
                </a:solidFill>
                <a:effectLst>
                  <a:outerShdw blurRad="38100" dist="19050" dir="2700000" algn="tl" rotWithShape="0">
                    <a:schemeClr val="dk1">
                      <a:alpha val="40000"/>
                    </a:schemeClr>
                  </a:outerShdw>
                </a:effectLst>
              </a:rPr>
              <a:t> review</a:t>
            </a:r>
          </a:p>
          <a:p>
            <a:pPr algn="ctr"/>
            <a:r>
              <a:rPr lang="en-US" dirty="0">
                <a:ln w="0"/>
                <a:solidFill>
                  <a:schemeClr val="tx1"/>
                </a:solidFill>
                <a:effectLst>
                  <a:outerShdw blurRad="38100" dist="19050" dir="2700000" algn="tl" rotWithShape="0">
                    <a:schemeClr val="dk1">
                      <a:alpha val="40000"/>
                    </a:schemeClr>
                  </a:outerShdw>
                </a:effectLst>
              </a:rPr>
              <a:t>Designates APJs to conduct review</a:t>
            </a:r>
          </a:p>
        </p:txBody>
      </p:sp>
      <p:sp>
        <p:nvSpPr>
          <p:cNvPr id="4" name="Rectangle 3">
            <a:extLst>
              <a:ext uri="{FF2B5EF4-FFF2-40B4-BE49-F238E27FC236}">
                <a16:creationId xmlns:a16="http://schemas.microsoft.com/office/drawing/2014/main" id="{6F94E947-6F70-26A5-7B35-A00A1C4EB281}"/>
              </a:ext>
            </a:extLst>
          </p:cNvPr>
          <p:cNvSpPr/>
          <p:nvPr/>
        </p:nvSpPr>
        <p:spPr>
          <a:xfrm>
            <a:off x="2093976" y="3453161"/>
            <a:ext cx="5138928" cy="15544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a:p>
            <a:pPr algn="ctr"/>
            <a:r>
              <a:rPr lang="en-US" dirty="0">
                <a:ln w="0"/>
                <a:solidFill>
                  <a:schemeClr val="tx1"/>
                </a:solidFill>
                <a:effectLst>
                  <a:outerShdw blurRad="38100" dist="19050" dir="2700000" algn="tl" rotWithShape="0">
                    <a:schemeClr val="dk1">
                      <a:alpha val="40000"/>
                    </a:schemeClr>
                  </a:outerShdw>
                </a:effectLst>
              </a:rPr>
              <a:t>Patent Trial and Appeals Board</a:t>
            </a:r>
          </a:p>
          <a:p>
            <a:pPr algn="ctr"/>
            <a:r>
              <a:rPr lang="en-US" dirty="0">
                <a:ln w="0"/>
                <a:solidFill>
                  <a:schemeClr val="tx1"/>
                </a:solidFill>
                <a:effectLst>
                  <a:outerShdw blurRad="38100" dist="19050" dir="2700000" algn="tl" rotWithShape="0">
                    <a:schemeClr val="dk1">
                      <a:alpha val="40000"/>
                    </a:schemeClr>
                  </a:outerShdw>
                </a:effectLst>
              </a:rPr>
              <a:t>(Appointed by Secretary of Commerce</a:t>
            </a:r>
          </a:p>
          <a:p>
            <a:pPr algn="ctr"/>
            <a:r>
              <a:rPr lang="en-US" dirty="0">
                <a:ln w="0"/>
                <a:solidFill>
                  <a:schemeClr val="tx1"/>
                </a:solidFill>
                <a:effectLst>
                  <a:outerShdw blurRad="38100" dist="19050" dir="2700000" algn="tl" rotWithShape="0">
                    <a:schemeClr val="dk1">
                      <a:alpha val="40000"/>
                    </a:schemeClr>
                  </a:outerShdw>
                </a:effectLst>
              </a:rPr>
              <a:t>Except for PTO Director):</a:t>
            </a:r>
          </a:p>
          <a:p>
            <a:pPr algn="ctr"/>
            <a:r>
              <a:rPr lang="en-US" dirty="0">
                <a:ln w="0"/>
                <a:solidFill>
                  <a:schemeClr val="tx1"/>
                </a:solidFill>
                <a:effectLst>
                  <a:outerShdw blurRad="38100" dist="19050" dir="2700000" algn="tl" rotWithShape="0">
                    <a:schemeClr val="dk1">
                      <a:alpha val="40000"/>
                    </a:schemeClr>
                  </a:outerShdw>
                </a:effectLst>
              </a:rPr>
              <a:t>Conducts Inter </a:t>
            </a:r>
            <a:r>
              <a:rPr lang="en-US" dirty="0" err="1">
                <a:ln w="0"/>
                <a:solidFill>
                  <a:schemeClr val="tx1"/>
                </a:solidFill>
                <a:effectLst>
                  <a:outerShdw blurRad="38100" dist="19050" dir="2700000" algn="tl" rotWithShape="0">
                    <a:schemeClr val="dk1">
                      <a:alpha val="40000"/>
                    </a:schemeClr>
                  </a:outerShdw>
                </a:effectLst>
              </a:rPr>
              <a:t>Partes</a:t>
            </a:r>
            <a:r>
              <a:rPr lang="en-US" dirty="0">
                <a:ln w="0"/>
                <a:solidFill>
                  <a:schemeClr val="tx1"/>
                </a:solidFill>
                <a:effectLst>
                  <a:outerShdw blurRad="38100" dist="19050" dir="2700000" algn="tl" rotWithShape="0">
                    <a:schemeClr val="dk1">
                      <a:alpha val="40000"/>
                    </a:schemeClr>
                  </a:outerShdw>
                </a:effectLst>
              </a:rPr>
              <a:t> review</a:t>
            </a:r>
          </a:p>
          <a:p>
            <a:pPr algn="ctr"/>
            <a:r>
              <a:rPr lang="en-US" dirty="0">
                <a:ln w="0"/>
                <a:solidFill>
                  <a:schemeClr val="tx1"/>
                </a:solidFill>
                <a:effectLst>
                  <a:outerShdw blurRad="38100" dist="19050" dir="2700000" algn="tl" rotWithShape="0">
                    <a:schemeClr val="dk1">
                      <a:alpha val="40000"/>
                    </a:schemeClr>
                  </a:outerShdw>
                </a:effectLst>
              </a:rPr>
              <a:t>Final orders appealable to Federal Circuit</a:t>
            </a:r>
          </a:p>
          <a:p>
            <a:pPr algn="ctr"/>
            <a:endParaRPr lang="en-US" dirty="0"/>
          </a:p>
        </p:txBody>
      </p:sp>
    </p:spTree>
    <p:extLst>
      <p:ext uri="{BB962C8B-B14F-4D97-AF65-F5344CB8AC3E}">
        <p14:creationId xmlns:p14="http://schemas.microsoft.com/office/powerpoint/2010/main" val="2401961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BAED6-383D-166C-BAED-763AD231D9DE}"/>
              </a:ext>
            </a:extLst>
          </p:cNvPr>
          <p:cNvSpPr>
            <a:spLocks noGrp="1"/>
          </p:cNvSpPr>
          <p:nvPr>
            <p:ph type="title"/>
          </p:nvPr>
        </p:nvSpPr>
        <p:spPr/>
        <p:txBody>
          <a:bodyPr/>
          <a:lstStyle/>
          <a:p>
            <a:r>
              <a:rPr lang="en-US" dirty="0"/>
              <a:t>PTAB Functions</a:t>
            </a:r>
          </a:p>
        </p:txBody>
      </p:sp>
      <p:sp>
        <p:nvSpPr>
          <p:cNvPr id="3" name="Content Placeholder 2">
            <a:extLst>
              <a:ext uri="{FF2B5EF4-FFF2-40B4-BE49-F238E27FC236}">
                <a16:creationId xmlns:a16="http://schemas.microsoft.com/office/drawing/2014/main" id="{D15E66EF-EF4F-7D53-39B4-ECB4659211E4}"/>
              </a:ext>
            </a:extLst>
          </p:cNvPr>
          <p:cNvSpPr>
            <a:spLocks noGrp="1"/>
          </p:cNvSpPr>
          <p:nvPr>
            <p:ph idx="1"/>
          </p:nvPr>
        </p:nvSpPr>
        <p:spPr/>
        <p:txBody>
          <a:bodyPr/>
          <a:lstStyle/>
          <a:p>
            <a:r>
              <a:rPr lang="en-US" sz="2800" dirty="0"/>
              <a:t>Conduct inter pares review – adjudication whether original patent actually satisfied the novelty and nonobviousness conditions</a:t>
            </a:r>
          </a:p>
          <a:p>
            <a:r>
              <a:rPr lang="en-US" sz="2800" dirty="0"/>
              <a:t>Anyone can trigger a review, including the Director, who designates three judges</a:t>
            </a:r>
          </a:p>
          <a:p>
            <a:r>
              <a:rPr lang="en-US" sz="2800" dirty="0"/>
              <a:t>PTAB issues a decision; disappointed party may ask for rehearing</a:t>
            </a:r>
          </a:p>
          <a:p>
            <a:r>
              <a:rPr lang="en-US" sz="2800" dirty="0"/>
              <a:t>Director can intervene on judicial review to support or oppose ruling</a:t>
            </a:r>
            <a:endParaRPr lang="en-US" dirty="0"/>
          </a:p>
        </p:txBody>
      </p:sp>
      <p:sp>
        <p:nvSpPr>
          <p:cNvPr id="4" name="Footer Placeholder 3">
            <a:extLst>
              <a:ext uri="{FF2B5EF4-FFF2-40B4-BE49-F238E27FC236}">
                <a16:creationId xmlns:a16="http://schemas.microsoft.com/office/drawing/2014/main" id="{31D3F0A8-9B5A-B31D-CF64-474EE36C8FDC}"/>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C80FF90B-D05D-36BA-C49A-ED6B34BEDDE2}"/>
              </a:ext>
            </a:extLst>
          </p:cNvPr>
          <p:cNvSpPr>
            <a:spLocks noGrp="1"/>
          </p:cNvSpPr>
          <p:nvPr>
            <p:ph type="sldNum" sz="quarter" idx="12"/>
          </p:nvPr>
        </p:nvSpPr>
        <p:spPr/>
        <p:txBody>
          <a:bodyPr/>
          <a:lstStyle/>
          <a:p>
            <a:pPr>
              <a:defRPr/>
            </a:pPr>
            <a:fld id="{1B61F791-5E91-481A-9C45-1F0075BBB47C}" type="slidenum">
              <a:rPr lang="en-US" altLang="en-US" smtClean="0"/>
              <a:pPr>
                <a:defRPr/>
              </a:pPr>
              <a:t>8</a:t>
            </a:fld>
            <a:endParaRPr lang="en-US" altLang="en-US"/>
          </a:p>
        </p:txBody>
      </p:sp>
    </p:spTree>
    <p:extLst>
      <p:ext uri="{BB962C8B-B14F-4D97-AF65-F5344CB8AC3E}">
        <p14:creationId xmlns:p14="http://schemas.microsoft.com/office/powerpoint/2010/main" val="3497897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9330F-343B-E85E-1B2B-AFA50DC43B6A}"/>
              </a:ext>
            </a:extLst>
          </p:cNvPr>
          <p:cNvSpPr>
            <a:spLocks noGrp="1"/>
          </p:cNvSpPr>
          <p:nvPr>
            <p:ph type="title"/>
          </p:nvPr>
        </p:nvSpPr>
        <p:spPr/>
        <p:txBody>
          <a:bodyPr/>
          <a:lstStyle/>
          <a:p>
            <a:r>
              <a:rPr lang="en-US" i="1" dirty="0"/>
              <a:t>Arthrex</a:t>
            </a:r>
            <a:r>
              <a:rPr lang="en-US" dirty="0"/>
              <a:t> Holdings</a:t>
            </a:r>
          </a:p>
        </p:txBody>
      </p:sp>
      <p:sp>
        <p:nvSpPr>
          <p:cNvPr id="3" name="Content Placeholder 2">
            <a:extLst>
              <a:ext uri="{FF2B5EF4-FFF2-40B4-BE49-F238E27FC236}">
                <a16:creationId xmlns:a16="http://schemas.microsoft.com/office/drawing/2014/main" id="{90741634-1437-B72A-7C2A-F14AFACB1399}"/>
              </a:ext>
            </a:extLst>
          </p:cNvPr>
          <p:cNvSpPr>
            <a:spLocks noGrp="1"/>
          </p:cNvSpPr>
          <p:nvPr>
            <p:ph idx="1"/>
          </p:nvPr>
        </p:nvSpPr>
        <p:spPr/>
        <p:txBody>
          <a:bodyPr>
            <a:normAutofit fontScale="92500" lnSpcReduction="10000"/>
          </a:bodyPr>
          <a:lstStyle/>
          <a:p>
            <a:r>
              <a:rPr lang="en-US" sz="2400" dirty="0"/>
              <a:t>“The Director …is the boss, except when it comes to the one thing that makes the APJs officers exercising “significant authority” in the first place—their power to issue decisions on patentability.” 160</a:t>
            </a:r>
          </a:p>
          <a:p>
            <a:r>
              <a:rPr lang="en-US" sz="2400" dirty="0"/>
              <a:t>“Review outside Article II—here, an appeal to the Federal Circuit—cannot provide the necessary supervision.”</a:t>
            </a:r>
          </a:p>
          <a:p>
            <a:pPr lvl="1"/>
            <a:r>
              <a:rPr lang="en-US" sz="2400" dirty="0"/>
              <a:t>“Many decisions by inferior officers do not bind the Executive Branch to exercise executive power in a particular manner, and we do not address supervision outside the context of adjudication.”</a:t>
            </a:r>
          </a:p>
          <a:p>
            <a:r>
              <a:rPr lang="en-US" sz="2400" dirty="0"/>
              <a:t> “[R]</a:t>
            </a:r>
            <a:r>
              <a:rPr lang="en-US" sz="2400" dirty="0" err="1"/>
              <a:t>egardless</a:t>
            </a:r>
            <a:r>
              <a:rPr lang="en-US" sz="2400" dirty="0"/>
              <a:t> whether the Government is correct that at-will removal by the Secretary would cure the constitutional problem, review by the Director better reflects the structure of supervision within the PTO and the nature of APJs’ duties.”</a:t>
            </a:r>
          </a:p>
        </p:txBody>
      </p:sp>
      <p:sp>
        <p:nvSpPr>
          <p:cNvPr id="4" name="Footer Placeholder 3">
            <a:extLst>
              <a:ext uri="{FF2B5EF4-FFF2-40B4-BE49-F238E27FC236}">
                <a16:creationId xmlns:a16="http://schemas.microsoft.com/office/drawing/2014/main" id="{CD7899A9-927A-AA46-3A44-81013D9CF34E}"/>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A36997C7-0836-57FD-B1A0-55EA5DDB999C}"/>
              </a:ext>
            </a:extLst>
          </p:cNvPr>
          <p:cNvSpPr>
            <a:spLocks noGrp="1"/>
          </p:cNvSpPr>
          <p:nvPr>
            <p:ph type="sldNum" sz="quarter" idx="12"/>
          </p:nvPr>
        </p:nvSpPr>
        <p:spPr/>
        <p:txBody>
          <a:bodyPr/>
          <a:lstStyle/>
          <a:p>
            <a:fld id="{DF6084E1-DA98-A045-8E28-6B79FF81B4FA}" type="slidenum">
              <a:rPr lang="en-US" smtClean="0"/>
              <a:t>9</a:t>
            </a:fld>
            <a:endParaRPr lang="en-US"/>
          </a:p>
        </p:txBody>
      </p:sp>
    </p:spTree>
    <p:extLst>
      <p:ext uri="{BB962C8B-B14F-4D97-AF65-F5344CB8AC3E}">
        <p14:creationId xmlns:p14="http://schemas.microsoft.com/office/powerpoint/2010/main" val="5344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A766-EAE2-FB25-D77C-4BE3243F065B}"/>
              </a:ext>
            </a:extLst>
          </p:cNvPr>
          <p:cNvSpPr>
            <a:spLocks noGrp="1"/>
          </p:cNvSpPr>
          <p:nvPr>
            <p:ph type="title"/>
          </p:nvPr>
        </p:nvSpPr>
        <p:spPr/>
        <p:txBody>
          <a:bodyPr/>
          <a:lstStyle/>
          <a:p>
            <a:r>
              <a:rPr lang="en-US" dirty="0"/>
              <a:t>SCOTUS’s Normative Theory</a:t>
            </a:r>
          </a:p>
        </p:txBody>
      </p:sp>
      <p:sp>
        <p:nvSpPr>
          <p:cNvPr id="3" name="Content Placeholder 2">
            <a:extLst>
              <a:ext uri="{FF2B5EF4-FFF2-40B4-BE49-F238E27FC236}">
                <a16:creationId xmlns:a16="http://schemas.microsoft.com/office/drawing/2014/main" id="{E02049BD-3795-613C-77F0-17553B4BF3B3}"/>
              </a:ext>
            </a:extLst>
          </p:cNvPr>
          <p:cNvSpPr>
            <a:spLocks noGrp="1"/>
          </p:cNvSpPr>
          <p:nvPr>
            <p:ph idx="1"/>
          </p:nvPr>
        </p:nvSpPr>
        <p:spPr/>
        <p:txBody>
          <a:bodyPr/>
          <a:lstStyle/>
          <a:p>
            <a:r>
              <a:rPr lang="en-US" dirty="0"/>
              <a:t>“Today, thousands of officers wield executive power on behalf of the President in the name of the United States. That power acquires its legitimacy and accountability to the public through ‘a clear and effective chain of command’ down from the President, on whom all the people vote. </a:t>
            </a:r>
            <a:r>
              <a:rPr lang="en-US" i="1" dirty="0"/>
              <a:t>Free Enterprise Fund</a:t>
            </a:r>
            <a:r>
              <a:rPr lang="en-US" dirty="0"/>
              <a:t>, 561 U. S., at 498.”  [158]</a:t>
            </a:r>
          </a:p>
        </p:txBody>
      </p:sp>
      <p:sp>
        <p:nvSpPr>
          <p:cNvPr id="4" name="Footer Placeholder 3">
            <a:extLst>
              <a:ext uri="{FF2B5EF4-FFF2-40B4-BE49-F238E27FC236}">
                <a16:creationId xmlns:a16="http://schemas.microsoft.com/office/drawing/2014/main" id="{C9BADD96-F199-D970-1E5F-3ED6116FFE22}"/>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41D5A8DB-22BC-37E3-ED38-7933D07ADF19}"/>
              </a:ext>
            </a:extLst>
          </p:cNvPr>
          <p:cNvSpPr>
            <a:spLocks noGrp="1"/>
          </p:cNvSpPr>
          <p:nvPr>
            <p:ph type="sldNum" sz="quarter" idx="12"/>
          </p:nvPr>
        </p:nvSpPr>
        <p:spPr/>
        <p:txBody>
          <a:bodyPr/>
          <a:lstStyle/>
          <a:p>
            <a:fld id="{DF6084E1-DA98-A045-8E28-6B79FF81B4FA}" type="slidenum">
              <a:rPr lang="en-US" smtClean="0"/>
              <a:t>10</a:t>
            </a:fld>
            <a:endParaRPr lang="en-US"/>
          </a:p>
        </p:txBody>
      </p:sp>
    </p:spTree>
    <p:extLst>
      <p:ext uri="{BB962C8B-B14F-4D97-AF65-F5344CB8AC3E}">
        <p14:creationId xmlns:p14="http://schemas.microsoft.com/office/powerpoint/2010/main" val="2397171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F298F-8165-131D-F2F4-D8343233F200}"/>
              </a:ext>
            </a:extLst>
          </p:cNvPr>
          <p:cNvSpPr>
            <a:spLocks noGrp="1"/>
          </p:cNvSpPr>
          <p:nvPr>
            <p:ph type="title"/>
          </p:nvPr>
        </p:nvSpPr>
        <p:spPr/>
        <p:txBody>
          <a:bodyPr/>
          <a:lstStyle/>
          <a:p>
            <a:r>
              <a:rPr lang="en-US" dirty="0"/>
              <a:t>Legitimacy</a:t>
            </a:r>
          </a:p>
        </p:txBody>
      </p:sp>
      <p:sp>
        <p:nvSpPr>
          <p:cNvPr id="3" name="Content Placeholder 2">
            <a:extLst>
              <a:ext uri="{FF2B5EF4-FFF2-40B4-BE49-F238E27FC236}">
                <a16:creationId xmlns:a16="http://schemas.microsoft.com/office/drawing/2014/main" id="{BF5C9DD5-F1FC-ACA0-9647-110C67228B1B}"/>
              </a:ext>
            </a:extLst>
          </p:cNvPr>
          <p:cNvSpPr>
            <a:spLocks noGrp="1"/>
          </p:cNvSpPr>
          <p:nvPr>
            <p:ph idx="1"/>
          </p:nvPr>
        </p:nvSpPr>
        <p:spPr/>
        <p:txBody>
          <a:bodyPr>
            <a:normAutofit fontScale="92500" lnSpcReduction="10000"/>
          </a:bodyPr>
          <a:lstStyle/>
          <a:p>
            <a:r>
              <a:rPr lang="en-US" dirty="0"/>
              <a:t>Two faces of legitimacy: Popular legitimacy/ “moral” legitimacy</a:t>
            </a:r>
          </a:p>
          <a:p>
            <a:r>
              <a:rPr lang="en-US" dirty="0"/>
              <a:t>Potential sources of administrative legitimacy</a:t>
            </a:r>
          </a:p>
          <a:p>
            <a:pPr lvl="1"/>
            <a:r>
              <a:rPr lang="en-US" dirty="0"/>
              <a:t>Electoral connection to POTUS</a:t>
            </a:r>
          </a:p>
          <a:p>
            <a:pPr lvl="1"/>
            <a:r>
              <a:rPr lang="en-US" dirty="0"/>
              <a:t>Fidelity to statutory command</a:t>
            </a:r>
          </a:p>
          <a:p>
            <a:pPr lvl="1"/>
            <a:r>
              <a:rPr lang="en-US" dirty="0"/>
              <a:t>Procedural fairness</a:t>
            </a:r>
          </a:p>
          <a:p>
            <a:pPr lvl="1"/>
            <a:r>
              <a:rPr lang="en-US" dirty="0"/>
              <a:t>Soundness of decision making</a:t>
            </a:r>
          </a:p>
          <a:p>
            <a:pPr lvl="1"/>
            <a:r>
              <a:rPr lang="en-US" dirty="0"/>
              <a:t>“[R]</a:t>
            </a:r>
            <a:r>
              <a:rPr lang="en-US" dirty="0" err="1"/>
              <a:t>esponsiveness</a:t>
            </a:r>
            <a:r>
              <a:rPr lang="en-US" dirty="0"/>
              <a:t> to evolving circumstances and public inputs on the ground, not just or even primarily to center-directed mandates”</a:t>
            </a:r>
          </a:p>
        </p:txBody>
      </p:sp>
      <p:sp>
        <p:nvSpPr>
          <p:cNvPr id="4" name="Footer Placeholder 3">
            <a:extLst>
              <a:ext uri="{FF2B5EF4-FFF2-40B4-BE49-F238E27FC236}">
                <a16:creationId xmlns:a16="http://schemas.microsoft.com/office/drawing/2014/main" id="{C48DE90F-00AC-2852-C66A-84BBFDDFDEC5}"/>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A56A387E-E9D8-A030-F0FD-41DB8435C218}"/>
              </a:ext>
            </a:extLst>
          </p:cNvPr>
          <p:cNvSpPr>
            <a:spLocks noGrp="1"/>
          </p:cNvSpPr>
          <p:nvPr>
            <p:ph type="sldNum" sz="quarter" idx="12"/>
          </p:nvPr>
        </p:nvSpPr>
        <p:spPr/>
        <p:txBody>
          <a:bodyPr/>
          <a:lstStyle/>
          <a:p>
            <a:fld id="{DF6084E1-DA98-A045-8E28-6B79FF81B4FA}" type="slidenum">
              <a:rPr lang="en-US" smtClean="0"/>
              <a:t>11</a:t>
            </a:fld>
            <a:endParaRPr lang="en-US"/>
          </a:p>
        </p:txBody>
      </p:sp>
    </p:spTree>
    <p:extLst>
      <p:ext uri="{BB962C8B-B14F-4D97-AF65-F5344CB8AC3E}">
        <p14:creationId xmlns:p14="http://schemas.microsoft.com/office/powerpoint/2010/main" val="2886257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F2812-E416-EFAB-B647-FB14F0464061}"/>
              </a:ext>
            </a:extLst>
          </p:cNvPr>
          <p:cNvSpPr>
            <a:spLocks noGrp="1"/>
          </p:cNvSpPr>
          <p:nvPr>
            <p:ph type="title"/>
          </p:nvPr>
        </p:nvSpPr>
        <p:spPr/>
        <p:txBody>
          <a:bodyPr/>
          <a:lstStyle/>
          <a:p>
            <a:r>
              <a:rPr lang="en-US" dirty="0"/>
              <a:t>Dissents</a:t>
            </a:r>
          </a:p>
        </p:txBody>
      </p:sp>
      <p:sp>
        <p:nvSpPr>
          <p:cNvPr id="3" name="Content Placeholder 2">
            <a:extLst>
              <a:ext uri="{FF2B5EF4-FFF2-40B4-BE49-F238E27FC236}">
                <a16:creationId xmlns:a16="http://schemas.microsoft.com/office/drawing/2014/main" id="{D1A433FF-7270-3ADA-8FD9-241C2CEC2553}"/>
              </a:ext>
            </a:extLst>
          </p:cNvPr>
          <p:cNvSpPr>
            <a:spLocks noGrp="1"/>
          </p:cNvSpPr>
          <p:nvPr>
            <p:ph idx="1"/>
          </p:nvPr>
        </p:nvSpPr>
        <p:spPr/>
        <p:txBody>
          <a:bodyPr/>
          <a:lstStyle/>
          <a:p>
            <a:pPr>
              <a:spcBef>
                <a:spcPts val="500"/>
              </a:spcBef>
            </a:pPr>
            <a:r>
              <a:rPr lang="en-US" i="1" dirty="0"/>
              <a:t>Gorsuch</a:t>
            </a:r>
            <a:r>
              <a:rPr lang="en-US" dirty="0"/>
              <a:t>: Remedy should just be throwing out the decision affected</a:t>
            </a:r>
          </a:p>
          <a:p>
            <a:pPr>
              <a:spcBef>
                <a:spcPts val="500"/>
              </a:spcBef>
            </a:pPr>
            <a:r>
              <a:rPr lang="en-US" i="1" dirty="0"/>
              <a:t>Breyer with Sotomayor and Kagan</a:t>
            </a:r>
            <a:r>
              <a:rPr lang="en-US" dirty="0"/>
              <a:t>: Congress had adequate functional justification to design the PTAB as it did</a:t>
            </a:r>
          </a:p>
          <a:p>
            <a:pPr>
              <a:spcBef>
                <a:spcPts val="500"/>
              </a:spcBef>
            </a:pPr>
            <a:r>
              <a:rPr lang="en-US" i="1" dirty="0"/>
              <a:t>Thomas with Breyer, Sotomayor, Kagan</a:t>
            </a:r>
            <a:r>
              <a:rPr lang="en-US" dirty="0"/>
              <a:t>: APJs are supervised and directed by superiors; don’t become principal officers because of the decisions they make</a:t>
            </a:r>
          </a:p>
          <a:p>
            <a:endParaRPr lang="en-US" dirty="0"/>
          </a:p>
        </p:txBody>
      </p:sp>
      <p:sp>
        <p:nvSpPr>
          <p:cNvPr id="4" name="Footer Placeholder 3">
            <a:extLst>
              <a:ext uri="{FF2B5EF4-FFF2-40B4-BE49-F238E27FC236}">
                <a16:creationId xmlns:a16="http://schemas.microsoft.com/office/drawing/2014/main" id="{D2667BA2-A169-9120-C81D-3940DB19E2DB}"/>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A480F7D2-C59A-2901-1207-0B4CE738B6CA}"/>
              </a:ext>
            </a:extLst>
          </p:cNvPr>
          <p:cNvSpPr>
            <a:spLocks noGrp="1"/>
          </p:cNvSpPr>
          <p:nvPr>
            <p:ph type="sldNum" sz="quarter" idx="12"/>
          </p:nvPr>
        </p:nvSpPr>
        <p:spPr/>
        <p:txBody>
          <a:bodyPr/>
          <a:lstStyle/>
          <a:p>
            <a:pPr>
              <a:defRPr/>
            </a:pPr>
            <a:fld id="{1B61F791-5E91-481A-9C45-1F0075BBB47C}" type="slidenum">
              <a:rPr lang="en-US" altLang="en-US" smtClean="0"/>
              <a:pPr>
                <a:defRPr/>
              </a:pPr>
              <a:t>12</a:t>
            </a:fld>
            <a:endParaRPr lang="en-US" altLang="en-US"/>
          </a:p>
        </p:txBody>
      </p:sp>
    </p:spTree>
    <p:extLst>
      <p:ext uri="{BB962C8B-B14F-4D97-AF65-F5344CB8AC3E}">
        <p14:creationId xmlns:p14="http://schemas.microsoft.com/office/powerpoint/2010/main" val="3382034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A80A3-8CD3-3D2F-BF78-60DC54EEF512}"/>
              </a:ext>
            </a:extLst>
          </p:cNvPr>
          <p:cNvSpPr>
            <a:spLocks noGrp="1"/>
          </p:cNvSpPr>
          <p:nvPr>
            <p:ph type="title"/>
          </p:nvPr>
        </p:nvSpPr>
        <p:spPr/>
        <p:txBody>
          <a:bodyPr/>
          <a:lstStyle/>
          <a:p>
            <a:r>
              <a:rPr lang="en-US" dirty="0"/>
              <a:t>Where the Court Leaves Us</a:t>
            </a:r>
          </a:p>
        </p:txBody>
      </p:sp>
      <p:sp>
        <p:nvSpPr>
          <p:cNvPr id="3" name="Content Placeholder 2">
            <a:extLst>
              <a:ext uri="{FF2B5EF4-FFF2-40B4-BE49-F238E27FC236}">
                <a16:creationId xmlns:a16="http://schemas.microsoft.com/office/drawing/2014/main" id="{1939CA62-37E1-574C-FD7D-6587A74C1EC3}"/>
              </a:ext>
            </a:extLst>
          </p:cNvPr>
          <p:cNvSpPr>
            <a:spLocks noGrp="1"/>
          </p:cNvSpPr>
          <p:nvPr>
            <p:ph idx="1"/>
          </p:nvPr>
        </p:nvSpPr>
        <p:spPr/>
        <p:txBody>
          <a:bodyPr/>
          <a:lstStyle/>
          <a:p>
            <a:r>
              <a:rPr lang="en-US" dirty="0"/>
              <a:t>“Inferior” officers are supervised and under the direction of principal officers</a:t>
            </a:r>
          </a:p>
          <a:p>
            <a:pPr lvl="1"/>
            <a:r>
              <a:rPr lang="en-US" dirty="0"/>
              <a:t>An officer whose decision making binds the executive branch as its final position is not “inferior”</a:t>
            </a:r>
          </a:p>
          <a:p>
            <a:r>
              <a:rPr lang="en-US" dirty="0"/>
              <a:t>Persons working for the government who are not “officers” are employees – Congress may provide for their hiring through any N &amp; P process</a:t>
            </a:r>
          </a:p>
        </p:txBody>
      </p:sp>
      <p:sp>
        <p:nvSpPr>
          <p:cNvPr id="4" name="Footer Placeholder 3">
            <a:extLst>
              <a:ext uri="{FF2B5EF4-FFF2-40B4-BE49-F238E27FC236}">
                <a16:creationId xmlns:a16="http://schemas.microsoft.com/office/drawing/2014/main" id="{E2DA4D0C-0D70-0F8E-3642-8B9781E28DDA}"/>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509883C4-3D46-F7DE-BED1-10D2FFBB4987}"/>
              </a:ext>
            </a:extLst>
          </p:cNvPr>
          <p:cNvSpPr>
            <a:spLocks noGrp="1"/>
          </p:cNvSpPr>
          <p:nvPr>
            <p:ph type="sldNum" sz="quarter" idx="12"/>
          </p:nvPr>
        </p:nvSpPr>
        <p:spPr/>
        <p:txBody>
          <a:bodyPr/>
          <a:lstStyle/>
          <a:p>
            <a:pPr>
              <a:defRPr/>
            </a:pPr>
            <a:fld id="{E3574F4A-C3CF-4B85-9364-62150E7DAB4B}" type="slidenum">
              <a:rPr lang="en-US" altLang="en-US" smtClean="0"/>
              <a:pPr>
                <a:defRPr/>
              </a:pPr>
              <a:t>13</a:t>
            </a:fld>
            <a:endParaRPr lang="en-US" altLang="en-US"/>
          </a:p>
        </p:txBody>
      </p:sp>
    </p:spTree>
    <p:extLst>
      <p:ext uri="{BB962C8B-B14F-4D97-AF65-F5344CB8AC3E}">
        <p14:creationId xmlns:p14="http://schemas.microsoft.com/office/powerpoint/2010/main" val="990914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9E009-047B-7D6C-53FA-DBBFC7AB3F3E}"/>
              </a:ext>
            </a:extLst>
          </p:cNvPr>
          <p:cNvSpPr>
            <a:spLocks noGrp="1"/>
          </p:cNvSpPr>
          <p:nvPr>
            <p:ph type="title"/>
          </p:nvPr>
        </p:nvSpPr>
        <p:spPr/>
        <p:txBody>
          <a:bodyPr/>
          <a:lstStyle/>
          <a:p>
            <a:r>
              <a:rPr lang="en-US" sz="4000" dirty="0"/>
              <a:t>Appointments Clause Flow Chart </a:t>
            </a:r>
          </a:p>
        </p:txBody>
      </p:sp>
      <p:sp>
        <p:nvSpPr>
          <p:cNvPr id="4" name="Footer Placeholder 3">
            <a:extLst>
              <a:ext uri="{FF2B5EF4-FFF2-40B4-BE49-F238E27FC236}">
                <a16:creationId xmlns:a16="http://schemas.microsoft.com/office/drawing/2014/main" id="{AA2AC3D7-93E2-4E83-7FF9-DEC59D764694}"/>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5DDA7A1A-E285-0C7B-763C-DBC98875DA42}"/>
              </a:ext>
            </a:extLst>
          </p:cNvPr>
          <p:cNvSpPr>
            <a:spLocks noGrp="1"/>
          </p:cNvSpPr>
          <p:nvPr>
            <p:ph type="sldNum" sz="quarter" idx="12"/>
          </p:nvPr>
        </p:nvSpPr>
        <p:spPr/>
        <p:txBody>
          <a:bodyPr/>
          <a:lstStyle/>
          <a:p>
            <a:pPr>
              <a:defRPr/>
            </a:pPr>
            <a:fld id="{1B61F791-5E91-481A-9C45-1F0075BBB47C}" type="slidenum">
              <a:rPr lang="en-US" altLang="en-US" smtClean="0"/>
              <a:pPr>
                <a:defRPr/>
              </a:pPr>
              <a:t>14</a:t>
            </a:fld>
            <a:endParaRPr lang="en-US" altLang="en-US"/>
          </a:p>
        </p:txBody>
      </p:sp>
      <p:pic>
        <p:nvPicPr>
          <p:cNvPr id="6" name="Picture 3" descr="A screenshot of a chat box&#10;&#10;AI-generated content may be incorrect.">
            <a:extLst>
              <a:ext uri="{FF2B5EF4-FFF2-40B4-BE49-F238E27FC236}">
                <a16:creationId xmlns:a16="http://schemas.microsoft.com/office/drawing/2014/main" id="{0A335D0B-37EB-71A6-6A04-FCB706E2298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981" y="1529491"/>
            <a:ext cx="8002819" cy="46579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3874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8D5CA-009D-E1C1-D226-53906785D491}"/>
              </a:ext>
            </a:extLst>
          </p:cNvPr>
          <p:cNvSpPr>
            <a:spLocks noGrp="1"/>
          </p:cNvSpPr>
          <p:nvPr>
            <p:ph type="title"/>
          </p:nvPr>
        </p:nvSpPr>
        <p:spPr/>
        <p:txBody>
          <a:bodyPr/>
          <a:lstStyle/>
          <a:p>
            <a:r>
              <a:rPr lang="en-US" dirty="0"/>
              <a:t>Interbranch Appointments</a:t>
            </a:r>
          </a:p>
        </p:txBody>
      </p:sp>
      <p:sp>
        <p:nvSpPr>
          <p:cNvPr id="3" name="Content Placeholder 2">
            <a:extLst>
              <a:ext uri="{FF2B5EF4-FFF2-40B4-BE49-F238E27FC236}">
                <a16:creationId xmlns:a16="http://schemas.microsoft.com/office/drawing/2014/main" id="{DE806337-E302-A46A-80D9-CA0EB12C0363}"/>
              </a:ext>
            </a:extLst>
          </p:cNvPr>
          <p:cNvSpPr>
            <a:spLocks noGrp="1"/>
          </p:cNvSpPr>
          <p:nvPr>
            <p:ph idx="1"/>
          </p:nvPr>
        </p:nvSpPr>
        <p:spPr/>
        <p:txBody>
          <a:bodyPr/>
          <a:lstStyle/>
          <a:p>
            <a:r>
              <a:rPr lang="en-US" sz="2000" dirty="0"/>
              <a:t>“T]here was little or no debate on the question whether the Clause empowers Congress to provide for interbranch appointments, and there is nothing to suggest that the Framers intended to prevent Congress from having that power.</a:t>
            </a:r>
          </a:p>
          <a:p>
            <a:r>
              <a:rPr lang="en-US" sz="2000" dirty="0"/>
              <a:t>“We do not mean to say that Congress' power to provide for interbranch appointments of “inferior officers” is unlimited. . . . Congress' decision to vest the appointment power in the courts would be improper if there was some “incongruity” between the functions normally performed by the courts and the performance of their duty to appoint.” </a:t>
            </a:r>
            <a:r>
              <a:rPr lang="en-US" sz="2000" i="1" dirty="0"/>
              <a:t>Morrison v. Olson</a:t>
            </a:r>
            <a:r>
              <a:rPr lang="en-US" sz="2000" dirty="0"/>
              <a:t>, 487 U.S. 654, 675–76  (1988).</a:t>
            </a:r>
            <a:endParaRPr lang="en-US" dirty="0"/>
          </a:p>
        </p:txBody>
      </p:sp>
      <p:sp>
        <p:nvSpPr>
          <p:cNvPr id="4" name="Footer Placeholder 3">
            <a:extLst>
              <a:ext uri="{FF2B5EF4-FFF2-40B4-BE49-F238E27FC236}">
                <a16:creationId xmlns:a16="http://schemas.microsoft.com/office/drawing/2014/main" id="{A837BC23-16A2-D7F2-571B-EBD363D449BD}"/>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6A9EDBC9-8548-8941-BE5D-513C6D2B7180}"/>
              </a:ext>
            </a:extLst>
          </p:cNvPr>
          <p:cNvSpPr>
            <a:spLocks noGrp="1"/>
          </p:cNvSpPr>
          <p:nvPr>
            <p:ph type="sldNum" sz="quarter" idx="12"/>
          </p:nvPr>
        </p:nvSpPr>
        <p:spPr/>
        <p:txBody>
          <a:bodyPr/>
          <a:lstStyle/>
          <a:p>
            <a:pPr>
              <a:defRPr/>
            </a:pPr>
            <a:fld id="{1B61F791-5E91-481A-9C45-1F0075BBB47C}" type="slidenum">
              <a:rPr lang="en-US" altLang="en-US" smtClean="0"/>
              <a:pPr>
                <a:defRPr/>
              </a:pPr>
              <a:t>15</a:t>
            </a:fld>
            <a:endParaRPr lang="en-US" altLang="en-US"/>
          </a:p>
        </p:txBody>
      </p:sp>
    </p:spTree>
    <p:extLst>
      <p:ext uri="{BB962C8B-B14F-4D97-AF65-F5344CB8AC3E}">
        <p14:creationId xmlns:p14="http://schemas.microsoft.com/office/powerpoint/2010/main" val="2722598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4EAFC-FAAD-3D9A-12A2-81D23B99CF1B}"/>
              </a:ext>
            </a:extLst>
          </p:cNvPr>
          <p:cNvSpPr>
            <a:spLocks noGrp="1"/>
          </p:cNvSpPr>
          <p:nvPr>
            <p:ph type="title"/>
          </p:nvPr>
        </p:nvSpPr>
        <p:spPr/>
        <p:txBody>
          <a:bodyPr/>
          <a:lstStyle/>
          <a:p>
            <a:r>
              <a:rPr lang="en-US" sz="2400" b="1" dirty="0"/>
              <a:t>Debating the Point</a:t>
            </a:r>
            <a:br>
              <a:rPr lang="en-US" sz="2400" dirty="0"/>
            </a:br>
            <a:r>
              <a:rPr lang="en-US" sz="2400" dirty="0"/>
              <a:t>https://constitutioncenter.org/the-constitution/articles/article-ii/clauses/346</a:t>
            </a:r>
          </a:p>
        </p:txBody>
      </p:sp>
      <p:sp>
        <p:nvSpPr>
          <p:cNvPr id="3" name="Content Placeholder 2">
            <a:extLst>
              <a:ext uri="{FF2B5EF4-FFF2-40B4-BE49-F238E27FC236}">
                <a16:creationId xmlns:a16="http://schemas.microsoft.com/office/drawing/2014/main" id="{891F046F-F0FF-5CE5-AC1A-CBC43544E38A}"/>
              </a:ext>
            </a:extLst>
          </p:cNvPr>
          <p:cNvSpPr>
            <a:spLocks noGrp="1"/>
          </p:cNvSpPr>
          <p:nvPr>
            <p:ph idx="1"/>
          </p:nvPr>
        </p:nvSpPr>
        <p:spPr/>
        <p:txBody>
          <a:bodyPr/>
          <a:lstStyle/>
          <a:p>
            <a:r>
              <a:rPr lang="en-US" sz="2000" b="1" dirty="0"/>
              <a:t>Shane</a:t>
            </a:r>
            <a:r>
              <a:rPr lang="en-US" sz="2000" dirty="0"/>
              <a:t>: “There is no textual bar to interbranch appointments and, contrary to some originalist claims, the boundary between executive and judicial power was highly uncertain in 1787.”</a:t>
            </a:r>
          </a:p>
          <a:p>
            <a:r>
              <a:rPr lang="en-US" sz="2000" b="1" dirty="0"/>
              <a:t>McGinnis</a:t>
            </a:r>
            <a:r>
              <a:rPr lang="en-US" sz="2000" dirty="0"/>
              <a:t>: “[P]</a:t>
            </a:r>
            <a:r>
              <a:rPr lang="en-US" sz="2000" dirty="0" err="1"/>
              <a:t>ermitting</a:t>
            </a:r>
            <a:r>
              <a:rPr lang="en-US" sz="2000" dirty="0"/>
              <a:t> interbranch appointments presents two unpalatable choices. One possibility would be to allow Congress to authorize the judiciary to appoint all inferior officers in the executive branch, thereby depriving the President of the personnel necessary to implement policy and hollowing out his constitutionally assigned responsibility to take care that the laws be faithfully executed. The other possibility would be to let the judiciary decide for itself how far such appointment power should extend, without any constitutional standard to guide its discretion. Either path would transfer control over the executive branch to a body insulated from electoral accountability.”</a:t>
            </a:r>
          </a:p>
          <a:p>
            <a:endParaRPr lang="en-US" dirty="0"/>
          </a:p>
        </p:txBody>
      </p:sp>
      <p:sp>
        <p:nvSpPr>
          <p:cNvPr id="4" name="Footer Placeholder 3">
            <a:extLst>
              <a:ext uri="{FF2B5EF4-FFF2-40B4-BE49-F238E27FC236}">
                <a16:creationId xmlns:a16="http://schemas.microsoft.com/office/drawing/2014/main" id="{19F587F1-565A-6D3D-D398-0DE994A66D15}"/>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D0FD138C-244E-EDBB-59AB-B5A29AF6A46F}"/>
              </a:ext>
            </a:extLst>
          </p:cNvPr>
          <p:cNvSpPr>
            <a:spLocks noGrp="1"/>
          </p:cNvSpPr>
          <p:nvPr>
            <p:ph type="sldNum" sz="quarter" idx="12"/>
          </p:nvPr>
        </p:nvSpPr>
        <p:spPr/>
        <p:txBody>
          <a:bodyPr/>
          <a:lstStyle/>
          <a:p>
            <a:pPr>
              <a:defRPr/>
            </a:pPr>
            <a:fld id="{1B61F791-5E91-481A-9C45-1F0075BBB47C}" type="slidenum">
              <a:rPr lang="en-US" altLang="en-US" smtClean="0"/>
              <a:pPr>
                <a:defRPr/>
              </a:pPr>
              <a:t>16</a:t>
            </a:fld>
            <a:endParaRPr lang="en-US" altLang="en-US"/>
          </a:p>
        </p:txBody>
      </p:sp>
    </p:spTree>
    <p:extLst>
      <p:ext uri="{BB962C8B-B14F-4D97-AF65-F5344CB8AC3E}">
        <p14:creationId xmlns:p14="http://schemas.microsoft.com/office/powerpoint/2010/main" val="2835338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Footer Placeholder 4">
            <a:extLst>
              <a:ext uri="{FF2B5EF4-FFF2-40B4-BE49-F238E27FC236}">
                <a16:creationId xmlns:a16="http://schemas.microsoft.com/office/drawing/2014/main" id="{E1CD29B7-ED0B-41D4-B252-715019D1F5B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200"/>
              <a:t>© Copyright 2026.  Peter M. Shane All rights reserved. </a:t>
            </a:r>
          </a:p>
        </p:txBody>
      </p:sp>
      <p:sp>
        <p:nvSpPr>
          <p:cNvPr id="19458" name="Rectangle 2">
            <a:extLst>
              <a:ext uri="{FF2B5EF4-FFF2-40B4-BE49-F238E27FC236}">
                <a16:creationId xmlns:a16="http://schemas.microsoft.com/office/drawing/2014/main" id="{C5834C19-932D-E0C4-7EA4-E7588550FBFC}"/>
              </a:ext>
            </a:extLst>
          </p:cNvPr>
          <p:cNvSpPr>
            <a:spLocks noGrp="1" noChangeArrowheads="1"/>
          </p:cNvSpPr>
          <p:nvPr>
            <p:ph type="title"/>
          </p:nvPr>
        </p:nvSpPr>
        <p:spPr/>
        <p:txBody>
          <a:bodyPr/>
          <a:lstStyle/>
          <a:p>
            <a:pPr eaLnBrk="1" hangingPunct="1"/>
            <a:r>
              <a:rPr lang="en-US" altLang="en-US"/>
              <a:t>“Independent Agency”</a:t>
            </a:r>
          </a:p>
        </p:txBody>
      </p:sp>
      <p:sp>
        <p:nvSpPr>
          <p:cNvPr id="19459" name="Rectangle 3">
            <a:extLst>
              <a:ext uri="{FF2B5EF4-FFF2-40B4-BE49-F238E27FC236}">
                <a16:creationId xmlns:a16="http://schemas.microsoft.com/office/drawing/2014/main" id="{F16BE12C-EB9D-1C1F-49AF-606F5B3A8420}"/>
              </a:ext>
            </a:extLst>
          </p:cNvPr>
          <p:cNvSpPr>
            <a:spLocks noGrp="1" noChangeArrowheads="1"/>
          </p:cNvSpPr>
          <p:nvPr>
            <p:ph type="body" idx="1"/>
          </p:nvPr>
        </p:nvSpPr>
        <p:spPr/>
        <p:txBody>
          <a:bodyPr/>
          <a:lstStyle/>
          <a:p>
            <a:pPr eaLnBrk="1" hangingPunct="1"/>
            <a:r>
              <a:rPr lang="en-US" altLang="en-US" sz="2800" dirty="0"/>
              <a:t>What traditionally made the agency “independent” is that the head(s) of the agency were protected by statute against removal at will; agency statute provides – either explicitly or implicitly -- that they may be removed only for good cause (inefficiency, neglect of office, malfeasance)</a:t>
            </a:r>
          </a:p>
          <a:p>
            <a:pPr eaLnBrk="1" hangingPunct="1"/>
            <a:r>
              <a:rPr lang="en-US" altLang="en-US" sz="2800" dirty="0"/>
              <a:t>Usual reading:  Not good cause for firing that the agency head(s) and the President simply disagree over policy</a:t>
            </a:r>
          </a:p>
        </p:txBody>
      </p:sp>
      <p:sp>
        <p:nvSpPr>
          <p:cNvPr id="19460" name="Slide Number Placeholder 1">
            <a:extLst>
              <a:ext uri="{FF2B5EF4-FFF2-40B4-BE49-F238E27FC236}">
                <a16:creationId xmlns:a16="http://schemas.microsoft.com/office/drawing/2014/main" id="{E85465C0-AD0D-3C52-DB66-F56E4173D93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C01CB13-D719-46D0-B036-5003FF8D8050}" type="slidenum">
              <a:rPr lang="en-US" altLang="en-US" sz="1400" smtClean="0"/>
              <a:pPr>
                <a:spcBef>
                  <a:spcPct val="0"/>
                </a:spcBef>
                <a:buFontTx/>
                <a:buNone/>
              </a:pPr>
              <a:t>17</a:t>
            </a:fld>
            <a:endParaRPr lang="en-US" altLang="en-US"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Footer Placeholder 4">
            <a:extLst>
              <a:ext uri="{FF2B5EF4-FFF2-40B4-BE49-F238E27FC236}">
                <a16:creationId xmlns:a16="http://schemas.microsoft.com/office/drawing/2014/main" id="{14B8BCBF-0CCC-1644-60C6-61545EFC106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200"/>
              <a:t>© Copyright 2026.  Peter M. Shane All rights reserved. </a:t>
            </a:r>
          </a:p>
        </p:txBody>
      </p:sp>
      <p:sp>
        <p:nvSpPr>
          <p:cNvPr id="21506" name="Rectangle 2">
            <a:extLst>
              <a:ext uri="{FF2B5EF4-FFF2-40B4-BE49-F238E27FC236}">
                <a16:creationId xmlns:a16="http://schemas.microsoft.com/office/drawing/2014/main" id="{60C154FF-6F88-A403-7F7D-37439C0CE4D0}"/>
              </a:ext>
            </a:extLst>
          </p:cNvPr>
          <p:cNvSpPr>
            <a:spLocks noGrp="1" noChangeArrowheads="1"/>
          </p:cNvSpPr>
          <p:nvPr>
            <p:ph type="title"/>
          </p:nvPr>
        </p:nvSpPr>
        <p:spPr/>
        <p:txBody>
          <a:bodyPr/>
          <a:lstStyle/>
          <a:p>
            <a:pPr eaLnBrk="1" hangingPunct="1"/>
            <a:r>
              <a:rPr lang="en-US" altLang="en-US" sz="4000"/>
              <a:t>“Independent” v. “Executive” Agencies</a:t>
            </a:r>
          </a:p>
        </p:txBody>
      </p:sp>
      <p:sp>
        <p:nvSpPr>
          <p:cNvPr id="21507" name="Rectangle 3">
            <a:extLst>
              <a:ext uri="{FF2B5EF4-FFF2-40B4-BE49-F238E27FC236}">
                <a16:creationId xmlns:a16="http://schemas.microsoft.com/office/drawing/2014/main" id="{CA482032-414C-668A-EB32-7ACD9A1F8CA1}"/>
              </a:ext>
            </a:extLst>
          </p:cNvPr>
          <p:cNvSpPr>
            <a:spLocks noGrp="1" noChangeArrowheads="1"/>
          </p:cNvSpPr>
          <p:nvPr>
            <p:ph type="body" idx="1"/>
          </p:nvPr>
        </p:nvSpPr>
        <p:spPr/>
        <p:txBody>
          <a:bodyPr/>
          <a:lstStyle/>
          <a:p>
            <a:pPr eaLnBrk="1" hangingPunct="1"/>
            <a:r>
              <a:rPr lang="en-US" altLang="en-US"/>
              <a:t>Different statutory organizations, but:</a:t>
            </a:r>
          </a:p>
          <a:p>
            <a:pPr lvl="1" eaLnBrk="1" hangingPunct="1"/>
            <a:r>
              <a:rPr lang="en-US" altLang="en-US"/>
              <a:t>No uniformity in removal positions</a:t>
            </a:r>
          </a:p>
          <a:p>
            <a:pPr lvl="1" eaLnBrk="1" hangingPunct="1"/>
            <a:r>
              <a:rPr lang="en-US" altLang="en-US"/>
              <a:t>No principled distinction in functions</a:t>
            </a:r>
          </a:p>
          <a:p>
            <a:pPr lvl="1" eaLnBrk="1" hangingPunct="1"/>
            <a:r>
              <a:rPr lang="en-US" altLang="en-US"/>
              <a:t>Politics can always be surprising</a:t>
            </a:r>
          </a:p>
        </p:txBody>
      </p:sp>
      <p:sp>
        <p:nvSpPr>
          <p:cNvPr id="21508" name="Slide Number Placeholder 1">
            <a:extLst>
              <a:ext uri="{FF2B5EF4-FFF2-40B4-BE49-F238E27FC236}">
                <a16:creationId xmlns:a16="http://schemas.microsoft.com/office/drawing/2014/main" id="{CA058C45-E5BF-14AD-BB37-CFA65C7D40D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5BF2303-5B3E-4CB8-A5C4-F795C11A5DB0}" type="slidenum">
              <a:rPr lang="en-US" altLang="en-US" sz="1400" smtClean="0"/>
              <a:pPr>
                <a:spcBef>
                  <a:spcPct val="0"/>
                </a:spcBef>
                <a:buFontTx/>
                <a:buNone/>
              </a:pPr>
              <a:t>18</a:t>
            </a:fld>
            <a:endParaRPr lang="en-US" altLang="en-US"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Footer Placeholder 4">
            <a:extLst>
              <a:ext uri="{FF2B5EF4-FFF2-40B4-BE49-F238E27FC236}">
                <a16:creationId xmlns:a16="http://schemas.microsoft.com/office/drawing/2014/main" id="{0353E8A8-ABAA-4F37-7610-59942A51B8A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200"/>
              <a:t>© Copyright 2026.  Peter M. Shane All rights reserved. </a:t>
            </a:r>
          </a:p>
        </p:txBody>
      </p:sp>
      <p:sp>
        <p:nvSpPr>
          <p:cNvPr id="15362" name="Rectangle 2">
            <a:extLst>
              <a:ext uri="{FF2B5EF4-FFF2-40B4-BE49-F238E27FC236}">
                <a16:creationId xmlns:a16="http://schemas.microsoft.com/office/drawing/2014/main" id="{8FEFE74E-7FBC-1CEB-8AC4-284372037D2C}"/>
              </a:ext>
            </a:extLst>
          </p:cNvPr>
          <p:cNvSpPr>
            <a:spLocks noGrp="1" noChangeArrowheads="1"/>
          </p:cNvSpPr>
          <p:nvPr>
            <p:ph type="title"/>
          </p:nvPr>
        </p:nvSpPr>
        <p:spPr/>
        <p:txBody>
          <a:bodyPr/>
          <a:lstStyle/>
          <a:p>
            <a:pPr eaLnBrk="1" hangingPunct="1"/>
            <a:r>
              <a:rPr lang="en-US" altLang="en-US" sz="4000"/>
              <a:t>Removals:</a:t>
            </a:r>
            <a:r>
              <a:rPr lang="en-US" altLang="en-US" sz="4000" i="1"/>
              <a:t>  Myers</a:t>
            </a:r>
            <a:r>
              <a:rPr lang="en-US" altLang="en-US" sz="4000"/>
              <a:t> and </a:t>
            </a:r>
            <a:br>
              <a:rPr lang="en-US" altLang="en-US" sz="4000"/>
            </a:br>
            <a:r>
              <a:rPr lang="en-US" altLang="en-US" sz="4000" i="1"/>
              <a:t>Humphrey’s Executor</a:t>
            </a:r>
          </a:p>
        </p:txBody>
      </p:sp>
      <p:sp>
        <p:nvSpPr>
          <p:cNvPr id="15363" name="Rectangle 3">
            <a:extLst>
              <a:ext uri="{FF2B5EF4-FFF2-40B4-BE49-F238E27FC236}">
                <a16:creationId xmlns:a16="http://schemas.microsoft.com/office/drawing/2014/main" id="{CE99837B-E1F2-4033-E080-4C6E57FA0F8B}"/>
              </a:ext>
            </a:extLst>
          </p:cNvPr>
          <p:cNvSpPr>
            <a:spLocks noGrp="1" noChangeArrowheads="1"/>
          </p:cNvSpPr>
          <p:nvPr>
            <p:ph type="body" idx="1"/>
          </p:nvPr>
        </p:nvSpPr>
        <p:spPr/>
        <p:txBody>
          <a:bodyPr/>
          <a:lstStyle/>
          <a:p>
            <a:pPr eaLnBrk="1" hangingPunct="1">
              <a:lnSpc>
                <a:spcPct val="90000"/>
              </a:lnSpc>
            </a:pPr>
            <a:r>
              <a:rPr lang="en-US" altLang="en-US" sz="4000" i="1"/>
              <a:t>Myers</a:t>
            </a:r>
            <a:r>
              <a:rPr lang="en-US" altLang="en-US" sz="4000"/>
              <a:t>:  Court invalidated a law that required the President, in firing postmasters of the United States, to get the Senate’s Advice and Consent</a:t>
            </a:r>
          </a:p>
          <a:p>
            <a:pPr eaLnBrk="1" hangingPunct="1">
              <a:lnSpc>
                <a:spcPct val="90000"/>
              </a:lnSpc>
            </a:pPr>
            <a:r>
              <a:rPr lang="en-US" altLang="en-US" sz="3600"/>
              <a:t>Like the Tenure in Office that led to Johnson impeachment</a:t>
            </a:r>
          </a:p>
        </p:txBody>
      </p:sp>
      <p:sp>
        <p:nvSpPr>
          <p:cNvPr id="15364" name="Slide Number Placeholder 1">
            <a:extLst>
              <a:ext uri="{FF2B5EF4-FFF2-40B4-BE49-F238E27FC236}">
                <a16:creationId xmlns:a16="http://schemas.microsoft.com/office/drawing/2014/main" id="{31B6ADAF-D045-1FDE-9D29-E0C83FF9799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31FAA48-0B6C-4296-937B-074489FC83D6}" type="slidenum">
              <a:rPr lang="en-US" altLang="en-US" sz="1400" smtClean="0"/>
              <a:pPr>
                <a:spcBef>
                  <a:spcPct val="0"/>
                </a:spcBef>
                <a:buFontTx/>
                <a:buNone/>
              </a:pPr>
              <a:t>19</a:t>
            </a:fld>
            <a:endParaRPr lang="en-US" altLang="en-US"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CECC278D-5EBC-7D23-67DB-9260CE2E779B}"/>
              </a:ext>
            </a:extLst>
          </p:cNvPr>
          <p:cNvSpPr>
            <a:spLocks noGrp="1" noChangeArrowheads="1"/>
          </p:cNvSpPr>
          <p:nvPr>
            <p:ph type="title"/>
          </p:nvPr>
        </p:nvSpPr>
        <p:spPr/>
        <p:txBody>
          <a:bodyPr/>
          <a:lstStyle/>
          <a:p>
            <a:r>
              <a:rPr lang="en-US" altLang="en-US" sz="4000" dirty="0"/>
              <a:t>Historical Argument:</a:t>
            </a:r>
            <a:br>
              <a:rPr lang="en-US" altLang="en-US" sz="4000" dirty="0"/>
            </a:br>
            <a:r>
              <a:rPr lang="en-US" altLang="en-US" sz="4000" dirty="0"/>
              <a:t>Decision of 1789</a:t>
            </a:r>
          </a:p>
        </p:txBody>
      </p:sp>
      <p:sp>
        <p:nvSpPr>
          <p:cNvPr id="3" name="Content Placeholder 2">
            <a:extLst>
              <a:ext uri="{FF2B5EF4-FFF2-40B4-BE49-F238E27FC236}">
                <a16:creationId xmlns:a16="http://schemas.microsoft.com/office/drawing/2014/main" id="{4AEC207C-FCEA-2A69-B36F-E3C591207713}"/>
              </a:ext>
            </a:extLst>
          </p:cNvPr>
          <p:cNvSpPr>
            <a:spLocks noGrp="1"/>
          </p:cNvSpPr>
          <p:nvPr>
            <p:ph idx="1"/>
          </p:nvPr>
        </p:nvSpPr>
        <p:spPr/>
        <p:txBody>
          <a:bodyPr/>
          <a:lstStyle/>
          <a:p>
            <a:pPr marL="0" indent="0">
              <a:spcBef>
                <a:spcPts val="300"/>
              </a:spcBef>
              <a:buFontTx/>
              <a:buNone/>
              <a:defRPr/>
            </a:pPr>
            <a:r>
              <a:rPr lang="en-US" sz="2400" dirty="0"/>
              <a:t>Change in bill to create the Department of Foreign Affairs from:</a:t>
            </a:r>
          </a:p>
          <a:p>
            <a:pPr>
              <a:spcBef>
                <a:spcPts val="300"/>
              </a:spcBef>
              <a:defRPr/>
            </a:pPr>
            <a:r>
              <a:rPr lang="en-US" sz="2400" dirty="0"/>
              <a:t>[T]here shall be established . . . the Department of Foreign Affairs, at the head of which there shall be an officer . . . to be removable by the President.</a:t>
            </a:r>
          </a:p>
          <a:p>
            <a:pPr marL="0" indent="0">
              <a:spcBef>
                <a:spcPts val="300"/>
              </a:spcBef>
              <a:buFontTx/>
              <a:buNone/>
              <a:defRPr/>
            </a:pPr>
            <a:r>
              <a:rPr lang="en-US" sz="2400" dirty="0"/>
              <a:t>To: </a:t>
            </a:r>
          </a:p>
          <a:p>
            <a:pPr>
              <a:spcBef>
                <a:spcPts val="300"/>
              </a:spcBef>
              <a:defRPr/>
            </a:pPr>
            <a:r>
              <a:rPr lang="en-US" sz="2400" dirty="0"/>
              <a:t>[T]here shall be an inferior officer . . . who, whenever the said principal officer shall be removed from office by the President of the United States, or in any other case of vacancy, shall during such vacancy have the charge and custody of all records, books, and papers appertaining to said Department.</a:t>
            </a:r>
          </a:p>
          <a:p>
            <a:pPr>
              <a:defRPr/>
            </a:pPr>
            <a:endParaRPr lang="en-US" dirty="0"/>
          </a:p>
        </p:txBody>
      </p:sp>
      <p:sp>
        <p:nvSpPr>
          <p:cNvPr id="16387" name="Footer Placeholder 3">
            <a:extLst>
              <a:ext uri="{FF2B5EF4-FFF2-40B4-BE49-F238E27FC236}">
                <a16:creationId xmlns:a16="http://schemas.microsoft.com/office/drawing/2014/main" id="{D594C309-F016-B112-2417-FDCEBBF16C8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200"/>
              <a:t>© Copyright 2026.  Peter M. Shane All rights reserved. </a:t>
            </a:r>
          </a:p>
        </p:txBody>
      </p:sp>
      <p:sp>
        <p:nvSpPr>
          <p:cNvPr id="16388" name="Slide Number Placeholder 4">
            <a:extLst>
              <a:ext uri="{FF2B5EF4-FFF2-40B4-BE49-F238E27FC236}">
                <a16:creationId xmlns:a16="http://schemas.microsoft.com/office/drawing/2014/main" id="{B2D23E9A-4634-35CF-EA2E-8CD77F76A9B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927562C-B56B-48D1-8474-9C35FB31DD47}" type="slidenum">
              <a:rPr lang="en-US" altLang="en-US" sz="1400" smtClean="0"/>
              <a:pPr>
                <a:spcBef>
                  <a:spcPct val="0"/>
                </a:spcBef>
                <a:buFontTx/>
                <a:buNone/>
              </a:pPr>
              <a:t>20</a:t>
            </a:fld>
            <a:endParaRPr lang="en-US" altLang="en-US" sz="1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9CAB24FE-0872-9851-D5BD-49AD341FC952}"/>
              </a:ext>
            </a:extLst>
          </p:cNvPr>
          <p:cNvSpPr>
            <a:spLocks noGrp="1" noChangeArrowheads="1"/>
          </p:cNvSpPr>
          <p:nvPr>
            <p:ph type="title"/>
          </p:nvPr>
        </p:nvSpPr>
        <p:spPr/>
        <p:txBody>
          <a:bodyPr/>
          <a:lstStyle/>
          <a:p>
            <a:r>
              <a:rPr lang="en-US" altLang="en-US"/>
              <a:t>Four Positions in House</a:t>
            </a:r>
          </a:p>
        </p:txBody>
      </p:sp>
      <p:sp>
        <p:nvSpPr>
          <p:cNvPr id="17410" name="Content Placeholder 2">
            <a:extLst>
              <a:ext uri="{FF2B5EF4-FFF2-40B4-BE49-F238E27FC236}">
                <a16:creationId xmlns:a16="http://schemas.microsoft.com/office/drawing/2014/main" id="{0CC89A10-9D68-00D4-7B81-AFC2EF955A39}"/>
              </a:ext>
            </a:extLst>
          </p:cNvPr>
          <p:cNvSpPr>
            <a:spLocks noGrp="1" noChangeArrowheads="1"/>
          </p:cNvSpPr>
          <p:nvPr>
            <p:ph idx="1"/>
          </p:nvPr>
        </p:nvSpPr>
        <p:spPr/>
        <p:txBody>
          <a:bodyPr/>
          <a:lstStyle/>
          <a:p>
            <a:r>
              <a:rPr lang="en-US" altLang="en-US"/>
              <a:t>Impeachment was sole removal avenue</a:t>
            </a:r>
          </a:p>
          <a:p>
            <a:r>
              <a:rPr lang="en-US" altLang="en-US"/>
              <a:t>Removal power follows appointment power – if Senate involved in one, then also the other</a:t>
            </a:r>
          </a:p>
          <a:p>
            <a:r>
              <a:rPr lang="en-US" altLang="en-US"/>
              <a:t>Sole presidential removal OK if approved by Congress</a:t>
            </a:r>
          </a:p>
          <a:p>
            <a:r>
              <a:rPr lang="en-US" altLang="en-US"/>
              <a:t>Article II vests plenary removal power in POTUS</a:t>
            </a:r>
          </a:p>
        </p:txBody>
      </p:sp>
      <p:sp>
        <p:nvSpPr>
          <p:cNvPr id="17411" name="Footer Placeholder 3">
            <a:extLst>
              <a:ext uri="{FF2B5EF4-FFF2-40B4-BE49-F238E27FC236}">
                <a16:creationId xmlns:a16="http://schemas.microsoft.com/office/drawing/2014/main" id="{DC619AB2-6D13-3223-917A-96732BF1056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200"/>
              <a:t>© Copyright 2026.  Peter M. Shane All rights reserved. </a:t>
            </a:r>
          </a:p>
        </p:txBody>
      </p:sp>
      <p:sp>
        <p:nvSpPr>
          <p:cNvPr id="17412" name="Slide Number Placeholder 4">
            <a:extLst>
              <a:ext uri="{FF2B5EF4-FFF2-40B4-BE49-F238E27FC236}">
                <a16:creationId xmlns:a16="http://schemas.microsoft.com/office/drawing/2014/main" id="{D7C4D6EE-38C3-A4E2-6AF2-769E59D7D6C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87B56D1-1BE6-417F-9E80-5C5B9FC9E5A2}" type="slidenum">
              <a:rPr lang="en-US" altLang="en-US" sz="1400" smtClean="0"/>
              <a:pPr>
                <a:spcBef>
                  <a:spcPct val="0"/>
                </a:spcBef>
                <a:buFontTx/>
                <a:buNone/>
              </a:pPr>
              <a:t>21</a:t>
            </a:fld>
            <a:endParaRPr lang="en-US" altLang="en-US" sz="1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A99C9C5B-FFF7-DEB7-7EDD-96D7494E6C9D}"/>
              </a:ext>
            </a:extLst>
          </p:cNvPr>
          <p:cNvSpPr>
            <a:spLocks noGrp="1" noChangeArrowheads="1"/>
          </p:cNvSpPr>
          <p:nvPr>
            <p:ph type="title"/>
          </p:nvPr>
        </p:nvSpPr>
        <p:spPr/>
        <p:txBody>
          <a:bodyPr/>
          <a:lstStyle/>
          <a:p>
            <a:r>
              <a:rPr lang="en-US" altLang="en-US"/>
              <a:t>Senate</a:t>
            </a:r>
          </a:p>
        </p:txBody>
      </p:sp>
      <p:sp>
        <p:nvSpPr>
          <p:cNvPr id="18434" name="Content Placeholder 2">
            <a:extLst>
              <a:ext uri="{FF2B5EF4-FFF2-40B4-BE49-F238E27FC236}">
                <a16:creationId xmlns:a16="http://schemas.microsoft.com/office/drawing/2014/main" id="{6B1E4FCD-6D38-294D-9876-894ED9409C00}"/>
              </a:ext>
            </a:extLst>
          </p:cNvPr>
          <p:cNvSpPr>
            <a:spLocks noGrp="1" noChangeArrowheads="1"/>
          </p:cNvSpPr>
          <p:nvPr>
            <p:ph idx="1"/>
          </p:nvPr>
        </p:nvSpPr>
        <p:spPr/>
        <p:txBody>
          <a:bodyPr/>
          <a:lstStyle/>
          <a:p>
            <a:r>
              <a:rPr lang="en-US" altLang="en-US" dirty="0"/>
              <a:t>Madison probably went with weaker clause to avoid saying explicitly that the Senate had no removal power</a:t>
            </a:r>
          </a:p>
          <a:p>
            <a:r>
              <a:rPr lang="en-US" altLang="en-US" dirty="0"/>
              <a:t>Senate split 10-10 on the weaker language!</a:t>
            </a:r>
          </a:p>
          <a:p>
            <a:r>
              <a:rPr lang="en-US" altLang="en-US" dirty="0"/>
              <a:t>Explored by Prof. Jed Shugerman’s review of Sen. Maclay diaries</a:t>
            </a:r>
          </a:p>
        </p:txBody>
      </p:sp>
      <p:sp>
        <p:nvSpPr>
          <p:cNvPr id="18435" name="Footer Placeholder 3">
            <a:extLst>
              <a:ext uri="{FF2B5EF4-FFF2-40B4-BE49-F238E27FC236}">
                <a16:creationId xmlns:a16="http://schemas.microsoft.com/office/drawing/2014/main" id="{50FAC58E-A7CF-116E-4D23-C9D626047B3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200"/>
              <a:t>© Copyright 2026.  Peter M. Shane All rights reserved. </a:t>
            </a:r>
          </a:p>
        </p:txBody>
      </p:sp>
      <p:sp>
        <p:nvSpPr>
          <p:cNvPr id="18436" name="Slide Number Placeholder 4">
            <a:extLst>
              <a:ext uri="{FF2B5EF4-FFF2-40B4-BE49-F238E27FC236}">
                <a16:creationId xmlns:a16="http://schemas.microsoft.com/office/drawing/2014/main" id="{3EA06FAF-5EFF-DD9C-7CA8-BD9172DA254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FD2C5C6-F119-48AC-BABE-295BCC70751C}" type="slidenum">
              <a:rPr lang="en-US" altLang="en-US" sz="1400" smtClean="0"/>
              <a:pPr>
                <a:spcBef>
                  <a:spcPct val="0"/>
                </a:spcBef>
                <a:buFontTx/>
                <a:buNone/>
              </a:pPr>
              <a:t>22</a:t>
            </a:fld>
            <a:endParaRPr lang="en-US" altLang="en-US" sz="1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A50AE-ED1D-BA77-5E17-B3D35FFB9909}"/>
              </a:ext>
            </a:extLst>
          </p:cNvPr>
          <p:cNvSpPr>
            <a:spLocks noGrp="1"/>
          </p:cNvSpPr>
          <p:nvPr>
            <p:ph type="title"/>
          </p:nvPr>
        </p:nvSpPr>
        <p:spPr/>
        <p:txBody>
          <a:bodyPr/>
          <a:lstStyle/>
          <a:p>
            <a:r>
              <a:rPr lang="en-US" dirty="0"/>
              <a:t>The Vesting Argument</a:t>
            </a:r>
          </a:p>
        </p:txBody>
      </p:sp>
      <p:sp>
        <p:nvSpPr>
          <p:cNvPr id="3" name="Content Placeholder 2">
            <a:extLst>
              <a:ext uri="{FF2B5EF4-FFF2-40B4-BE49-F238E27FC236}">
                <a16:creationId xmlns:a16="http://schemas.microsoft.com/office/drawing/2014/main" id="{2C48E83A-604F-48DA-87C0-908D97047FF9}"/>
              </a:ext>
            </a:extLst>
          </p:cNvPr>
          <p:cNvSpPr>
            <a:spLocks noGrp="1"/>
          </p:cNvSpPr>
          <p:nvPr>
            <p:ph idx="1"/>
          </p:nvPr>
        </p:nvSpPr>
        <p:spPr/>
        <p:txBody>
          <a:bodyPr/>
          <a:lstStyle/>
          <a:p>
            <a:pPr marL="0" indent="0">
              <a:buNone/>
            </a:pPr>
            <a:r>
              <a:rPr lang="en-US" sz="2800" dirty="0"/>
              <a:t>“The ordinary duties of officers prescribed by statute come under the general administrative control of the President by virtue of the general grant to him of the executive power, and he may properly supervise and guide their construction of the statutes under which they act in order to secure that unitary and uniform execution of the laws which article 2 of the Constitution evidently contemplated in vesting general executive power in the President alone.” [183]</a:t>
            </a:r>
          </a:p>
        </p:txBody>
      </p:sp>
      <p:sp>
        <p:nvSpPr>
          <p:cNvPr id="4" name="Footer Placeholder 3">
            <a:extLst>
              <a:ext uri="{FF2B5EF4-FFF2-40B4-BE49-F238E27FC236}">
                <a16:creationId xmlns:a16="http://schemas.microsoft.com/office/drawing/2014/main" id="{33A74770-15A8-C6A7-BC4A-5D720FA1EDDC}"/>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5BA0CAE3-8263-5A35-58DF-7467541EF2E3}"/>
              </a:ext>
            </a:extLst>
          </p:cNvPr>
          <p:cNvSpPr>
            <a:spLocks noGrp="1"/>
          </p:cNvSpPr>
          <p:nvPr>
            <p:ph type="sldNum" sz="quarter" idx="12"/>
          </p:nvPr>
        </p:nvSpPr>
        <p:spPr/>
        <p:txBody>
          <a:bodyPr/>
          <a:lstStyle/>
          <a:p>
            <a:pPr>
              <a:defRPr/>
            </a:pPr>
            <a:fld id="{E3574F4A-C3CF-4B85-9364-62150E7DAB4B}" type="slidenum">
              <a:rPr lang="en-US" altLang="en-US" smtClean="0"/>
              <a:pPr>
                <a:defRPr/>
              </a:pPr>
              <a:t>23</a:t>
            </a:fld>
            <a:endParaRPr lang="en-US" altLang="en-US"/>
          </a:p>
        </p:txBody>
      </p:sp>
    </p:spTree>
    <p:extLst>
      <p:ext uri="{BB962C8B-B14F-4D97-AF65-F5344CB8AC3E}">
        <p14:creationId xmlns:p14="http://schemas.microsoft.com/office/powerpoint/2010/main" val="19198756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CB44F-CED0-F3F0-7E98-3CDB19FA4A5B}"/>
              </a:ext>
            </a:extLst>
          </p:cNvPr>
          <p:cNvSpPr>
            <a:spLocks noGrp="1"/>
          </p:cNvSpPr>
          <p:nvPr>
            <p:ph type="title"/>
          </p:nvPr>
        </p:nvSpPr>
        <p:spPr/>
        <p:txBody>
          <a:bodyPr/>
          <a:lstStyle/>
          <a:p>
            <a:r>
              <a:rPr lang="en-US" dirty="0"/>
              <a:t>The Functional Argument</a:t>
            </a:r>
          </a:p>
        </p:txBody>
      </p:sp>
      <p:sp>
        <p:nvSpPr>
          <p:cNvPr id="3" name="Content Placeholder 2">
            <a:extLst>
              <a:ext uri="{FF2B5EF4-FFF2-40B4-BE49-F238E27FC236}">
                <a16:creationId xmlns:a16="http://schemas.microsoft.com/office/drawing/2014/main" id="{BE45E562-8472-62DE-68B0-8C6625CA3D79}"/>
              </a:ext>
            </a:extLst>
          </p:cNvPr>
          <p:cNvSpPr>
            <a:spLocks noGrp="1"/>
          </p:cNvSpPr>
          <p:nvPr>
            <p:ph idx="1"/>
          </p:nvPr>
        </p:nvSpPr>
        <p:spPr/>
        <p:txBody>
          <a:bodyPr/>
          <a:lstStyle/>
          <a:p>
            <a:r>
              <a:rPr lang="en-US" dirty="0"/>
              <a:t>“Made responsible under the Constitution for the effective enforcement of the law, the President needs as an indispensable aid to meet it the disciplinary influence upon those who act under him of a reserve power of removal.” (182)</a:t>
            </a:r>
          </a:p>
          <a:p>
            <a:pPr lvl="1"/>
            <a:r>
              <a:rPr lang="en-US" dirty="0"/>
              <a:t>Political functions</a:t>
            </a:r>
          </a:p>
          <a:p>
            <a:pPr lvl="1"/>
            <a:r>
              <a:rPr lang="en-US" dirty="0"/>
              <a:t>“Normal” statutory functions</a:t>
            </a:r>
          </a:p>
        </p:txBody>
      </p:sp>
      <p:sp>
        <p:nvSpPr>
          <p:cNvPr id="4" name="Footer Placeholder 3">
            <a:extLst>
              <a:ext uri="{FF2B5EF4-FFF2-40B4-BE49-F238E27FC236}">
                <a16:creationId xmlns:a16="http://schemas.microsoft.com/office/drawing/2014/main" id="{53CD33DF-4D8A-322C-07D1-9413EAC2FAB7}"/>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AF4FF370-90DB-4279-D774-19EA1C1AB74F}"/>
              </a:ext>
            </a:extLst>
          </p:cNvPr>
          <p:cNvSpPr>
            <a:spLocks noGrp="1"/>
          </p:cNvSpPr>
          <p:nvPr>
            <p:ph type="sldNum" sz="quarter" idx="12"/>
          </p:nvPr>
        </p:nvSpPr>
        <p:spPr/>
        <p:txBody>
          <a:bodyPr/>
          <a:lstStyle/>
          <a:p>
            <a:pPr>
              <a:defRPr/>
            </a:pPr>
            <a:fld id="{E3574F4A-C3CF-4B85-9364-62150E7DAB4B}" type="slidenum">
              <a:rPr lang="en-US" altLang="en-US" smtClean="0"/>
              <a:pPr>
                <a:defRPr/>
              </a:pPr>
              <a:t>24</a:t>
            </a:fld>
            <a:endParaRPr lang="en-US" altLang="en-US"/>
          </a:p>
        </p:txBody>
      </p:sp>
    </p:spTree>
    <p:extLst>
      <p:ext uri="{BB962C8B-B14F-4D97-AF65-F5344CB8AC3E}">
        <p14:creationId xmlns:p14="http://schemas.microsoft.com/office/powerpoint/2010/main" val="441796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259B0-9075-8546-98C5-43A316AA8A9B}"/>
              </a:ext>
            </a:extLst>
          </p:cNvPr>
          <p:cNvSpPr>
            <a:spLocks noGrp="1"/>
          </p:cNvSpPr>
          <p:nvPr>
            <p:ph type="title"/>
          </p:nvPr>
        </p:nvSpPr>
        <p:spPr/>
        <p:txBody>
          <a:bodyPr/>
          <a:lstStyle/>
          <a:p>
            <a:r>
              <a:rPr lang="en-US" dirty="0"/>
              <a:t>Quasi-Adjudicative Officers</a:t>
            </a:r>
          </a:p>
        </p:txBody>
      </p:sp>
      <p:sp>
        <p:nvSpPr>
          <p:cNvPr id="3" name="Content Placeholder 2">
            <a:extLst>
              <a:ext uri="{FF2B5EF4-FFF2-40B4-BE49-F238E27FC236}">
                <a16:creationId xmlns:a16="http://schemas.microsoft.com/office/drawing/2014/main" id="{DCE0A4B6-F603-2D44-431C-E43985D4203D}"/>
              </a:ext>
            </a:extLst>
          </p:cNvPr>
          <p:cNvSpPr>
            <a:spLocks noGrp="1"/>
          </p:cNvSpPr>
          <p:nvPr>
            <p:ph idx="1"/>
          </p:nvPr>
        </p:nvSpPr>
        <p:spPr/>
        <p:txBody>
          <a:bodyPr/>
          <a:lstStyle/>
          <a:p>
            <a:pPr marL="0" indent="0">
              <a:buNone/>
            </a:pPr>
            <a:r>
              <a:rPr lang="en-US" sz="2200" dirty="0"/>
              <a:t>“[T]there may be duties so peculiarly and specifically committed to the discretion of a particular officer as to raise a question whether the President may overrule or revise the officer's interpretation of his statutory duty in a particular instance. Then there may be duties of a quasi judicial character imposed on executive officers and members of executive tribunals whose decisions after hearing affect interests of individuals, the discharge of which the President cannot in a particular case properly influence or control. But even in such a case he may consider the decision after its rendition as a reason for removing the officer, on the ground that the discretion regularly entrusted to that officer by statute has not been on the whole intelligently or wisely exercised.” (183)</a:t>
            </a:r>
          </a:p>
        </p:txBody>
      </p:sp>
      <p:sp>
        <p:nvSpPr>
          <p:cNvPr id="4" name="Footer Placeholder 3">
            <a:extLst>
              <a:ext uri="{FF2B5EF4-FFF2-40B4-BE49-F238E27FC236}">
                <a16:creationId xmlns:a16="http://schemas.microsoft.com/office/drawing/2014/main" id="{A006D07F-EA5D-8ECF-4185-91C1432103F5}"/>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337BB8D6-977E-1D51-0C12-3305BA0766DD}"/>
              </a:ext>
            </a:extLst>
          </p:cNvPr>
          <p:cNvSpPr>
            <a:spLocks noGrp="1"/>
          </p:cNvSpPr>
          <p:nvPr>
            <p:ph type="sldNum" sz="quarter" idx="12"/>
          </p:nvPr>
        </p:nvSpPr>
        <p:spPr/>
        <p:txBody>
          <a:bodyPr/>
          <a:lstStyle/>
          <a:p>
            <a:pPr>
              <a:defRPr/>
            </a:pPr>
            <a:fld id="{E3574F4A-C3CF-4B85-9364-62150E7DAB4B}" type="slidenum">
              <a:rPr lang="en-US" altLang="en-US" smtClean="0"/>
              <a:pPr>
                <a:defRPr/>
              </a:pPr>
              <a:t>25</a:t>
            </a:fld>
            <a:endParaRPr lang="en-US" altLang="en-US"/>
          </a:p>
        </p:txBody>
      </p:sp>
    </p:spTree>
    <p:extLst>
      <p:ext uri="{BB962C8B-B14F-4D97-AF65-F5344CB8AC3E}">
        <p14:creationId xmlns:p14="http://schemas.microsoft.com/office/powerpoint/2010/main" val="4103292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7D292-8B3E-A571-266E-59E8B751ED9A}"/>
              </a:ext>
            </a:extLst>
          </p:cNvPr>
          <p:cNvSpPr>
            <a:spLocks noGrp="1"/>
          </p:cNvSpPr>
          <p:nvPr>
            <p:ph type="title"/>
          </p:nvPr>
        </p:nvSpPr>
        <p:spPr/>
        <p:txBody>
          <a:bodyPr/>
          <a:lstStyle/>
          <a:p>
            <a:r>
              <a:rPr lang="en-US" dirty="0"/>
              <a:t>Dicta on the Civil Service</a:t>
            </a:r>
          </a:p>
        </p:txBody>
      </p:sp>
      <p:sp>
        <p:nvSpPr>
          <p:cNvPr id="3" name="Content Placeholder 2">
            <a:extLst>
              <a:ext uri="{FF2B5EF4-FFF2-40B4-BE49-F238E27FC236}">
                <a16:creationId xmlns:a16="http://schemas.microsoft.com/office/drawing/2014/main" id="{7526B2EC-C34D-4CEF-D802-AF45B69DF7AF}"/>
              </a:ext>
            </a:extLst>
          </p:cNvPr>
          <p:cNvSpPr>
            <a:spLocks noGrp="1"/>
          </p:cNvSpPr>
          <p:nvPr>
            <p:ph idx="1"/>
          </p:nvPr>
        </p:nvSpPr>
        <p:spPr/>
        <p:txBody>
          <a:bodyPr/>
          <a:lstStyle/>
          <a:p>
            <a:pPr marL="0" indent="0">
              <a:buNone/>
            </a:pPr>
            <a:r>
              <a:rPr lang="en-US" sz="2800" dirty="0"/>
              <a:t>“The power to remove inferior executive officers, like that to remove superior executive officers, is an incident of the power to appoint them, and is in its nature an executive power. The authority of Congress given by the excepting clause to vest the appointment of such inferior officers in the heads of departments carries with it authority incidentally to invest the heads of departments with power to remove. It has been the practice of Congress to do so and this court has recognized that power.” [183]</a:t>
            </a:r>
          </a:p>
        </p:txBody>
      </p:sp>
      <p:sp>
        <p:nvSpPr>
          <p:cNvPr id="4" name="Footer Placeholder 3">
            <a:extLst>
              <a:ext uri="{FF2B5EF4-FFF2-40B4-BE49-F238E27FC236}">
                <a16:creationId xmlns:a16="http://schemas.microsoft.com/office/drawing/2014/main" id="{344BF4DD-AC95-EB51-A0A1-FC7E9BEB089D}"/>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4196872F-5722-CD3A-66C3-E38C09CBB311}"/>
              </a:ext>
            </a:extLst>
          </p:cNvPr>
          <p:cNvSpPr>
            <a:spLocks noGrp="1"/>
          </p:cNvSpPr>
          <p:nvPr>
            <p:ph type="sldNum" sz="quarter" idx="12"/>
          </p:nvPr>
        </p:nvSpPr>
        <p:spPr/>
        <p:txBody>
          <a:bodyPr/>
          <a:lstStyle/>
          <a:p>
            <a:pPr>
              <a:defRPr/>
            </a:pPr>
            <a:fld id="{E3574F4A-C3CF-4B85-9364-62150E7DAB4B}" type="slidenum">
              <a:rPr lang="en-US" altLang="en-US" smtClean="0"/>
              <a:pPr>
                <a:defRPr/>
              </a:pPr>
              <a:t>26</a:t>
            </a:fld>
            <a:endParaRPr lang="en-US" altLang="en-US"/>
          </a:p>
        </p:txBody>
      </p:sp>
    </p:spTree>
    <p:extLst>
      <p:ext uri="{BB962C8B-B14F-4D97-AF65-F5344CB8AC3E}">
        <p14:creationId xmlns:p14="http://schemas.microsoft.com/office/powerpoint/2010/main" val="2061380340"/>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3176</TotalTime>
  <Words>2385</Words>
  <Application>Microsoft Office PowerPoint</Application>
  <PresentationFormat>On-screen Show (4:3)</PresentationFormat>
  <Paragraphs>178</Paragraphs>
  <Slides>26</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Default Design</vt:lpstr>
      <vt:lpstr>Recap of Class 9</vt:lpstr>
      <vt:lpstr>Puzzles of Buckley</vt:lpstr>
      <vt:lpstr>U.S. Civil Rights Commission</vt:lpstr>
      <vt:lpstr>Officers or Employees?</vt:lpstr>
      <vt:lpstr>Principal or Inferior?</vt:lpstr>
      <vt:lpstr>“Inferior Officer” Cases</vt:lpstr>
      <vt:lpstr>U.S. v. Arthrex (2021)</vt:lpstr>
      <vt:lpstr>PTAB Functions</vt:lpstr>
      <vt:lpstr>Arthrex Holdings</vt:lpstr>
      <vt:lpstr>SCOTUS’s Normative Theory</vt:lpstr>
      <vt:lpstr>Legitimacy</vt:lpstr>
      <vt:lpstr>Dissents</vt:lpstr>
      <vt:lpstr>Where the Court Leaves Us</vt:lpstr>
      <vt:lpstr>Appointments Clause Flow Chart </vt:lpstr>
      <vt:lpstr>Interbranch Appointments</vt:lpstr>
      <vt:lpstr>Debating the Point https://constitutioncenter.org/the-constitution/articles/article-ii/clauses/346</vt:lpstr>
      <vt:lpstr>“Independent Agency”</vt:lpstr>
      <vt:lpstr>“Independent” v. “Executive” Agencies</vt:lpstr>
      <vt:lpstr>Removals:  Myers and  Humphrey’s Executor</vt:lpstr>
      <vt:lpstr>Historical Argument: Decision of 1789</vt:lpstr>
      <vt:lpstr>Four Positions in House</vt:lpstr>
      <vt:lpstr>Senate</vt:lpstr>
      <vt:lpstr>The Vesting Argument</vt:lpstr>
      <vt:lpstr>The Functional Argument</vt:lpstr>
      <vt:lpstr>Quasi-Adjudicative Officers</vt:lpstr>
      <vt:lpstr>Dicta on the Civil Service</vt:lpstr>
    </vt:vector>
  </TitlesOfParts>
  <Company>OSU Moritz College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Civil Rights Commission</dc:title>
  <dc:creator>Podiums Room 244</dc:creator>
  <cp:lastModifiedBy>Shane, Peter</cp:lastModifiedBy>
  <cp:revision>32</cp:revision>
  <dcterms:created xsi:type="dcterms:W3CDTF">2007-09-10T17:45:49Z</dcterms:created>
  <dcterms:modified xsi:type="dcterms:W3CDTF">2026-09-30T18:07:45Z</dcterms:modified>
</cp:coreProperties>
</file>