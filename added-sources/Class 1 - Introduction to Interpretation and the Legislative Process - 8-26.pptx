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58" r:id="rId3"/>
    <p:sldId id="259" r:id="rId4"/>
    <p:sldId id="287" r:id="rId5"/>
    <p:sldId id="265" r:id="rId6"/>
    <p:sldId id="261" r:id="rId7"/>
    <p:sldId id="325" r:id="rId8"/>
    <p:sldId id="260" r:id="rId9"/>
    <p:sldId id="326" r:id="rId10"/>
    <p:sldId id="266" r:id="rId11"/>
    <p:sldId id="267" r:id="rId12"/>
    <p:sldId id="329" r:id="rId13"/>
    <p:sldId id="262" r:id="rId14"/>
    <p:sldId id="263" r:id="rId15"/>
    <p:sldId id="314" r:id="rId16"/>
    <p:sldId id="315" r:id="rId17"/>
    <p:sldId id="264" r:id="rId18"/>
    <p:sldId id="273" r:id="rId19"/>
    <p:sldId id="317" r:id="rId2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8CEC1F-0E48-7C46-8B41-6301C0B1B660}" type="doc">
      <dgm:prSet loTypeId="urn:microsoft.com/office/officeart/2005/8/layout/pyramid1" loCatId="" qsTypeId="urn:microsoft.com/office/officeart/2005/8/quickstyle/simple4" qsCatId="simple" csTypeId="urn:microsoft.com/office/officeart/2005/8/colors/colorful1" csCatId="colorful" phldr="1"/>
      <dgm:spPr/>
    </dgm:pt>
    <dgm:pt modelId="{347D3BE9-4F6A-FE44-9221-16B121CEADCE}">
      <dgm:prSet phldrT="[Text]"/>
      <dgm:spPr/>
      <dgm:t>
        <a:bodyPr/>
        <a:lstStyle/>
        <a:p>
          <a:r>
            <a:rPr lang="en-US" dirty="0"/>
            <a:t>U.S. Constitution</a:t>
          </a:r>
        </a:p>
      </dgm:t>
    </dgm:pt>
    <dgm:pt modelId="{662F5C1A-0EBD-8346-AFFE-8F773CED3EF4}" type="parTrans" cxnId="{307383D7-9A33-9A41-99D0-D6029F59E212}">
      <dgm:prSet/>
      <dgm:spPr/>
      <dgm:t>
        <a:bodyPr/>
        <a:lstStyle/>
        <a:p>
          <a:endParaRPr lang="en-US"/>
        </a:p>
      </dgm:t>
    </dgm:pt>
    <dgm:pt modelId="{5844277E-7D29-004C-90DC-B9B38A00D2E5}" type="sibTrans" cxnId="{307383D7-9A33-9A41-99D0-D6029F59E212}">
      <dgm:prSet/>
      <dgm:spPr/>
      <dgm:t>
        <a:bodyPr/>
        <a:lstStyle/>
        <a:p>
          <a:endParaRPr lang="en-US"/>
        </a:p>
      </dgm:t>
    </dgm:pt>
    <dgm:pt modelId="{2444603A-936E-6A42-A853-648C44AACCC1}">
      <dgm:prSet phldrT="[Text]"/>
      <dgm:spPr/>
      <dgm:t>
        <a:bodyPr/>
        <a:lstStyle/>
        <a:p>
          <a:r>
            <a:rPr lang="en-US" dirty="0"/>
            <a:t>Statutes</a:t>
          </a:r>
        </a:p>
      </dgm:t>
    </dgm:pt>
    <dgm:pt modelId="{3899DBF0-B99F-5545-BB6F-CC70768B68C6}" type="parTrans" cxnId="{5652C3CC-6A69-734E-B0B7-C3A05976156C}">
      <dgm:prSet/>
      <dgm:spPr/>
      <dgm:t>
        <a:bodyPr/>
        <a:lstStyle/>
        <a:p>
          <a:endParaRPr lang="en-US"/>
        </a:p>
      </dgm:t>
    </dgm:pt>
    <dgm:pt modelId="{399A6BEC-9CA9-6143-8C74-AF66B53E861E}" type="sibTrans" cxnId="{5652C3CC-6A69-734E-B0B7-C3A05976156C}">
      <dgm:prSet/>
      <dgm:spPr/>
      <dgm:t>
        <a:bodyPr/>
        <a:lstStyle/>
        <a:p>
          <a:endParaRPr lang="en-US"/>
        </a:p>
      </dgm:t>
    </dgm:pt>
    <dgm:pt modelId="{75ED9197-930A-454D-914B-46ABE946067B}">
      <dgm:prSet phldrT="[Text]"/>
      <dgm:spPr/>
      <dgm:t>
        <a:bodyPr/>
        <a:lstStyle/>
        <a:p>
          <a:r>
            <a:rPr lang="en-US" dirty="0"/>
            <a:t>Regulations</a:t>
          </a:r>
        </a:p>
      </dgm:t>
    </dgm:pt>
    <dgm:pt modelId="{05FD2A6B-E383-4B4D-A33F-4B0E566F2A03}" type="parTrans" cxnId="{DD96BD6E-EB76-D246-A4E8-C77838CA929A}">
      <dgm:prSet/>
      <dgm:spPr/>
      <dgm:t>
        <a:bodyPr/>
        <a:lstStyle/>
        <a:p>
          <a:endParaRPr lang="en-US"/>
        </a:p>
      </dgm:t>
    </dgm:pt>
    <dgm:pt modelId="{A7DB5DCB-D402-C14B-B8D4-E5AF5ECBBB06}" type="sibTrans" cxnId="{DD96BD6E-EB76-D246-A4E8-C77838CA929A}">
      <dgm:prSet/>
      <dgm:spPr/>
      <dgm:t>
        <a:bodyPr/>
        <a:lstStyle/>
        <a:p>
          <a:endParaRPr lang="en-US"/>
        </a:p>
      </dgm:t>
    </dgm:pt>
    <dgm:pt modelId="{7FC54641-F31C-9C4D-A859-C85FB6CFB430}" type="pres">
      <dgm:prSet presAssocID="{9E8CEC1F-0E48-7C46-8B41-6301C0B1B660}" presName="Name0" presStyleCnt="0">
        <dgm:presLayoutVars>
          <dgm:dir/>
          <dgm:animLvl val="lvl"/>
          <dgm:resizeHandles val="exact"/>
        </dgm:presLayoutVars>
      </dgm:prSet>
      <dgm:spPr/>
    </dgm:pt>
    <dgm:pt modelId="{3A8BFE12-BD60-6546-9A5B-D34CDB496C22}" type="pres">
      <dgm:prSet presAssocID="{347D3BE9-4F6A-FE44-9221-16B121CEADCE}" presName="Name8" presStyleCnt="0"/>
      <dgm:spPr/>
    </dgm:pt>
    <dgm:pt modelId="{76276050-7E9B-8846-BB33-2609041EB99F}" type="pres">
      <dgm:prSet presAssocID="{347D3BE9-4F6A-FE44-9221-16B121CEADCE}" presName="level" presStyleLbl="node1" presStyleIdx="0" presStyleCnt="3">
        <dgm:presLayoutVars>
          <dgm:chMax val="1"/>
          <dgm:bulletEnabled val="1"/>
        </dgm:presLayoutVars>
      </dgm:prSet>
      <dgm:spPr/>
    </dgm:pt>
    <dgm:pt modelId="{6545F5F5-853E-7248-A8FE-573335CEA8AD}" type="pres">
      <dgm:prSet presAssocID="{347D3BE9-4F6A-FE44-9221-16B121CEADCE}" presName="levelTx" presStyleLbl="revTx" presStyleIdx="0" presStyleCnt="0">
        <dgm:presLayoutVars>
          <dgm:chMax val="1"/>
          <dgm:bulletEnabled val="1"/>
        </dgm:presLayoutVars>
      </dgm:prSet>
      <dgm:spPr/>
    </dgm:pt>
    <dgm:pt modelId="{EED1CFE4-45B0-2F46-9335-DB82E3CC30F1}" type="pres">
      <dgm:prSet presAssocID="{2444603A-936E-6A42-A853-648C44AACCC1}" presName="Name8" presStyleCnt="0"/>
      <dgm:spPr/>
    </dgm:pt>
    <dgm:pt modelId="{158A4B3F-38E3-684A-8CC6-1231A07686F9}" type="pres">
      <dgm:prSet presAssocID="{2444603A-936E-6A42-A853-648C44AACCC1}" presName="level" presStyleLbl="node1" presStyleIdx="1" presStyleCnt="3">
        <dgm:presLayoutVars>
          <dgm:chMax val="1"/>
          <dgm:bulletEnabled val="1"/>
        </dgm:presLayoutVars>
      </dgm:prSet>
      <dgm:spPr/>
    </dgm:pt>
    <dgm:pt modelId="{26884458-8B3C-3D40-95C8-783762759A7D}" type="pres">
      <dgm:prSet presAssocID="{2444603A-936E-6A42-A853-648C44AACCC1}" presName="levelTx" presStyleLbl="revTx" presStyleIdx="0" presStyleCnt="0">
        <dgm:presLayoutVars>
          <dgm:chMax val="1"/>
          <dgm:bulletEnabled val="1"/>
        </dgm:presLayoutVars>
      </dgm:prSet>
      <dgm:spPr/>
    </dgm:pt>
    <dgm:pt modelId="{638449F6-DF8A-8A41-9E49-104D2FF5B181}" type="pres">
      <dgm:prSet presAssocID="{75ED9197-930A-454D-914B-46ABE946067B}" presName="Name8" presStyleCnt="0"/>
      <dgm:spPr/>
    </dgm:pt>
    <dgm:pt modelId="{82678F27-E43F-2747-B216-75295DE59E97}" type="pres">
      <dgm:prSet presAssocID="{75ED9197-930A-454D-914B-46ABE946067B}" presName="level" presStyleLbl="node1" presStyleIdx="2" presStyleCnt="3">
        <dgm:presLayoutVars>
          <dgm:chMax val="1"/>
          <dgm:bulletEnabled val="1"/>
        </dgm:presLayoutVars>
      </dgm:prSet>
      <dgm:spPr/>
    </dgm:pt>
    <dgm:pt modelId="{D34F1920-D746-7848-8BB9-48E8ED386BFC}" type="pres">
      <dgm:prSet presAssocID="{75ED9197-930A-454D-914B-46ABE946067B}" presName="levelTx" presStyleLbl="revTx" presStyleIdx="0" presStyleCnt="0">
        <dgm:presLayoutVars>
          <dgm:chMax val="1"/>
          <dgm:bulletEnabled val="1"/>
        </dgm:presLayoutVars>
      </dgm:prSet>
      <dgm:spPr/>
    </dgm:pt>
  </dgm:ptLst>
  <dgm:cxnLst>
    <dgm:cxn modelId="{0A903D27-A978-5E47-858A-6ABEBD230416}" type="presOf" srcId="{347D3BE9-4F6A-FE44-9221-16B121CEADCE}" destId="{6545F5F5-853E-7248-A8FE-573335CEA8AD}" srcOrd="1" destOrd="0" presId="urn:microsoft.com/office/officeart/2005/8/layout/pyramid1"/>
    <dgm:cxn modelId="{1A1A5239-0BC0-184D-B22D-AE918ABE926E}" type="presOf" srcId="{9E8CEC1F-0E48-7C46-8B41-6301C0B1B660}" destId="{7FC54641-F31C-9C4D-A859-C85FB6CFB430}" srcOrd="0" destOrd="0" presId="urn:microsoft.com/office/officeart/2005/8/layout/pyramid1"/>
    <dgm:cxn modelId="{DD96BD6E-EB76-D246-A4E8-C77838CA929A}" srcId="{9E8CEC1F-0E48-7C46-8B41-6301C0B1B660}" destId="{75ED9197-930A-454D-914B-46ABE946067B}" srcOrd="2" destOrd="0" parTransId="{05FD2A6B-E383-4B4D-A33F-4B0E566F2A03}" sibTransId="{A7DB5DCB-D402-C14B-B8D4-E5AF5ECBBB06}"/>
    <dgm:cxn modelId="{155D46A0-5E0D-F848-B844-712DE1726CBC}" type="presOf" srcId="{75ED9197-930A-454D-914B-46ABE946067B}" destId="{D34F1920-D746-7848-8BB9-48E8ED386BFC}" srcOrd="1" destOrd="0" presId="urn:microsoft.com/office/officeart/2005/8/layout/pyramid1"/>
    <dgm:cxn modelId="{0D595FBA-A7CD-3944-8604-A464F05F4C23}" type="presOf" srcId="{2444603A-936E-6A42-A853-648C44AACCC1}" destId="{158A4B3F-38E3-684A-8CC6-1231A07686F9}" srcOrd="0" destOrd="0" presId="urn:microsoft.com/office/officeart/2005/8/layout/pyramid1"/>
    <dgm:cxn modelId="{5652C3CC-6A69-734E-B0B7-C3A05976156C}" srcId="{9E8CEC1F-0E48-7C46-8B41-6301C0B1B660}" destId="{2444603A-936E-6A42-A853-648C44AACCC1}" srcOrd="1" destOrd="0" parTransId="{3899DBF0-B99F-5545-BB6F-CC70768B68C6}" sibTransId="{399A6BEC-9CA9-6143-8C74-AF66B53E861E}"/>
    <dgm:cxn modelId="{307383D7-9A33-9A41-99D0-D6029F59E212}" srcId="{9E8CEC1F-0E48-7C46-8B41-6301C0B1B660}" destId="{347D3BE9-4F6A-FE44-9221-16B121CEADCE}" srcOrd="0" destOrd="0" parTransId="{662F5C1A-0EBD-8346-AFFE-8F773CED3EF4}" sibTransId="{5844277E-7D29-004C-90DC-B9B38A00D2E5}"/>
    <dgm:cxn modelId="{6BFC26E0-80D5-E746-B338-2AF804C4F7F1}" type="presOf" srcId="{75ED9197-930A-454D-914B-46ABE946067B}" destId="{82678F27-E43F-2747-B216-75295DE59E97}" srcOrd="0" destOrd="0" presId="urn:microsoft.com/office/officeart/2005/8/layout/pyramid1"/>
    <dgm:cxn modelId="{5C2E70EA-2E3A-2C4B-BB86-9EE31FA468E9}" type="presOf" srcId="{347D3BE9-4F6A-FE44-9221-16B121CEADCE}" destId="{76276050-7E9B-8846-BB33-2609041EB99F}" srcOrd="0" destOrd="0" presId="urn:microsoft.com/office/officeart/2005/8/layout/pyramid1"/>
    <dgm:cxn modelId="{9192F8F9-1223-1645-B350-0963731D87E2}" type="presOf" srcId="{2444603A-936E-6A42-A853-648C44AACCC1}" destId="{26884458-8B3C-3D40-95C8-783762759A7D}" srcOrd="1" destOrd="0" presId="urn:microsoft.com/office/officeart/2005/8/layout/pyramid1"/>
    <dgm:cxn modelId="{B6F6A8B1-56FD-4642-ACF3-586508DCDEBF}" type="presParOf" srcId="{7FC54641-F31C-9C4D-A859-C85FB6CFB430}" destId="{3A8BFE12-BD60-6546-9A5B-D34CDB496C22}" srcOrd="0" destOrd="0" presId="urn:microsoft.com/office/officeart/2005/8/layout/pyramid1"/>
    <dgm:cxn modelId="{4F18B4B5-ABAE-D448-A4F0-100263E134A4}" type="presParOf" srcId="{3A8BFE12-BD60-6546-9A5B-D34CDB496C22}" destId="{76276050-7E9B-8846-BB33-2609041EB99F}" srcOrd="0" destOrd="0" presId="urn:microsoft.com/office/officeart/2005/8/layout/pyramid1"/>
    <dgm:cxn modelId="{408AF421-8D0B-4D4F-AAB7-990F392E6F94}" type="presParOf" srcId="{3A8BFE12-BD60-6546-9A5B-D34CDB496C22}" destId="{6545F5F5-853E-7248-A8FE-573335CEA8AD}" srcOrd="1" destOrd="0" presId="urn:microsoft.com/office/officeart/2005/8/layout/pyramid1"/>
    <dgm:cxn modelId="{6707D97C-BE87-E341-8038-04AA358073AC}" type="presParOf" srcId="{7FC54641-F31C-9C4D-A859-C85FB6CFB430}" destId="{EED1CFE4-45B0-2F46-9335-DB82E3CC30F1}" srcOrd="1" destOrd="0" presId="urn:microsoft.com/office/officeart/2005/8/layout/pyramid1"/>
    <dgm:cxn modelId="{06813D8A-4558-DF41-8A97-983211F8C1FA}" type="presParOf" srcId="{EED1CFE4-45B0-2F46-9335-DB82E3CC30F1}" destId="{158A4B3F-38E3-684A-8CC6-1231A07686F9}" srcOrd="0" destOrd="0" presId="urn:microsoft.com/office/officeart/2005/8/layout/pyramid1"/>
    <dgm:cxn modelId="{B6BD297E-6C6A-6E49-B194-77C80F9A47FC}" type="presParOf" srcId="{EED1CFE4-45B0-2F46-9335-DB82E3CC30F1}" destId="{26884458-8B3C-3D40-95C8-783762759A7D}" srcOrd="1" destOrd="0" presId="urn:microsoft.com/office/officeart/2005/8/layout/pyramid1"/>
    <dgm:cxn modelId="{3CBB68DC-8224-F948-AD56-A23B7BDA0AB7}" type="presParOf" srcId="{7FC54641-F31C-9C4D-A859-C85FB6CFB430}" destId="{638449F6-DF8A-8A41-9E49-104D2FF5B181}" srcOrd="2" destOrd="0" presId="urn:microsoft.com/office/officeart/2005/8/layout/pyramid1"/>
    <dgm:cxn modelId="{2F3F7632-C8B4-5E41-8120-9D2973049204}" type="presParOf" srcId="{638449F6-DF8A-8A41-9E49-104D2FF5B181}" destId="{82678F27-E43F-2747-B216-75295DE59E97}" srcOrd="0" destOrd="0" presId="urn:microsoft.com/office/officeart/2005/8/layout/pyramid1"/>
    <dgm:cxn modelId="{574EAA07-9497-F14B-8165-9FF900B68AA5}" type="presParOf" srcId="{638449F6-DF8A-8A41-9E49-104D2FF5B181}" destId="{D34F1920-D746-7848-8BB9-48E8ED386BFC}"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276050-7E9B-8846-BB33-2609041EB99F}">
      <dsp:nvSpPr>
        <dsp:cNvPr id="0" name=""/>
        <dsp:cNvSpPr/>
      </dsp:nvSpPr>
      <dsp:spPr>
        <a:xfrm>
          <a:off x="2743200" y="0"/>
          <a:ext cx="2743199" cy="1508654"/>
        </a:xfrm>
        <a:prstGeom prst="trapezoid">
          <a:avLst>
            <a:gd name="adj" fmla="val 90915"/>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U.S. Constitution</a:t>
          </a:r>
        </a:p>
      </dsp:txBody>
      <dsp:txXfrm>
        <a:off x="2743200" y="0"/>
        <a:ext cx="2743199" cy="1508654"/>
      </dsp:txXfrm>
    </dsp:sp>
    <dsp:sp modelId="{158A4B3F-38E3-684A-8CC6-1231A07686F9}">
      <dsp:nvSpPr>
        <dsp:cNvPr id="0" name=""/>
        <dsp:cNvSpPr/>
      </dsp:nvSpPr>
      <dsp:spPr>
        <a:xfrm>
          <a:off x="1371600" y="1508654"/>
          <a:ext cx="5486399" cy="1508654"/>
        </a:xfrm>
        <a:prstGeom prst="trapezoid">
          <a:avLst>
            <a:gd name="adj" fmla="val 90915"/>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Statutes</a:t>
          </a:r>
        </a:p>
      </dsp:txBody>
      <dsp:txXfrm>
        <a:off x="2331720" y="1508654"/>
        <a:ext cx="3566160" cy="1508654"/>
      </dsp:txXfrm>
    </dsp:sp>
    <dsp:sp modelId="{82678F27-E43F-2747-B216-75295DE59E97}">
      <dsp:nvSpPr>
        <dsp:cNvPr id="0" name=""/>
        <dsp:cNvSpPr/>
      </dsp:nvSpPr>
      <dsp:spPr>
        <a:xfrm>
          <a:off x="0" y="3017308"/>
          <a:ext cx="8229600" cy="1508654"/>
        </a:xfrm>
        <a:prstGeom prst="trapezoid">
          <a:avLst>
            <a:gd name="adj" fmla="val 90915"/>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48260" rIns="4826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Regulations</a:t>
          </a:r>
        </a:p>
      </dsp:txBody>
      <dsp:txXfrm>
        <a:off x="1440179" y="3017308"/>
        <a:ext cx="5349240" cy="1508654"/>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94BF2028-B16D-46BC-BA14-E76820F5F319}" type="datetimeFigureOut">
              <a:rPr lang="en-US" smtClean="0"/>
              <a:t>8/26/2026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03B70BAD-462E-4D7F-9E0C-03DBDAAAD6B7}" type="slidenum">
              <a:rPr lang="en-US" smtClean="0"/>
              <a:t>‹#›</a:t>
            </a:fld>
            <a:endParaRPr lang="en-US"/>
          </a:p>
        </p:txBody>
      </p:sp>
    </p:spTree>
    <p:extLst>
      <p:ext uri="{BB962C8B-B14F-4D97-AF65-F5344CB8AC3E}">
        <p14:creationId xmlns:p14="http://schemas.microsoft.com/office/powerpoint/2010/main" val="3111404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67961-46FC-4A4C-AA02-4ABA5802F3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02888E-615E-693E-6EF3-B33D0B137E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5957C7-265B-EE10-92A0-9488861C1E21}"/>
              </a:ext>
            </a:extLst>
          </p:cNvPr>
          <p:cNvSpPr>
            <a:spLocks noGrp="1"/>
          </p:cNvSpPr>
          <p:nvPr>
            <p:ph type="dt" sz="half" idx="10"/>
          </p:nvPr>
        </p:nvSpPr>
        <p:spPr/>
        <p:txBody>
          <a:bodyPr/>
          <a:lstStyle/>
          <a:p>
            <a:fld id="{74B8D3EB-8923-4D04-9B3B-8FBDD83090D1}" type="datetime1">
              <a:rPr lang="en-US" smtClean="0"/>
              <a:t>8/26/2026</a:t>
            </a:fld>
            <a:endParaRPr lang="en-US"/>
          </a:p>
        </p:txBody>
      </p:sp>
      <p:sp>
        <p:nvSpPr>
          <p:cNvPr id="5" name="Footer Placeholder 4">
            <a:extLst>
              <a:ext uri="{FF2B5EF4-FFF2-40B4-BE49-F238E27FC236}">
                <a16:creationId xmlns:a16="http://schemas.microsoft.com/office/drawing/2014/main" id="{6E711366-5877-F8E0-B1DF-0DAF26758DDD}"/>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9C4E998D-B72C-EAB9-FB9F-7A9327CBE0E9}"/>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94341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2132D-AF0F-9E14-C7D5-C0484D769E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0DECB1-2023-9E45-2D41-4EACF7A4D3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3AAE50-E6F1-9AB0-07AA-56DFB71E336A}"/>
              </a:ext>
            </a:extLst>
          </p:cNvPr>
          <p:cNvSpPr>
            <a:spLocks noGrp="1"/>
          </p:cNvSpPr>
          <p:nvPr>
            <p:ph type="dt" sz="half" idx="10"/>
          </p:nvPr>
        </p:nvSpPr>
        <p:spPr/>
        <p:txBody>
          <a:bodyPr/>
          <a:lstStyle/>
          <a:p>
            <a:fld id="{5710F3A8-C05A-4169-A302-8C0905424D2D}" type="datetime1">
              <a:rPr lang="en-US" smtClean="0"/>
              <a:t>8/26/2026</a:t>
            </a:fld>
            <a:endParaRPr lang="en-US"/>
          </a:p>
        </p:txBody>
      </p:sp>
      <p:sp>
        <p:nvSpPr>
          <p:cNvPr id="5" name="Footer Placeholder 4">
            <a:extLst>
              <a:ext uri="{FF2B5EF4-FFF2-40B4-BE49-F238E27FC236}">
                <a16:creationId xmlns:a16="http://schemas.microsoft.com/office/drawing/2014/main" id="{F2AE866E-2517-FA0E-E11D-2D3261DE8ABC}"/>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FCD6E7B2-F2AC-8847-E79D-B3EE641AE166}"/>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1876299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ABA9B-958B-0ACB-53EE-02A5D3A1D1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368186-CDFB-C407-0D9F-F076BA9179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209EF1-E9DD-8671-A85E-AE795FB0C0A4}"/>
              </a:ext>
            </a:extLst>
          </p:cNvPr>
          <p:cNvSpPr>
            <a:spLocks noGrp="1"/>
          </p:cNvSpPr>
          <p:nvPr>
            <p:ph type="dt" sz="half" idx="10"/>
          </p:nvPr>
        </p:nvSpPr>
        <p:spPr/>
        <p:txBody>
          <a:bodyPr/>
          <a:lstStyle/>
          <a:p>
            <a:fld id="{4383120C-58DB-4DE9-8E9A-FF52C75C0A52}" type="datetime1">
              <a:rPr lang="en-US" smtClean="0"/>
              <a:t>8/26/2026</a:t>
            </a:fld>
            <a:endParaRPr lang="en-US"/>
          </a:p>
        </p:txBody>
      </p:sp>
      <p:sp>
        <p:nvSpPr>
          <p:cNvPr id="5" name="Footer Placeholder 4">
            <a:extLst>
              <a:ext uri="{FF2B5EF4-FFF2-40B4-BE49-F238E27FC236}">
                <a16:creationId xmlns:a16="http://schemas.microsoft.com/office/drawing/2014/main" id="{888A63C3-DE14-CE88-59EA-9DD021EEF28E}"/>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DD3D727C-CEA4-D225-F3D3-B80ECFD4BDC6}"/>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2048868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1E65-48F3-F3B4-4911-D81E67CC0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7D1B65-320F-D9D1-CF80-770639171B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52014E-4419-2D60-3578-5DD350F33B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175BCA-D68C-8F1A-9A38-5EB127BF6D28}"/>
              </a:ext>
            </a:extLst>
          </p:cNvPr>
          <p:cNvSpPr>
            <a:spLocks noGrp="1"/>
          </p:cNvSpPr>
          <p:nvPr>
            <p:ph type="dt" sz="half" idx="10"/>
          </p:nvPr>
        </p:nvSpPr>
        <p:spPr/>
        <p:txBody>
          <a:bodyPr/>
          <a:lstStyle/>
          <a:p>
            <a:fld id="{A08F92E5-CE82-498E-9EA5-0F489B4B110A}" type="datetime1">
              <a:rPr lang="en-US" smtClean="0"/>
              <a:t>8/26/2026</a:t>
            </a:fld>
            <a:endParaRPr lang="en-US"/>
          </a:p>
        </p:txBody>
      </p:sp>
      <p:sp>
        <p:nvSpPr>
          <p:cNvPr id="6" name="Footer Placeholder 5">
            <a:extLst>
              <a:ext uri="{FF2B5EF4-FFF2-40B4-BE49-F238E27FC236}">
                <a16:creationId xmlns:a16="http://schemas.microsoft.com/office/drawing/2014/main" id="{56DAD49D-887E-2ACE-8C9B-BD11F62D624F}"/>
              </a:ext>
            </a:extLst>
          </p:cNvPr>
          <p:cNvSpPr>
            <a:spLocks noGrp="1"/>
          </p:cNvSpPr>
          <p:nvPr>
            <p:ph type="ftr" sz="quarter" idx="11"/>
          </p:nvPr>
        </p:nvSpPr>
        <p:spPr/>
        <p:txBody>
          <a:bodyPr/>
          <a:lstStyle/>
          <a:p>
            <a:r>
              <a:rPr lang="en-US"/>
              <a:t>© Copyright 2026.  Peter M. Shane All rights reserved. </a:t>
            </a:r>
          </a:p>
        </p:txBody>
      </p:sp>
      <p:sp>
        <p:nvSpPr>
          <p:cNvPr id="7" name="Slide Number Placeholder 6">
            <a:extLst>
              <a:ext uri="{FF2B5EF4-FFF2-40B4-BE49-F238E27FC236}">
                <a16:creationId xmlns:a16="http://schemas.microsoft.com/office/drawing/2014/main" id="{BDD242D2-443A-B8CA-F788-DBC35601BA52}"/>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3778044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97215-363D-518F-B4A9-0D116494E9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B0EBB-5011-9E1F-E388-D9C06BBA7E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5543C1-70EF-24AD-0DD0-001C016765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B72A04-E900-4EF3-0C58-5066DB16F5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5E8405-8376-984A-4A11-0DA1D2AD73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31B768-257F-FB0A-8178-5716853C965E}"/>
              </a:ext>
            </a:extLst>
          </p:cNvPr>
          <p:cNvSpPr>
            <a:spLocks noGrp="1"/>
          </p:cNvSpPr>
          <p:nvPr>
            <p:ph type="dt" sz="half" idx="10"/>
          </p:nvPr>
        </p:nvSpPr>
        <p:spPr/>
        <p:txBody>
          <a:bodyPr/>
          <a:lstStyle/>
          <a:p>
            <a:fld id="{F856EE96-2CEB-4CEC-BF4A-4E697A0C26D5}" type="datetime1">
              <a:rPr lang="en-US" smtClean="0"/>
              <a:t>8/26/2026</a:t>
            </a:fld>
            <a:endParaRPr lang="en-US"/>
          </a:p>
        </p:txBody>
      </p:sp>
      <p:sp>
        <p:nvSpPr>
          <p:cNvPr id="8" name="Footer Placeholder 7">
            <a:extLst>
              <a:ext uri="{FF2B5EF4-FFF2-40B4-BE49-F238E27FC236}">
                <a16:creationId xmlns:a16="http://schemas.microsoft.com/office/drawing/2014/main" id="{7E32826B-B1DC-7D6D-F937-E93A4EDA9F3E}"/>
              </a:ext>
            </a:extLst>
          </p:cNvPr>
          <p:cNvSpPr>
            <a:spLocks noGrp="1"/>
          </p:cNvSpPr>
          <p:nvPr>
            <p:ph type="ftr" sz="quarter" idx="11"/>
          </p:nvPr>
        </p:nvSpPr>
        <p:spPr/>
        <p:txBody>
          <a:bodyPr/>
          <a:lstStyle/>
          <a:p>
            <a:r>
              <a:rPr lang="en-US"/>
              <a:t>© Copyright 2026.  Peter M. Shane All rights reserved. </a:t>
            </a:r>
          </a:p>
        </p:txBody>
      </p:sp>
      <p:sp>
        <p:nvSpPr>
          <p:cNvPr id="9" name="Slide Number Placeholder 8">
            <a:extLst>
              <a:ext uri="{FF2B5EF4-FFF2-40B4-BE49-F238E27FC236}">
                <a16:creationId xmlns:a16="http://schemas.microsoft.com/office/drawing/2014/main" id="{BF774738-CECE-B38B-BA4A-9F2E638823B2}"/>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2011227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8C543-E9A8-55C8-5864-54752A156C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F9531D-9ED8-0EE0-AD01-60DF30B8136A}"/>
              </a:ext>
            </a:extLst>
          </p:cNvPr>
          <p:cNvSpPr>
            <a:spLocks noGrp="1"/>
          </p:cNvSpPr>
          <p:nvPr>
            <p:ph type="dt" sz="half" idx="10"/>
          </p:nvPr>
        </p:nvSpPr>
        <p:spPr/>
        <p:txBody>
          <a:bodyPr/>
          <a:lstStyle/>
          <a:p>
            <a:fld id="{4D3BD30B-C2F2-4D8D-8318-F0B78C89451B}" type="datetime1">
              <a:rPr lang="en-US" smtClean="0"/>
              <a:t>8/26/2026</a:t>
            </a:fld>
            <a:endParaRPr lang="en-US"/>
          </a:p>
        </p:txBody>
      </p:sp>
      <p:sp>
        <p:nvSpPr>
          <p:cNvPr id="4" name="Footer Placeholder 3">
            <a:extLst>
              <a:ext uri="{FF2B5EF4-FFF2-40B4-BE49-F238E27FC236}">
                <a16:creationId xmlns:a16="http://schemas.microsoft.com/office/drawing/2014/main" id="{4D3BD743-6B67-D647-370C-2DDDB9AB93AB}"/>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9B4EA299-D9A1-4C1E-C2BA-CDDF08F83F6C}"/>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2607231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F8678B-7129-B81A-414E-F3FB35247B2F}"/>
              </a:ext>
            </a:extLst>
          </p:cNvPr>
          <p:cNvSpPr>
            <a:spLocks noGrp="1"/>
          </p:cNvSpPr>
          <p:nvPr>
            <p:ph type="dt" sz="half" idx="10"/>
          </p:nvPr>
        </p:nvSpPr>
        <p:spPr/>
        <p:txBody>
          <a:bodyPr/>
          <a:lstStyle/>
          <a:p>
            <a:fld id="{4D5297C7-38FA-40E8-9E92-F6F0DF9C6098}" type="datetime1">
              <a:rPr lang="en-US" smtClean="0"/>
              <a:t>8/26/2026</a:t>
            </a:fld>
            <a:endParaRPr lang="en-US"/>
          </a:p>
        </p:txBody>
      </p:sp>
      <p:sp>
        <p:nvSpPr>
          <p:cNvPr id="3" name="Footer Placeholder 2">
            <a:extLst>
              <a:ext uri="{FF2B5EF4-FFF2-40B4-BE49-F238E27FC236}">
                <a16:creationId xmlns:a16="http://schemas.microsoft.com/office/drawing/2014/main" id="{D48CD458-8FA9-388D-87F3-4D8021D489CA}"/>
              </a:ext>
            </a:extLst>
          </p:cNvPr>
          <p:cNvSpPr>
            <a:spLocks noGrp="1"/>
          </p:cNvSpPr>
          <p:nvPr>
            <p:ph type="ftr" sz="quarter" idx="11"/>
          </p:nvPr>
        </p:nvSpPr>
        <p:spPr/>
        <p:txBody>
          <a:bodyPr/>
          <a:lstStyle/>
          <a:p>
            <a:r>
              <a:rPr lang="en-US"/>
              <a:t>© Copyright 2026.  Peter M. Shane All rights reserved. </a:t>
            </a:r>
          </a:p>
        </p:txBody>
      </p:sp>
      <p:sp>
        <p:nvSpPr>
          <p:cNvPr id="4" name="Slide Number Placeholder 3">
            <a:extLst>
              <a:ext uri="{FF2B5EF4-FFF2-40B4-BE49-F238E27FC236}">
                <a16:creationId xmlns:a16="http://schemas.microsoft.com/office/drawing/2014/main" id="{ACD044C9-9471-BA55-2ECB-19C58C7475BF}"/>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3075219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CF6-8F1F-1219-099E-2317C538A0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91BB37-2B0C-C164-EAE8-08930EF808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F97266-5386-5282-EA18-BD757761A5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7E6C5C-A9E4-495B-CFD0-617CC2A86189}"/>
              </a:ext>
            </a:extLst>
          </p:cNvPr>
          <p:cNvSpPr>
            <a:spLocks noGrp="1"/>
          </p:cNvSpPr>
          <p:nvPr>
            <p:ph type="dt" sz="half" idx="10"/>
          </p:nvPr>
        </p:nvSpPr>
        <p:spPr/>
        <p:txBody>
          <a:bodyPr/>
          <a:lstStyle/>
          <a:p>
            <a:fld id="{40EEEFA7-6031-43C1-9D1D-2611A3CAE13E}" type="datetime1">
              <a:rPr lang="en-US" smtClean="0"/>
              <a:t>8/26/2026</a:t>
            </a:fld>
            <a:endParaRPr lang="en-US"/>
          </a:p>
        </p:txBody>
      </p:sp>
      <p:sp>
        <p:nvSpPr>
          <p:cNvPr id="6" name="Footer Placeholder 5">
            <a:extLst>
              <a:ext uri="{FF2B5EF4-FFF2-40B4-BE49-F238E27FC236}">
                <a16:creationId xmlns:a16="http://schemas.microsoft.com/office/drawing/2014/main" id="{21A19F2A-EDF6-A623-AF47-C456382B968E}"/>
              </a:ext>
            </a:extLst>
          </p:cNvPr>
          <p:cNvSpPr>
            <a:spLocks noGrp="1"/>
          </p:cNvSpPr>
          <p:nvPr>
            <p:ph type="ftr" sz="quarter" idx="11"/>
          </p:nvPr>
        </p:nvSpPr>
        <p:spPr/>
        <p:txBody>
          <a:bodyPr/>
          <a:lstStyle/>
          <a:p>
            <a:r>
              <a:rPr lang="en-US"/>
              <a:t>© Copyright 2026.  Peter M. Shane All rights reserved. </a:t>
            </a:r>
          </a:p>
        </p:txBody>
      </p:sp>
      <p:sp>
        <p:nvSpPr>
          <p:cNvPr id="7" name="Slide Number Placeholder 6">
            <a:extLst>
              <a:ext uri="{FF2B5EF4-FFF2-40B4-BE49-F238E27FC236}">
                <a16:creationId xmlns:a16="http://schemas.microsoft.com/office/drawing/2014/main" id="{F612DB88-D3FD-39EB-45E2-37E716F6C176}"/>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1451137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62F24-386B-867D-3792-8867B89820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7B5168-69C2-E50E-9DCE-B1E79C4A87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56FB72-8C65-B709-6E09-E88014F070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1F5D9-C5F3-3C9C-01F5-F73C78A19AE5}"/>
              </a:ext>
            </a:extLst>
          </p:cNvPr>
          <p:cNvSpPr>
            <a:spLocks noGrp="1"/>
          </p:cNvSpPr>
          <p:nvPr>
            <p:ph type="dt" sz="half" idx="10"/>
          </p:nvPr>
        </p:nvSpPr>
        <p:spPr/>
        <p:txBody>
          <a:bodyPr/>
          <a:lstStyle/>
          <a:p>
            <a:fld id="{39BF8840-DD33-4634-8D85-D606651A3258}" type="datetime1">
              <a:rPr lang="en-US" smtClean="0"/>
              <a:t>8/26/2026</a:t>
            </a:fld>
            <a:endParaRPr lang="en-US"/>
          </a:p>
        </p:txBody>
      </p:sp>
      <p:sp>
        <p:nvSpPr>
          <p:cNvPr id="6" name="Footer Placeholder 5">
            <a:extLst>
              <a:ext uri="{FF2B5EF4-FFF2-40B4-BE49-F238E27FC236}">
                <a16:creationId xmlns:a16="http://schemas.microsoft.com/office/drawing/2014/main" id="{42DFAC5E-75C9-B15D-96C2-D9C81422AA92}"/>
              </a:ext>
            </a:extLst>
          </p:cNvPr>
          <p:cNvSpPr>
            <a:spLocks noGrp="1"/>
          </p:cNvSpPr>
          <p:nvPr>
            <p:ph type="ftr" sz="quarter" idx="11"/>
          </p:nvPr>
        </p:nvSpPr>
        <p:spPr/>
        <p:txBody>
          <a:bodyPr/>
          <a:lstStyle/>
          <a:p>
            <a:r>
              <a:rPr lang="en-US"/>
              <a:t>© Copyright 2026.  Peter M. Shane All rights reserved. </a:t>
            </a:r>
          </a:p>
        </p:txBody>
      </p:sp>
      <p:sp>
        <p:nvSpPr>
          <p:cNvPr id="7" name="Slide Number Placeholder 6">
            <a:extLst>
              <a:ext uri="{FF2B5EF4-FFF2-40B4-BE49-F238E27FC236}">
                <a16:creationId xmlns:a16="http://schemas.microsoft.com/office/drawing/2014/main" id="{CA96D1AE-D9B1-0FFC-9464-AE049144E63E}"/>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419068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B29DF-0B10-4F4F-4A36-18CFFCBB07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423841-D3F1-F060-94BD-61012DFC83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2BE785-156B-597C-6CCA-4D096C29A9B0}"/>
              </a:ext>
            </a:extLst>
          </p:cNvPr>
          <p:cNvSpPr>
            <a:spLocks noGrp="1"/>
          </p:cNvSpPr>
          <p:nvPr>
            <p:ph type="dt" sz="half" idx="10"/>
          </p:nvPr>
        </p:nvSpPr>
        <p:spPr/>
        <p:txBody>
          <a:bodyPr/>
          <a:lstStyle/>
          <a:p>
            <a:fld id="{80EA518F-A9F4-40D6-B35A-B5B95DA17FDB}" type="datetime1">
              <a:rPr lang="en-US" smtClean="0"/>
              <a:t>8/26/2026</a:t>
            </a:fld>
            <a:endParaRPr lang="en-US"/>
          </a:p>
        </p:txBody>
      </p:sp>
      <p:sp>
        <p:nvSpPr>
          <p:cNvPr id="5" name="Footer Placeholder 4">
            <a:extLst>
              <a:ext uri="{FF2B5EF4-FFF2-40B4-BE49-F238E27FC236}">
                <a16:creationId xmlns:a16="http://schemas.microsoft.com/office/drawing/2014/main" id="{AB8745B1-0DB1-F994-A681-11E86E17BC4D}"/>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4F676DFE-E6A8-F43E-8668-C9C27E9147CB}"/>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848230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872056-30ED-57DF-AFA3-1DBDD395CA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47B3A5-182D-414B-4C59-0698703F26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EAEBC5-2105-C59C-808E-E57B1B41B4E9}"/>
              </a:ext>
            </a:extLst>
          </p:cNvPr>
          <p:cNvSpPr>
            <a:spLocks noGrp="1"/>
          </p:cNvSpPr>
          <p:nvPr>
            <p:ph type="dt" sz="half" idx="10"/>
          </p:nvPr>
        </p:nvSpPr>
        <p:spPr/>
        <p:txBody>
          <a:bodyPr/>
          <a:lstStyle/>
          <a:p>
            <a:fld id="{20107CE6-F3DC-44CA-B275-BF0E935CDFF0}" type="datetime1">
              <a:rPr lang="en-US" smtClean="0"/>
              <a:t>8/26/2026</a:t>
            </a:fld>
            <a:endParaRPr lang="en-US"/>
          </a:p>
        </p:txBody>
      </p:sp>
      <p:sp>
        <p:nvSpPr>
          <p:cNvPr id="5" name="Footer Placeholder 4">
            <a:extLst>
              <a:ext uri="{FF2B5EF4-FFF2-40B4-BE49-F238E27FC236}">
                <a16:creationId xmlns:a16="http://schemas.microsoft.com/office/drawing/2014/main" id="{8D61F504-F3CE-8108-C602-3DCC36C1A4BA}"/>
              </a:ext>
            </a:extLst>
          </p:cNvPr>
          <p:cNvSpPr>
            <a:spLocks noGrp="1"/>
          </p:cNvSpPr>
          <p:nvPr>
            <p:ph type="ftr" sz="quarter" idx="11"/>
          </p:nvPr>
        </p:nvSpPr>
        <p:spPr/>
        <p:txBody>
          <a:bodyPr/>
          <a:lstStyle/>
          <a:p>
            <a:r>
              <a:rPr lang="en-US"/>
              <a:t>© Copyright 2026.  Peter M. Shane All rights reserved. </a:t>
            </a:r>
          </a:p>
        </p:txBody>
      </p:sp>
      <p:sp>
        <p:nvSpPr>
          <p:cNvPr id="6" name="Slide Number Placeholder 5">
            <a:extLst>
              <a:ext uri="{FF2B5EF4-FFF2-40B4-BE49-F238E27FC236}">
                <a16:creationId xmlns:a16="http://schemas.microsoft.com/office/drawing/2014/main" id="{79D1AF9E-976F-9E32-1122-D0731D441AF0}"/>
              </a:ext>
            </a:extLst>
          </p:cNvPr>
          <p:cNvSpPr>
            <a:spLocks noGrp="1"/>
          </p:cNvSpPr>
          <p:nvPr>
            <p:ph type="sldNum" sz="quarter" idx="12"/>
          </p:nvPr>
        </p:nvSpPr>
        <p:spPr/>
        <p:txBody>
          <a:bodyPr/>
          <a:lstStyle/>
          <a:p>
            <a:fld id="{7DCB2EEC-2301-49D5-9453-D7B5EA731335}" type="slidenum">
              <a:rPr lang="en-US" smtClean="0"/>
              <a:t>‹#›</a:t>
            </a:fld>
            <a:endParaRPr lang="en-US"/>
          </a:p>
        </p:txBody>
      </p:sp>
    </p:spTree>
    <p:extLst>
      <p:ext uri="{BB962C8B-B14F-4D97-AF65-F5344CB8AC3E}">
        <p14:creationId xmlns:p14="http://schemas.microsoft.com/office/powerpoint/2010/main" val="4291392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653A53-659F-31CA-6494-1CC7972E29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5B9E25-43C0-DD8F-E891-378918D398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C02AC6-F736-0B3A-86C6-7FC59AF722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4FB51C-7EBC-4D93-8FCF-F4D578D782CA}" type="datetime1">
              <a:rPr lang="en-US" smtClean="0"/>
              <a:t>8/26/2026</a:t>
            </a:fld>
            <a:endParaRPr lang="en-US"/>
          </a:p>
        </p:txBody>
      </p:sp>
      <p:sp>
        <p:nvSpPr>
          <p:cNvPr id="5" name="Footer Placeholder 4">
            <a:extLst>
              <a:ext uri="{FF2B5EF4-FFF2-40B4-BE49-F238E27FC236}">
                <a16:creationId xmlns:a16="http://schemas.microsoft.com/office/drawing/2014/main" id="{515365B1-9240-53BE-CB10-125A904BDA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 Copyright 2026.  Peter M. Shane All rights reserved. </a:t>
            </a:r>
          </a:p>
        </p:txBody>
      </p:sp>
      <p:sp>
        <p:nvSpPr>
          <p:cNvPr id="6" name="Slide Number Placeholder 5">
            <a:extLst>
              <a:ext uri="{FF2B5EF4-FFF2-40B4-BE49-F238E27FC236}">
                <a16:creationId xmlns:a16="http://schemas.microsoft.com/office/drawing/2014/main" id="{BF314A37-D277-C460-2F15-1E94C8702D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CB2EEC-2301-49D5-9453-D7B5EA731335}" type="slidenum">
              <a:rPr lang="en-US" smtClean="0"/>
              <a:t>‹#›</a:t>
            </a:fld>
            <a:endParaRPr lang="en-US"/>
          </a:p>
        </p:txBody>
      </p:sp>
    </p:spTree>
    <p:extLst>
      <p:ext uri="{BB962C8B-B14F-4D97-AF65-F5344CB8AC3E}">
        <p14:creationId xmlns:p14="http://schemas.microsoft.com/office/powerpoint/2010/main" val="1093902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C374A-F5DB-A068-1B52-D1A0CE2167E9}"/>
              </a:ext>
            </a:extLst>
          </p:cNvPr>
          <p:cNvSpPr>
            <a:spLocks noGrp="1"/>
          </p:cNvSpPr>
          <p:nvPr>
            <p:ph type="title"/>
          </p:nvPr>
        </p:nvSpPr>
        <p:spPr/>
        <p:txBody>
          <a:bodyPr/>
          <a:lstStyle/>
          <a:p>
            <a:r>
              <a:rPr lang="en-US" dirty="0"/>
              <a:t>“Regulatory State”</a:t>
            </a:r>
          </a:p>
        </p:txBody>
      </p:sp>
      <p:sp>
        <p:nvSpPr>
          <p:cNvPr id="3" name="Content Placeholder 2">
            <a:extLst>
              <a:ext uri="{FF2B5EF4-FFF2-40B4-BE49-F238E27FC236}">
                <a16:creationId xmlns:a16="http://schemas.microsoft.com/office/drawing/2014/main" id="{AC8534F4-26AF-2201-132C-98CE6627B7DD}"/>
              </a:ext>
            </a:extLst>
          </p:cNvPr>
          <p:cNvSpPr>
            <a:spLocks noGrp="1"/>
          </p:cNvSpPr>
          <p:nvPr>
            <p:ph idx="1"/>
          </p:nvPr>
        </p:nvSpPr>
        <p:spPr/>
        <p:txBody>
          <a:bodyPr>
            <a:normAutofit lnSpcReduction="10000"/>
          </a:bodyPr>
          <a:lstStyle/>
          <a:p>
            <a:r>
              <a:rPr lang="en-US" dirty="0"/>
              <a:t>For our purposes, a form of governance under which administrative agencies—through rulemaking and other monitoring and enforcement activities—play an expansive role in addressing collective problems and implementing public policy vis-à-vis economic, social, and political activity</a:t>
            </a:r>
          </a:p>
          <a:p>
            <a:r>
              <a:rPr lang="en-US" dirty="0"/>
              <a:t>Gillian Metzger: “agencies wielding broad discretion through a combination of rulemaking, adjudication, enforcement, and managerial functions; the personnel who perform these activities, from the civil service and professional staff through to political appointees, agency heads, and White House overseers; and the institutional arrangements and issuances that help structure these activities.”</a:t>
            </a:r>
          </a:p>
        </p:txBody>
      </p:sp>
      <p:sp>
        <p:nvSpPr>
          <p:cNvPr id="4" name="Footer Placeholder 3">
            <a:extLst>
              <a:ext uri="{FF2B5EF4-FFF2-40B4-BE49-F238E27FC236}">
                <a16:creationId xmlns:a16="http://schemas.microsoft.com/office/drawing/2014/main" id="{8E4020E0-83D7-6FB6-400F-A5930A557692}"/>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FC5116B4-A864-7F4A-4342-BDE94E2C68E2}"/>
              </a:ext>
            </a:extLst>
          </p:cNvPr>
          <p:cNvSpPr>
            <a:spLocks noGrp="1"/>
          </p:cNvSpPr>
          <p:nvPr>
            <p:ph type="sldNum" sz="quarter" idx="12"/>
          </p:nvPr>
        </p:nvSpPr>
        <p:spPr/>
        <p:txBody>
          <a:bodyPr/>
          <a:lstStyle/>
          <a:p>
            <a:fld id="{7DCB2EEC-2301-49D5-9453-D7B5EA731335}" type="slidenum">
              <a:rPr lang="en-US" smtClean="0"/>
              <a:t>1</a:t>
            </a:fld>
            <a:endParaRPr lang="en-US"/>
          </a:p>
        </p:txBody>
      </p:sp>
    </p:spTree>
    <p:extLst>
      <p:ext uri="{BB962C8B-B14F-4D97-AF65-F5344CB8AC3E}">
        <p14:creationId xmlns:p14="http://schemas.microsoft.com/office/powerpoint/2010/main" val="1590968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73D25-D392-9F62-D4E9-9D6C8009A5BD}"/>
              </a:ext>
            </a:extLst>
          </p:cNvPr>
          <p:cNvSpPr>
            <a:spLocks noGrp="1"/>
          </p:cNvSpPr>
          <p:nvPr>
            <p:ph type="title"/>
          </p:nvPr>
        </p:nvSpPr>
        <p:spPr/>
        <p:txBody>
          <a:bodyPr/>
          <a:lstStyle/>
          <a:p>
            <a:r>
              <a:rPr lang="en-US" dirty="0"/>
              <a:t>Today’s Agenda</a:t>
            </a:r>
          </a:p>
        </p:txBody>
      </p:sp>
      <p:sp>
        <p:nvSpPr>
          <p:cNvPr id="3" name="Content Placeholder 2">
            <a:extLst>
              <a:ext uri="{FF2B5EF4-FFF2-40B4-BE49-F238E27FC236}">
                <a16:creationId xmlns:a16="http://schemas.microsoft.com/office/drawing/2014/main" id="{EFDFB641-449C-2103-7254-EBE387A96913}"/>
              </a:ext>
            </a:extLst>
          </p:cNvPr>
          <p:cNvSpPr>
            <a:spLocks noGrp="1"/>
          </p:cNvSpPr>
          <p:nvPr>
            <p:ph idx="1"/>
          </p:nvPr>
        </p:nvSpPr>
        <p:spPr/>
        <p:txBody>
          <a:bodyPr/>
          <a:lstStyle/>
          <a:p>
            <a:r>
              <a:rPr lang="en-US" dirty="0"/>
              <a:t>Syllabus and “housekeeping”</a:t>
            </a:r>
          </a:p>
          <a:p>
            <a:r>
              <a:rPr lang="en-US" dirty="0"/>
              <a:t>Introduce the Constitution’s allocation of government power—and complexity of interpretation</a:t>
            </a:r>
          </a:p>
          <a:p>
            <a:r>
              <a:rPr lang="en-US" dirty="0"/>
              <a:t>Introduction to the Legislative Process</a:t>
            </a:r>
          </a:p>
          <a:p>
            <a:r>
              <a:rPr lang="en-US" dirty="0"/>
              <a:t>Why the legislative process </a:t>
            </a:r>
            <a:r>
              <a:rPr lang="en-US"/>
              <a:t>doesn’t </a:t>
            </a:r>
            <a:r>
              <a:rPr lang="en-US" dirty="0"/>
              <a:t>e</a:t>
            </a:r>
            <a:r>
              <a:rPr lang="en-US"/>
              <a:t>nsure </a:t>
            </a:r>
            <a:r>
              <a:rPr lang="en-US" dirty="0"/>
              <a:t>action based on majority—even super-majority—public opinion</a:t>
            </a:r>
          </a:p>
        </p:txBody>
      </p:sp>
      <p:sp>
        <p:nvSpPr>
          <p:cNvPr id="4" name="Footer Placeholder 3">
            <a:extLst>
              <a:ext uri="{FF2B5EF4-FFF2-40B4-BE49-F238E27FC236}">
                <a16:creationId xmlns:a16="http://schemas.microsoft.com/office/drawing/2014/main" id="{E3B45CA1-693E-822A-C191-CD83D6C8CEC5}"/>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1F57F1AC-1DED-A9B6-386C-E8B37538AED5}"/>
              </a:ext>
            </a:extLst>
          </p:cNvPr>
          <p:cNvSpPr>
            <a:spLocks noGrp="1"/>
          </p:cNvSpPr>
          <p:nvPr>
            <p:ph type="sldNum" sz="quarter" idx="12"/>
          </p:nvPr>
        </p:nvSpPr>
        <p:spPr/>
        <p:txBody>
          <a:bodyPr/>
          <a:lstStyle/>
          <a:p>
            <a:fld id="{7DCB2EEC-2301-49D5-9453-D7B5EA731335}" type="slidenum">
              <a:rPr lang="en-US" smtClean="0"/>
              <a:t>2</a:t>
            </a:fld>
            <a:endParaRPr lang="en-US"/>
          </a:p>
        </p:txBody>
      </p:sp>
    </p:spTree>
    <p:extLst>
      <p:ext uri="{BB962C8B-B14F-4D97-AF65-F5344CB8AC3E}">
        <p14:creationId xmlns:p14="http://schemas.microsoft.com/office/powerpoint/2010/main" val="1859737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435DD-CB15-8BE6-81C1-9A08A99E6626}"/>
              </a:ext>
            </a:extLst>
          </p:cNvPr>
          <p:cNvSpPr>
            <a:spLocks noGrp="1"/>
          </p:cNvSpPr>
          <p:nvPr>
            <p:ph type="title"/>
          </p:nvPr>
        </p:nvSpPr>
        <p:spPr/>
        <p:txBody>
          <a:bodyPr/>
          <a:lstStyle/>
          <a:p>
            <a:r>
              <a:rPr lang="en-US" dirty="0"/>
              <a:t>Key Items in Syllabus</a:t>
            </a:r>
          </a:p>
        </p:txBody>
      </p:sp>
      <p:sp>
        <p:nvSpPr>
          <p:cNvPr id="3" name="Content Placeholder 2">
            <a:extLst>
              <a:ext uri="{FF2B5EF4-FFF2-40B4-BE49-F238E27FC236}">
                <a16:creationId xmlns:a16="http://schemas.microsoft.com/office/drawing/2014/main" id="{DFD11A13-CFE1-223A-AE3E-70C7B461D20E}"/>
              </a:ext>
            </a:extLst>
          </p:cNvPr>
          <p:cNvSpPr>
            <a:spLocks noGrp="1"/>
          </p:cNvSpPr>
          <p:nvPr>
            <p:ph idx="1"/>
          </p:nvPr>
        </p:nvSpPr>
        <p:spPr/>
        <p:txBody>
          <a:bodyPr>
            <a:normAutofit fontScale="92500" lnSpcReduction="10000"/>
          </a:bodyPr>
          <a:lstStyle/>
          <a:p>
            <a:r>
              <a:rPr lang="en-US" dirty="0"/>
              <a:t>Tools vs. Doctrine</a:t>
            </a:r>
          </a:p>
          <a:p>
            <a:r>
              <a:rPr lang="en-US" dirty="0"/>
              <a:t>Will lean more on the administrative law side of the course</a:t>
            </a:r>
          </a:p>
          <a:p>
            <a:r>
              <a:rPr lang="en-US" dirty="0"/>
              <a:t>Logistics</a:t>
            </a:r>
          </a:p>
          <a:p>
            <a:pPr lvl="1"/>
            <a:r>
              <a:rPr lang="en-US" dirty="0"/>
              <a:t>Three TAs—Alex Humphreys, Maddie Lichten, Grace </a:t>
            </a:r>
            <a:r>
              <a:rPr lang="en-US" dirty="0" err="1"/>
              <a:t>Protasiewicz</a:t>
            </a:r>
            <a:r>
              <a:rPr lang="en-US" dirty="0"/>
              <a:t>—each will meet weekly with a third of the class</a:t>
            </a:r>
          </a:p>
          <a:p>
            <a:pPr lvl="2"/>
            <a:r>
              <a:rPr lang="en-US" dirty="0"/>
              <a:t>Focus on the key slides/concepts from most recent classes, questions. and review sample problems </a:t>
            </a:r>
          </a:p>
          <a:p>
            <a:pPr lvl="2"/>
            <a:r>
              <a:rPr lang="en-US" dirty="0"/>
              <a:t>Ungraded problems intended to help with self-assessment;</a:t>
            </a:r>
          </a:p>
          <a:p>
            <a:pPr lvl="2"/>
            <a:r>
              <a:rPr lang="en-US" dirty="0"/>
              <a:t>TAs will provide written feedback to attempts to answer problems in writing</a:t>
            </a:r>
          </a:p>
          <a:p>
            <a:pPr lvl="1"/>
            <a:r>
              <a:rPr lang="en-US" dirty="0"/>
              <a:t>Everyone assigned to one of six “panels” for class preparation</a:t>
            </a:r>
          </a:p>
          <a:p>
            <a:r>
              <a:rPr lang="en-US" dirty="0"/>
              <a:t>NYU attendance rules: Can miss up to 5 classes without penalty; all classes recorded, but “streaming” ≠ attending</a:t>
            </a:r>
          </a:p>
        </p:txBody>
      </p:sp>
      <p:sp>
        <p:nvSpPr>
          <p:cNvPr id="4" name="Footer Placeholder 3">
            <a:extLst>
              <a:ext uri="{FF2B5EF4-FFF2-40B4-BE49-F238E27FC236}">
                <a16:creationId xmlns:a16="http://schemas.microsoft.com/office/drawing/2014/main" id="{2BFF8E77-63A7-1766-B0E5-5F64E521B86A}"/>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7EA62E90-6577-5781-F44E-8F18D58ADDDC}"/>
              </a:ext>
            </a:extLst>
          </p:cNvPr>
          <p:cNvSpPr>
            <a:spLocks noGrp="1"/>
          </p:cNvSpPr>
          <p:nvPr>
            <p:ph type="sldNum" sz="quarter" idx="12"/>
          </p:nvPr>
        </p:nvSpPr>
        <p:spPr/>
        <p:txBody>
          <a:bodyPr/>
          <a:lstStyle/>
          <a:p>
            <a:fld id="{7DCB2EEC-2301-49D5-9453-D7B5EA731335}" type="slidenum">
              <a:rPr lang="en-US" smtClean="0"/>
              <a:t>3</a:t>
            </a:fld>
            <a:endParaRPr lang="en-US"/>
          </a:p>
        </p:txBody>
      </p:sp>
    </p:spTree>
    <p:extLst>
      <p:ext uri="{BB962C8B-B14F-4D97-AF65-F5344CB8AC3E}">
        <p14:creationId xmlns:p14="http://schemas.microsoft.com/office/powerpoint/2010/main" val="2798568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Hierarchy of Federal Law</a:t>
            </a:r>
          </a:p>
        </p:txBody>
      </p:sp>
      <p:graphicFrame>
        <p:nvGraphicFramePr>
          <p:cNvPr id="5" name="Content Placeholder 4"/>
          <p:cNvGraphicFramePr>
            <a:graphicFrameLocks noGrp="1"/>
          </p:cNvGraphicFramePr>
          <p:nvPr>
            <p:ph idx="1"/>
          </p:nvPr>
        </p:nvGraphicFramePr>
        <p:xfrm>
          <a:off x="1981200" y="1600201"/>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fld id="{7ED1AE92-1F7A-794C-B2A7-2EEF60C9AF34}" type="slidenum">
              <a:rPr lang="en-US" smtClean="0"/>
              <a:t>4</a:t>
            </a:fld>
            <a:endParaRPr lang="en-US"/>
          </a:p>
        </p:txBody>
      </p:sp>
      <p:sp>
        <p:nvSpPr>
          <p:cNvPr id="3" name="Footer Placeholder 2">
            <a:extLst>
              <a:ext uri="{FF2B5EF4-FFF2-40B4-BE49-F238E27FC236}">
                <a16:creationId xmlns:a16="http://schemas.microsoft.com/office/drawing/2014/main" id="{B7E30D81-E51C-AF8D-C90D-456A5005E118}"/>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405477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Hierarchy of Federal Law</a:t>
            </a:r>
          </a:p>
        </p:txBody>
      </p:sp>
      <p:sp>
        <p:nvSpPr>
          <p:cNvPr id="3" name="Content Placeholder 2"/>
          <p:cNvSpPr>
            <a:spLocks noGrp="1"/>
          </p:cNvSpPr>
          <p:nvPr>
            <p:ph idx="1"/>
          </p:nvPr>
        </p:nvSpPr>
        <p:spPr/>
        <p:txBody>
          <a:bodyPr>
            <a:normAutofit/>
          </a:bodyPr>
          <a:lstStyle/>
          <a:p>
            <a:r>
              <a:rPr lang="en-US" dirty="0"/>
              <a:t>Agencies may issue </a:t>
            </a:r>
            <a:r>
              <a:rPr lang="en-US" dirty="0">
                <a:solidFill>
                  <a:srgbClr val="FF0000"/>
                </a:solidFill>
              </a:rPr>
              <a:t>regulations</a:t>
            </a:r>
            <a:r>
              <a:rPr lang="en-US" dirty="0"/>
              <a:t> if authorized by …</a:t>
            </a:r>
          </a:p>
          <a:p>
            <a:r>
              <a:rPr lang="en-US" dirty="0"/>
              <a:t>Congress, which enacts </a:t>
            </a:r>
            <a:r>
              <a:rPr lang="en-US" dirty="0">
                <a:solidFill>
                  <a:srgbClr val="FF0000"/>
                </a:solidFill>
              </a:rPr>
              <a:t>statutes</a:t>
            </a:r>
            <a:r>
              <a:rPr lang="en-US" dirty="0"/>
              <a:t>, through which Congress implements powers granted . . .</a:t>
            </a:r>
          </a:p>
          <a:p>
            <a:r>
              <a:rPr lang="en-US" dirty="0"/>
              <a:t>by the </a:t>
            </a:r>
            <a:r>
              <a:rPr lang="en-US" dirty="0">
                <a:solidFill>
                  <a:srgbClr val="FF0000"/>
                </a:solidFill>
              </a:rPr>
              <a:t>U.S. Constitution</a:t>
            </a:r>
            <a:r>
              <a:rPr lang="en-US" dirty="0"/>
              <a:t>.</a:t>
            </a:r>
          </a:p>
          <a:p>
            <a:r>
              <a:rPr lang="en-US" dirty="0"/>
              <a:t>Courts may strike down </a:t>
            </a:r>
          </a:p>
          <a:p>
            <a:pPr lvl="1"/>
            <a:r>
              <a:rPr lang="en-US" dirty="0"/>
              <a:t>Regulations not authorized by statutes</a:t>
            </a:r>
          </a:p>
          <a:p>
            <a:pPr lvl="1"/>
            <a:r>
              <a:rPr lang="en-US" dirty="0"/>
              <a:t>Statutes not authorized by the Constitution</a:t>
            </a:r>
          </a:p>
          <a:p>
            <a:r>
              <a:rPr lang="en-US" dirty="0"/>
              <a:t>Interpretation is important at every stage</a:t>
            </a:r>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4" name="Slide Number Placeholder 3">
            <a:extLst>
              <a:ext uri="{FF2B5EF4-FFF2-40B4-BE49-F238E27FC236}">
                <a16:creationId xmlns:a16="http://schemas.microsoft.com/office/drawing/2014/main" id="{93940F4F-436C-9B54-BDA0-30E0682054A8}"/>
              </a:ext>
            </a:extLst>
          </p:cNvPr>
          <p:cNvSpPr>
            <a:spLocks noGrp="1"/>
          </p:cNvSpPr>
          <p:nvPr>
            <p:ph type="sldNum" sz="quarter" idx="12"/>
          </p:nvPr>
        </p:nvSpPr>
        <p:spPr/>
        <p:txBody>
          <a:bodyPr/>
          <a:lstStyle/>
          <a:p>
            <a:fld id="{7DCB2EEC-2301-49D5-9453-D7B5EA731335}" type="slidenum">
              <a:rPr lang="en-US" smtClean="0"/>
              <a:t>5</a:t>
            </a:fld>
            <a:endParaRPr lang="en-US"/>
          </a:p>
        </p:txBody>
      </p:sp>
    </p:spTree>
    <p:extLst>
      <p:ext uri="{BB962C8B-B14F-4D97-AF65-F5344CB8AC3E}">
        <p14:creationId xmlns:p14="http://schemas.microsoft.com/office/powerpoint/2010/main" val="2392273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a Course in Legislation and Regulation?”</a:t>
            </a:r>
          </a:p>
        </p:txBody>
      </p:sp>
      <p:sp>
        <p:nvSpPr>
          <p:cNvPr id="3" name="Content Placeholder 2"/>
          <p:cNvSpPr>
            <a:spLocks noGrp="1"/>
          </p:cNvSpPr>
          <p:nvPr>
            <p:ph idx="1"/>
          </p:nvPr>
        </p:nvSpPr>
        <p:spPr/>
        <p:txBody>
          <a:bodyPr>
            <a:normAutofit/>
          </a:bodyPr>
          <a:lstStyle/>
          <a:p>
            <a:r>
              <a:rPr lang="en-US" dirty="0"/>
              <a:t>Understanding statutes requires some understanding of how legislatures work (Federal: Congress)</a:t>
            </a:r>
          </a:p>
          <a:p>
            <a:r>
              <a:rPr lang="en-US" dirty="0"/>
              <a:t>Understanding regulation requires some understanding of how agencies work (Federal: EPA, SEC, FTC, FCC, SSA, NLRB)</a:t>
            </a:r>
          </a:p>
          <a:p>
            <a:r>
              <a:rPr lang="en-US" dirty="0"/>
              <a:t>Understanding role of lawyers in the “regulatory state” requires understanding of the interplay among legislatures, agencies, and courts</a:t>
            </a:r>
          </a:p>
          <a:p>
            <a:pPr lvl="1"/>
            <a:r>
              <a:rPr lang="en-US" dirty="0"/>
              <a:t>Many lawyers “appear” before agencies and legislatures</a:t>
            </a:r>
          </a:p>
          <a:p>
            <a:pPr lvl="1"/>
            <a:r>
              <a:rPr lang="en-US" dirty="0"/>
              <a:t>Even lawyers appearing in court often arguing about meaning, impact of statutes, regulations, not common law</a:t>
            </a:r>
          </a:p>
          <a:p>
            <a:endParaRPr lang="en-US" dirty="0"/>
          </a:p>
          <a:p>
            <a:endParaRPr lang="en-US" dirty="0"/>
          </a:p>
        </p:txBody>
      </p:sp>
      <p:sp>
        <p:nvSpPr>
          <p:cNvPr id="4" name="Slide Number Placeholder 3"/>
          <p:cNvSpPr>
            <a:spLocks noGrp="1"/>
          </p:cNvSpPr>
          <p:nvPr>
            <p:ph type="sldNum" sz="quarter" idx="12"/>
          </p:nvPr>
        </p:nvSpPr>
        <p:spPr/>
        <p:txBody>
          <a:bodyPr/>
          <a:lstStyle/>
          <a:p>
            <a:fld id="{7ED1AE92-1F7A-794C-B2A7-2EEF60C9AF34}" type="slidenum">
              <a:rPr lang="en-US" smtClean="0"/>
              <a:t>6</a:t>
            </a:fld>
            <a:endParaRPr lang="en-US"/>
          </a:p>
        </p:txBody>
      </p:sp>
      <p:sp>
        <p:nvSpPr>
          <p:cNvPr id="5" name="Footer Placeholder 4">
            <a:extLst>
              <a:ext uri="{FF2B5EF4-FFF2-40B4-BE49-F238E27FC236}">
                <a16:creationId xmlns:a16="http://schemas.microsoft.com/office/drawing/2014/main" id="{479F3CB8-74C1-F75D-12E2-6C6D11633119}"/>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329036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the (Common) Law</a:t>
            </a:r>
          </a:p>
        </p:txBody>
      </p:sp>
      <p:sp>
        <p:nvSpPr>
          <p:cNvPr id="3" name="Content Placeholder 2"/>
          <p:cNvSpPr>
            <a:spLocks noGrp="1"/>
          </p:cNvSpPr>
          <p:nvPr>
            <p:ph idx="1"/>
          </p:nvPr>
        </p:nvSpPr>
        <p:spPr/>
        <p:txBody>
          <a:bodyPr>
            <a:normAutofit/>
          </a:bodyPr>
          <a:lstStyle/>
          <a:p>
            <a:r>
              <a:rPr lang="en-US" dirty="0"/>
              <a:t>Law found in judicial opinions</a:t>
            </a:r>
          </a:p>
          <a:p>
            <a:r>
              <a:rPr lang="en-US" dirty="0"/>
              <a:t>Power of opinion depends on:</a:t>
            </a:r>
          </a:p>
          <a:p>
            <a:pPr lvl="1"/>
            <a:r>
              <a:rPr lang="en-US" dirty="0"/>
              <a:t>Geographic reach of the court</a:t>
            </a:r>
          </a:p>
          <a:p>
            <a:pPr lvl="1"/>
            <a:r>
              <a:rPr lang="en-US" dirty="0"/>
              <a:t>Judicial hierarchy</a:t>
            </a:r>
          </a:p>
          <a:p>
            <a:r>
              <a:rPr lang="en-US" dirty="0"/>
              <a:t>Lawyers looking for law:</a:t>
            </a:r>
          </a:p>
          <a:p>
            <a:pPr lvl="1"/>
            <a:r>
              <a:rPr lang="en-US" dirty="0"/>
              <a:t>Gather relevant judicial opinions</a:t>
            </a:r>
          </a:p>
          <a:p>
            <a:pPr lvl="1"/>
            <a:r>
              <a:rPr lang="en-US" dirty="0"/>
              <a:t>Synthesize judicial doctrine</a:t>
            </a:r>
          </a:p>
          <a:p>
            <a:r>
              <a:rPr lang="en-US" dirty="0"/>
              <a:t>Understanding judicial output requires some understanding of how courts work</a:t>
            </a:r>
          </a:p>
        </p:txBody>
      </p:sp>
      <p:sp>
        <p:nvSpPr>
          <p:cNvPr id="4" name="Slide Number Placeholder 3"/>
          <p:cNvSpPr>
            <a:spLocks noGrp="1"/>
          </p:cNvSpPr>
          <p:nvPr>
            <p:ph type="sldNum" sz="quarter" idx="12"/>
          </p:nvPr>
        </p:nvSpPr>
        <p:spPr/>
        <p:txBody>
          <a:bodyPr/>
          <a:lstStyle/>
          <a:p>
            <a:fld id="{7ED1AE92-1F7A-794C-B2A7-2EEF60C9AF34}" type="slidenum">
              <a:rPr lang="en-US" smtClean="0"/>
              <a:t>7</a:t>
            </a:fld>
            <a:endParaRPr lang="en-US"/>
          </a:p>
        </p:txBody>
      </p:sp>
      <p:sp>
        <p:nvSpPr>
          <p:cNvPr id="5" name="Footer Placeholder 4">
            <a:extLst>
              <a:ext uri="{FF2B5EF4-FFF2-40B4-BE49-F238E27FC236}">
                <a16:creationId xmlns:a16="http://schemas.microsoft.com/office/drawing/2014/main" id="{EC3F47BF-910E-4FF6-04C3-C92A79C6D3E3}"/>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51920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Regulatory Law</a:t>
            </a:r>
          </a:p>
        </p:txBody>
      </p:sp>
      <p:sp>
        <p:nvSpPr>
          <p:cNvPr id="3" name="Content Placeholder 2"/>
          <p:cNvSpPr>
            <a:spLocks noGrp="1"/>
          </p:cNvSpPr>
          <p:nvPr>
            <p:ph idx="1"/>
          </p:nvPr>
        </p:nvSpPr>
        <p:spPr/>
        <p:txBody>
          <a:bodyPr>
            <a:normAutofit/>
          </a:bodyPr>
          <a:lstStyle/>
          <a:p>
            <a:r>
              <a:rPr lang="en-US" dirty="0"/>
              <a:t>Starts with output of legislatures: Statutes</a:t>
            </a:r>
          </a:p>
          <a:p>
            <a:pPr lvl="1"/>
            <a:r>
              <a:rPr lang="en-US" dirty="0"/>
              <a:t>Power of statutes depends on jurisdiction, federal hierarchy</a:t>
            </a:r>
          </a:p>
          <a:p>
            <a:pPr lvl="1"/>
            <a:r>
              <a:rPr lang="en-US" dirty="0"/>
              <a:t>Where statutes operate directly on the public, need statutes AND judicial interpretations</a:t>
            </a:r>
          </a:p>
          <a:p>
            <a:r>
              <a:rPr lang="en-US" dirty="0"/>
              <a:t>Many statutes delegate rulemaking authority to regulatory agencies</a:t>
            </a:r>
          </a:p>
          <a:p>
            <a:pPr lvl="1"/>
            <a:r>
              <a:rPr lang="en-US" dirty="0"/>
              <a:t>Lawyers need to consult those regulations, judicial interpretations of regulation, and sometimes the underlying statute and judicial readings of statutes</a:t>
            </a:r>
          </a:p>
          <a:p>
            <a:r>
              <a:rPr lang="en-US" dirty="0"/>
              <a:t>More law created by legislatures and agencies than by courts</a:t>
            </a:r>
          </a:p>
          <a:p>
            <a:pPr lvl="1"/>
            <a:endParaRPr lang="en-US" dirty="0"/>
          </a:p>
        </p:txBody>
      </p:sp>
      <p:sp>
        <p:nvSpPr>
          <p:cNvPr id="4" name="Slide Number Placeholder 3"/>
          <p:cNvSpPr>
            <a:spLocks noGrp="1"/>
          </p:cNvSpPr>
          <p:nvPr>
            <p:ph type="sldNum" sz="quarter" idx="12"/>
          </p:nvPr>
        </p:nvSpPr>
        <p:spPr/>
        <p:txBody>
          <a:bodyPr/>
          <a:lstStyle/>
          <a:p>
            <a:fld id="{7ED1AE92-1F7A-794C-B2A7-2EEF60C9AF34}" type="slidenum">
              <a:rPr lang="en-US" smtClean="0"/>
              <a:t>8</a:t>
            </a:fld>
            <a:endParaRPr lang="en-US"/>
          </a:p>
        </p:txBody>
      </p:sp>
      <p:sp>
        <p:nvSpPr>
          <p:cNvPr id="5" name="Footer Placeholder 4">
            <a:extLst>
              <a:ext uri="{FF2B5EF4-FFF2-40B4-BE49-F238E27FC236}">
                <a16:creationId xmlns:a16="http://schemas.microsoft.com/office/drawing/2014/main" id="{785EAE45-C383-C4FF-D095-16F333584F0C}"/>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837896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Puzzles of Text</a:t>
            </a:r>
          </a:p>
        </p:txBody>
      </p:sp>
      <p:sp>
        <p:nvSpPr>
          <p:cNvPr id="3" name="Content Placeholder 2"/>
          <p:cNvSpPr>
            <a:spLocks noGrp="1"/>
          </p:cNvSpPr>
          <p:nvPr>
            <p:ph idx="1"/>
          </p:nvPr>
        </p:nvSpPr>
        <p:spPr/>
        <p:txBody>
          <a:bodyPr>
            <a:normAutofit/>
          </a:bodyPr>
          <a:lstStyle/>
          <a:p>
            <a:r>
              <a:rPr lang="en-US" dirty="0"/>
              <a:t>Ambiguity of statutes → need for interpretation</a:t>
            </a:r>
          </a:p>
          <a:p>
            <a:r>
              <a:rPr lang="en-US" dirty="0"/>
              <a:t>Some ambiguity adheres in text itself</a:t>
            </a:r>
          </a:p>
          <a:p>
            <a:pPr lvl="1"/>
            <a:r>
              <a:rPr lang="en-US" dirty="0"/>
              <a:t>“Intrinsic meaning” abandoned for “communities of interpretation”</a:t>
            </a:r>
          </a:p>
          <a:p>
            <a:pPr lvl="1"/>
            <a:r>
              <a:rPr lang="en-US" dirty="0"/>
              <a:t>“Ordinary” meaning versus scientific meaning, legal meaning, dictionary meaning</a:t>
            </a:r>
          </a:p>
          <a:p>
            <a:r>
              <a:rPr lang="en-US" dirty="0"/>
              <a:t>Some puzzles arise because of the processes that yield the text being interpreted</a:t>
            </a:r>
          </a:p>
        </p:txBody>
      </p:sp>
      <p:sp>
        <p:nvSpPr>
          <p:cNvPr id="4" name="Slide Number Placeholder 3"/>
          <p:cNvSpPr>
            <a:spLocks noGrp="1"/>
          </p:cNvSpPr>
          <p:nvPr>
            <p:ph type="sldNum" sz="quarter" idx="12"/>
          </p:nvPr>
        </p:nvSpPr>
        <p:spPr/>
        <p:txBody>
          <a:bodyPr/>
          <a:lstStyle/>
          <a:p>
            <a:fld id="{7ED1AE92-1F7A-794C-B2A7-2EEF60C9AF34}" type="slidenum">
              <a:rPr lang="en-US" smtClean="0"/>
              <a:t>9</a:t>
            </a:fld>
            <a:endParaRPr lang="en-US"/>
          </a:p>
        </p:txBody>
      </p:sp>
      <p:sp>
        <p:nvSpPr>
          <p:cNvPr id="5" name="Footer Placeholder 4">
            <a:extLst>
              <a:ext uri="{FF2B5EF4-FFF2-40B4-BE49-F238E27FC236}">
                <a16:creationId xmlns:a16="http://schemas.microsoft.com/office/drawing/2014/main" id="{FDAA3643-92CF-4270-4404-3D54399B841D}"/>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059899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FC78F-26ED-8773-0B45-C69A921029C4}"/>
              </a:ext>
            </a:extLst>
          </p:cNvPr>
          <p:cNvSpPr>
            <a:spLocks noGrp="1"/>
          </p:cNvSpPr>
          <p:nvPr>
            <p:ph type="title"/>
          </p:nvPr>
        </p:nvSpPr>
        <p:spPr/>
        <p:txBody>
          <a:bodyPr/>
          <a:lstStyle/>
          <a:p>
            <a:r>
              <a:rPr lang="en-US" dirty="0"/>
              <a:t>Introducing Articles I-III</a:t>
            </a:r>
          </a:p>
        </p:txBody>
      </p:sp>
      <p:sp>
        <p:nvSpPr>
          <p:cNvPr id="3" name="Content Placeholder 2">
            <a:extLst>
              <a:ext uri="{FF2B5EF4-FFF2-40B4-BE49-F238E27FC236}">
                <a16:creationId xmlns:a16="http://schemas.microsoft.com/office/drawing/2014/main" id="{ED3F7077-6367-3446-2BD4-DF27B9F3B727}"/>
              </a:ext>
            </a:extLst>
          </p:cNvPr>
          <p:cNvSpPr>
            <a:spLocks noGrp="1"/>
          </p:cNvSpPr>
          <p:nvPr>
            <p:ph idx="1"/>
          </p:nvPr>
        </p:nvSpPr>
        <p:spPr/>
        <p:txBody>
          <a:bodyPr>
            <a:normAutofit fontScale="92500" lnSpcReduction="10000"/>
          </a:bodyPr>
          <a:lstStyle/>
          <a:p>
            <a:pPr marL="0" indent="0">
              <a:buNone/>
            </a:pPr>
            <a:r>
              <a:rPr lang="en-US" dirty="0"/>
              <a:t>1.	From where does Congress get its power to investigate possible waste, fraud or abuse in the executive branch?</a:t>
            </a:r>
          </a:p>
          <a:p>
            <a:pPr marL="0" indent="0">
              <a:buNone/>
            </a:pPr>
            <a:r>
              <a:rPr lang="en-US" dirty="0"/>
              <a:t>2.	May the President create a new cabinet-level Department of Technological Innovation?</a:t>
            </a:r>
          </a:p>
          <a:p>
            <a:pPr marL="0" indent="0">
              <a:buNone/>
            </a:pPr>
            <a:r>
              <a:rPr lang="en-US" dirty="0"/>
              <a:t>3.	Does Congress have authority to provide and maintain an Air Force as a separate branch of the Armed Services? If so, may Congress designate the Secretary of Defense as Commander-in-Chief of the Air Force?</a:t>
            </a:r>
          </a:p>
          <a:p>
            <a:pPr marL="0" indent="0">
              <a:buNone/>
            </a:pPr>
            <a:r>
              <a:rPr lang="en-US" dirty="0"/>
              <a:t>4.	May the House impeach and the Senate convict a President for offenses less serious than high crimes and misdemeanors, so long as the punishment goes no further than censure?</a:t>
            </a:r>
          </a:p>
          <a:p>
            <a:endParaRPr lang="en-US" dirty="0"/>
          </a:p>
        </p:txBody>
      </p:sp>
      <p:sp>
        <p:nvSpPr>
          <p:cNvPr id="4" name="Footer Placeholder 3">
            <a:extLst>
              <a:ext uri="{FF2B5EF4-FFF2-40B4-BE49-F238E27FC236}">
                <a16:creationId xmlns:a16="http://schemas.microsoft.com/office/drawing/2014/main" id="{954B9C73-DA2B-D234-E54F-88103589BF4A}"/>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502957AD-B7CE-2B4A-B27C-8FD0709BC662}"/>
              </a:ext>
            </a:extLst>
          </p:cNvPr>
          <p:cNvSpPr>
            <a:spLocks noGrp="1"/>
          </p:cNvSpPr>
          <p:nvPr>
            <p:ph type="sldNum" sz="quarter" idx="12"/>
          </p:nvPr>
        </p:nvSpPr>
        <p:spPr/>
        <p:txBody>
          <a:bodyPr/>
          <a:lstStyle/>
          <a:p>
            <a:fld id="{7DCB2EEC-2301-49D5-9453-D7B5EA731335}" type="slidenum">
              <a:rPr lang="en-US" smtClean="0"/>
              <a:t>10</a:t>
            </a:fld>
            <a:endParaRPr lang="en-US"/>
          </a:p>
        </p:txBody>
      </p:sp>
    </p:spTree>
    <p:extLst>
      <p:ext uri="{BB962C8B-B14F-4D97-AF65-F5344CB8AC3E}">
        <p14:creationId xmlns:p14="http://schemas.microsoft.com/office/powerpoint/2010/main" val="1742999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55AC1-D35F-CEE8-9DD7-D92A69FD3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85B07-6F45-84D4-9F54-BF0075F8D2FB}"/>
              </a:ext>
            </a:extLst>
          </p:cNvPr>
          <p:cNvSpPr>
            <a:spLocks noGrp="1"/>
          </p:cNvSpPr>
          <p:nvPr>
            <p:ph type="title"/>
          </p:nvPr>
        </p:nvSpPr>
        <p:spPr/>
        <p:txBody>
          <a:bodyPr/>
          <a:lstStyle/>
          <a:p>
            <a:r>
              <a:rPr lang="en-US" dirty="0"/>
              <a:t>Introducing Articles I-III (2)</a:t>
            </a:r>
          </a:p>
        </p:txBody>
      </p:sp>
      <p:sp>
        <p:nvSpPr>
          <p:cNvPr id="3" name="Content Placeholder 2">
            <a:extLst>
              <a:ext uri="{FF2B5EF4-FFF2-40B4-BE49-F238E27FC236}">
                <a16:creationId xmlns:a16="http://schemas.microsoft.com/office/drawing/2014/main" id="{9C2FB3F5-1126-29D9-3BF3-2DD9706B6761}"/>
              </a:ext>
            </a:extLst>
          </p:cNvPr>
          <p:cNvSpPr>
            <a:spLocks noGrp="1"/>
          </p:cNvSpPr>
          <p:nvPr>
            <p:ph idx="1"/>
          </p:nvPr>
        </p:nvSpPr>
        <p:spPr/>
        <p:txBody>
          <a:bodyPr>
            <a:normAutofit fontScale="85000" lnSpcReduction="20000"/>
          </a:bodyPr>
          <a:lstStyle/>
          <a:p>
            <a:pPr lvl="0"/>
            <a:r>
              <a:rPr lang="en-US" dirty="0"/>
              <a:t>The Judiciary Act of 1789 provided:</a:t>
            </a:r>
          </a:p>
          <a:p>
            <a:pPr lvl="1"/>
            <a:r>
              <a:rPr lang="en-US" dirty="0"/>
              <a:t>[T]here shall . . . be appointed a meet person, learned in the law, to act as attorney-general for the United States, who shall be sworn or affirmed to a faithful execution of his office; whose duty it shall be to prosecute and conduct all suits in the Supreme Court in which the United States shall be concerned, and to give his advice and opinion upon questions of law when required by the President of the United States, or when requested by the heads of any of the departments, touching any matters that may concern their departments, and shall receive such compensation for his services as shall by law be provided.</a:t>
            </a:r>
          </a:p>
          <a:p>
            <a:r>
              <a:rPr lang="en-US" dirty="0"/>
              <a:t>What is a “meet person?”</a:t>
            </a:r>
          </a:p>
          <a:p>
            <a:r>
              <a:rPr lang="en-US" dirty="0"/>
              <a:t>Congress did not create a Department of Justice until 1870. Under the Judiciary Act and Article II of the Constitution, would George Washington have been entitled to require the Attorney General to provide him a written report concerning the staff he would need to successfully “conduct all suits in the Supreme Court in which the United States shall be concerned?”</a:t>
            </a:r>
          </a:p>
          <a:p>
            <a:endParaRPr lang="en-US" dirty="0"/>
          </a:p>
        </p:txBody>
      </p:sp>
      <p:sp>
        <p:nvSpPr>
          <p:cNvPr id="4" name="Footer Placeholder 3">
            <a:extLst>
              <a:ext uri="{FF2B5EF4-FFF2-40B4-BE49-F238E27FC236}">
                <a16:creationId xmlns:a16="http://schemas.microsoft.com/office/drawing/2014/main" id="{8AE48E33-AD15-C3BA-06AA-6581AC6691B0}"/>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CAB81FB5-CBC1-90D3-208C-C1C2E372E256}"/>
              </a:ext>
            </a:extLst>
          </p:cNvPr>
          <p:cNvSpPr>
            <a:spLocks noGrp="1"/>
          </p:cNvSpPr>
          <p:nvPr>
            <p:ph type="sldNum" sz="quarter" idx="12"/>
          </p:nvPr>
        </p:nvSpPr>
        <p:spPr/>
        <p:txBody>
          <a:bodyPr/>
          <a:lstStyle/>
          <a:p>
            <a:fld id="{7DCB2EEC-2301-49D5-9453-D7B5EA731335}" type="slidenum">
              <a:rPr lang="en-US" smtClean="0"/>
              <a:t>11</a:t>
            </a:fld>
            <a:endParaRPr lang="en-US"/>
          </a:p>
        </p:txBody>
      </p:sp>
    </p:spTree>
    <p:extLst>
      <p:ext uri="{BB962C8B-B14F-4D97-AF65-F5344CB8AC3E}">
        <p14:creationId xmlns:p14="http://schemas.microsoft.com/office/powerpoint/2010/main" val="4051646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 of Constitutional Meaning</a:t>
            </a:r>
          </a:p>
        </p:txBody>
      </p:sp>
      <p:sp>
        <p:nvSpPr>
          <p:cNvPr id="3" name="Content Placeholder 2"/>
          <p:cNvSpPr>
            <a:spLocks noGrp="1"/>
          </p:cNvSpPr>
          <p:nvPr>
            <p:ph idx="1"/>
          </p:nvPr>
        </p:nvSpPr>
        <p:spPr/>
        <p:txBody>
          <a:bodyPr>
            <a:normAutofit fontScale="92500" lnSpcReduction="20000"/>
          </a:bodyPr>
          <a:lstStyle/>
          <a:p>
            <a:r>
              <a:rPr lang="en-US" dirty="0"/>
              <a:t>Theories of government inferred from:</a:t>
            </a:r>
          </a:p>
          <a:p>
            <a:pPr lvl="1"/>
            <a:r>
              <a:rPr lang="en-US" dirty="0"/>
              <a:t>Structural features of Constitution</a:t>
            </a:r>
          </a:p>
          <a:p>
            <a:pPr lvl="1"/>
            <a:r>
              <a:rPr lang="en-US" dirty="0"/>
              <a:t>Inferences about Framers’ historical understanding</a:t>
            </a:r>
          </a:p>
          <a:p>
            <a:pPr lvl="1"/>
            <a:r>
              <a:rPr lang="en-US" dirty="0"/>
              <a:t>Purposes underlying constitutional provisions</a:t>
            </a:r>
          </a:p>
          <a:p>
            <a:pPr lvl="1"/>
            <a:r>
              <a:rPr lang="en-US" dirty="0"/>
              <a:t>Institutional arrangements that have stood the test of time</a:t>
            </a:r>
          </a:p>
          <a:p>
            <a:r>
              <a:rPr lang="en-US" dirty="0"/>
              <a:t>And, oh yeah, the text:  </a:t>
            </a:r>
          </a:p>
          <a:p>
            <a:pPr lvl="1"/>
            <a:r>
              <a:rPr lang="en-US" dirty="0"/>
              <a:t>The President “may require the Opinion, in writing, of the principal officer in each of the executive Departments, upon any subject relating to the Duties of their respective Offices.”</a:t>
            </a:r>
          </a:p>
          <a:p>
            <a:pPr lvl="2"/>
            <a:r>
              <a:rPr lang="en-US" sz="2600" dirty="0"/>
              <a:t>May he require oral opinions?</a:t>
            </a:r>
          </a:p>
          <a:p>
            <a:pPr lvl="2"/>
            <a:r>
              <a:rPr lang="en-US" sz="2600" dirty="0"/>
              <a:t>May he require opinions of the head of the Federal Aviation </a:t>
            </a:r>
            <a:r>
              <a:rPr lang="en-US" sz="2600" dirty="0">
                <a:solidFill>
                  <a:srgbClr val="FF0000"/>
                </a:solidFill>
              </a:rPr>
              <a:t>Administration</a:t>
            </a:r>
            <a:r>
              <a:rPr lang="en-US" sz="2600" dirty="0"/>
              <a:t>, which is located organizationally within the </a:t>
            </a:r>
            <a:r>
              <a:rPr lang="en-US" sz="2600" dirty="0">
                <a:solidFill>
                  <a:srgbClr val="FF0000"/>
                </a:solidFill>
              </a:rPr>
              <a:t>Department</a:t>
            </a:r>
            <a:r>
              <a:rPr lang="en-US" sz="2600" dirty="0"/>
              <a:t> of Transportation?</a:t>
            </a:r>
          </a:p>
          <a:p>
            <a:pPr lvl="2"/>
            <a:r>
              <a:rPr lang="en-US" sz="2600" dirty="0"/>
              <a:t>The puzzle of the original Attorney General</a:t>
            </a:r>
          </a:p>
          <a:p>
            <a:pPr lvl="1"/>
            <a:endParaRPr lang="en-US" dirty="0"/>
          </a:p>
        </p:txBody>
      </p:sp>
      <p:sp>
        <p:nvSpPr>
          <p:cNvPr id="5" name="Footer Placeholder 4"/>
          <p:cNvSpPr>
            <a:spLocks noGrp="1"/>
          </p:cNvSpPr>
          <p:nvPr>
            <p:ph type="ftr" sz="quarter" idx="11"/>
          </p:nvPr>
        </p:nvSpPr>
        <p:spPr/>
        <p:txBody>
          <a:bodyPr/>
          <a:lstStyle/>
          <a:p>
            <a:r>
              <a:rPr lang="en-US"/>
              <a:t>© Copyright 2026.  Peter M. Shane All rights reserved. </a:t>
            </a:r>
          </a:p>
        </p:txBody>
      </p:sp>
      <p:sp>
        <p:nvSpPr>
          <p:cNvPr id="4" name="Slide Number Placeholder 3">
            <a:extLst>
              <a:ext uri="{FF2B5EF4-FFF2-40B4-BE49-F238E27FC236}">
                <a16:creationId xmlns:a16="http://schemas.microsoft.com/office/drawing/2014/main" id="{7B07D431-7D80-3157-60CC-4CFB33F45E91}"/>
              </a:ext>
            </a:extLst>
          </p:cNvPr>
          <p:cNvSpPr>
            <a:spLocks noGrp="1"/>
          </p:cNvSpPr>
          <p:nvPr>
            <p:ph type="sldNum" sz="quarter" idx="12"/>
          </p:nvPr>
        </p:nvSpPr>
        <p:spPr/>
        <p:txBody>
          <a:bodyPr/>
          <a:lstStyle/>
          <a:p>
            <a:fld id="{7DCB2EEC-2301-49D5-9453-D7B5EA731335}" type="slidenum">
              <a:rPr lang="en-US" smtClean="0"/>
              <a:t>12</a:t>
            </a:fld>
            <a:endParaRPr lang="en-US"/>
          </a:p>
        </p:txBody>
      </p:sp>
    </p:spTree>
    <p:extLst>
      <p:ext uri="{BB962C8B-B14F-4D97-AF65-F5344CB8AC3E}">
        <p14:creationId xmlns:p14="http://schemas.microsoft.com/office/powerpoint/2010/main" val="541870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 calcmode="lin" valueType="num">
                                      <p:cBhvr additive="base">
                                        <p:cTn id="5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Constitutional Framework</a:t>
            </a:r>
            <a:br>
              <a:rPr lang="en-US" dirty="0"/>
            </a:br>
            <a:r>
              <a:rPr lang="en-US" dirty="0"/>
              <a:t>for Legislation</a:t>
            </a:r>
          </a:p>
        </p:txBody>
      </p:sp>
      <p:sp>
        <p:nvSpPr>
          <p:cNvPr id="3" name="Content Placeholder 2"/>
          <p:cNvSpPr>
            <a:spLocks noGrp="1"/>
          </p:cNvSpPr>
          <p:nvPr>
            <p:ph idx="1"/>
          </p:nvPr>
        </p:nvSpPr>
        <p:spPr/>
        <p:txBody>
          <a:bodyPr>
            <a:normAutofit/>
          </a:bodyPr>
          <a:lstStyle/>
          <a:p>
            <a:r>
              <a:rPr lang="en-US" dirty="0"/>
              <a:t>Congress = 2 Houses</a:t>
            </a:r>
          </a:p>
          <a:p>
            <a:r>
              <a:rPr lang="en-US" dirty="0"/>
              <a:t>Each House makes rules for its own procedures</a:t>
            </a:r>
          </a:p>
          <a:p>
            <a:r>
              <a:rPr lang="en-US" dirty="0"/>
              <a:t>Statutes require votes of approval in both Houses for an identical text</a:t>
            </a:r>
          </a:p>
          <a:p>
            <a:r>
              <a:rPr lang="en-US" dirty="0"/>
              <a:t>Either President must sign or Congress override POTUS’s veto</a:t>
            </a:r>
          </a:p>
        </p:txBody>
      </p:sp>
      <p:sp>
        <p:nvSpPr>
          <p:cNvPr id="4" name="Slide Number Placeholder 3"/>
          <p:cNvSpPr>
            <a:spLocks noGrp="1"/>
          </p:cNvSpPr>
          <p:nvPr>
            <p:ph type="sldNum" sz="quarter" idx="12"/>
          </p:nvPr>
        </p:nvSpPr>
        <p:spPr/>
        <p:txBody>
          <a:bodyPr/>
          <a:lstStyle/>
          <a:p>
            <a:fld id="{7ED1AE92-1F7A-794C-B2A7-2EEF60C9AF34}" type="slidenum">
              <a:rPr lang="en-US" smtClean="0"/>
              <a:t>13</a:t>
            </a:fld>
            <a:endParaRPr lang="en-US"/>
          </a:p>
        </p:txBody>
      </p:sp>
      <p:sp>
        <p:nvSpPr>
          <p:cNvPr id="5" name="Footer Placeholder 4">
            <a:extLst>
              <a:ext uri="{FF2B5EF4-FFF2-40B4-BE49-F238E27FC236}">
                <a16:creationId xmlns:a16="http://schemas.microsoft.com/office/drawing/2014/main" id="{EE37F93E-CB54-2BCC-8443-B187A6451347}"/>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397522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Congressional Organization</a:t>
            </a:r>
          </a:p>
        </p:txBody>
      </p:sp>
      <p:sp>
        <p:nvSpPr>
          <p:cNvPr id="3" name="Content Placeholder 2"/>
          <p:cNvSpPr>
            <a:spLocks noGrp="1"/>
          </p:cNvSpPr>
          <p:nvPr>
            <p:ph idx="1"/>
          </p:nvPr>
        </p:nvSpPr>
        <p:spPr/>
        <p:txBody>
          <a:bodyPr>
            <a:normAutofit/>
          </a:bodyPr>
          <a:lstStyle/>
          <a:p>
            <a:r>
              <a:rPr lang="en-US" dirty="0"/>
              <a:t>A “Congress” sits for two-years following the most recent election, e.g., the 119</a:t>
            </a:r>
            <a:r>
              <a:rPr lang="en-US" baseline="30000" dirty="0"/>
              <a:t>th</a:t>
            </a:r>
            <a:r>
              <a:rPr lang="en-US" dirty="0"/>
              <a:t> Congress</a:t>
            </a:r>
          </a:p>
          <a:p>
            <a:r>
              <a:rPr lang="en-US" dirty="0"/>
              <a:t>Each year (usually) = one “Session” of Congress</a:t>
            </a:r>
          </a:p>
          <a:p>
            <a:r>
              <a:rPr lang="en-US" dirty="0"/>
              <a:t>Each House divided into committees by subject matter</a:t>
            </a:r>
          </a:p>
          <a:p>
            <a:pPr lvl="1"/>
            <a:r>
              <a:rPr lang="en-US" dirty="0"/>
              <a:t>Head of committee = Chairman</a:t>
            </a:r>
          </a:p>
          <a:p>
            <a:pPr lvl="1"/>
            <a:r>
              <a:rPr lang="en-US" dirty="0"/>
              <a:t>Most senior member of minority party = Ranking Member</a:t>
            </a:r>
          </a:p>
        </p:txBody>
      </p:sp>
      <p:sp>
        <p:nvSpPr>
          <p:cNvPr id="4" name="Slide Number Placeholder 3"/>
          <p:cNvSpPr>
            <a:spLocks noGrp="1"/>
          </p:cNvSpPr>
          <p:nvPr>
            <p:ph type="sldNum" sz="quarter" idx="12"/>
          </p:nvPr>
        </p:nvSpPr>
        <p:spPr/>
        <p:txBody>
          <a:bodyPr/>
          <a:lstStyle/>
          <a:p>
            <a:fld id="{7ED1AE92-1F7A-794C-B2A7-2EEF60C9AF34}" type="slidenum">
              <a:rPr lang="en-US" smtClean="0"/>
              <a:t>14</a:t>
            </a:fld>
            <a:endParaRPr lang="en-US"/>
          </a:p>
        </p:txBody>
      </p:sp>
      <p:sp>
        <p:nvSpPr>
          <p:cNvPr id="5" name="Footer Placeholder 4">
            <a:extLst>
              <a:ext uri="{FF2B5EF4-FFF2-40B4-BE49-F238E27FC236}">
                <a16:creationId xmlns:a16="http://schemas.microsoft.com/office/drawing/2014/main" id="{9F31341B-8485-EF8E-AB56-62AF8A1E0CDF}"/>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3216978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0ED5-D799-AEBC-0D10-26C80132D584}"/>
              </a:ext>
            </a:extLst>
          </p:cNvPr>
          <p:cNvSpPr>
            <a:spLocks noGrp="1"/>
          </p:cNvSpPr>
          <p:nvPr>
            <p:ph type="title"/>
          </p:nvPr>
        </p:nvSpPr>
        <p:spPr/>
        <p:txBody>
          <a:bodyPr/>
          <a:lstStyle/>
          <a:p>
            <a:r>
              <a:rPr lang="en-US" dirty="0"/>
              <a:t>House Committees – 119</a:t>
            </a:r>
            <a:r>
              <a:rPr lang="en-US" baseline="30000" dirty="0"/>
              <a:t>th</a:t>
            </a:r>
            <a:r>
              <a:rPr lang="en-US" dirty="0"/>
              <a:t> Congress</a:t>
            </a:r>
          </a:p>
        </p:txBody>
      </p:sp>
      <p:sp>
        <p:nvSpPr>
          <p:cNvPr id="9" name="Content Placeholder 8">
            <a:extLst>
              <a:ext uri="{FF2B5EF4-FFF2-40B4-BE49-F238E27FC236}">
                <a16:creationId xmlns:a16="http://schemas.microsoft.com/office/drawing/2014/main" id="{6D270AA4-6245-D345-AD9A-4E5580D59278}"/>
              </a:ext>
            </a:extLst>
          </p:cNvPr>
          <p:cNvSpPr>
            <a:spLocks noGrp="1"/>
          </p:cNvSpPr>
          <p:nvPr>
            <p:ph sz="half" idx="1"/>
          </p:nvPr>
        </p:nvSpPr>
        <p:spPr/>
        <p:txBody>
          <a:bodyPr>
            <a:normAutofit fontScale="55000" lnSpcReduction="20000"/>
          </a:bodyPr>
          <a:lstStyle/>
          <a:p>
            <a:r>
              <a:rPr lang="en-US" dirty="0"/>
              <a:t>Agriculture</a:t>
            </a:r>
          </a:p>
          <a:p>
            <a:r>
              <a:rPr lang="en-US" dirty="0"/>
              <a:t>Appropriations</a:t>
            </a:r>
          </a:p>
          <a:p>
            <a:r>
              <a:rPr lang="en-US" dirty="0"/>
              <a:t>Armed Services</a:t>
            </a:r>
          </a:p>
          <a:p>
            <a:r>
              <a:rPr lang="en-US" dirty="0"/>
              <a:t>Budget</a:t>
            </a:r>
          </a:p>
          <a:p>
            <a:r>
              <a:rPr lang="en-US" dirty="0"/>
              <a:t>Education and Workforce</a:t>
            </a:r>
          </a:p>
          <a:p>
            <a:r>
              <a:rPr lang="en-US" dirty="0"/>
              <a:t>Energy and Commerce</a:t>
            </a:r>
          </a:p>
          <a:p>
            <a:r>
              <a:rPr lang="en-US" dirty="0"/>
              <a:t>Ethics</a:t>
            </a:r>
          </a:p>
          <a:p>
            <a:r>
              <a:rPr lang="en-US" dirty="0"/>
              <a:t>Financial Services</a:t>
            </a:r>
          </a:p>
          <a:p>
            <a:r>
              <a:rPr lang="en-US" dirty="0"/>
              <a:t>Foreign Affairs</a:t>
            </a:r>
          </a:p>
          <a:p>
            <a:r>
              <a:rPr lang="en-US" dirty="0"/>
              <a:t>Homeland Security</a:t>
            </a:r>
          </a:p>
          <a:p>
            <a:r>
              <a:rPr lang="en-US" dirty="0"/>
              <a:t>House Administration</a:t>
            </a:r>
          </a:p>
          <a:p>
            <a:r>
              <a:rPr lang="en-US" dirty="0"/>
              <a:t>Judiciary</a:t>
            </a:r>
          </a:p>
          <a:p>
            <a:r>
              <a:rPr lang="en-US" dirty="0"/>
              <a:t>Natural Resources</a:t>
            </a:r>
          </a:p>
          <a:p>
            <a:r>
              <a:rPr lang="en-US" dirty="0"/>
              <a:t>Oversight and Government Reform</a:t>
            </a:r>
          </a:p>
          <a:p>
            <a:r>
              <a:rPr lang="en-US" dirty="0"/>
              <a:t>Rules</a:t>
            </a:r>
          </a:p>
        </p:txBody>
      </p:sp>
      <p:sp>
        <p:nvSpPr>
          <p:cNvPr id="10" name="Content Placeholder 9">
            <a:extLst>
              <a:ext uri="{FF2B5EF4-FFF2-40B4-BE49-F238E27FC236}">
                <a16:creationId xmlns:a16="http://schemas.microsoft.com/office/drawing/2014/main" id="{D0C4F562-8B7A-62BE-74D9-804F8E89D739}"/>
              </a:ext>
            </a:extLst>
          </p:cNvPr>
          <p:cNvSpPr>
            <a:spLocks noGrp="1"/>
          </p:cNvSpPr>
          <p:nvPr>
            <p:ph sz="half" idx="2"/>
          </p:nvPr>
        </p:nvSpPr>
        <p:spPr/>
        <p:txBody>
          <a:bodyPr>
            <a:normAutofit fontScale="55000" lnSpcReduction="20000"/>
          </a:bodyPr>
          <a:lstStyle/>
          <a:p>
            <a:endParaRPr lang="en-US" dirty="0"/>
          </a:p>
          <a:p>
            <a:r>
              <a:rPr lang="en-US" dirty="0"/>
              <a:t>Science, Space, and Technology</a:t>
            </a:r>
          </a:p>
          <a:p>
            <a:r>
              <a:rPr lang="en-US" dirty="0"/>
              <a:t>Small Business</a:t>
            </a:r>
          </a:p>
          <a:p>
            <a:r>
              <a:rPr lang="en-US" dirty="0"/>
              <a:t>Transportation and Infrastructure</a:t>
            </a:r>
          </a:p>
          <a:p>
            <a:r>
              <a:rPr lang="en-US" dirty="0"/>
              <a:t>Veterans’ Affairs</a:t>
            </a:r>
          </a:p>
          <a:p>
            <a:r>
              <a:rPr lang="en-US" dirty="0"/>
              <a:t>Ways and Means</a:t>
            </a:r>
          </a:p>
          <a:p>
            <a:r>
              <a:rPr lang="en-US" dirty="0"/>
              <a:t>Permanent Select Committee on Intelligence</a:t>
            </a:r>
          </a:p>
          <a:p>
            <a:r>
              <a:rPr lang="en-US" dirty="0"/>
              <a:t>Select Committee on the Strategic Competition Between the United States and the Chinese Communist Party</a:t>
            </a:r>
          </a:p>
          <a:p>
            <a:r>
              <a:rPr lang="en-US" dirty="0"/>
              <a:t>Joint Economic Committee</a:t>
            </a:r>
          </a:p>
          <a:p>
            <a:r>
              <a:rPr lang="en-US" dirty="0"/>
              <a:t>Joint Committee on the Library</a:t>
            </a:r>
          </a:p>
          <a:p>
            <a:r>
              <a:rPr lang="en-US" dirty="0"/>
              <a:t>Joint Committee on Printing</a:t>
            </a:r>
          </a:p>
          <a:p>
            <a:r>
              <a:rPr lang="en-US" dirty="0"/>
              <a:t>Joint Committee on Taxation</a:t>
            </a:r>
          </a:p>
          <a:p>
            <a:endParaRPr lang="en-US" dirty="0"/>
          </a:p>
        </p:txBody>
      </p:sp>
      <p:sp>
        <p:nvSpPr>
          <p:cNvPr id="4" name="Footer Placeholder 3">
            <a:extLst>
              <a:ext uri="{FF2B5EF4-FFF2-40B4-BE49-F238E27FC236}">
                <a16:creationId xmlns:a16="http://schemas.microsoft.com/office/drawing/2014/main" id="{BBEDEB8C-B629-A0FD-3D5F-93AA9F19BA90}"/>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1E1BB9B6-35B4-1AD7-D141-5914A1616AE8}"/>
              </a:ext>
            </a:extLst>
          </p:cNvPr>
          <p:cNvSpPr>
            <a:spLocks noGrp="1"/>
          </p:cNvSpPr>
          <p:nvPr>
            <p:ph type="sldNum" sz="quarter" idx="12"/>
          </p:nvPr>
        </p:nvSpPr>
        <p:spPr/>
        <p:txBody>
          <a:bodyPr/>
          <a:lstStyle/>
          <a:p>
            <a:fld id="{7ED1AE92-1F7A-794C-B2A7-2EEF60C9AF34}" type="slidenum">
              <a:rPr lang="en-US" smtClean="0"/>
              <a:t>15</a:t>
            </a:fld>
            <a:endParaRPr lang="en-US"/>
          </a:p>
        </p:txBody>
      </p:sp>
    </p:spTree>
    <p:extLst>
      <p:ext uri="{BB962C8B-B14F-4D97-AF65-F5344CB8AC3E}">
        <p14:creationId xmlns:p14="http://schemas.microsoft.com/office/powerpoint/2010/main" val="3458530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6EE4E9A-F3C0-DF7D-6673-7D3541CD4D68}"/>
              </a:ext>
            </a:extLst>
          </p:cNvPr>
          <p:cNvSpPr>
            <a:spLocks noGrp="1"/>
          </p:cNvSpPr>
          <p:nvPr>
            <p:ph type="title"/>
          </p:nvPr>
        </p:nvSpPr>
        <p:spPr/>
        <p:txBody>
          <a:bodyPr/>
          <a:lstStyle/>
          <a:p>
            <a:r>
              <a:rPr lang="en-US" dirty="0"/>
              <a:t>Senate Committees – 119</a:t>
            </a:r>
            <a:r>
              <a:rPr lang="en-US" baseline="30000" dirty="0"/>
              <a:t>th</a:t>
            </a:r>
            <a:r>
              <a:rPr lang="en-US" dirty="0"/>
              <a:t> Congress</a:t>
            </a:r>
          </a:p>
        </p:txBody>
      </p:sp>
      <p:sp>
        <p:nvSpPr>
          <p:cNvPr id="3" name="Content Placeholder 2">
            <a:extLst>
              <a:ext uri="{FF2B5EF4-FFF2-40B4-BE49-F238E27FC236}">
                <a16:creationId xmlns:a16="http://schemas.microsoft.com/office/drawing/2014/main" id="{8DD1EC24-A47A-8070-8DA1-4A2DFA6EEBD2}"/>
              </a:ext>
            </a:extLst>
          </p:cNvPr>
          <p:cNvSpPr>
            <a:spLocks noGrp="1"/>
          </p:cNvSpPr>
          <p:nvPr>
            <p:ph sz="half" idx="1"/>
          </p:nvPr>
        </p:nvSpPr>
        <p:spPr/>
        <p:txBody>
          <a:bodyPr>
            <a:normAutofit fontScale="70000" lnSpcReduction="20000"/>
          </a:bodyPr>
          <a:lstStyle/>
          <a:p>
            <a:r>
              <a:rPr lang="en-US" dirty="0"/>
              <a:t>Agriculture, Nutrition, and Forestry</a:t>
            </a:r>
          </a:p>
          <a:p>
            <a:r>
              <a:rPr lang="en-US" dirty="0"/>
              <a:t>Appropriations</a:t>
            </a:r>
          </a:p>
          <a:p>
            <a:r>
              <a:rPr lang="en-US" dirty="0"/>
              <a:t>Armed Services</a:t>
            </a:r>
          </a:p>
          <a:p>
            <a:r>
              <a:rPr lang="en-US" dirty="0"/>
              <a:t>Banking, Housing, and Urban Affairs</a:t>
            </a:r>
          </a:p>
          <a:p>
            <a:r>
              <a:rPr lang="en-US" dirty="0"/>
              <a:t>Budget</a:t>
            </a:r>
          </a:p>
          <a:p>
            <a:r>
              <a:rPr lang="en-US" dirty="0"/>
              <a:t>Commerce, Science, and Transportation</a:t>
            </a:r>
          </a:p>
          <a:p>
            <a:r>
              <a:rPr lang="en-US" dirty="0"/>
              <a:t>Energy and Natural Resources</a:t>
            </a:r>
          </a:p>
          <a:p>
            <a:r>
              <a:rPr lang="en-US" dirty="0"/>
              <a:t>Environment and Public Works</a:t>
            </a:r>
          </a:p>
          <a:p>
            <a:r>
              <a:rPr lang="en-US" dirty="0"/>
              <a:t>Finance</a:t>
            </a:r>
          </a:p>
          <a:p>
            <a:r>
              <a:rPr lang="en-US" dirty="0"/>
              <a:t>Foreign Relations</a:t>
            </a:r>
          </a:p>
          <a:p>
            <a:r>
              <a:rPr lang="en-US" dirty="0"/>
              <a:t>Health, Education, Labor, and Pensions</a:t>
            </a:r>
          </a:p>
          <a:p>
            <a:r>
              <a:rPr lang="en-US" dirty="0"/>
              <a:t>Homeland Security and Governmental Affairs</a:t>
            </a:r>
          </a:p>
          <a:p>
            <a:endParaRPr lang="en-US" dirty="0"/>
          </a:p>
        </p:txBody>
      </p:sp>
      <p:sp>
        <p:nvSpPr>
          <p:cNvPr id="7" name="Content Placeholder 6">
            <a:extLst>
              <a:ext uri="{FF2B5EF4-FFF2-40B4-BE49-F238E27FC236}">
                <a16:creationId xmlns:a16="http://schemas.microsoft.com/office/drawing/2014/main" id="{05FF23A3-E62F-489C-3B3E-FE7353697DE5}"/>
              </a:ext>
            </a:extLst>
          </p:cNvPr>
          <p:cNvSpPr>
            <a:spLocks noGrp="1"/>
          </p:cNvSpPr>
          <p:nvPr>
            <p:ph sz="half" idx="2"/>
          </p:nvPr>
        </p:nvSpPr>
        <p:spPr/>
        <p:txBody>
          <a:bodyPr>
            <a:normAutofit fontScale="70000" lnSpcReduction="20000"/>
          </a:bodyPr>
          <a:lstStyle/>
          <a:p>
            <a:r>
              <a:rPr lang="en-US" dirty="0"/>
              <a:t>Indian Affairs</a:t>
            </a:r>
          </a:p>
          <a:p>
            <a:r>
              <a:rPr lang="en-US" dirty="0"/>
              <a:t>Joint Committee on Printing</a:t>
            </a:r>
          </a:p>
          <a:p>
            <a:r>
              <a:rPr lang="en-US" dirty="0"/>
              <a:t>Joint Committee on Taxation</a:t>
            </a:r>
          </a:p>
          <a:p>
            <a:r>
              <a:rPr lang="en-US" dirty="0"/>
              <a:t>Joint Committee on the Library</a:t>
            </a:r>
          </a:p>
          <a:p>
            <a:r>
              <a:rPr lang="en-US" dirty="0"/>
              <a:t>Joint Economic Committee</a:t>
            </a:r>
          </a:p>
          <a:p>
            <a:r>
              <a:rPr lang="en-US" dirty="0"/>
              <a:t>Judiciary</a:t>
            </a:r>
          </a:p>
          <a:p>
            <a:r>
              <a:rPr lang="en-US" dirty="0"/>
              <a:t>Rules and Administration</a:t>
            </a:r>
          </a:p>
          <a:p>
            <a:r>
              <a:rPr lang="en-US" dirty="0"/>
              <a:t>Select Committee on Ethics</a:t>
            </a:r>
          </a:p>
          <a:p>
            <a:r>
              <a:rPr lang="en-US" dirty="0"/>
              <a:t>Select Committee on Intelligence</a:t>
            </a:r>
          </a:p>
          <a:p>
            <a:r>
              <a:rPr lang="en-US" dirty="0"/>
              <a:t>Small Business and Entrepreneurship</a:t>
            </a:r>
          </a:p>
          <a:p>
            <a:r>
              <a:rPr lang="en-US" dirty="0"/>
              <a:t>Special Committee on Aging</a:t>
            </a:r>
          </a:p>
          <a:p>
            <a:r>
              <a:rPr lang="en-US" dirty="0"/>
              <a:t>Veterans' Affairs</a:t>
            </a:r>
          </a:p>
          <a:p>
            <a:endParaRPr lang="en-US" dirty="0"/>
          </a:p>
        </p:txBody>
      </p:sp>
      <p:sp>
        <p:nvSpPr>
          <p:cNvPr id="4" name="Footer Placeholder 3">
            <a:extLst>
              <a:ext uri="{FF2B5EF4-FFF2-40B4-BE49-F238E27FC236}">
                <a16:creationId xmlns:a16="http://schemas.microsoft.com/office/drawing/2014/main" id="{FED917F7-D1EE-F324-9DBD-58B3F21841A7}"/>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CA764787-1D17-4612-F6FD-577AF818B783}"/>
              </a:ext>
            </a:extLst>
          </p:cNvPr>
          <p:cNvSpPr>
            <a:spLocks noGrp="1"/>
          </p:cNvSpPr>
          <p:nvPr>
            <p:ph type="sldNum" sz="quarter" idx="12"/>
          </p:nvPr>
        </p:nvSpPr>
        <p:spPr/>
        <p:txBody>
          <a:bodyPr/>
          <a:lstStyle/>
          <a:p>
            <a:fld id="{7ED1AE92-1F7A-794C-B2A7-2EEF60C9AF34}" type="slidenum">
              <a:rPr lang="en-US" smtClean="0"/>
              <a:t>16</a:t>
            </a:fld>
            <a:endParaRPr lang="en-US"/>
          </a:p>
        </p:txBody>
      </p:sp>
    </p:spTree>
    <p:extLst>
      <p:ext uri="{BB962C8B-B14F-4D97-AF65-F5344CB8AC3E}">
        <p14:creationId xmlns:p14="http://schemas.microsoft.com/office/powerpoint/2010/main" val="2752207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Simple Model</a:t>
            </a:r>
          </a:p>
        </p:txBody>
      </p:sp>
      <p:sp>
        <p:nvSpPr>
          <p:cNvPr id="3" name="Content Placeholder 2"/>
          <p:cNvSpPr>
            <a:spLocks noGrp="1"/>
          </p:cNvSpPr>
          <p:nvPr>
            <p:ph idx="1"/>
          </p:nvPr>
        </p:nvSpPr>
        <p:spPr/>
        <p:txBody>
          <a:bodyPr/>
          <a:lstStyle/>
          <a:p>
            <a:r>
              <a:rPr lang="en-US" dirty="0"/>
              <a:t>Legislator proposes bill</a:t>
            </a:r>
          </a:p>
          <a:p>
            <a:r>
              <a:rPr lang="en-US" dirty="0"/>
              <a:t>Bill referred to committee</a:t>
            </a:r>
          </a:p>
          <a:p>
            <a:r>
              <a:rPr lang="en-US" dirty="0"/>
              <a:t>Committee holds hearings, “marks up” bill, refers to floor with report</a:t>
            </a:r>
          </a:p>
          <a:p>
            <a:r>
              <a:rPr lang="en-US" dirty="0"/>
              <a:t>Chamber debates and votes</a:t>
            </a:r>
          </a:p>
          <a:p>
            <a:r>
              <a:rPr lang="en-US" dirty="0"/>
              <a:t>If two chambers pass different versions of same bill, need “conference committee” to reconcile differences</a:t>
            </a:r>
          </a:p>
        </p:txBody>
      </p:sp>
      <p:sp>
        <p:nvSpPr>
          <p:cNvPr id="4" name="Slide Number Placeholder 3"/>
          <p:cNvSpPr>
            <a:spLocks noGrp="1"/>
          </p:cNvSpPr>
          <p:nvPr>
            <p:ph type="sldNum" sz="quarter" idx="12"/>
          </p:nvPr>
        </p:nvSpPr>
        <p:spPr/>
        <p:txBody>
          <a:bodyPr/>
          <a:lstStyle/>
          <a:p>
            <a:fld id="{7ED1AE92-1F7A-794C-B2A7-2EEF60C9AF34}" type="slidenum">
              <a:rPr lang="en-US" smtClean="0"/>
              <a:t>17</a:t>
            </a:fld>
            <a:endParaRPr lang="en-US"/>
          </a:p>
        </p:txBody>
      </p:sp>
      <p:sp>
        <p:nvSpPr>
          <p:cNvPr id="5" name="Footer Placeholder 4">
            <a:extLst>
              <a:ext uri="{FF2B5EF4-FFF2-40B4-BE49-F238E27FC236}">
                <a16:creationId xmlns:a16="http://schemas.microsoft.com/office/drawing/2014/main" id="{808DB855-213E-AD7F-16FD-3E4CEBAD3500}"/>
              </a:ext>
            </a:extLst>
          </p:cNvPr>
          <p:cNvSpPr>
            <a:spLocks noGrp="1"/>
          </p:cNvSpPr>
          <p:nvPr>
            <p:ph type="ftr" sz="quarter" idx="11"/>
          </p:nvPr>
        </p:nvSpPr>
        <p:spPr/>
        <p:txBody>
          <a:bodyPr/>
          <a:lstStyle/>
          <a:p>
            <a:r>
              <a:rPr lang="en-US" dirty="0"/>
              <a:t>© Copyright 2026.  Peter M. Shane All rights reserved. </a:t>
            </a:r>
          </a:p>
        </p:txBody>
      </p:sp>
    </p:spTree>
    <p:extLst>
      <p:ext uri="{BB962C8B-B14F-4D97-AF65-F5344CB8AC3E}">
        <p14:creationId xmlns:p14="http://schemas.microsoft.com/office/powerpoint/2010/main" val="3876946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Legislative History</a:t>
            </a:r>
          </a:p>
        </p:txBody>
      </p:sp>
      <p:sp>
        <p:nvSpPr>
          <p:cNvPr id="3" name="Content Placeholder 2"/>
          <p:cNvSpPr>
            <a:spLocks noGrp="1"/>
          </p:cNvSpPr>
          <p:nvPr>
            <p:ph idx="1"/>
          </p:nvPr>
        </p:nvSpPr>
        <p:spPr/>
        <p:txBody>
          <a:bodyPr/>
          <a:lstStyle/>
          <a:p>
            <a:r>
              <a:rPr lang="en-US" dirty="0"/>
              <a:t>Drafts of the proposed legislation</a:t>
            </a:r>
          </a:p>
          <a:p>
            <a:r>
              <a:rPr lang="en-US" dirty="0"/>
              <a:t>Published hearings</a:t>
            </a:r>
          </a:p>
          <a:p>
            <a:r>
              <a:rPr lang="en-US" dirty="0"/>
              <a:t>Committee reports and mark-up</a:t>
            </a:r>
          </a:p>
          <a:p>
            <a:r>
              <a:rPr lang="en-US" dirty="0"/>
              <a:t>Transcribed debates on floor of both Houses (published in Congressional Record) – may include amendments</a:t>
            </a:r>
          </a:p>
          <a:p>
            <a:r>
              <a:rPr lang="en-US" dirty="0"/>
              <a:t>Conference Committee report</a:t>
            </a:r>
          </a:p>
          <a:p>
            <a:r>
              <a:rPr lang="en-US"/>
              <a:t>Enrolled bill</a:t>
            </a:r>
            <a:endParaRPr lang="en-US" dirty="0"/>
          </a:p>
        </p:txBody>
      </p:sp>
      <p:sp>
        <p:nvSpPr>
          <p:cNvPr id="4" name="Slide Number Placeholder 3"/>
          <p:cNvSpPr>
            <a:spLocks noGrp="1"/>
          </p:cNvSpPr>
          <p:nvPr>
            <p:ph type="sldNum" sz="quarter" idx="12"/>
          </p:nvPr>
        </p:nvSpPr>
        <p:spPr/>
        <p:txBody>
          <a:bodyPr/>
          <a:lstStyle/>
          <a:p>
            <a:fld id="{7ED1AE92-1F7A-794C-B2A7-2EEF60C9AF34}" type="slidenum">
              <a:rPr lang="en-US" smtClean="0"/>
              <a:t>18</a:t>
            </a:fld>
            <a:endParaRPr lang="en-US"/>
          </a:p>
        </p:txBody>
      </p:sp>
      <p:sp>
        <p:nvSpPr>
          <p:cNvPr id="5" name="Footer Placeholder 4">
            <a:extLst>
              <a:ext uri="{FF2B5EF4-FFF2-40B4-BE49-F238E27FC236}">
                <a16:creationId xmlns:a16="http://schemas.microsoft.com/office/drawing/2014/main" id="{13139E47-9BB4-A5B9-B2B7-784216575FE6}"/>
              </a:ext>
            </a:extLst>
          </p:cNvPr>
          <p:cNvSpPr>
            <a:spLocks noGrp="1"/>
          </p:cNvSpPr>
          <p:nvPr>
            <p:ph type="ftr" sz="quarter" idx="11"/>
          </p:nvPr>
        </p:nvSpPr>
        <p:spPr/>
        <p:txBody>
          <a:bodyPr/>
          <a:lstStyle/>
          <a:p>
            <a:r>
              <a:rPr lang="en-US"/>
              <a:t>© Copyright 2026.  Peter M. Shane All rights reserved. </a:t>
            </a:r>
          </a:p>
        </p:txBody>
      </p:sp>
    </p:spTree>
    <p:extLst>
      <p:ext uri="{BB962C8B-B14F-4D97-AF65-F5344CB8AC3E}">
        <p14:creationId xmlns:p14="http://schemas.microsoft.com/office/powerpoint/2010/main" val="1361002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5258A-0253-D9A0-05A5-2C422F344A4C}"/>
              </a:ext>
            </a:extLst>
          </p:cNvPr>
          <p:cNvSpPr>
            <a:spLocks noGrp="1"/>
          </p:cNvSpPr>
          <p:nvPr>
            <p:ph type="title"/>
          </p:nvPr>
        </p:nvSpPr>
        <p:spPr/>
        <p:txBody>
          <a:bodyPr>
            <a:normAutofit/>
          </a:bodyPr>
          <a:lstStyle/>
          <a:p>
            <a:r>
              <a:rPr lang="en-US" dirty="0"/>
              <a:t>Katzmann: Why Legislation Often Vague/Ambiguous</a:t>
            </a:r>
          </a:p>
        </p:txBody>
      </p:sp>
      <p:sp>
        <p:nvSpPr>
          <p:cNvPr id="3" name="Content Placeholder 2">
            <a:extLst>
              <a:ext uri="{FF2B5EF4-FFF2-40B4-BE49-F238E27FC236}">
                <a16:creationId xmlns:a16="http://schemas.microsoft.com/office/drawing/2014/main" id="{EA4D4FA1-25C3-CF77-CA52-2338F308DD2D}"/>
              </a:ext>
            </a:extLst>
          </p:cNvPr>
          <p:cNvSpPr>
            <a:spLocks noGrp="1"/>
          </p:cNvSpPr>
          <p:nvPr>
            <p:ph idx="1"/>
          </p:nvPr>
        </p:nvSpPr>
        <p:spPr/>
        <p:txBody>
          <a:bodyPr/>
          <a:lstStyle/>
          <a:p>
            <a:r>
              <a:rPr lang="en-US" dirty="0" err="1"/>
              <a:t>Unforseeability</a:t>
            </a:r>
            <a:r>
              <a:rPr lang="en-US" dirty="0"/>
              <a:t> of problems</a:t>
            </a:r>
          </a:p>
          <a:p>
            <a:r>
              <a:rPr lang="en-US" dirty="0"/>
              <a:t>Inherent imprecisions of language</a:t>
            </a:r>
          </a:p>
          <a:p>
            <a:r>
              <a:rPr lang="en-US" dirty="0"/>
              <a:t>Decisions to delegate broadly and allow agencies to resolve specific questions later</a:t>
            </a:r>
          </a:p>
          <a:p>
            <a:r>
              <a:rPr lang="en-US" dirty="0"/>
              <a:t>Coalition politics</a:t>
            </a:r>
          </a:p>
          <a:p>
            <a:r>
              <a:rPr lang="en-US" dirty="0"/>
              <a:t>Congressional organization, including decentralization of the committee system</a:t>
            </a:r>
          </a:p>
        </p:txBody>
      </p:sp>
      <p:sp>
        <p:nvSpPr>
          <p:cNvPr id="4" name="Footer Placeholder 3">
            <a:extLst>
              <a:ext uri="{FF2B5EF4-FFF2-40B4-BE49-F238E27FC236}">
                <a16:creationId xmlns:a16="http://schemas.microsoft.com/office/drawing/2014/main" id="{8E8C4DD2-A764-C6B6-BB5E-B69CD1B8B9F5}"/>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6ED345CF-BE94-AB60-89C5-D9F7F7B4BCC7}"/>
              </a:ext>
            </a:extLst>
          </p:cNvPr>
          <p:cNvSpPr>
            <a:spLocks noGrp="1"/>
          </p:cNvSpPr>
          <p:nvPr>
            <p:ph type="sldNum" sz="quarter" idx="12"/>
          </p:nvPr>
        </p:nvSpPr>
        <p:spPr/>
        <p:txBody>
          <a:bodyPr/>
          <a:lstStyle/>
          <a:p>
            <a:fld id="{7ED1AE92-1F7A-794C-B2A7-2EEF60C9AF34}" type="slidenum">
              <a:rPr lang="en-US" smtClean="0"/>
              <a:t>19</a:t>
            </a:fld>
            <a:endParaRPr lang="en-US"/>
          </a:p>
        </p:txBody>
      </p:sp>
    </p:spTree>
    <p:extLst>
      <p:ext uri="{BB962C8B-B14F-4D97-AF65-F5344CB8AC3E}">
        <p14:creationId xmlns:p14="http://schemas.microsoft.com/office/powerpoint/2010/main" val="1254677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1673</Words>
  <Application>Microsoft Office PowerPoint</Application>
  <PresentationFormat>Widescreen</PresentationFormat>
  <Paragraphs>200</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“Regulatory State”</vt:lpstr>
      <vt:lpstr>Today’s Agenda</vt:lpstr>
      <vt:lpstr>Key Items in Syllabus</vt:lpstr>
      <vt:lpstr>The Hierarchy of Federal Law</vt:lpstr>
      <vt:lpstr>The Hierarchy of Federal Law</vt:lpstr>
      <vt:lpstr>Why a Course in Legislation and Regulation?”</vt:lpstr>
      <vt:lpstr>Finding the (Common) Law</vt:lpstr>
      <vt:lpstr>Finding Regulatory Law</vt:lpstr>
      <vt:lpstr>The Puzzles of Text</vt:lpstr>
      <vt:lpstr>Introducing Articles I-III</vt:lpstr>
      <vt:lpstr>Introducing Articles I-III (2)</vt:lpstr>
      <vt:lpstr>Sources of Constitutional Meaning</vt:lpstr>
      <vt:lpstr>Basic Constitutional Framework for Legislation</vt:lpstr>
      <vt:lpstr>Congressional Organization</vt:lpstr>
      <vt:lpstr>House Committees – 119th Congress</vt:lpstr>
      <vt:lpstr>Senate Committees – 119th Congress</vt:lpstr>
      <vt:lpstr>The Simple Model</vt:lpstr>
      <vt:lpstr>Legislative History</vt:lpstr>
      <vt:lpstr>Katzmann: Why Legislation Often Vague/Ambiguous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Shane</dc:creator>
  <cp:lastModifiedBy>Shane, Peter</cp:lastModifiedBy>
  <cp:revision>8</cp:revision>
  <cp:lastPrinted>2026-08-26T14:10:47Z</cp:lastPrinted>
  <dcterms:created xsi:type="dcterms:W3CDTF">2026-08-10T13:17:27Z</dcterms:created>
  <dcterms:modified xsi:type="dcterms:W3CDTF">2026-08-26T17:49:15Z</dcterms:modified>
</cp:coreProperties>
</file>