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handoutMasterIdLst>
    <p:handoutMasterId r:id="rId40"/>
  </p:handoutMasterIdLst>
  <p:sldIdLst>
    <p:sldId id="305" r:id="rId2"/>
    <p:sldId id="273" r:id="rId3"/>
    <p:sldId id="276" r:id="rId4"/>
    <p:sldId id="274" r:id="rId5"/>
    <p:sldId id="306" r:id="rId6"/>
    <p:sldId id="277" r:id="rId7"/>
    <p:sldId id="275" r:id="rId8"/>
    <p:sldId id="279" r:id="rId9"/>
    <p:sldId id="307" r:id="rId10"/>
    <p:sldId id="308" r:id="rId11"/>
    <p:sldId id="281" r:id="rId12"/>
    <p:sldId id="282" r:id="rId13"/>
    <p:sldId id="309" r:id="rId14"/>
    <p:sldId id="310" r:id="rId15"/>
    <p:sldId id="311" r:id="rId16"/>
    <p:sldId id="312" r:id="rId17"/>
    <p:sldId id="313" r:id="rId18"/>
    <p:sldId id="283" r:id="rId19"/>
    <p:sldId id="280" r:id="rId20"/>
    <p:sldId id="262" r:id="rId21"/>
    <p:sldId id="272" r:id="rId22"/>
    <p:sldId id="284" r:id="rId23"/>
    <p:sldId id="285" r:id="rId24"/>
    <p:sldId id="294" r:id="rId25"/>
    <p:sldId id="286" r:id="rId26"/>
    <p:sldId id="295" r:id="rId27"/>
    <p:sldId id="296" r:id="rId28"/>
    <p:sldId id="287" r:id="rId29"/>
    <p:sldId id="297" r:id="rId30"/>
    <p:sldId id="298" r:id="rId31"/>
    <p:sldId id="288" r:id="rId32"/>
    <p:sldId id="299" r:id="rId33"/>
    <p:sldId id="301" r:id="rId34"/>
    <p:sldId id="300" r:id="rId35"/>
    <p:sldId id="289" r:id="rId36"/>
    <p:sldId id="302" r:id="rId37"/>
    <p:sldId id="303" r:id="rId38"/>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09" autoAdjust="0"/>
    <p:restoredTop sz="79886" autoAdjust="0"/>
  </p:normalViewPr>
  <p:slideViewPr>
    <p:cSldViewPr>
      <p:cViewPr varScale="1">
        <p:scale>
          <a:sx n="88" d="100"/>
          <a:sy n="88" d="100"/>
        </p:scale>
        <p:origin x="2340"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93743561-3231-504E-BA20-718FE4B6835E}" type="datetimeFigureOut">
              <a:rPr lang="en-US" smtClean="0"/>
              <a:t>9/21/2026</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571AE065-DF7A-0644-BC8E-09F3FBDC3824}" type="slidenum">
              <a:rPr lang="en-US" smtClean="0"/>
              <a:t>‹#›</a:t>
            </a:fld>
            <a:endParaRPr lang="en-US"/>
          </a:p>
        </p:txBody>
      </p:sp>
    </p:spTree>
    <p:extLst>
      <p:ext uri="{BB962C8B-B14F-4D97-AF65-F5344CB8AC3E}">
        <p14:creationId xmlns:p14="http://schemas.microsoft.com/office/powerpoint/2010/main" val="134249639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defRPr sz="1200"/>
            </a:lvl1pPr>
          </a:lstStyle>
          <a:p>
            <a:endParaRPr lang="en-US"/>
          </a:p>
        </p:txBody>
      </p:sp>
      <p:sp>
        <p:nvSpPr>
          <p:cNvPr id="10243" name="Rectangle 3"/>
          <p:cNvSpPr>
            <a:spLocks noGrp="1" noChangeArrowheads="1"/>
          </p:cNvSpPr>
          <p:nvPr>
            <p:ph type="dt" idx="1"/>
          </p:nvPr>
        </p:nvSpPr>
        <p:spPr bwMode="auto">
          <a:xfrm>
            <a:off x="3970938" y="0"/>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a:defRPr sz="1200"/>
            </a:lvl1pPr>
          </a:lstStyle>
          <a:p>
            <a:endParaRPr lang="en-US"/>
          </a:p>
        </p:txBody>
      </p:sp>
      <p:sp>
        <p:nvSpPr>
          <p:cNvPr id="10244"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245" name="Rectangle 5"/>
          <p:cNvSpPr>
            <a:spLocks noGrp="1" noChangeArrowheads="1"/>
          </p:cNvSpPr>
          <p:nvPr>
            <p:ph type="body" sz="quarter" idx="3"/>
          </p:nvPr>
        </p:nvSpPr>
        <p:spPr bwMode="auto">
          <a:xfrm>
            <a:off x="701040" y="4415790"/>
            <a:ext cx="5608320" cy="4183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46" name="Rectangle 6"/>
          <p:cNvSpPr>
            <a:spLocks noGrp="1" noChangeArrowheads="1"/>
          </p:cNvSpPr>
          <p:nvPr>
            <p:ph type="ftr" sz="quarter" idx="4"/>
          </p:nvPr>
        </p:nvSpPr>
        <p:spPr bwMode="auto">
          <a:xfrm>
            <a:off x="0" y="8829967"/>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defRPr sz="1200"/>
            </a:lvl1pPr>
          </a:lstStyle>
          <a:p>
            <a:endParaRPr lang="en-US"/>
          </a:p>
        </p:txBody>
      </p:sp>
      <p:sp>
        <p:nvSpPr>
          <p:cNvPr id="10247" name="Rectangle 7"/>
          <p:cNvSpPr>
            <a:spLocks noGrp="1" noChangeArrowheads="1"/>
          </p:cNvSpPr>
          <p:nvPr>
            <p:ph type="sldNum" sz="quarter" idx="5"/>
          </p:nvPr>
        </p:nvSpPr>
        <p:spPr bwMode="auto">
          <a:xfrm>
            <a:off x="3970938" y="8829967"/>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a:defRPr sz="1200"/>
            </a:lvl1pPr>
          </a:lstStyle>
          <a:p>
            <a:fld id="{8113886C-CA9A-4160-89BA-D8E971235274}" type="slidenum">
              <a:rPr lang="en-US"/>
              <a:pPr/>
              <a:t>‹#›</a:t>
            </a:fld>
            <a:endParaRPr lang="en-US"/>
          </a:p>
        </p:txBody>
      </p:sp>
    </p:spTree>
    <p:extLst>
      <p:ext uri="{BB962C8B-B14F-4D97-AF65-F5344CB8AC3E}">
        <p14:creationId xmlns:p14="http://schemas.microsoft.com/office/powerpoint/2010/main" val="406609006"/>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13886C-CA9A-4160-89BA-D8E971235274}" type="slidenum">
              <a:rPr lang="en-US" smtClean="0"/>
              <a:pPr/>
              <a:t>1</a:t>
            </a:fld>
            <a:endParaRPr lang="en-US"/>
          </a:p>
        </p:txBody>
      </p:sp>
    </p:spTree>
    <p:extLst>
      <p:ext uri="{BB962C8B-B14F-4D97-AF65-F5344CB8AC3E}">
        <p14:creationId xmlns:p14="http://schemas.microsoft.com/office/powerpoint/2010/main" val="3887279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113886C-CA9A-4160-89BA-D8E971235274}" type="slidenum">
              <a:rPr lang="en-US" smtClean="0"/>
              <a:pPr/>
              <a:t>20</a:t>
            </a:fld>
            <a:endParaRPr lang="en-US"/>
          </a:p>
        </p:txBody>
      </p:sp>
    </p:spTree>
    <p:extLst>
      <p:ext uri="{BB962C8B-B14F-4D97-AF65-F5344CB8AC3E}">
        <p14:creationId xmlns:p14="http://schemas.microsoft.com/office/powerpoint/2010/main" val="385932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6" name="Slide Number Placeholder 5"/>
          <p:cNvSpPr>
            <a:spLocks noGrp="1"/>
          </p:cNvSpPr>
          <p:nvPr>
            <p:ph type="sldNum" sz="quarter" idx="12"/>
          </p:nvPr>
        </p:nvSpPr>
        <p:spPr/>
        <p:txBody>
          <a:bodyPr/>
          <a:lstStyle>
            <a:lvl1pPr>
              <a:defRPr/>
            </a:lvl1pPr>
          </a:lstStyle>
          <a:p>
            <a:fld id="{7D3EF99D-68A2-431A-81DC-4E1C93BD0283}" type="slidenum">
              <a:rPr lang="en-US"/>
              <a:pPr/>
              <a:t>‹#›</a:t>
            </a:fld>
            <a:endParaRPr lang="en-US"/>
          </a:p>
        </p:txBody>
      </p:sp>
    </p:spTree>
    <p:extLst>
      <p:ext uri="{BB962C8B-B14F-4D97-AF65-F5344CB8AC3E}">
        <p14:creationId xmlns:p14="http://schemas.microsoft.com/office/powerpoint/2010/main" val="2300148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sz="1400"/>
            </a:lvl1pPr>
          </a:lstStyle>
          <a:p>
            <a:r>
              <a:rPr lang="en-US"/>
              <a:t>© Copyright 2026.  Peter M. Shane All rights reserved. </a:t>
            </a:r>
            <a:endParaRPr lang="en-US" sz="1200" dirty="0"/>
          </a:p>
        </p:txBody>
      </p:sp>
      <p:sp>
        <p:nvSpPr>
          <p:cNvPr id="6" name="Slide Number Placeholder 5"/>
          <p:cNvSpPr>
            <a:spLocks noGrp="1"/>
          </p:cNvSpPr>
          <p:nvPr>
            <p:ph type="sldNum" sz="quarter" idx="12"/>
          </p:nvPr>
        </p:nvSpPr>
        <p:spPr/>
        <p:txBody>
          <a:bodyPr/>
          <a:lstStyle>
            <a:lvl1pPr>
              <a:defRPr/>
            </a:lvl1pPr>
          </a:lstStyle>
          <a:p>
            <a:fld id="{43E3236E-8354-4469-A39B-052E70412384}" type="slidenum">
              <a:rPr lang="en-US"/>
              <a:pPr/>
              <a:t>‹#›</a:t>
            </a:fld>
            <a:endParaRPr lang="en-US"/>
          </a:p>
        </p:txBody>
      </p:sp>
    </p:spTree>
    <p:extLst>
      <p:ext uri="{BB962C8B-B14F-4D97-AF65-F5344CB8AC3E}">
        <p14:creationId xmlns:p14="http://schemas.microsoft.com/office/powerpoint/2010/main" val="2181685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6" name="Slide Number Placeholder 5"/>
          <p:cNvSpPr>
            <a:spLocks noGrp="1"/>
          </p:cNvSpPr>
          <p:nvPr>
            <p:ph type="sldNum" sz="quarter" idx="12"/>
          </p:nvPr>
        </p:nvSpPr>
        <p:spPr/>
        <p:txBody>
          <a:bodyPr/>
          <a:lstStyle>
            <a:lvl1pPr>
              <a:defRPr/>
            </a:lvl1pPr>
          </a:lstStyle>
          <a:p>
            <a:fld id="{ED7A2C10-E62F-4C50-BEE7-A68D4AA42D99}" type="slidenum">
              <a:rPr lang="en-US"/>
              <a:pPr/>
              <a:t>‹#›</a:t>
            </a:fld>
            <a:endParaRPr lang="en-US"/>
          </a:p>
        </p:txBody>
      </p:sp>
    </p:spTree>
    <p:extLst>
      <p:ext uri="{BB962C8B-B14F-4D97-AF65-F5344CB8AC3E}">
        <p14:creationId xmlns:p14="http://schemas.microsoft.com/office/powerpoint/2010/main" val="1143907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7" name="Slide Number Placeholder 6"/>
          <p:cNvSpPr>
            <a:spLocks noGrp="1"/>
          </p:cNvSpPr>
          <p:nvPr>
            <p:ph type="sldNum" sz="quarter" idx="12"/>
          </p:nvPr>
        </p:nvSpPr>
        <p:spPr/>
        <p:txBody>
          <a:bodyPr/>
          <a:lstStyle>
            <a:lvl1pPr>
              <a:defRPr/>
            </a:lvl1pPr>
          </a:lstStyle>
          <a:p>
            <a:fld id="{5667F313-C39D-43E8-B9A1-106CE8419531}" type="slidenum">
              <a:rPr lang="en-US"/>
              <a:pPr/>
              <a:t>‹#›</a:t>
            </a:fld>
            <a:endParaRPr lang="en-US"/>
          </a:p>
        </p:txBody>
      </p:sp>
    </p:spTree>
    <p:extLst>
      <p:ext uri="{BB962C8B-B14F-4D97-AF65-F5344CB8AC3E}">
        <p14:creationId xmlns:p14="http://schemas.microsoft.com/office/powerpoint/2010/main" val="3527210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9" name="Slide Number Placeholder 8"/>
          <p:cNvSpPr>
            <a:spLocks noGrp="1"/>
          </p:cNvSpPr>
          <p:nvPr>
            <p:ph type="sldNum" sz="quarter" idx="12"/>
          </p:nvPr>
        </p:nvSpPr>
        <p:spPr/>
        <p:txBody>
          <a:bodyPr/>
          <a:lstStyle>
            <a:lvl1pPr>
              <a:defRPr/>
            </a:lvl1pPr>
          </a:lstStyle>
          <a:p>
            <a:fld id="{B37CBFAA-C870-4BCA-8749-03B1A955763E}" type="slidenum">
              <a:rPr lang="en-US"/>
              <a:pPr/>
              <a:t>‹#›</a:t>
            </a:fld>
            <a:endParaRPr lang="en-US"/>
          </a:p>
        </p:txBody>
      </p:sp>
    </p:spTree>
    <p:extLst>
      <p:ext uri="{BB962C8B-B14F-4D97-AF65-F5344CB8AC3E}">
        <p14:creationId xmlns:p14="http://schemas.microsoft.com/office/powerpoint/2010/main" val="3959558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5" name="Slide Number Placeholder 4"/>
          <p:cNvSpPr>
            <a:spLocks noGrp="1"/>
          </p:cNvSpPr>
          <p:nvPr>
            <p:ph type="sldNum" sz="quarter" idx="12"/>
          </p:nvPr>
        </p:nvSpPr>
        <p:spPr/>
        <p:txBody>
          <a:bodyPr/>
          <a:lstStyle>
            <a:lvl1pPr>
              <a:defRPr/>
            </a:lvl1pPr>
          </a:lstStyle>
          <a:p>
            <a:fld id="{E07293E1-2C27-4DFD-BB91-B40781D0C38F}" type="slidenum">
              <a:rPr lang="en-US"/>
              <a:pPr/>
              <a:t>‹#›</a:t>
            </a:fld>
            <a:endParaRPr lang="en-US"/>
          </a:p>
        </p:txBody>
      </p:sp>
    </p:spTree>
    <p:extLst>
      <p:ext uri="{BB962C8B-B14F-4D97-AF65-F5344CB8AC3E}">
        <p14:creationId xmlns:p14="http://schemas.microsoft.com/office/powerpoint/2010/main" val="1286030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4" name="Slide Number Placeholder 3"/>
          <p:cNvSpPr>
            <a:spLocks noGrp="1"/>
          </p:cNvSpPr>
          <p:nvPr>
            <p:ph type="sldNum" sz="quarter" idx="12"/>
          </p:nvPr>
        </p:nvSpPr>
        <p:spPr/>
        <p:txBody>
          <a:bodyPr/>
          <a:lstStyle>
            <a:lvl1pPr>
              <a:defRPr/>
            </a:lvl1pPr>
          </a:lstStyle>
          <a:p>
            <a:fld id="{76AC2DA0-BAE7-4B7F-80E7-89BACC91041A}" type="slidenum">
              <a:rPr lang="en-US"/>
              <a:pPr/>
              <a:t>‹#›</a:t>
            </a:fld>
            <a:endParaRPr lang="en-US"/>
          </a:p>
        </p:txBody>
      </p:sp>
    </p:spTree>
    <p:extLst>
      <p:ext uri="{BB962C8B-B14F-4D97-AF65-F5344CB8AC3E}">
        <p14:creationId xmlns:p14="http://schemas.microsoft.com/office/powerpoint/2010/main" val="2218351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7" name="Slide Number Placeholder 6"/>
          <p:cNvSpPr>
            <a:spLocks noGrp="1"/>
          </p:cNvSpPr>
          <p:nvPr>
            <p:ph type="sldNum" sz="quarter" idx="12"/>
          </p:nvPr>
        </p:nvSpPr>
        <p:spPr/>
        <p:txBody>
          <a:bodyPr/>
          <a:lstStyle>
            <a:lvl1pPr>
              <a:defRPr/>
            </a:lvl1pPr>
          </a:lstStyle>
          <a:p>
            <a:fld id="{4E60DEAB-FBD6-4218-8F7A-9F595F530862}" type="slidenum">
              <a:rPr lang="en-US"/>
              <a:pPr/>
              <a:t>‹#›</a:t>
            </a:fld>
            <a:endParaRPr lang="en-US"/>
          </a:p>
        </p:txBody>
      </p:sp>
    </p:spTree>
    <p:extLst>
      <p:ext uri="{BB962C8B-B14F-4D97-AF65-F5344CB8AC3E}">
        <p14:creationId xmlns:p14="http://schemas.microsoft.com/office/powerpoint/2010/main" val="1043626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7" name="Slide Number Placeholder 6"/>
          <p:cNvSpPr>
            <a:spLocks noGrp="1"/>
          </p:cNvSpPr>
          <p:nvPr>
            <p:ph type="sldNum" sz="quarter" idx="12"/>
          </p:nvPr>
        </p:nvSpPr>
        <p:spPr/>
        <p:txBody>
          <a:bodyPr/>
          <a:lstStyle>
            <a:lvl1pPr>
              <a:defRPr/>
            </a:lvl1pPr>
          </a:lstStyle>
          <a:p>
            <a:fld id="{9DA6AD37-4B7F-4E6C-9137-3140F9D1C51B}" type="slidenum">
              <a:rPr lang="en-US"/>
              <a:pPr/>
              <a:t>‹#›</a:t>
            </a:fld>
            <a:endParaRPr lang="en-US"/>
          </a:p>
        </p:txBody>
      </p:sp>
    </p:spTree>
    <p:extLst>
      <p:ext uri="{BB962C8B-B14F-4D97-AF65-F5344CB8AC3E}">
        <p14:creationId xmlns:p14="http://schemas.microsoft.com/office/powerpoint/2010/main" val="1374474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6" name="Slide Number Placeholder 5"/>
          <p:cNvSpPr>
            <a:spLocks noGrp="1"/>
          </p:cNvSpPr>
          <p:nvPr>
            <p:ph type="sldNum" sz="quarter" idx="12"/>
          </p:nvPr>
        </p:nvSpPr>
        <p:spPr/>
        <p:txBody>
          <a:bodyPr/>
          <a:lstStyle>
            <a:lvl1pPr>
              <a:defRPr/>
            </a:lvl1pPr>
          </a:lstStyle>
          <a:p>
            <a:fld id="{A41A66BD-AF8B-4393-8079-1D35037EA29D}" type="slidenum">
              <a:rPr lang="en-US"/>
              <a:pPr/>
              <a:t>‹#›</a:t>
            </a:fld>
            <a:endParaRPr lang="en-US"/>
          </a:p>
        </p:txBody>
      </p:sp>
    </p:spTree>
    <p:extLst>
      <p:ext uri="{BB962C8B-B14F-4D97-AF65-F5344CB8AC3E}">
        <p14:creationId xmlns:p14="http://schemas.microsoft.com/office/powerpoint/2010/main" val="2976742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6" name="Slide Number Placeholder 5"/>
          <p:cNvSpPr>
            <a:spLocks noGrp="1"/>
          </p:cNvSpPr>
          <p:nvPr>
            <p:ph type="sldNum" sz="quarter" idx="12"/>
          </p:nvPr>
        </p:nvSpPr>
        <p:spPr/>
        <p:txBody>
          <a:bodyPr/>
          <a:lstStyle>
            <a:lvl1pPr>
              <a:defRPr/>
            </a:lvl1pPr>
          </a:lstStyle>
          <a:p>
            <a:fld id="{869B92DC-A21D-4ED3-9D0C-A759C128BAE5}" type="slidenum">
              <a:rPr lang="en-US"/>
              <a:pPr/>
              <a:t>‹#›</a:t>
            </a:fld>
            <a:endParaRPr lang="en-US"/>
          </a:p>
        </p:txBody>
      </p:sp>
    </p:spTree>
    <p:extLst>
      <p:ext uri="{BB962C8B-B14F-4D97-AF65-F5344CB8AC3E}">
        <p14:creationId xmlns:p14="http://schemas.microsoft.com/office/powerpoint/2010/main" val="3610142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vl1pPr>
          </a:lstStyle>
          <a:p>
            <a:r>
              <a:rPr lang="en-US" sz="1400"/>
              <a:t>© Copyright 2026.  Peter M. Shane All rights reserved. </a:t>
            </a: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5A1B40A4-E29F-4CDF-9935-ACFA67EAC4E9}"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85705-B045-7D73-DEF9-92ABB1707940}"/>
              </a:ext>
            </a:extLst>
          </p:cNvPr>
          <p:cNvSpPr>
            <a:spLocks noGrp="1"/>
          </p:cNvSpPr>
          <p:nvPr>
            <p:ph type="title"/>
          </p:nvPr>
        </p:nvSpPr>
        <p:spPr/>
        <p:txBody>
          <a:bodyPr/>
          <a:lstStyle/>
          <a:p>
            <a:r>
              <a:rPr lang="en-US" dirty="0"/>
              <a:t>Recap of Class 6</a:t>
            </a:r>
          </a:p>
        </p:txBody>
      </p:sp>
      <p:sp>
        <p:nvSpPr>
          <p:cNvPr id="3" name="Content Placeholder 2">
            <a:extLst>
              <a:ext uri="{FF2B5EF4-FFF2-40B4-BE49-F238E27FC236}">
                <a16:creationId xmlns:a16="http://schemas.microsoft.com/office/drawing/2014/main" id="{86881484-91EF-F209-D5C7-355CD4211B92}"/>
              </a:ext>
            </a:extLst>
          </p:cNvPr>
          <p:cNvSpPr>
            <a:spLocks noGrp="1"/>
          </p:cNvSpPr>
          <p:nvPr>
            <p:ph idx="1"/>
          </p:nvPr>
        </p:nvSpPr>
        <p:spPr/>
        <p:txBody>
          <a:bodyPr/>
          <a:lstStyle/>
          <a:p>
            <a:r>
              <a:rPr lang="en-US" sz="2800" dirty="0"/>
              <a:t>Continued exploration of canons of construction</a:t>
            </a:r>
          </a:p>
          <a:p>
            <a:r>
              <a:rPr lang="en-US" sz="2800" dirty="0"/>
              <a:t>Canons evolve from judicial decisions and may embody substantive values</a:t>
            </a:r>
          </a:p>
          <a:p>
            <a:pPr lvl="1"/>
            <a:r>
              <a:rPr lang="en-US" sz="2400" dirty="0"/>
              <a:t>Constitutional avoidance canon relieves Court of having to resolve a constitutional issue</a:t>
            </a:r>
          </a:p>
          <a:p>
            <a:r>
              <a:rPr lang="en-US" sz="2800" dirty="0"/>
              <a:t>Not only may canons conflict, but Justices may differ regarding triggering conditions</a:t>
            </a:r>
          </a:p>
          <a:p>
            <a:r>
              <a:rPr lang="en-US" sz="2800" dirty="0"/>
              <a:t>Difficult to ignore possibility that matters of context not spelled out are shaping choice and application of method</a:t>
            </a:r>
          </a:p>
          <a:p>
            <a:pPr marL="0" indent="0">
              <a:buNone/>
            </a:pPr>
            <a:endParaRPr lang="en-US" dirty="0"/>
          </a:p>
        </p:txBody>
      </p:sp>
      <p:sp>
        <p:nvSpPr>
          <p:cNvPr id="4" name="Footer Placeholder 3">
            <a:extLst>
              <a:ext uri="{FF2B5EF4-FFF2-40B4-BE49-F238E27FC236}">
                <a16:creationId xmlns:a16="http://schemas.microsoft.com/office/drawing/2014/main" id="{78E78140-8152-601B-A23F-DCE5666748DD}"/>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B80BCEAE-F9F0-C506-2FAA-1E7C420BBAF1}"/>
              </a:ext>
            </a:extLst>
          </p:cNvPr>
          <p:cNvSpPr>
            <a:spLocks noGrp="1"/>
          </p:cNvSpPr>
          <p:nvPr>
            <p:ph type="sldNum" sz="quarter" idx="12"/>
          </p:nvPr>
        </p:nvSpPr>
        <p:spPr/>
        <p:txBody>
          <a:bodyPr/>
          <a:lstStyle/>
          <a:p>
            <a:fld id="{43E3236E-8354-4469-A39B-052E70412384}" type="slidenum">
              <a:rPr lang="en-US" smtClean="0"/>
              <a:pPr/>
              <a:t>1</a:t>
            </a:fld>
            <a:endParaRPr lang="en-US"/>
          </a:p>
        </p:txBody>
      </p:sp>
    </p:spTree>
    <p:extLst>
      <p:ext uri="{BB962C8B-B14F-4D97-AF65-F5344CB8AC3E}">
        <p14:creationId xmlns:p14="http://schemas.microsoft.com/office/powerpoint/2010/main" val="3417930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6C128-CC62-963A-B0C1-97EA53003D76}"/>
              </a:ext>
            </a:extLst>
          </p:cNvPr>
          <p:cNvSpPr>
            <a:spLocks noGrp="1"/>
          </p:cNvSpPr>
          <p:nvPr>
            <p:ph type="title"/>
          </p:nvPr>
        </p:nvSpPr>
        <p:spPr/>
        <p:txBody>
          <a:bodyPr/>
          <a:lstStyle/>
          <a:p>
            <a:r>
              <a:rPr lang="en-US" dirty="0"/>
              <a:t>Epic Systems v. Lewis (2018)</a:t>
            </a:r>
          </a:p>
        </p:txBody>
      </p:sp>
      <p:sp>
        <p:nvSpPr>
          <p:cNvPr id="3" name="Content Placeholder 2">
            <a:extLst>
              <a:ext uri="{FF2B5EF4-FFF2-40B4-BE49-F238E27FC236}">
                <a16:creationId xmlns:a16="http://schemas.microsoft.com/office/drawing/2014/main" id="{5407C5D5-CB46-B40A-9154-10B741CD6AEF}"/>
              </a:ext>
            </a:extLst>
          </p:cNvPr>
          <p:cNvSpPr>
            <a:spLocks noGrp="1"/>
          </p:cNvSpPr>
          <p:nvPr>
            <p:ph idx="1"/>
          </p:nvPr>
        </p:nvSpPr>
        <p:spPr/>
        <p:txBody>
          <a:bodyPr>
            <a:normAutofit fontScale="77500" lnSpcReduction="20000"/>
          </a:bodyPr>
          <a:lstStyle/>
          <a:p>
            <a:r>
              <a:rPr lang="en-US" dirty="0"/>
              <a:t>Workers sued in court, claiming they were misclassified as “professional employees” in order to deny them overtime under the Fair Labor Standards Act</a:t>
            </a:r>
          </a:p>
          <a:p>
            <a:r>
              <a:rPr lang="en-US" dirty="0"/>
              <a:t>Required, as an apparent condition of employment, to sign contracts providing that they would arbitrate any disputes that might arise between them</a:t>
            </a:r>
          </a:p>
          <a:p>
            <a:r>
              <a:rPr lang="en-US" dirty="0"/>
              <a:t>The arbitrator could “grant any relief that could be granted by ... a court” in the relevant jurisdiction.</a:t>
            </a:r>
          </a:p>
          <a:p>
            <a:r>
              <a:rPr lang="en-US" dirty="0"/>
              <a:t>Agreements specified individualized arbitration, with claims “pertaining to different [e]</a:t>
            </a:r>
            <a:r>
              <a:rPr lang="en-US" dirty="0" err="1"/>
              <a:t>mployees</a:t>
            </a:r>
            <a:r>
              <a:rPr lang="en-US" dirty="0"/>
              <a:t> [to] be heard in separate proceedings.”</a:t>
            </a:r>
          </a:p>
        </p:txBody>
      </p:sp>
      <p:sp>
        <p:nvSpPr>
          <p:cNvPr id="4" name="Footer Placeholder 3">
            <a:extLst>
              <a:ext uri="{FF2B5EF4-FFF2-40B4-BE49-F238E27FC236}">
                <a16:creationId xmlns:a16="http://schemas.microsoft.com/office/drawing/2014/main" id="{F4D05C34-EC13-4858-5562-F07185DF41C9}"/>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2923941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82D43-CDBF-4340-1C40-29AB8005373F}"/>
              </a:ext>
            </a:extLst>
          </p:cNvPr>
          <p:cNvSpPr>
            <a:spLocks noGrp="1"/>
          </p:cNvSpPr>
          <p:nvPr>
            <p:ph type="title"/>
          </p:nvPr>
        </p:nvSpPr>
        <p:spPr/>
        <p:txBody>
          <a:bodyPr/>
          <a:lstStyle/>
          <a:p>
            <a:r>
              <a:rPr lang="en-US" dirty="0"/>
              <a:t>How did case get to SCOTUS?</a:t>
            </a:r>
          </a:p>
        </p:txBody>
      </p:sp>
      <p:sp>
        <p:nvSpPr>
          <p:cNvPr id="3" name="Content Placeholder 2">
            <a:extLst>
              <a:ext uri="{FF2B5EF4-FFF2-40B4-BE49-F238E27FC236}">
                <a16:creationId xmlns:a16="http://schemas.microsoft.com/office/drawing/2014/main" id="{05809D66-379C-B9F6-9A63-C3FB0C853385}"/>
              </a:ext>
            </a:extLst>
          </p:cNvPr>
          <p:cNvSpPr>
            <a:spLocks noGrp="1"/>
          </p:cNvSpPr>
          <p:nvPr>
            <p:ph idx="1"/>
          </p:nvPr>
        </p:nvSpPr>
        <p:spPr/>
        <p:txBody>
          <a:bodyPr/>
          <a:lstStyle/>
          <a:p>
            <a:r>
              <a:rPr lang="en-US" dirty="0"/>
              <a:t>Employer moved to compel arbitration</a:t>
            </a:r>
          </a:p>
          <a:p>
            <a:r>
              <a:rPr lang="en-US" dirty="0"/>
              <a:t>Granted by the district court, but overturned in the Ninth Circuit</a:t>
            </a:r>
          </a:p>
          <a:p>
            <a:r>
              <a:rPr lang="en-US" dirty="0"/>
              <a:t>Certiorari granted</a:t>
            </a:r>
          </a:p>
          <a:p>
            <a:endParaRPr lang="en-US" dirty="0"/>
          </a:p>
        </p:txBody>
      </p:sp>
      <p:sp>
        <p:nvSpPr>
          <p:cNvPr id="4" name="Footer Placeholder 3">
            <a:extLst>
              <a:ext uri="{FF2B5EF4-FFF2-40B4-BE49-F238E27FC236}">
                <a16:creationId xmlns:a16="http://schemas.microsoft.com/office/drawing/2014/main" id="{2A7ED9FB-CD57-DDD4-0E15-AB6800158B26}"/>
              </a:ext>
            </a:extLst>
          </p:cNvPr>
          <p:cNvSpPr>
            <a:spLocks noGrp="1"/>
          </p:cNvSpPr>
          <p:nvPr>
            <p:ph type="ftr" sz="quarter" idx="11"/>
          </p:nvPr>
        </p:nvSpPr>
        <p:spPr/>
        <p:txBody>
          <a:bodyPr/>
          <a:lstStyle/>
          <a:p>
            <a:r>
              <a:rPr lang="en-US"/>
              <a:t>© Copyright 2026.  Peter M. Shane All rights reserved. </a:t>
            </a:r>
          </a:p>
        </p:txBody>
      </p:sp>
      <p:pic>
        <p:nvPicPr>
          <p:cNvPr id="6" name="Picture 5">
            <a:extLst>
              <a:ext uri="{FF2B5EF4-FFF2-40B4-BE49-F238E27FC236}">
                <a16:creationId xmlns:a16="http://schemas.microsoft.com/office/drawing/2014/main" id="{896B9178-06C3-F388-2222-162C63EBE260}"/>
              </a:ext>
            </a:extLst>
          </p:cNvPr>
          <p:cNvPicPr>
            <a:picLocks noChangeAspect="1"/>
          </p:cNvPicPr>
          <p:nvPr/>
        </p:nvPicPr>
        <p:blipFill>
          <a:blip r:embed="rId2"/>
          <a:stretch>
            <a:fillRect/>
          </a:stretch>
        </p:blipFill>
        <p:spPr>
          <a:xfrm>
            <a:off x="2514600" y="3962400"/>
            <a:ext cx="3948274" cy="1811561"/>
          </a:xfrm>
          <a:prstGeom prst="rect">
            <a:avLst/>
          </a:prstGeom>
        </p:spPr>
      </p:pic>
    </p:spTree>
    <p:extLst>
      <p:ext uri="{BB962C8B-B14F-4D97-AF65-F5344CB8AC3E}">
        <p14:creationId xmlns:p14="http://schemas.microsoft.com/office/powerpoint/2010/main" val="368524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CED59-8D08-E0BA-0746-9C9C281D63F2}"/>
              </a:ext>
            </a:extLst>
          </p:cNvPr>
          <p:cNvSpPr>
            <a:spLocks noGrp="1"/>
          </p:cNvSpPr>
          <p:nvPr>
            <p:ph type="title"/>
          </p:nvPr>
        </p:nvSpPr>
        <p:spPr/>
        <p:txBody>
          <a:bodyPr/>
          <a:lstStyle/>
          <a:p>
            <a:r>
              <a:rPr lang="en-US" dirty="0"/>
              <a:t>What collective options were foregone?</a:t>
            </a:r>
          </a:p>
        </p:txBody>
      </p:sp>
      <p:sp>
        <p:nvSpPr>
          <p:cNvPr id="3" name="Content Placeholder 2">
            <a:extLst>
              <a:ext uri="{FF2B5EF4-FFF2-40B4-BE49-F238E27FC236}">
                <a16:creationId xmlns:a16="http://schemas.microsoft.com/office/drawing/2014/main" id="{875F258B-BE63-CB66-08C8-37B26E0E5209}"/>
              </a:ext>
            </a:extLst>
          </p:cNvPr>
          <p:cNvSpPr>
            <a:spLocks noGrp="1"/>
          </p:cNvSpPr>
          <p:nvPr>
            <p:ph idx="1"/>
          </p:nvPr>
        </p:nvSpPr>
        <p:spPr/>
        <p:txBody>
          <a:bodyPr>
            <a:normAutofit fontScale="70000" lnSpcReduction="20000"/>
          </a:bodyPr>
          <a:lstStyle/>
          <a:p>
            <a:pPr marL="385763" indent="-385763">
              <a:buFont typeface="+mj-lt"/>
              <a:buAutoNum type="arabicPeriod"/>
            </a:pPr>
            <a:r>
              <a:rPr lang="en-US" dirty="0"/>
              <a:t>Class arbitration</a:t>
            </a:r>
          </a:p>
          <a:p>
            <a:pPr marL="385763" indent="-385763">
              <a:buFont typeface="+mj-lt"/>
              <a:buAutoNum type="arabicPeriod"/>
            </a:pPr>
            <a:r>
              <a:rPr lang="en-US" dirty="0"/>
              <a:t>Rule 23 class actions under the Federal Rules of Civil Procedure</a:t>
            </a:r>
          </a:p>
          <a:p>
            <a:pPr marL="0" indent="0">
              <a:buNone/>
            </a:pPr>
            <a:r>
              <a:rPr lang="en-US" dirty="0"/>
              <a:t>(a) Prerequisites. One or more members of a class may sue or be sued as representative parties on behalf of all members only if:</a:t>
            </a:r>
          </a:p>
          <a:p>
            <a:pPr marL="342900" lvl="1" indent="0">
              <a:buNone/>
            </a:pPr>
            <a:r>
              <a:rPr lang="en-US" dirty="0"/>
              <a:t>(1) the class is so numerous that joinder of all members is impracticable;</a:t>
            </a:r>
          </a:p>
          <a:p>
            <a:pPr marL="342900" lvl="1" indent="0">
              <a:buNone/>
            </a:pPr>
            <a:r>
              <a:rPr lang="en-US" dirty="0"/>
              <a:t>(2) there are questions of law or fact common to the class;</a:t>
            </a:r>
          </a:p>
          <a:p>
            <a:pPr marL="342900" lvl="1" indent="0">
              <a:buNone/>
            </a:pPr>
            <a:r>
              <a:rPr lang="en-US" dirty="0"/>
              <a:t>(3) the claims or defenses of the representative parties are typical of the claims or defenses of the class; and</a:t>
            </a:r>
          </a:p>
          <a:p>
            <a:pPr marL="342900" lvl="1" indent="0">
              <a:buNone/>
            </a:pPr>
            <a:r>
              <a:rPr lang="en-US" dirty="0"/>
              <a:t>(4) the representative parties will fairly and adequately protect the interests of the class.</a:t>
            </a:r>
          </a:p>
          <a:p>
            <a:pPr marL="0" indent="0">
              <a:buNone/>
            </a:pPr>
            <a:r>
              <a:rPr lang="en-US" dirty="0"/>
              <a:t>3.  29 U.S.C. § 216 Collective action provisions</a:t>
            </a:r>
          </a:p>
        </p:txBody>
      </p:sp>
      <p:sp>
        <p:nvSpPr>
          <p:cNvPr id="4" name="Footer Placeholder 3">
            <a:extLst>
              <a:ext uri="{FF2B5EF4-FFF2-40B4-BE49-F238E27FC236}">
                <a16:creationId xmlns:a16="http://schemas.microsoft.com/office/drawing/2014/main" id="{8A9F9B97-D265-C088-84FA-B629BD2D75C3}"/>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1487788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17843-2E87-91F1-C42B-6303BACB2B94}"/>
              </a:ext>
            </a:extLst>
          </p:cNvPr>
          <p:cNvSpPr>
            <a:spLocks noGrp="1"/>
          </p:cNvSpPr>
          <p:nvPr>
            <p:ph type="title"/>
          </p:nvPr>
        </p:nvSpPr>
        <p:spPr/>
        <p:txBody>
          <a:bodyPr/>
          <a:lstStyle/>
          <a:p>
            <a:r>
              <a:rPr lang="en-US" dirty="0"/>
              <a:t>Fair Labor Standards Act</a:t>
            </a:r>
          </a:p>
        </p:txBody>
      </p:sp>
      <p:sp>
        <p:nvSpPr>
          <p:cNvPr id="3" name="Content Placeholder 2">
            <a:extLst>
              <a:ext uri="{FF2B5EF4-FFF2-40B4-BE49-F238E27FC236}">
                <a16:creationId xmlns:a16="http://schemas.microsoft.com/office/drawing/2014/main" id="{2E190D65-9DD5-3D9D-0505-F332207DF0D5}"/>
              </a:ext>
            </a:extLst>
          </p:cNvPr>
          <p:cNvSpPr>
            <a:spLocks noGrp="1"/>
          </p:cNvSpPr>
          <p:nvPr>
            <p:ph idx="1"/>
          </p:nvPr>
        </p:nvSpPr>
        <p:spPr/>
        <p:txBody>
          <a:bodyPr/>
          <a:lstStyle/>
          <a:p>
            <a:r>
              <a:rPr lang="en-US" sz="2800" dirty="0"/>
              <a:t>29 U.S.C. § 207 – entitles employees to at least time-and-a-half if working over 40 hours</a:t>
            </a:r>
          </a:p>
          <a:p>
            <a:r>
              <a:rPr lang="en-US" sz="2800" dirty="0"/>
              <a:t>29 U.S.C. § 216 – Penalties</a:t>
            </a:r>
          </a:p>
          <a:p>
            <a:pPr lvl="1"/>
            <a:r>
              <a:rPr lang="en-US" sz="2400" dirty="0"/>
              <a:t>Employers who violate 207 liable for double what they owe</a:t>
            </a:r>
          </a:p>
          <a:p>
            <a:pPr lvl="1"/>
            <a:r>
              <a:rPr lang="en-US" sz="2400" dirty="0"/>
              <a:t>“An action to recover the liability prescribed in the preceding sentences may be maintained against any employer (including a public agency) in any Federal or State court of competent jurisdiction by any one or more employees for and in behalf of himself or themselves and other employees similarly situated.”</a:t>
            </a:r>
          </a:p>
          <a:p>
            <a:endParaRPr lang="en-US" dirty="0"/>
          </a:p>
        </p:txBody>
      </p:sp>
      <p:sp>
        <p:nvSpPr>
          <p:cNvPr id="4" name="Footer Placeholder 3">
            <a:extLst>
              <a:ext uri="{FF2B5EF4-FFF2-40B4-BE49-F238E27FC236}">
                <a16:creationId xmlns:a16="http://schemas.microsoft.com/office/drawing/2014/main" id="{FF24028E-489C-4A2C-DDCA-E7E2180AD6D4}"/>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2339879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8F785-BCBE-79F5-65A8-E76E1FE999C6}"/>
              </a:ext>
            </a:extLst>
          </p:cNvPr>
          <p:cNvSpPr>
            <a:spLocks noGrp="1"/>
          </p:cNvSpPr>
          <p:nvPr>
            <p:ph type="title"/>
          </p:nvPr>
        </p:nvSpPr>
        <p:spPr/>
        <p:txBody>
          <a:bodyPr/>
          <a:lstStyle/>
          <a:p>
            <a:r>
              <a:rPr lang="en-US" dirty="0"/>
              <a:t>Majority Opinion (per Gorsuch, J.)</a:t>
            </a:r>
          </a:p>
        </p:txBody>
      </p:sp>
      <p:sp>
        <p:nvSpPr>
          <p:cNvPr id="3" name="Content Placeholder 2">
            <a:extLst>
              <a:ext uri="{FF2B5EF4-FFF2-40B4-BE49-F238E27FC236}">
                <a16:creationId xmlns:a16="http://schemas.microsoft.com/office/drawing/2014/main" id="{99D1F2C0-7A5C-1CAE-CB6E-5FFAD63C26CE}"/>
              </a:ext>
            </a:extLst>
          </p:cNvPr>
          <p:cNvSpPr>
            <a:spLocks noGrp="1"/>
          </p:cNvSpPr>
          <p:nvPr>
            <p:ph idx="1"/>
          </p:nvPr>
        </p:nvSpPr>
        <p:spPr/>
        <p:txBody>
          <a:bodyPr>
            <a:normAutofit fontScale="77500" lnSpcReduction="20000"/>
          </a:bodyPr>
          <a:lstStyle/>
          <a:p>
            <a:r>
              <a:rPr lang="en-US" dirty="0"/>
              <a:t>Textualism (in service of perceived purpose?)</a:t>
            </a:r>
          </a:p>
          <a:p>
            <a:r>
              <a:rPr lang="en-US" dirty="0"/>
              <a:t>Federal Arbitration Act: 9 U.S.C. § 2 - Validity, irrevocability, and enforcement of agreements to arbitrate</a:t>
            </a:r>
          </a:p>
          <a:p>
            <a:pPr marL="342900" lvl="1" indent="0">
              <a:buNone/>
            </a:pPr>
            <a:r>
              <a:rPr lang="en-US" dirty="0"/>
              <a:t>A written provision in any maritime transaction or a contract evidencing a transaction involving commerce to settle by arbitration a controversy thereafter arising out of such contract or transaction, or the refusal to perform the whole or any part thereof, or an agreement in writing to submit to arbitration an existing controversy arising out of such a contract, transaction, or refusal, shall be valid, irrevocable, and enforceable, save upon such grounds as exist at law or in equity for the revocation of any contract or as otherwise provided in chapter 4.* [*Claims based on sexual harassment or assault]</a:t>
            </a:r>
          </a:p>
          <a:p>
            <a:pPr marL="0" indent="0">
              <a:buNone/>
            </a:pPr>
            <a:endParaRPr lang="en-US" dirty="0"/>
          </a:p>
        </p:txBody>
      </p:sp>
      <p:sp>
        <p:nvSpPr>
          <p:cNvPr id="4" name="Footer Placeholder 3">
            <a:extLst>
              <a:ext uri="{FF2B5EF4-FFF2-40B4-BE49-F238E27FC236}">
                <a16:creationId xmlns:a16="http://schemas.microsoft.com/office/drawing/2014/main" id="{91EB576A-ADA7-0241-D215-6EC53194E0C2}"/>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246462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749D2-045A-1310-067B-FC33AA5C0AEA}"/>
              </a:ext>
            </a:extLst>
          </p:cNvPr>
          <p:cNvSpPr>
            <a:spLocks noGrp="1"/>
          </p:cNvSpPr>
          <p:nvPr>
            <p:ph type="title"/>
          </p:nvPr>
        </p:nvSpPr>
        <p:spPr/>
        <p:txBody>
          <a:bodyPr/>
          <a:lstStyle/>
          <a:p>
            <a:r>
              <a:rPr lang="en-US" dirty="0"/>
              <a:t>But the Act contains exclusions:</a:t>
            </a:r>
          </a:p>
        </p:txBody>
      </p:sp>
      <p:sp>
        <p:nvSpPr>
          <p:cNvPr id="3" name="Content Placeholder 2">
            <a:extLst>
              <a:ext uri="{FF2B5EF4-FFF2-40B4-BE49-F238E27FC236}">
                <a16:creationId xmlns:a16="http://schemas.microsoft.com/office/drawing/2014/main" id="{A785D0AD-D4D2-4E1B-B40A-7688187C7E75}"/>
              </a:ext>
            </a:extLst>
          </p:cNvPr>
          <p:cNvSpPr>
            <a:spLocks noGrp="1"/>
          </p:cNvSpPr>
          <p:nvPr>
            <p:ph idx="1"/>
          </p:nvPr>
        </p:nvSpPr>
        <p:spPr/>
        <p:txBody>
          <a:bodyPr>
            <a:normAutofit/>
          </a:bodyPr>
          <a:lstStyle/>
          <a:p>
            <a:r>
              <a:rPr lang="en-US" sz="2400" dirty="0"/>
              <a:t>9 U.S.C. § 1: “[N]</a:t>
            </a:r>
            <a:r>
              <a:rPr lang="en-US" sz="2400" dirty="0" err="1"/>
              <a:t>othing</a:t>
            </a:r>
            <a:r>
              <a:rPr lang="en-US" sz="2400" dirty="0"/>
              <a:t> herein contained shall apply to contracts of employment of seamen, railroad employees, or any other class of workers engaged in foreign or interstate commerce.” Why doesn’t that apply here?</a:t>
            </a:r>
          </a:p>
          <a:p>
            <a:r>
              <a:rPr lang="en-US" sz="2400" dirty="0"/>
              <a:t>9 U.S.C. § 1 previously interpreted to limit “workers engaged in foreign or interstate commerce” to workers engaged in transport</a:t>
            </a:r>
          </a:p>
          <a:p>
            <a:r>
              <a:rPr lang="en-US" sz="2400" dirty="0"/>
              <a:t>What canon involved?</a:t>
            </a:r>
          </a:p>
          <a:p>
            <a:pPr lvl="1"/>
            <a:r>
              <a:rPr lang="en-US" sz="2400" dirty="0"/>
              <a:t>Ejusdem generis</a:t>
            </a:r>
          </a:p>
        </p:txBody>
      </p:sp>
      <p:sp>
        <p:nvSpPr>
          <p:cNvPr id="4" name="Footer Placeholder 3">
            <a:extLst>
              <a:ext uri="{FF2B5EF4-FFF2-40B4-BE49-F238E27FC236}">
                <a16:creationId xmlns:a16="http://schemas.microsoft.com/office/drawing/2014/main" id="{6C247E55-7A4C-6809-9120-82CCFD861467}"/>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1275453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F0F53-438D-DF3D-A6C5-6AD668EC4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87EB7C-4E8B-9493-7B63-48399B171BFE}"/>
              </a:ext>
            </a:extLst>
          </p:cNvPr>
          <p:cNvSpPr>
            <a:spLocks noGrp="1"/>
          </p:cNvSpPr>
          <p:nvPr>
            <p:ph type="title"/>
          </p:nvPr>
        </p:nvSpPr>
        <p:spPr/>
        <p:txBody>
          <a:bodyPr/>
          <a:lstStyle/>
          <a:p>
            <a:r>
              <a:rPr lang="en-US" dirty="0"/>
              <a:t>And within Section 2 itself</a:t>
            </a:r>
          </a:p>
        </p:txBody>
      </p:sp>
      <p:sp>
        <p:nvSpPr>
          <p:cNvPr id="3" name="Content Placeholder 2">
            <a:extLst>
              <a:ext uri="{FF2B5EF4-FFF2-40B4-BE49-F238E27FC236}">
                <a16:creationId xmlns:a16="http://schemas.microsoft.com/office/drawing/2014/main" id="{1FA8E4F4-26E2-AEEB-4BE1-F1D2AFD75EE8}"/>
              </a:ext>
            </a:extLst>
          </p:cNvPr>
          <p:cNvSpPr>
            <a:spLocks noGrp="1"/>
          </p:cNvSpPr>
          <p:nvPr>
            <p:ph idx="1"/>
          </p:nvPr>
        </p:nvSpPr>
        <p:spPr/>
        <p:txBody>
          <a:bodyPr>
            <a:normAutofit fontScale="70000" lnSpcReduction="20000"/>
          </a:bodyPr>
          <a:lstStyle/>
          <a:p>
            <a:r>
              <a:rPr lang="en-US" dirty="0"/>
              <a:t>“. . . save upon such grounds as exist at law or in equity for the revocation of </a:t>
            </a:r>
            <a:r>
              <a:rPr lang="en-US" b="1" dirty="0">
                <a:solidFill>
                  <a:srgbClr val="FF0000"/>
                </a:solidFill>
              </a:rPr>
              <a:t>any contract</a:t>
            </a:r>
            <a:r>
              <a:rPr lang="en-US" dirty="0"/>
              <a:t>”</a:t>
            </a:r>
          </a:p>
          <a:p>
            <a:r>
              <a:rPr lang="en-US" dirty="0"/>
              <a:t>Plaintiffs argue that Norris-LaGuardia and National Labor Relations Acts make provisions barring group arbitration unlawful</a:t>
            </a:r>
          </a:p>
          <a:p>
            <a:r>
              <a:rPr lang="en-US" dirty="0"/>
              <a:t>“Illegality” is one basis for nonenforcement of contract, so . . . why wouldn’t illegality under the NLRA mean that Section 2 does not apply</a:t>
            </a:r>
          </a:p>
          <a:p>
            <a:r>
              <a:rPr lang="en-US" dirty="0"/>
              <a:t>Gorsuch: The basis for “illegality” must be something that would apply to any contract, not just a contract that is illegal because it favors arbitration </a:t>
            </a:r>
          </a:p>
          <a:p>
            <a:r>
              <a:rPr lang="en-US" dirty="0"/>
              <a:t>Thomas concurrence:  grounds for “revocation” narrower than grounds for nonenforcement, must pertain to making of the contract</a:t>
            </a:r>
          </a:p>
          <a:p>
            <a:endParaRPr lang="en-US" dirty="0"/>
          </a:p>
        </p:txBody>
      </p:sp>
      <p:sp>
        <p:nvSpPr>
          <p:cNvPr id="4" name="Footer Placeholder 3">
            <a:extLst>
              <a:ext uri="{FF2B5EF4-FFF2-40B4-BE49-F238E27FC236}">
                <a16:creationId xmlns:a16="http://schemas.microsoft.com/office/drawing/2014/main" id="{5DEEE85F-1B0C-E59C-3384-ACE5F7FB69C5}"/>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3358237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5ACB6-A1DA-0E6C-5C02-5129C85026AC}"/>
              </a:ext>
            </a:extLst>
          </p:cNvPr>
          <p:cNvSpPr>
            <a:spLocks noGrp="1"/>
          </p:cNvSpPr>
          <p:nvPr>
            <p:ph type="title"/>
          </p:nvPr>
        </p:nvSpPr>
        <p:spPr/>
        <p:txBody>
          <a:bodyPr/>
          <a:lstStyle/>
          <a:p>
            <a:r>
              <a:rPr lang="en-US" dirty="0"/>
              <a:t>Canons Applicable to Multi-statute problems</a:t>
            </a:r>
          </a:p>
        </p:txBody>
      </p:sp>
      <p:sp>
        <p:nvSpPr>
          <p:cNvPr id="3" name="Content Placeholder 2">
            <a:extLst>
              <a:ext uri="{FF2B5EF4-FFF2-40B4-BE49-F238E27FC236}">
                <a16:creationId xmlns:a16="http://schemas.microsoft.com/office/drawing/2014/main" id="{634C94FF-4272-143C-2230-78A9654F11FA}"/>
              </a:ext>
            </a:extLst>
          </p:cNvPr>
          <p:cNvSpPr>
            <a:spLocks noGrp="1"/>
          </p:cNvSpPr>
          <p:nvPr>
            <p:ph idx="1"/>
          </p:nvPr>
        </p:nvSpPr>
        <p:spPr/>
        <p:txBody>
          <a:bodyPr/>
          <a:lstStyle/>
          <a:p>
            <a:r>
              <a:rPr lang="en-US" sz="2400" dirty="0"/>
              <a:t>Harmony Canon: When confronted with two Acts of Congress allegedly touching on the same topic, this Court is not at “liberty to pick and choose among congressional enactments” and must instead strive “ ‘to give effect to both.’ ” </a:t>
            </a:r>
          </a:p>
          <a:p>
            <a:r>
              <a:rPr lang="en-US" sz="2400" dirty="0"/>
              <a:t>Presumption Against Implied Repeal: Repeals by implication are “disfavored.”</a:t>
            </a:r>
          </a:p>
          <a:p>
            <a:r>
              <a:rPr lang="en-US" sz="2400" dirty="0"/>
              <a:t>New Law Trumps Old Law: If statutes irreconcilable, the statute more recently enacted prevails.</a:t>
            </a:r>
          </a:p>
          <a:p>
            <a:r>
              <a:rPr lang="en-US" sz="2400" dirty="0"/>
              <a:t>Specificity Favored:  “[A] specific statute” generally “will not be controlled or nullified by a general one.” </a:t>
            </a:r>
          </a:p>
        </p:txBody>
      </p:sp>
      <p:sp>
        <p:nvSpPr>
          <p:cNvPr id="4" name="Footer Placeholder 3">
            <a:extLst>
              <a:ext uri="{FF2B5EF4-FFF2-40B4-BE49-F238E27FC236}">
                <a16:creationId xmlns:a16="http://schemas.microsoft.com/office/drawing/2014/main" id="{947D9A9E-C6AC-3862-234E-6CD409FD0351}"/>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408120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22F14-CAE5-6DF2-74F6-19F91C51101E}"/>
              </a:ext>
            </a:extLst>
          </p:cNvPr>
          <p:cNvSpPr>
            <a:spLocks noGrp="1"/>
          </p:cNvSpPr>
          <p:nvPr>
            <p:ph type="title"/>
          </p:nvPr>
        </p:nvSpPr>
        <p:spPr/>
        <p:txBody>
          <a:bodyPr/>
          <a:lstStyle/>
          <a:p>
            <a:r>
              <a:rPr lang="en-US" sz="4000" dirty="0"/>
              <a:t>National Labor Relations Act</a:t>
            </a:r>
            <a:br>
              <a:rPr lang="en-US" sz="4000" dirty="0"/>
            </a:br>
            <a:r>
              <a:rPr lang="en-US" sz="4000" dirty="0"/>
              <a:t>29 U.S.C. § 157</a:t>
            </a:r>
          </a:p>
        </p:txBody>
      </p:sp>
      <p:sp>
        <p:nvSpPr>
          <p:cNvPr id="3" name="Content Placeholder 2">
            <a:extLst>
              <a:ext uri="{FF2B5EF4-FFF2-40B4-BE49-F238E27FC236}">
                <a16:creationId xmlns:a16="http://schemas.microsoft.com/office/drawing/2014/main" id="{2F2ECFEF-1948-B940-52E6-B4F7D65C4D20}"/>
              </a:ext>
            </a:extLst>
          </p:cNvPr>
          <p:cNvSpPr>
            <a:spLocks noGrp="1"/>
          </p:cNvSpPr>
          <p:nvPr>
            <p:ph idx="1"/>
          </p:nvPr>
        </p:nvSpPr>
        <p:spPr/>
        <p:txBody>
          <a:bodyPr/>
          <a:lstStyle/>
          <a:p>
            <a:r>
              <a:rPr lang="en-US" sz="2400" dirty="0"/>
              <a:t>Employees shall have the right to self-organization, to form, join, or assist labor organizations, to bargain collectively through representatives of their own choosing, </a:t>
            </a:r>
            <a:r>
              <a:rPr lang="en-US" sz="2400" b="1" dirty="0">
                <a:solidFill>
                  <a:srgbClr val="FF0000"/>
                </a:solidFill>
              </a:rPr>
              <a:t>and to engage in other concerted activities for </a:t>
            </a:r>
            <a:r>
              <a:rPr lang="en-US" sz="2400" dirty="0"/>
              <a:t>the purpose of collective bargaining or other </a:t>
            </a:r>
            <a:r>
              <a:rPr lang="en-US" sz="2400" b="1" dirty="0">
                <a:solidFill>
                  <a:srgbClr val="FF0000"/>
                </a:solidFill>
              </a:rPr>
              <a:t>mutual aid or protection</a:t>
            </a:r>
            <a:r>
              <a:rPr lang="en-US" sz="2400" dirty="0"/>
              <a:t>, and shall also have the right to refrain from any or all of such activities except to the extent that such right may be affected by an agreement requiring membership in a labor organization as a condition of employment as authorized in section 158(a)(3) of this title.</a:t>
            </a:r>
          </a:p>
        </p:txBody>
      </p:sp>
      <p:sp>
        <p:nvSpPr>
          <p:cNvPr id="4" name="Footer Placeholder 3">
            <a:extLst>
              <a:ext uri="{FF2B5EF4-FFF2-40B4-BE49-F238E27FC236}">
                <a16:creationId xmlns:a16="http://schemas.microsoft.com/office/drawing/2014/main" id="{59232713-F56E-FA30-5E2F-6D7383D449CA}"/>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1524325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553D9-7141-A58A-B504-848AA5B1E326}"/>
              </a:ext>
            </a:extLst>
          </p:cNvPr>
          <p:cNvSpPr>
            <a:spLocks noGrp="1"/>
          </p:cNvSpPr>
          <p:nvPr>
            <p:ph type="title"/>
          </p:nvPr>
        </p:nvSpPr>
        <p:spPr/>
        <p:txBody>
          <a:bodyPr/>
          <a:lstStyle/>
          <a:p>
            <a:r>
              <a:rPr lang="en-US" dirty="0"/>
              <a:t>Majority’s “Harmonization”: NLRA Irrelevant</a:t>
            </a:r>
          </a:p>
        </p:txBody>
      </p:sp>
      <p:sp>
        <p:nvSpPr>
          <p:cNvPr id="3" name="Content Placeholder 2">
            <a:extLst>
              <a:ext uri="{FF2B5EF4-FFF2-40B4-BE49-F238E27FC236}">
                <a16:creationId xmlns:a16="http://schemas.microsoft.com/office/drawing/2014/main" id="{23CF0651-34DD-BEDB-3009-153B2DA8583D}"/>
              </a:ext>
            </a:extLst>
          </p:cNvPr>
          <p:cNvSpPr>
            <a:spLocks noGrp="1"/>
          </p:cNvSpPr>
          <p:nvPr>
            <p:ph idx="1"/>
          </p:nvPr>
        </p:nvSpPr>
        <p:spPr/>
        <p:txBody>
          <a:bodyPr/>
          <a:lstStyle/>
          <a:p>
            <a:r>
              <a:rPr lang="en-US" sz="2800" dirty="0"/>
              <a:t>29 U.S.C. § 157 does not create a right to engage in class-wide litigation in court or arbitration</a:t>
            </a:r>
          </a:p>
          <a:p>
            <a:r>
              <a:rPr lang="en-US" sz="2800" dirty="0"/>
              <a:t>“Concerted activities for the purpose of collective bargaining or other mutual aid or protection” applies only to how employees exercise their right to free association in the workplace</a:t>
            </a:r>
          </a:p>
          <a:p>
            <a:pPr lvl="1"/>
            <a:r>
              <a:rPr lang="en-US" sz="2400" dirty="0"/>
              <a:t>Ejusdem generis</a:t>
            </a:r>
          </a:p>
          <a:p>
            <a:pPr lvl="1"/>
            <a:r>
              <a:rPr lang="en-US" sz="2400" dirty="0"/>
              <a:t>Structure of act points to the kinds of concerted activity Congress has in mind</a:t>
            </a:r>
          </a:p>
          <a:p>
            <a:endParaRPr lang="en-US" dirty="0"/>
          </a:p>
        </p:txBody>
      </p:sp>
      <p:sp>
        <p:nvSpPr>
          <p:cNvPr id="4" name="Footer Placeholder 3">
            <a:extLst>
              <a:ext uri="{FF2B5EF4-FFF2-40B4-BE49-F238E27FC236}">
                <a16:creationId xmlns:a16="http://schemas.microsoft.com/office/drawing/2014/main" id="{84C1C52C-5924-6055-7289-D4E2A685A6DE}"/>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1163082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73485-26C8-17D7-1E7F-75DC4E840F44}"/>
              </a:ext>
            </a:extLst>
          </p:cNvPr>
          <p:cNvSpPr>
            <a:spLocks noGrp="1"/>
          </p:cNvSpPr>
          <p:nvPr>
            <p:ph type="title"/>
          </p:nvPr>
        </p:nvSpPr>
        <p:spPr/>
        <p:txBody>
          <a:bodyPr/>
          <a:lstStyle/>
          <a:p>
            <a:r>
              <a:rPr lang="en-US" dirty="0"/>
              <a:t>Other “Tools” of Textualism	</a:t>
            </a:r>
          </a:p>
        </p:txBody>
      </p:sp>
      <p:sp>
        <p:nvSpPr>
          <p:cNvPr id="3" name="Content Placeholder 2">
            <a:extLst>
              <a:ext uri="{FF2B5EF4-FFF2-40B4-BE49-F238E27FC236}">
                <a16:creationId xmlns:a16="http://schemas.microsoft.com/office/drawing/2014/main" id="{B9DA2924-32E6-8EEB-DCD8-B6254A00B56F}"/>
              </a:ext>
            </a:extLst>
          </p:cNvPr>
          <p:cNvSpPr>
            <a:spLocks noGrp="1"/>
          </p:cNvSpPr>
          <p:nvPr>
            <p:ph idx="1"/>
          </p:nvPr>
        </p:nvSpPr>
        <p:spPr/>
        <p:txBody>
          <a:bodyPr>
            <a:normAutofit fontScale="85000" lnSpcReduction="20000"/>
          </a:bodyPr>
          <a:lstStyle/>
          <a:p>
            <a:r>
              <a:rPr lang="en-US" dirty="0"/>
              <a:t>Comparison to other statutes: Other statutes show Congress sometimes specifically prohibits mandatory arbitration</a:t>
            </a:r>
          </a:p>
          <a:p>
            <a:r>
              <a:rPr lang="en-US" dirty="0"/>
              <a:t>“No elephants in mouseholes”: Congress “does not alter the fundamental details of a regulatory scheme in vague terms or ancillary provisions—it does not, one might say, hide elephants in mouseholes.” </a:t>
            </a:r>
          </a:p>
          <a:p>
            <a:r>
              <a:rPr lang="en-US" dirty="0"/>
              <a:t>And why don’t plaintiffs rely not on the NLRA, but on the collective action provisions of the Fair Labor Standards Act?</a:t>
            </a:r>
          </a:p>
          <a:p>
            <a:pPr lvl="1"/>
            <a:r>
              <a:rPr lang="en-US" sz="2400" dirty="0"/>
              <a:t>Stare decisis – Stronger in statutory than constitutional cases (p. 8)</a:t>
            </a:r>
          </a:p>
        </p:txBody>
      </p:sp>
      <p:sp>
        <p:nvSpPr>
          <p:cNvPr id="4" name="Footer Placeholder 3">
            <a:extLst>
              <a:ext uri="{FF2B5EF4-FFF2-40B4-BE49-F238E27FC236}">
                <a16:creationId xmlns:a16="http://schemas.microsoft.com/office/drawing/2014/main" id="{0EF4BB64-2002-4757-59D0-9F7AF432DED9}"/>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1241164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27282-1FBF-86DB-5D9C-E7188C34BBB1}"/>
              </a:ext>
            </a:extLst>
          </p:cNvPr>
          <p:cNvSpPr>
            <a:spLocks noGrp="1"/>
          </p:cNvSpPr>
          <p:nvPr>
            <p:ph type="title"/>
          </p:nvPr>
        </p:nvSpPr>
        <p:spPr/>
        <p:txBody>
          <a:bodyPr/>
          <a:lstStyle/>
          <a:p>
            <a:r>
              <a:rPr lang="en-US" dirty="0"/>
              <a:t>Ginsburg: Textualist or Purposivist</a:t>
            </a:r>
          </a:p>
        </p:txBody>
      </p:sp>
      <p:sp>
        <p:nvSpPr>
          <p:cNvPr id="3" name="Content Placeholder 2">
            <a:extLst>
              <a:ext uri="{FF2B5EF4-FFF2-40B4-BE49-F238E27FC236}">
                <a16:creationId xmlns:a16="http://schemas.microsoft.com/office/drawing/2014/main" id="{3C1112D3-05DB-102F-001D-F9EEE59364E0}"/>
              </a:ext>
            </a:extLst>
          </p:cNvPr>
          <p:cNvSpPr>
            <a:spLocks noGrp="1"/>
          </p:cNvSpPr>
          <p:nvPr>
            <p:ph idx="1"/>
          </p:nvPr>
        </p:nvSpPr>
        <p:spPr/>
        <p:txBody>
          <a:bodyPr/>
          <a:lstStyle/>
          <a:p>
            <a:r>
              <a:rPr lang="en-US" dirty="0"/>
              <a:t>Would harmonize FAA and NLRA by treating FAA as focused on business-to-business contracts and NLRA as focused on facilitating worker collective action</a:t>
            </a:r>
          </a:p>
          <a:p>
            <a:pPr lvl="1"/>
            <a:r>
              <a:rPr lang="en-US" dirty="0"/>
              <a:t>FAA deals with parties of comparable bargaining power</a:t>
            </a:r>
          </a:p>
          <a:p>
            <a:pPr lvl="1"/>
            <a:r>
              <a:rPr lang="en-US" dirty="0"/>
              <a:t>NLRA designed to redress imbalance in bargaining power</a:t>
            </a:r>
          </a:p>
        </p:txBody>
      </p:sp>
      <p:sp>
        <p:nvSpPr>
          <p:cNvPr id="4" name="Footer Placeholder 3">
            <a:extLst>
              <a:ext uri="{FF2B5EF4-FFF2-40B4-BE49-F238E27FC236}">
                <a16:creationId xmlns:a16="http://schemas.microsoft.com/office/drawing/2014/main" id="{99B45FE4-EBC1-683A-D6F5-431474F1F06A}"/>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2154542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638B4-00E8-EB90-3F94-F3DFBD9E4F6B}"/>
              </a:ext>
            </a:extLst>
          </p:cNvPr>
          <p:cNvSpPr>
            <a:spLocks noGrp="1"/>
          </p:cNvSpPr>
          <p:nvPr>
            <p:ph type="title"/>
          </p:nvPr>
        </p:nvSpPr>
        <p:spPr/>
        <p:txBody>
          <a:bodyPr/>
          <a:lstStyle/>
          <a:p>
            <a:r>
              <a:rPr lang="en-US" dirty="0"/>
              <a:t>Retorts to Majority - 1</a:t>
            </a:r>
          </a:p>
        </p:txBody>
      </p:sp>
      <p:sp>
        <p:nvSpPr>
          <p:cNvPr id="3" name="Content Placeholder 2">
            <a:extLst>
              <a:ext uri="{FF2B5EF4-FFF2-40B4-BE49-F238E27FC236}">
                <a16:creationId xmlns:a16="http://schemas.microsoft.com/office/drawing/2014/main" id="{458ADBAA-B4AA-39E6-3A39-DF1B36CA2CD8}"/>
              </a:ext>
            </a:extLst>
          </p:cNvPr>
          <p:cNvSpPr>
            <a:spLocks noGrp="1"/>
          </p:cNvSpPr>
          <p:nvPr>
            <p:ph idx="1"/>
          </p:nvPr>
        </p:nvSpPr>
        <p:spPr/>
        <p:txBody>
          <a:bodyPr>
            <a:normAutofit lnSpcReduction="10000"/>
          </a:bodyPr>
          <a:lstStyle/>
          <a:p>
            <a:r>
              <a:rPr lang="en-US" sz="2400" dirty="0"/>
              <a:t>Majority: Allegations of illegality irrelevant if they discriminate against arbitration</a:t>
            </a:r>
          </a:p>
          <a:p>
            <a:pPr lvl="1"/>
            <a:r>
              <a:rPr lang="en-US" sz="2400" dirty="0"/>
              <a:t>Ginsburg: NLRA-based illegality does not discriminate against arbitration, just individual-based arbitration; would invalidate any requirement to waive § 7 rights</a:t>
            </a:r>
          </a:p>
          <a:p>
            <a:r>
              <a:rPr lang="en-US" sz="2700" dirty="0"/>
              <a:t>Majority: Under ejusdem generis, concerted activities </a:t>
            </a:r>
            <a:r>
              <a:rPr lang="en-US" sz="2400" dirty="0"/>
              <a:t>protected by NLRA must relate to workplace organizing</a:t>
            </a:r>
          </a:p>
          <a:p>
            <a:pPr lvl="1"/>
            <a:r>
              <a:rPr lang="en-US" sz="2400" dirty="0"/>
              <a:t>Ginsburg: Canon shouldn’t defeat Congress’s intended breadth of application – assessed in light of purposes</a:t>
            </a:r>
          </a:p>
          <a:p>
            <a:pPr lvl="1"/>
            <a:r>
              <a:rPr lang="en-US" sz="2400" dirty="0"/>
              <a:t>Majority surrebuttal: Legislative history is not the law</a:t>
            </a:r>
          </a:p>
        </p:txBody>
      </p:sp>
      <p:sp>
        <p:nvSpPr>
          <p:cNvPr id="4" name="Footer Placeholder 3">
            <a:extLst>
              <a:ext uri="{FF2B5EF4-FFF2-40B4-BE49-F238E27FC236}">
                <a16:creationId xmlns:a16="http://schemas.microsoft.com/office/drawing/2014/main" id="{A6B74DD3-854A-B724-35C0-24F76ACDD109}"/>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91194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49FD1-BEAC-7B3F-E0CE-F653D447A9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5FF49B-06CC-FD0E-1961-3E3BE41F8500}"/>
              </a:ext>
            </a:extLst>
          </p:cNvPr>
          <p:cNvSpPr>
            <a:spLocks noGrp="1"/>
          </p:cNvSpPr>
          <p:nvPr>
            <p:ph type="title"/>
          </p:nvPr>
        </p:nvSpPr>
        <p:spPr/>
        <p:txBody>
          <a:bodyPr/>
          <a:lstStyle/>
          <a:p>
            <a:r>
              <a:rPr lang="en-US" dirty="0"/>
              <a:t>Retorts to Majority - 2</a:t>
            </a:r>
          </a:p>
        </p:txBody>
      </p:sp>
      <p:sp>
        <p:nvSpPr>
          <p:cNvPr id="3" name="Content Placeholder 2">
            <a:extLst>
              <a:ext uri="{FF2B5EF4-FFF2-40B4-BE49-F238E27FC236}">
                <a16:creationId xmlns:a16="http://schemas.microsoft.com/office/drawing/2014/main" id="{84BC7CC8-20A9-617D-C4C7-4C76FF04694E}"/>
              </a:ext>
            </a:extLst>
          </p:cNvPr>
          <p:cNvSpPr>
            <a:spLocks noGrp="1"/>
          </p:cNvSpPr>
          <p:nvPr>
            <p:ph idx="1"/>
          </p:nvPr>
        </p:nvSpPr>
        <p:spPr/>
        <p:txBody>
          <a:bodyPr>
            <a:normAutofit/>
          </a:bodyPr>
          <a:lstStyle/>
          <a:p>
            <a:r>
              <a:rPr lang="en-US" sz="2400" dirty="0"/>
              <a:t>Majority: Congress indicates the kinds of “concerted activity” encompassed via the regulatory schemes that are part of the NLRA</a:t>
            </a:r>
          </a:p>
          <a:p>
            <a:pPr lvl="1"/>
            <a:r>
              <a:rPr lang="en-US" sz="2400" dirty="0"/>
              <a:t>Ginsburg: More specific procedures enacted later than § 7 and do not limit its reach, but respond to specific issues raised later</a:t>
            </a:r>
          </a:p>
          <a:p>
            <a:r>
              <a:rPr lang="en-US" sz="2400" dirty="0"/>
              <a:t>Majority: § 7 would not have been thought to protect class actions because hardly known in the 1930s</a:t>
            </a:r>
          </a:p>
          <a:p>
            <a:pPr lvl="1"/>
            <a:r>
              <a:rPr lang="en-US" sz="2400" dirty="0"/>
              <a:t>Ginsburg: § 7 allows group complaints to federal agencies that didn’t exist in 1935; class action analogues go back centuries</a:t>
            </a:r>
          </a:p>
        </p:txBody>
      </p:sp>
      <p:sp>
        <p:nvSpPr>
          <p:cNvPr id="4" name="Footer Placeholder 3">
            <a:extLst>
              <a:ext uri="{FF2B5EF4-FFF2-40B4-BE49-F238E27FC236}">
                <a16:creationId xmlns:a16="http://schemas.microsoft.com/office/drawing/2014/main" id="{589190CF-B1C2-83B2-F116-1ABDC6CA2E7C}"/>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2593648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6515-2349-94E0-2AB8-91CDCEE0C2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A42C5E-1973-E7D5-1B7B-C3CDE213DBFB}"/>
              </a:ext>
            </a:extLst>
          </p:cNvPr>
          <p:cNvSpPr>
            <a:spLocks noGrp="1"/>
          </p:cNvSpPr>
          <p:nvPr>
            <p:ph type="title"/>
          </p:nvPr>
        </p:nvSpPr>
        <p:spPr/>
        <p:txBody>
          <a:bodyPr/>
          <a:lstStyle/>
          <a:p>
            <a:r>
              <a:rPr lang="en-US" dirty="0"/>
              <a:t>Retorts to Majority - 3</a:t>
            </a:r>
          </a:p>
        </p:txBody>
      </p:sp>
      <p:sp>
        <p:nvSpPr>
          <p:cNvPr id="3" name="Content Placeholder 2">
            <a:extLst>
              <a:ext uri="{FF2B5EF4-FFF2-40B4-BE49-F238E27FC236}">
                <a16:creationId xmlns:a16="http://schemas.microsoft.com/office/drawing/2014/main" id="{57E4C8F7-68D3-615B-01A0-6CB0C8028D0F}"/>
              </a:ext>
            </a:extLst>
          </p:cNvPr>
          <p:cNvSpPr>
            <a:spLocks noGrp="1"/>
          </p:cNvSpPr>
          <p:nvPr>
            <p:ph idx="1"/>
          </p:nvPr>
        </p:nvSpPr>
        <p:spPr/>
        <p:txBody>
          <a:bodyPr>
            <a:normAutofit/>
          </a:bodyPr>
          <a:lstStyle/>
          <a:p>
            <a:r>
              <a:rPr lang="en-US" sz="2400" dirty="0"/>
              <a:t>Majority: Court has already held FAA should be read liberally to favor quicker, less formal, cheaper dispute resolution</a:t>
            </a:r>
          </a:p>
          <a:p>
            <a:pPr lvl="1"/>
            <a:r>
              <a:rPr lang="en-US" sz="2100" dirty="0"/>
              <a:t>Ginsburg: History shows FAA not intended to cover employment contracts and should not be extended even further to go beyond B-to-B agreements</a:t>
            </a:r>
          </a:p>
          <a:p>
            <a:r>
              <a:rPr lang="en-US" sz="2400" dirty="0"/>
              <a:t>Majority: On the enforceability of arbitration agreements, FAA should prevail as the more specific statute</a:t>
            </a:r>
          </a:p>
          <a:p>
            <a:pPr lvl="1"/>
            <a:r>
              <a:rPr lang="en-US" sz="2100" dirty="0"/>
              <a:t>Ginsburg: On the protection for employee group action, the NLRA should prevail as the more specific statute</a:t>
            </a:r>
          </a:p>
          <a:p>
            <a:pPr lvl="1"/>
            <a:endParaRPr lang="en-US" sz="2100" dirty="0"/>
          </a:p>
          <a:p>
            <a:endParaRPr lang="en-US" sz="2400" dirty="0"/>
          </a:p>
          <a:p>
            <a:pPr lvl="1"/>
            <a:endParaRPr lang="en-US" sz="2100" dirty="0"/>
          </a:p>
        </p:txBody>
      </p:sp>
      <p:sp>
        <p:nvSpPr>
          <p:cNvPr id="4" name="Footer Placeholder 3">
            <a:extLst>
              <a:ext uri="{FF2B5EF4-FFF2-40B4-BE49-F238E27FC236}">
                <a16:creationId xmlns:a16="http://schemas.microsoft.com/office/drawing/2014/main" id="{4E44F145-FDC8-2AF9-F980-346C1B7560C0}"/>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3749820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CA6AC-9FC5-5FFB-BDBC-216E7A216B02}"/>
              </a:ext>
            </a:extLst>
          </p:cNvPr>
          <p:cNvSpPr>
            <a:spLocks noGrp="1"/>
          </p:cNvSpPr>
          <p:nvPr>
            <p:ph type="title"/>
          </p:nvPr>
        </p:nvSpPr>
        <p:spPr/>
        <p:txBody>
          <a:bodyPr/>
          <a:lstStyle/>
          <a:p>
            <a:r>
              <a:rPr lang="en-US" dirty="0"/>
              <a:t>Bottom-Line Difference Between Majority and Dissent?</a:t>
            </a:r>
          </a:p>
        </p:txBody>
      </p:sp>
      <p:sp>
        <p:nvSpPr>
          <p:cNvPr id="3" name="Content Placeholder 2">
            <a:extLst>
              <a:ext uri="{FF2B5EF4-FFF2-40B4-BE49-F238E27FC236}">
                <a16:creationId xmlns:a16="http://schemas.microsoft.com/office/drawing/2014/main" id="{3418FD52-2291-4B17-106A-2ADACABE78BA}"/>
              </a:ext>
            </a:extLst>
          </p:cNvPr>
          <p:cNvSpPr>
            <a:spLocks noGrp="1"/>
          </p:cNvSpPr>
          <p:nvPr>
            <p:ph idx="1"/>
          </p:nvPr>
        </p:nvSpPr>
        <p:spPr/>
        <p:txBody>
          <a:bodyPr>
            <a:normAutofit/>
          </a:bodyPr>
          <a:lstStyle/>
          <a:p>
            <a:r>
              <a:rPr lang="en-US" sz="3000" dirty="0"/>
              <a:t>Majority: Dissent resorts to policy, which is impermissible</a:t>
            </a:r>
          </a:p>
          <a:p>
            <a:pPr lvl="1"/>
            <a:r>
              <a:rPr lang="en-US" sz="3000" dirty="0"/>
              <a:t>Dissent: Policy embedded in statute and majority result will enable billions of dollars in </a:t>
            </a:r>
            <a:r>
              <a:rPr lang="en-US" sz="3000"/>
              <a:t>wage theft</a:t>
            </a:r>
          </a:p>
          <a:p>
            <a:pPr lvl="1"/>
            <a:endParaRPr lang="en-US" sz="3000" dirty="0"/>
          </a:p>
          <a:p>
            <a:pPr marL="0" indent="0">
              <a:buNone/>
            </a:pPr>
            <a:r>
              <a:rPr lang="en-US" sz="3300" dirty="0"/>
              <a:t>Who gets your vote?</a:t>
            </a:r>
          </a:p>
        </p:txBody>
      </p:sp>
      <p:sp>
        <p:nvSpPr>
          <p:cNvPr id="4" name="Footer Placeholder 3">
            <a:extLst>
              <a:ext uri="{FF2B5EF4-FFF2-40B4-BE49-F238E27FC236}">
                <a16:creationId xmlns:a16="http://schemas.microsoft.com/office/drawing/2014/main" id="{5687F6EE-AC94-5A40-3FD3-9EAF7C06CDF5}"/>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2353126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8DC94-8F1F-4BB9-B751-10209C64DC52}"/>
              </a:ext>
            </a:extLst>
          </p:cNvPr>
          <p:cNvSpPr>
            <a:spLocks noGrp="1"/>
          </p:cNvSpPr>
          <p:nvPr>
            <p:ph type="title"/>
          </p:nvPr>
        </p:nvSpPr>
        <p:spPr/>
        <p:txBody>
          <a:bodyPr/>
          <a:lstStyle/>
          <a:p>
            <a:r>
              <a:rPr lang="en-US" dirty="0"/>
              <a:t>Agenda for Classes 7-8</a:t>
            </a:r>
          </a:p>
        </p:txBody>
      </p:sp>
      <p:sp>
        <p:nvSpPr>
          <p:cNvPr id="3" name="Content Placeholder 2">
            <a:extLst>
              <a:ext uri="{FF2B5EF4-FFF2-40B4-BE49-F238E27FC236}">
                <a16:creationId xmlns:a16="http://schemas.microsoft.com/office/drawing/2014/main" id="{15AD7F6C-3B33-4A62-7810-0DCA28C8E202}"/>
              </a:ext>
            </a:extLst>
          </p:cNvPr>
          <p:cNvSpPr>
            <a:spLocks noGrp="1"/>
          </p:cNvSpPr>
          <p:nvPr>
            <p:ph idx="1"/>
          </p:nvPr>
        </p:nvSpPr>
        <p:spPr/>
        <p:txBody>
          <a:bodyPr/>
          <a:lstStyle/>
          <a:p>
            <a:r>
              <a:rPr lang="en-US" sz="2800" dirty="0"/>
              <a:t>What is the Nondelegation Doctrine?</a:t>
            </a:r>
          </a:p>
          <a:p>
            <a:r>
              <a:rPr lang="en-US" sz="2800" dirty="0"/>
              <a:t>Why does Congress delegate so broadly and why don’t courts enforce the doctrine (or even articulate the doctrine) more stringently?</a:t>
            </a:r>
          </a:p>
          <a:p>
            <a:r>
              <a:rPr lang="en-US" sz="2800" dirty="0"/>
              <a:t>Why didn’t Justice Scalia (for a majority) like the D.C. Circuit’s handling of the doctrine?</a:t>
            </a:r>
          </a:p>
          <a:p>
            <a:r>
              <a:rPr lang="en-US" sz="2800" dirty="0"/>
              <a:t>How can an administrative lawyer still use the NDD to possible advantage?</a:t>
            </a:r>
          </a:p>
          <a:p>
            <a:endParaRPr lang="en-US" dirty="0"/>
          </a:p>
        </p:txBody>
      </p:sp>
      <p:sp>
        <p:nvSpPr>
          <p:cNvPr id="4" name="Footer Placeholder 3">
            <a:extLst>
              <a:ext uri="{FF2B5EF4-FFF2-40B4-BE49-F238E27FC236}">
                <a16:creationId xmlns:a16="http://schemas.microsoft.com/office/drawing/2014/main" id="{5991C17C-A1D9-8A29-E5BA-428E0E829FD0}"/>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75021B6B-6D3A-1B14-5B89-0C236D2DBF29}"/>
              </a:ext>
            </a:extLst>
          </p:cNvPr>
          <p:cNvSpPr>
            <a:spLocks noGrp="1"/>
          </p:cNvSpPr>
          <p:nvPr>
            <p:ph type="sldNum" sz="quarter" idx="12"/>
          </p:nvPr>
        </p:nvSpPr>
        <p:spPr/>
        <p:txBody>
          <a:bodyPr/>
          <a:lstStyle/>
          <a:p>
            <a:fld id="{43E3236E-8354-4469-A39B-052E70412384}" type="slidenum">
              <a:rPr lang="en-US" smtClean="0"/>
              <a:pPr/>
              <a:t>18</a:t>
            </a:fld>
            <a:endParaRPr lang="en-US"/>
          </a:p>
        </p:txBody>
      </p:sp>
    </p:spTree>
    <p:extLst>
      <p:ext uri="{BB962C8B-B14F-4D97-AF65-F5344CB8AC3E}">
        <p14:creationId xmlns:p14="http://schemas.microsoft.com/office/powerpoint/2010/main" val="7991936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Separation of Powers/</a:t>
            </a:r>
            <a:br>
              <a:rPr lang="en-US" dirty="0"/>
            </a:br>
            <a:r>
              <a:rPr lang="en-US" dirty="0"/>
              <a:t>Checks and Balances</a:t>
            </a:r>
          </a:p>
        </p:txBody>
      </p:sp>
      <p:sp>
        <p:nvSpPr>
          <p:cNvPr id="3" name="Content Placeholder 2"/>
          <p:cNvSpPr>
            <a:spLocks noGrp="1"/>
          </p:cNvSpPr>
          <p:nvPr>
            <p:ph idx="1"/>
          </p:nvPr>
        </p:nvSpPr>
        <p:spPr/>
        <p:txBody>
          <a:bodyPr/>
          <a:lstStyle/>
          <a:p>
            <a:r>
              <a:rPr lang="en-US" sz="2800" dirty="0"/>
              <a:t>Premise 1: No branch may usurp powers properly belonging to another</a:t>
            </a:r>
          </a:p>
          <a:p>
            <a:r>
              <a:rPr lang="en-US" sz="2800" dirty="0"/>
              <a:t>Premise 2: No branch may abdicate powers with which it has been constitutionally vested</a:t>
            </a:r>
          </a:p>
          <a:p>
            <a:r>
              <a:rPr lang="en-US" sz="2800" dirty="0"/>
              <a:t>Premise 3:  When A hires B, A must accept some range of discretion in B</a:t>
            </a:r>
          </a:p>
          <a:p>
            <a:r>
              <a:rPr lang="en-US" sz="2800" dirty="0"/>
              <a:t>Problem: How to distinguish discretion Congress inevitably gives executive branch from an abdication of legislative power?</a:t>
            </a:r>
          </a:p>
        </p:txBody>
      </p:sp>
      <p:sp>
        <p:nvSpPr>
          <p:cNvPr id="4" name="Footer Placeholder 3"/>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9A47C666-8E9F-130E-BBA5-5194C32BC67A}"/>
              </a:ext>
            </a:extLst>
          </p:cNvPr>
          <p:cNvSpPr>
            <a:spLocks noGrp="1"/>
          </p:cNvSpPr>
          <p:nvPr>
            <p:ph type="sldNum" sz="quarter" idx="12"/>
          </p:nvPr>
        </p:nvSpPr>
        <p:spPr/>
        <p:txBody>
          <a:bodyPr/>
          <a:lstStyle/>
          <a:p>
            <a:fld id="{43E3236E-8354-4469-A39B-052E70412384}" type="slidenum">
              <a:rPr lang="en-US" smtClean="0"/>
              <a:pPr/>
              <a:t>19</a:t>
            </a:fld>
            <a:endParaRPr lang="en-US"/>
          </a:p>
        </p:txBody>
      </p:sp>
    </p:spTree>
    <p:extLst>
      <p:ext uri="{BB962C8B-B14F-4D97-AF65-F5344CB8AC3E}">
        <p14:creationId xmlns:p14="http://schemas.microsoft.com/office/powerpoint/2010/main" val="2286983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a:t>© Copyright 2026.  Peter M. Shane All rights reserved. </a:t>
            </a:r>
            <a:endParaRPr lang="en-US" sz="1200" dirty="0"/>
          </a:p>
        </p:txBody>
      </p:sp>
      <p:sp>
        <p:nvSpPr>
          <p:cNvPr id="8194" name="Rectangle 2"/>
          <p:cNvSpPr>
            <a:spLocks noGrp="1" noChangeArrowheads="1"/>
          </p:cNvSpPr>
          <p:nvPr>
            <p:ph type="title"/>
          </p:nvPr>
        </p:nvSpPr>
        <p:spPr/>
        <p:txBody>
          <a:bodyPr/>
          <a:lstStyle/>
          <a:p>
            <a:r>
              <a:rPr lang="en-US" dirty="0"/>
              <a:t>Zone of discretion</a:t>
            </a:r>
          </a:p>
        </p:txBody>
      </p:sp>
      <p:sp>
        <p:nvSpPr>
          <p:cNvPr id="8195" name="Rectangle 3"/>
          <p:cNvSpPr>
            <a:spLocks noGrp="1" noChangeArrowheads="1"/>
          </p:cNvSpPr>
          <p:nvPr>
            <p:ph type="body" idx="1"/>
          </p:nvPr>
        </p:nvSpPr>
        <p:spPr/>
        <p:txBody>
          <a:bodyPr/>
          <a:lstStyle/>
          <a:p>
            <a:pPr>
              <a:lnSpc>
                <a:spcPct val="90000"/>
              </a:lnSpc>
              <a:buFontTx/>
              <a:buNone/>
            </a:pPr>
            <a:r>
              <a:rPr lang="en-US"/>
              <a:t>Ultra vires/unlawful acts</a:t>
            </a:r>
          </a:p>
          <a:p>
            <a:pPr>
              <a:lnSpc>
                <a:spcPct val="90000"/>
              </a:lnSpc>
            </a:pPr>
            <a:endParaRPr lang="en-US"/>
          </a:p>
          <a:p>
            <a:pPr>
              <a:lnSpc>
                <a:spcPct val="90000"/>
              </a:lnSpc>
            </a:pPr>
            <a:endParaRPr lang="en-US"/>
          </a:p>
          <a:p>
            <a:pPr>
              <a:lnSpc>
                <a:spcPct val="90000"/>
              </a:lnSpc>
            </a:pPr>
            <a:endParaRPr lang="en-US"/>
          </a:p>
          <a:p>
            <a:pPr>
              <a:lnSpc>
                <a:spcPct val="90000"/>
              </a:lnSpc>
            </a:pPr>
            <a:endParaRPr lang="en-US"/>
          </a:p>
          <a:p>
            <a:pPr>
              <a:lnSpc>
                <a:spcPct val="90000"/>
              </a:lnSpc>
            </a:pPr>
            <a:endParaRPr lang="en-US"/>
          </a:p>
          <a:p>
            <a:pPr>
              <a:lnSpc>
                <a:spcPct val="90000"/>
              </a:lnSpc>
            </a:pPr>
            <a:endParaRPr lang="en-US"/>
          </a:p>
          <a:p>
            <a:pPr lvl="1">
              <a:lnSpc>
                <a:spcPct val="90000"/>
              </a:lnSpc>
              <a:buFontTx/>
              <a:buNone/>
            </a:pPr>
            <a:r>
              <a:rPr lang="en-US"/>
              <a:t>					</a:t>
            </a:r>
            <a:r>
              <a:rPr lang="en-US" sz="3200"/>
              <a:t>Ultra vires/unlawful acts</a:t>
            </a:r>
          </a:p>
        </p:txBody>
      </p:sp>
      <p:sp>
        <p:nvSpPr>
          <p:cNvPr id="8196" name="Oval 4"/>
          <p:cNvSpPr>
            <a:spLocks noChangeArrowheads="1"/>
          </p:cNvSpPr>
          <p:nvPr/>
        </p:nvSpPr>
        <p:spPr bwMode="auto">
          <a:xfrm>
            <a:off x="2362200" y="2590800"/>
            <a:ext cx="4800600" cy="2667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a:t>Acts within the </a:t>
            </a:r>
          </a:p>
          <a:p>
            <a:pPr algn="ctr"/>
            <a:r>
              <a:rPr lang="en-US" sz="2800"/>
              <a:t>judgment of the </a:t>
            </a:r>
          </a:p>
          <a:p>
            <a:pPr algn="ctr"/>
            <a:r>
              <a:rPr lang="en-US" sz="2800"/>
              <a:t>administrator</a:t>
            </a:r>
          </a:p>
        </p:txBody>
      </p:sp>
      <p:sp>
        <p:nvSpPr>
          <p:cNvPr id="2" name="Slide Number Placeholder 1">
            <a:extLst>
              <a:ext uri="{FF2B5EF4-FFF2-40B4-BE49-F238E27FC236}">
                <a16:creationId xmlns:a16="http://schemas.microsoft.com/office/drawing/2014/main" id="{967F3210-6768-691A-40E3-D05B75C634EA}"/>
              </a:ext>
            </a:extLst>
          </p:cNvPr>
          <p:cNvSpPr>
            <a:spLocks noGrp="1"/>
          </p:cNvSpPr>
          <p:nvPr>
            <p:ph type="sldNum" sz="quarter" idx="12"/>
          </p:nvPr>
        </p:nvSpPr>
        <p:spPr/>
        <p:txBody>
          <a:bodyPr/>
          <a:lstStyle/>
          <a:p>
            <a:fld id="{43E3236E-8354-4469-A39B-052E70412384}"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Levels of Discretion</a:t>
            </a:r>
          </a:p>
        </p:txBody>
      </p:sp>
      <p:sp>
        <p:nvSpPr>
          <p:cNvPr id="3" name="Content Placeholder 2"/>
          <p:cNvSpPr>
            <a:spLocks noGrp="1"/>
          </p:cNvSpPr>
          <p:nvPr>
            <p:ph idx="1"/>
          </p:nvPr>
        </p:nvSpPr>
        <p:spPr/>
        <p:txBody>
          <a:bodyPr/>
          <a:lstStyle/>
          <a:p>
            <a:r>
              <a:rPr lang="en-US" sz="3600" dirty="0"/>
              <a:t>“Mow my lawn every Saturday to a height of 3/4 inches, using an electric rotary mower.”</a:t>
            </a:r>
          </a:p>
          <a:p>
            <a:r>
              <a:rPr lang="en-US" sz="3600" dirty="0"/>
              <a:t>“Mow my lawn every week, as needed.”</a:t>
            </a:r>
          </a:p>
          <a:p>
            <a:r>
              <a:rPr lang="en-US" sz="3600" dirty="0"/>
              <a:t>“Take care of my yard.”</a:t>
            </a:r>
          </a:p>
          <a:p>
            <a:r>
              <a:rPr lang="en-US" sz="3600" dirty="0"/>
              <a:t>“Improve my </a:t>
            </a:r>
            <a:r>
              <a:rPr lang="en-US" sz="3600"/>
              <a:t>property.”</a:t>
            </a:r>
            <a:endParaRPr lang="en-US" sz="3600" dirty="0"/>
          </a:p>
        </p:txBody>
      </p:sp>
      <p:sp>
        <p:nvSpPr>
          <p:cNvPr id="4" name="Footer Placeholder 3"/>
          <p:cNvSpPr>
            <a:spLocks noGrp="1"/>
          </p:cNvSpPr>
          <p:nvPr>
            <p:ph type="ftr" sz="quarter" idx="11"/>
          </p:nvPr>
        </p:nvSpPr>
        <p:spPr/>
        <p:txBody>
          <a:bodyPr/>
          <a:lstStyle/>
          <a:p>
            <a:pPr>
              <a:defRPr/>
            </a:pPr>
            <a:r>
              <a:rPr lang="en-US" sz="1400"/>
              <a:t>© Copyright 2026.  Peter M. Shane All rights reserved. </a:t>
            </a:r>
            <a:endParaRPr lang="en-US"/>
          </a:p>
        </p:txBody>
      </p:sp>
      <p:sp>
        <p:nvSpPr>
          <p:cNvPr id="5" name="Slide Number Placeholder 4">
            <a:extLst>
              <a:ext uri="{FF2B5EF4-FFF2-40B4-BE49-F238E27FC236}">
                <a16:creationId xmlns:a16="http://schemas.microsoft.com/office/drawing/2014/main" id="{8852AF52-151F-5BA7-AC3C-C7C9351BC5CD}"/>
              </a:ext>
            </a:extLst>
          </p:cNvPr>
          <p:cNvSpPr>
            <a:spLocks noGrp="1"/>
          </p:cNvSpPr>
          <p:nvPr>
            <p:ph type="sldNum" sz="quarter" idx="12"/>
          </p:nvPr>
        </p:nvSpPr>
        <p:spPr/>
        <p:txBody>
          <a:bodyPr/>
          <a:lstStyle/>
          <a:p>
            <a:fld id="{43E3236E-8354-4469-A39B-052E70412384}" type="slidenum">
              <a:rPr lang="en-US" smtClean="0"/>
              <a:pPr/>
              <a:t>21</a:t>
            </a:fld>
            <a:endParaRPr lang="en-US"/>
          </a:p>
        </p:txBody>
      </p:sp>
    </p:spTree>
    <p:extLst>
      <p:ext uri="{BB962C8B-B14F-4D97-AF65-F5344CB8AC3E}">
        <p14:creationId xmlns:p14="http://schemas.microsoft.com/office/powerpoint/2010/main" val="28941950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2D790-74E0-61BF-3B83-D35510C93D51}"/>
              </a:ext>
            </a:extLst>
          </p:cNvPr>
          <p:cNvSpPr>
            <a:spLocks noGrp="1"/>
          </p:cNvSpPr>
          <p:nvPr>
            <p:ph type="title"/>
          </p:nvPr>
        </p:nvSpPr>
        <p:spPr/>
        <p:txBody>
          <a:bodyPr/>
          <a:lstStyle/>
          <a:p>
            <a:r>
              <a:rPr lang="en-US" sz="3600" i="1" dirty="0"/>
              <a:t>Cargo of the Brig Aurora v. U.S. </a:t>
            </a:r>
            <a:r>
              <a:rPr lang="en-US" sz="3600" dirty="0"/>
              <a:t>(1813)</a:t>
            </a:r>
          </a:p>
        </p:txBody>
      </p:sp>
      <p:sp>
        <p:nvSpPr>
          <p:cNvPr id="3" name="Content Placeholder 2">
            <a:extLst>
              <a:ext uri="{FF2B5EF4-FFF2-40B4-BE49-F238E27FC236}">
                <a16:creationId xmlns:a16="http://schemas.microsoft.com/office/drawing/2014/main" id="{B4CE4BB2-9F47-D5DA-95CE-695D6D52D428}"/>
              </a:ext>
            </a:extLst>
          </p:cNvPr>
          <p:cNvSpPr>
            <a:spLocks noGrp="1"/>
          </p:cNvSpPr>
          <p:nvPr>
            <p:ph idx="1"/>
          </p:nvPr>
        </p:nvSpPr>
        <p:spPr/>
        <p:txBody>
          <a:bodyPr/>
          <a:lstStyle/>
          <a:p>
            <a:pPr>
              <a:spcBef>
                <a:spcPts val="0"/>
              </a:spcBef>
            </a:pPr>
            <a:r>
              <a:rPr lang="en-US" b="1" dirty="0"/>
              <a:t>Action at Stake: </a:t>
            </a:r>
            <a:r>
              <a:rPr lang="en-US" dirty="0"/>
              <a:t>Reviving a ban on British and/or French imports</a:t>
            </a:r>
          </a:p>
          <a:p>
            <a:pPr>
              <a:spcBef>
                <a:spcPts val="0"/>
              </a:spcBef>
            </a:pPr>
            <a:r>
              <a:rPr lang="en-US" b="1" dirty="0"/>
              <a:t>Limit on Discretion: </a:t>
            </a:r>
            <a:r>
              <a:rPr lang="en-US" dirty="0"/>
              <a:t>President to determine if Britain or France has failed to change its edicts to respect U.S. commercial neutrality</a:t>
            </a:r>
          </a:p>
          <a:p>
            <a:pPr>
              <a:spcBef>
                <a:spcPts val="0"/>
              </a:spcBef>
            </a:pPr>
            <a:r>
              <a:rPr lang="en-US" b="1" dirty="0"/>
              <a:t>Why Approved</a:t>
            </a:r>
            <a:r>
              <a:rPr lang="en-US" dirty="0"/>
              <a:t>: President does not make law, but proclaims the existence of a fact triggering the law to go into effect</a:t>
            </a:r>
          </a:p>
        </p:txBody>
      </p:sp>
      <p:sp>
        <p:nvSpPr>
          <p:cNvPr id="4" name="Footer Placeholder 3">
            <a:extLst>
              <a:ext uri="{FF2B5EF4-FFF2-40B4-BE49-F238E27FC236}">
                <a16:creationId xmlns:a16="http://schemas.microsoft.com/office/drawing/2014/main" id="{9695FFCC-6318-50D0-1F47-F863F89EBA65}"/>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79848AEB-B3B8-D89C-491C-1655F01247AF}"/>
              </a:ext>
            </a:extLst>
          </p:cNvPr>
          <p:cNvSpPr>
            <a:spLocks noGrp="1"/>
          </p:cNvSpPr>
          <p:nvPr>
            <p:ph type="sldNum" sz="quarter" idx="12"/>
          </p:nvPr>
        </p:nvSpPr>
        <p:spPr/>
        <p:txBody>
          <a:bodyPr/>
          <a:lstStyle/>
          <a:p>
            <a:fld id="{43E3236E-8354-4469-A39B-052E70412384}" type="slidenum">
              <a:rPr lang="en-US" smtClean="0"/>
              <a:pPr/>
              <a:t>22</a:t>
            </a:fld>
            <a:endParaRPr lang="en-US"/>
          </a:p>
        </p:txBody>
      </p:sp>
    </p:spTree>
    <p:extLst>
      <p:ext uri="{BB962C8B-B14F-4D97-AF65-F5344CB8AC3E}">
        <p14:creationId xmlns:p14="http://schemas.microsoft.com/office/powerpoint/2010/main" val="1941710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BA645-8ACC-86A7-1F89-1995DC14A9DE}"/>
              </a:ext>
            </a:extLst>
          </p:cNvPr>
          <p:cNvSpPr>
            <a:spLocks noGrp="1"/>
          </p:cNvSpPr>
          <p:nvPr>
            <p:ph type="title"/>
          </p:nvPr>
        </p:nvSpPr>
        <p:spPr/>
        <p:txBody>
          <a:bodyPr/>
          <a:lstStyle/>
          <a:p>
            <a:r>
              <a:rPr lang="en-US" sz="3600" dirty="0"/>
              <a:t>Marshall Field &amp; Co. v. Clark (1892)</a:t>
            </a:r>
          </a:p>
        </p:txBody>
      </p:sp>
      <p:sp>
        <p:nvSpPr>
          <p:cNvPr id="3" name="Content Placeholder 2">
            <a:extLst>
              <a:ext uri="{FF2B5EF4-FFF2-40B4-BE49-F238E27FC236}">
                <a16:creationId xmlns:a16="http://schemas.microsoft.com/office/drawing/2014/main" id="{B5896C12-D1A7-DBBB-6AF2-2FAFCD8DB5DC}"/>
              </a:ext>
            </a:extLst>
          </p:cNvPr>
          <p:cNvSpPr>
            <a:spLocks noGrp="1"/>
          </p:cNvSpPr>
          <p:nvPr>
            <p:ph idx="1"/>
          </p:nvPr>
        </p:nvSpPr>
        <p:spPr/>
        <p:txBody>
          <a:bodyPr/>
          <a:lstStyle/>
          <a:p>
            <a:r>
              <a:rPr lang="en-US" b="1" dirty="0"/>
              <a:t>Action at Stake: </a:t>
            </a:r>
            <a:r>
              <a:rPr lang="en-US" dirty="0"/>
              <a:t>Suspension of free trade in sugar, molasses, coffee, tea, and hides and imposition of duties set by statute</a:t>
            </a:r>
            <a:endParaRPr lang="en-US" b="1" dirty="0"/>
          </a:p>
          <a:p>
            <a:r>
              <a:rPr lang="en-US" b="1" dirty="0"/>
              <a:t>Limit on Discretion: </a:t>
            </a:r>
            <a:r>
              <a:rPr lang="en-US" dirty="0"/>
              <a:t>If target nation treat U.S. goods in a manner “reciprocally unequal and unreasonable”; for such time “as he shall deem just”</a:t>
            </a:r>
            <a:endParaRPr lang="en-US" b="1" dirty="0"/>
          </a:p>
        </p:txBody>
      </p:sp>
      <p:sp>
        <p:nvSpPr>
          <p:cNvPr id="4" name="Footer Placeholder 3">
            <a:extLst>
              <a:ext uri="{FF2B5EF4-FFF2-40B4-BE49-F238E27FC236}">
                <a16:creationId xmlns:a16="http://schemas.microsoft.com/office/drawing/2014/main" id="{3BB2EF72-14A2-7BA7-D108-B466017571CE}"/>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B8F18E3F-6B7A-6DE9-9D39-7C5627091B15}"/>
              </a:ext>
            </a:extLst>
          </p:cNvPr>
          <p:cNvSpPr>
            <a:spLocks noGrp="1"/>
          </p:cNvSpPr>
          <p:nvPr>
            <p:ph type="sldNum" sz="quarter" idx="12"/>
          </p:nvPr>
        </p:nvSpPr>
        <p:spPr/>
        <p:txBody>
          <a:bodyPr/>
          <a:lstStyle/>
          <a:p>
            <a:fld id="{43E3236E-8354-4469-A39B-052E70412384}" type="slidenum">
              <a:rPr lang="en-US" smtClean="0"/>
              <a:pPr/>
              <a:t>23</a:t>
            </a:fld>
            <a:endParaRPr lang="en-US"/>
          </a:p>
        </p:txBody>
      </p:sp>
    </p:spTree>
    <p:extLst>
      <p:ext uri="{BB962C8B-B14F-4D97-AF65-F5344CB8AC3E}">
        <p14:creationId xmlns:p14="http://schemas.microsoft.com/office/powerpoint/2010/main" val="294278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D1C17-AB8E-8774-8E9D-2941F7031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5F5CA6-CEEB-6F39-EA77-FE559447F7FA}"/>
              </a:ext>
            </a:extLst>
          </p:cNvPr>
          <p:cNvSpPr>
            <a:spLocks noGrp="1"/>
          </p:cNvSpPr>
          <p:nvPr>
            <p:ph type="title"/>
          </p:nvPr>
        </p:nvSpPr>
        <p:spPr/>
        <p:txBody>
          <a:bodyPr/>
          <a:lstStyle/>
          <a:p>
            <a:r>
              <a:rPr lang="en-US" sz="3600" dirty="0"/>
              <a:t>Marshall Field &amp; Co. v. Clark (1892)</a:t>
            </a:r>
          </a:p>
        </p:txBody>
      </p:sp>
      <p:sp>
        <p:nvSpPr>
          <p:cNvPr id="3" name="Content Placeholder 2">
            <a:extLst>
              <a:ext uri="{FF2B5EF4-FFF2-40B4-BE49-F238E27FC236}">
                <a16:creationId xmlns:a16="http://schemas.microsoft.com/office/drawing/2014/main" id="{09197C55-3FE4-80BC-971E-52028F9CFC69}"/>
              </a:ext>
            </a:extLst>
          </p:cNvPr>
          <p:cNvSpPr>
            <a:spLocks noGrp="1"/>
          </p:cNvSpPr>
          <p:nvPr>
            <p:ph idx="1"/>
          </p:nvPr>
        </p:nvSpPr>
        <p:spPr>
          <a:xfrm>
            <a:off x="425824" y="1381779"/>
            <a:ext cx="8229600" cy="4525963"/>
          </a:xfrm>
        </p:spPr>
        <p:txBody>
          <a:bodyPr/>
          <a:lstStyle/>
          <a:p>
            <a:r>
              <a:rPr lang="en-US" b="1" dirty="0"/>
              <a:t>Why Approved:</a:t>
            </a:r>
          </a:p>
          <a:p>
            <a:pPr lvl="1">
              <a:spcBef>
                <a:spcPts val="0"/>
              </a:spcBef>
            </a:pPr>
            <a:r>
              <a:rPr lang="en-US" dirty="0"/>
              <a:t>Numerous precedents in other statutes</a:t>
            </a:r>
          </a:p>
          <a:p>
            <a:pPr lvl="1">
              <a:spcBef>
                <a:spcPts val="0"/>
              </a:spcBef>
            </a:pPr>
            <a:r>
              <a:rPr lang="en-US" dirty="0"/>
              <a:t>President required to ascertain a fact, which triggers a duty—discretion as to how long it lasts</a:t>
            </a:r>
          </a:p>
          <a:p>
            <a:pPr lvl="1">
              <a:spcBef>
                <a:spcPts val="0"/>
              </a:spcBef>
            </a:pPr>
            <a:r>
              <a:rPr lang="en-US" dirty="0"/>
              <a:t>President is “the mere agent of the law-making department to ascertain and declare the event on which [Congress’s] expressed will was to take effect” [50]</a:t>
            </a:r>
          </a:p>
          <a:p>
            <a:pPr lvl="1">
              <a:spcBef>
                <a:spcPts val="0"/>
              </a:spcBef>
            </a:pPr>
            <a:r>
              <a:rPr lang="en-US" dirty="0"/>
              <a:t>Discretion as to execution is not law-making </a:t>
            </a:r>
          </a:p>
          <a:p>
            <a:endParaRPr lang="en-US" dirty="0"/>
          </a:p>
        </p:txBody>
      </p:sp>
      <p:sp>
        <p:nvSpPr>
          <p:cNvPr id="4" name="Footer Placeholder 3">
            <a:extLst>
              <a:ext uri="{FF2B5EF4-FFF2-40B4-BE49-F238E27FC236}">
                <a16:creationId xmlns:a16="http://schemas.microsoft.com/office/drawing/2014/main" id="{128FFE91-EBBD-80AA-3C2B-002ADD2D34E3}"/>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F03BDF3B-2A9F-5055-794E-4FC74D3E1F2B}"/>
              </a:ext>
            </a:extLst>
          </p:cNvPr>
          <p:cNvSpPr>
            <a:spLocks noGrp="1"/>
          </p:cNvSpPr>
          <p:nvPr>
            <p:ph type="sldNum" sz="quarter" idx="12"/>
          </p:nvPr>
        </p:nvSpPr>
        <p:spPr/>
        <p:txBody>
          <a:bodyPr/>
          <a:lstStyle/>
          <a:p>
            <a:fld id="{43E3236E-8354-4469-A39B-052E70412384}" type="slidenum">
              <a:rPr lang="en-US" smtClean="0"/>
              <a:pPr/>
              <a:t>24</a:t>
            </a:fld>
            <a:endParaRPr lang="en-US"/>
          </a:p>
        </p:txBody>
      </p:sp>
    </p:spTree>
    <p:extLst>
      <p:ext uri="{BB962C8B-B14F-4D97-AF65-F5344CB8AC3E}">
        <p14:creationId xmlns:p14="http://schemas.microsoft.com/office/powerpoint/2010/main" val="155640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61924-7F25-E798-1371-0D7C0BE4FE74}"/>
              </a:ext>
            </a:extLst>
          </p:cNvPr>
          <p:cNvSpPr>
            <a:spLocks noGrp="1"/>
          </p:cNvSpPr>
          <p:nvPr>
            <p:ph type="title"/>
          </p:nvPr>
        </p:nvSpPr>
        <p:spPr/>
        <p:txBody>
          <a:bodyPr/>
          <a:lstStyle/>
          <a:p>
            <a:r>
              <a:rPr lang="en-US" i="1" dirty="0"/>
              <a:t>U.S. v. Grimaud </a:t>
            </a:r>
            <a:r>
              <a:rPr lang="en-US" dirty="0"/>
              <a:t>(1911)</a:t>
            </a:r>
          </a:p>
        </p:txBody>
      </p:sp>
      <p:sp>
        <p:nvSpPr>
          <p:cNvPr id="3" name="Content Placeholder 2">
            <a:extLst>
              <a:ext uri="{FF2B5EF4-FFF2-40B4-BE49-F238E27FC236}">
                <a16:creationId xmlns:a16="http://schemas.microsoft.com/office/drawing/2014/main" id="{11086F6E-7BD5-8F73-98B3-55FBA2F20964}"/>
              </a:ext>
            </a:extLst>
          </p:cNvPr>
          <p:cNvSpPr>
            <a:spLocks noGrp="1"/>
          </p:cNvSpPr>
          <p:nvPr>
            <p:ph idx="1"/>
          </p:nvPr>
        </p:nvSpPr>
        <p:spPr/>
        <p:txBody>
          <a:bodyPr/>
          <a:lstStyle/>
          <a:p>
            <a:r>
              <a:rPr lang="en-US" sz="2800" b="1" dirty="0"/>
              <a:t>Action at Stake: </a:t>
            </a:r>
            <a:r>
              <a:rPr lang="en-US" sz="2800" dirty="0"/>
              <a:t>To reserve public lands as public forest reservations and to make regulations for their use; defendants were driving and grazing sheep without license</a:t>
            </a:r>
            <a:endParaRPr lang="en-US" sz="2800" b="1" dirty="0"/>
          </a:p>
          <a:p>
            <a:r>
              <a:rPr lang="en-US" sz="2800" b="1" dirty="0"/>
              <a:t>Limit on Discretion: </a:t>
            </a:r>
            <a:r>
              <a:rPr lang="en-US" sz="2800" dirty="0"/>
              <a:t>To make such rules and regulations and establish such service as will insure the objects of such reservations; namely, to regulate their occupancy and use, and to preserve the forests thereon from destruction</a:t>
            </a:r>
          </a:p>
          <a:p>
            <a:endParaRPr lang="en-US" dirty="0"/>
          </a:p>
        </p:txBody>
      </p:sp>
      <p:sp>
        <p:nvSpPr>
          <p:cNvPr id="4" name="Footer Placeholder 3">
            <a:extLst>
              <a:ext uri="{FF2B5EF4-FFF2-40B4-BE49-F238E27FC236}">
                <a16:creationId xmlns:a16="http://schemas.microsoft.com/office/drawing/2014/main" id="{2F3B2DB2-5F65-45DA-E9D2-AA47E15693BD}"/>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0835E675-CF1E-9E53-8E2B-A9FEB6941EF5}"/>
              </a:ext>
            </a:extLst>
          </p:cNvPr>
          <p:cNvSpPr>
            <a:spLocks noGrp="1"/>
          </p:cNvSpPr>
          <p:nvPr>
            <p:ph type="sldNum" sz="quarter" idx="12"/>
          </p:nvPr>
        </p:nvSpPr>
        <p:spPr/>
        <p:txBody>
          <a:bodyPr/>
          <a:lstStyle/>
          <a:p>
            <a:fld id="{43E3236E-8354-4469-A39B-052E70412384}" type="slidenum">
              <a:rPr lang="en-US" smtClean="0"/>
              <a:pPr/>
              <a:t>25</a:t>
            </a:fld>
            <a:endParaRPr lang="en-US" dirty="0"/>
          </a:p>
        </p:txBody>
      </p:sp>
    </p:spTree>
    <p:extLst>
      <p:ext uri="{BB962C8B-B14F-4D97-AF65-F5344CB8AC3E}">
        <p14:creationId xmlns:p14="http://schemas.microsoft.com/office/powerpoint/2010/main" val="2477827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additive="base">
                                        <p:cTn id="14"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7729B-E344-C7E1-E3F2-EF7A2DE974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5A3AAF-7555-146E-E750-4DE39A2D6865}"/>
              </a:ext>
            </a:extLst>
          </p:cNvPr>
          <p:cNvSpPr>
            <a:spLocks noGrp="1"/>
          </p:cNvSpPr>
          <p:nvPr>
            <p:ph type="title"/>
          </p:nvPr>
        </p:nvSpPr>
        <p:spPr/>
        <p:txBody>
          <a:bodyPr/>
          <a:lstStyle/>
          <a:p>
            <a:r>
              <a:rPr lang="en-US" i="1" dirty="0"/>
              <a:t>U.S. v. Grimaud </a:t>
            </a:r>
            <a:r>
              <a:rPr lang="en-US" dirty="0"/>
              <a:t>(1911)</a:t>
            </a:r>
          </a:p>
        </p:txBody>
      </p:sp>
      <p:sp>
        <p:nvSpPr>
          <p:cNvPr id="3" name="Content Placeholder 2">
            <a:extLst>
              <a:ext uri="{FF2B5EF4-FFF2-40B4-BE49-F238E27FC236}">
                <a16:creationId xmlns:a16="http://schemas.microsoft.com/office/drawing/2014/main" id="{6FFF29C3-A2D9-92E7-C72D-225569BAE5A8}"/>
              </a:ext>
            </a:extLst>
          </p:cNvPr>
          <p:cNvSpPr>
            <a:spLocks noGrp="1"/>
          </p:cNvSpPr>
          <p:nvPr>
            <p:ph idx="1"/>
          </p:nvPr>
        </p:nvSpPr>
        <p:spPr/>
        <p:txBody>
          <a:bodyPr/>
          <a:lstStyle/>
          <a:p>
            <a:pPr marL="0" indent="0">
              <a:buNone/>
            </a:pPr>
            <a:r>
              <a:rPr lang="en-US" b="1" dirty="0"/>
              <a:t>Why Approved: </a:t>
            </a:r>
          </a:p>
          <a:p>
            <a:r>
              <a:rPr lang="en-US" sz="2800" dirty="0"/>
              <a:t>“[W]hen Congress had legislated and indicated its will, it could give to those who were to act under such general provisions ‘power to fill up the details' by the establishment of administrative rules and regulations . . .”</a:t>
            </a:r>
          </a:p>
          <a:p>
            <a:pPr lvl="1"/>
            <a:r>
              <a:rPr lang="en-US" dirty="0"/>
              <a:t>“The Secretary of Agriculture could not make rules and regulations for any and every purpose.”</a:t>
            </a:r>
          </a:p>
          <a:p>
            <a:endParaRPr lang="en-US" dirty="0"/>
          </a:p>
        </p:txBody>
      </p:sp>
      <p:sp>
        <p:nvSpPr>
          <p:cNvPr id="4" name="Footer Placeholder 3">
            <a:extLst>
              <a:ext uri="{FF2B5EF4-FFF2-40B4-BE49-F238E27FC236}">
                <a16:creationId xmlns:a16="http://schemas.microsoft.com/office/drawing/2014/main" id="{2B2E6208-1419-D8F1-B0ED-DC3FB54A3342}"/>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1E182009-2F83-83DE-620B-073292152193}"/>
              </a:ext>
            </a:extLst>
          </p:cNvPr>
          <p:cNvSpPr>
            <a:spLocks noGrp="1"/>
          </p:cNvSpPr>
          <p:nvPr>
            <p:ph type="sldNum" sz="quarter" idx="12"/>
          </p:nvPr>
        </p:nvSpPr>
        <p:spPr/>
        <p:txBody>
          <a:bodyPr/>
          <a:lstStyle/>
          <a:p>
            <a:fld id="{43E3236E-8354-4469-A39B-052E70412384}" type="slidenum">
              <a:rPr lang="en-US" smtClean="0"/>
              <a:pPr/>
              <a:t>26</a:t>
            </a:fld>
            <a:endParaRPr lang="en-US" dirty="0"/>
          </a:p>
        </p:txBody>
      </p:sp>
    </p:spTree>
    <p:extLst>
      <p:ext uri="{BB962C8B-B14F-4D97-AF65-F5344CB8AC3E}">
        <p14:creationId xmlns:p14="http://schemas.microsoft.com/office/powerpoint/2010/main" val="1105390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C1C69-7072-2114-5ED2-B1278A0538A3}"/>
              </a:ext>
            </a:extLst>
          </p:cNvPr>
          <p:cNvSpPr>
            <a:spLocks noGrp="1"/>
          </p:cNvSpPr>
          <p:nvPr>
            <p:ph type="title"/>
          </p:nvPr>
        </p:nvSpPr>
        <p:spPr/>
        <p:txBody>
          <a:bodyPr/>
          <a:lstStyle/>
          <a:p>
            <a:r>
              <a:rPr lang="en-US" sz="3600" dirty="0"/>
              <a:t>Quoting </a:t>
            </a:r>
            <a:r>
              <a:rPr lang="en-US" sz="3600" i="1" dirty="0"/>
              <a:t>Wayman v. Southard </a:t>
            </a:r>
            <a:r>
              <a:rPr lang="en-US" sz="3600" dirty="0"/>
              <a:t>(1825)</a:t>
            </a:r>
          </a:p>
        </p:txBody>
      </p:sp>
      <p:sp>
        <p:nvSpPr>
          <p:cNvPr id="3" name="Content Placeholder 2">
            <a:extLst>
              <a:ext uri="{FF2B5EF4-FFF2-40B4-BE49-F238E27FC236}">
                <a16:creationId xmlns:a16="http://schemas.microsoft.com/office/drawing/2014/main" id="{3899D520-A964-59AA-FE9A-F607333FA699}"/>
              </a:ext>
            </a:extLst>
          </p:cNvPr>
          <p:cNvSpPr>
            <a:spLocks noGrp="1"/>
          </p:cNvSpPr>
          <p:nvPr>
            <p:ph idx="1"/>
          </p:nvPr>
        </p:nvSpPr>
        <p:spPr/>
        <p:txBody>
          <a:bodyPr/>
          <a:lstStyle/>
          <a:p>
            <a:r>
              <a:rPr lang="en-US" sz="2800" dirty="0"/>
              <a:t>“It will not be contended that Congress can delegate to the courts, or to any other tribunals, powers which are strictly and exclusively legislative. But Congress may certainly delegate to others powers which the legislature may rightfully exercise itself.” [54]</a:t>
            </a:r>
          </a:p>
          <a:p>
            <a:pPr lvl="1"/>
            <a:r>
              <a:rPr lang="en-US" dirty="0"/>
              <a:t>Does the category of power depend on what is being done or who is doing it?</a:t>
            </a:r>
          </a:p>
          <a:p>
            <a:pPr lvl="1"/>
            <a:r>
              <a:rPr lang="en-US" dirty="0"/>
              <a:t>Note that </a:t>
            </a:r>
            <a:r>
              <a:rPr lang="en-US"/>
              <a:t>Lamar’s cousin </a:t>
            </a:r>
            <a:r>
              <a:rPr lang="en-US" dirty="0"/>
              <a:t>was a dissenter in </a:t>
            </a:r>
            <a:r>
              <a:rPr lang="en-US" i="1" dirty="0"/>
              <a:t>Field</a:t>
            </a:r>
            <a:endParaRPr lang="en-US" sz="3200" i="1" dirty="0"/>
          </a:p>
        </p:txBody>
      </p:sp>
      <p:sp>
        <p:nvSpPr>
          <p:cNvPr id="4" name="Footer Placeholder 3">
            <a:extLst>
              <a:ext uri="{FF2B5EF4-FFF2-40B4-BE49-F238E27FC236}">
                <a16:creationId xmlns:a16="http://schemas.microsoft.com/office/drawing/2014/main" id="{3ED4F5E5-5D60-16B7-AB50-038653D32699}"/>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55EC0F39-23AB-00DB-1774-85BCC23D14C6}"/>
              </a:ext>
            </a:extLst>
          </p:cNvPr>
          <p:cNvSpPr>
            <a:spLocks noGrp="1"/>
          </p:cNvSpPr>
          <p:nvPr>
            <p:ph type="sldNum" sz="quarter" idx="12"/>
          </p:nvPr>
        </p:nvSpPr>
        <p:spPr/>
        <p:txBody>
          <a:bodyPr/>
          <a:lstStyle/>
          <a:p>
            <a:fld id="{43E3236E-8354-4469-A39B-052E70412384}" type="slidenum">
              <a:rPr lang="en-US" smtClean="0"/>
              <a:pPr/>
              <a:t>27</a:t>
            </a:fld>
            <a:endParaRPr lang="en-US" dirty="0"/>
          </a:p>
        </p:txBody>
      </p:sp>
    </p:spTree>
    <p:extLst>
      <p:ext uri="{BB962C8B-B14F-4D97-AF65-F5344CB8AC3E}">
        <p14:creationId xmlns:p14="http://schemas.microsoft.com/office/powerpoint/2010/main" val="22760633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7CE1C-DE88-F98B-36F8-5F006CA845AB}"/>
              </a:ext>
            </a:extLst>
          </p:cNvPr>
          <p:cNvSpPr>
            <a:spLocks noGrp="1"/>
          </p:cNvSpPr>
          <p:nvPr>
            <p:ph type="title"/>
          </p:nvPr>
        </p:nvSpPr>
        <p:spPr/>
        <p:txBody>
          <a:bodyPr/>
          <a:lstStyle/>
          <a:p>
            <a:r>
              <a:rPr lang="en-US" sz="3600" i="1" dirty="0"/>
              <a:t>J.R. Hampton, Jr. &amp; Co. v. U.S. </a:t>
            </a:r>
            <a:r>
              <a:rPr lang="en-US" sz="3600" dirty="0"/>
              <a:t>(1928)</a:t>
            </a:r>
          </a:p>
        </p:txBody>
      </p:sp>
      <p:sp>
        <p:nvSpPr>
          <p:cNvPr id="3" name="Content Placeholder 2">
            <a:extLst>
              <a:ext uri="{FF2B5EF4-FFF2-40B4-BE49-F238E27FC236}">
                <a16:creationId xmlns:a16="http://schemas.microsoft.com/office/drawing/2014/main" id="{28165E29-5C2A-64B2-50CA-24D5E057D33D}"/>
              </a:ext>
            </a:extLst>
          </p:cNvPr>
          <p:cNvSpPr>
            <a:spLocks noGrp="1"/>
          </p:cNvSpPr>
          <p:nvPr>
            <p:ph idx="1"/>
          </p:nvPr>
        </p:nvSpPr>
        <p:spPr/>
        <p:txBody>
          <a:bodyPr/>
          <a:lstStyle/>
          <a:p>
            <a:r>
              <a:rPr lang="en-US" b="1" dirty="0"/>
              <a:t>Action at Stake</a:t>
            </a:r>
            <a:r>
              <a:rPr lang="en-US" dirty="0"/>
              <a:t>: To adjust tariff rates by altering duties or classification of goods</a:t>
            </a:r>
          </a:p>
          <a:p>
            <a:r>
              <a:rPr lang="en-US" b="1" dirty="0"/>
              <a:t>Limit on Discretion: </a:t>
            </a:r>
            <a:r>
              <a:rPr lang="en-US" dirty="0"/>
              <a:t>To make changes to equalize the costs of production between goods produced outside U.S. and domestically, based upon investigation of the differences in costs</a:t>
            </a:r>
          </a:p>
        </p:txBody>
      </p:sp>
      <p:sp>
        <p:nvSpPr>
          <p:cNvPr id="4" name="Footer Placeholder 3">
            <a:extLst>
              <a:ext uri="{FF2B5EF4-FFF2-40B4-BE49-F238E27FC236}">
                <a16:creationId xmlns:a16="http://schemas.microsoft.com/office/drawing/2014/main" id="{76CEAE3A-FC70-A556-EB76-7BF8123393F9}"/>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368FA35A-A051-0BC7-F513-4B8E1CA95CB5}"/>
              </a:ext>
            </a:extLst>
          </p:cNvPr>
          <p:cNvSpPr>
            <a:spLocks noGrp="1"/>
          </p:cNvSpPr>
          <p:nvPr>
            <p:ph type="sldNum" sz="quarter" idx="12"/>
          </p:nvPr>
        </p:nvSpPr>
        <p:spPr/>
        <p:txBody>
          <a:bodyPr/>
          <a:lstStyle/>
          <a:p>
            <a:fld id="{43E3236E-8354-4469-A39B-052E70412384}" type="slidenum">
              <a:rPr lang="en-US" smtClean="0"/>
              <a:pPr/>
              <a:t>28</a:t>
            </a:fld>
            <a:endParaRPr lang="en-US"/>
          </a:p>
        </p:txBody>
      </p:sp>
    </p:spTree>
    <p:extLst>
      <p:ext uri="{BB962C8B-B14F-4D97-AF65-F5344CB8AC3E}">
        <p14:creationId xmlns:p14="http://schemas.microsoft.com/office/powerpoint/2010/main" val="644171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847F2-0406-C068-2D7D-87A5A80EC2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EFB853-4150-5438-E10C-FAD593173790}"/>
              </a:ext>
            </a:extLst>
          </p:cNvPr>
          <p:cNvSpPr>
            <a:spLocks noGrp="1"/>
          </p:cNvSpPr>
          <p:nvPr>
            <p:ph type="title"/>
          </p:nvPr>
        </p:nvSpPr>
        <p:spPr/>
        <p:txBody>
          <a:bodyPr/>
          <a:lstStyle/>
          <a:p>
            <a:r>
              <a:rPr lang="en-US" sz="3600" i="1" dirty="0"/>
              <a:t>J.R. Hampton, Jr. &amp; Co. v. U.S. </a:t>
            </a:r>
            <a:r>
              <a:rPr lang="en-US" sz="3600" dirty="0"/>
              <a:t>(1928)</a:t>
            </a:r>
          </a:p>
        </p:txBody>
      </p:sp>
      <p:sp>
        <p:nvSpPr>
          <p:cNvPr id="3" name="Content Placeholder 2">
            <a:extLst>
              <a:ext uri="{FF2B5EF4-FFF2-40B4-BE49-F238E27FC236}">
                <a16:creationId xmlns:a16="http://schemas.microsoft.com/office/drawing/2014/main" id="{2BDD813B-20FD-F9DB-90F6-775830059149}"/>
              </a:ext>
            </a:extLst>
          </p:cNvPr>
          <p:cNvSpPr>
            <a:spLocks noGrp="1"/>
          </p:cNvSpPr>
          <p:nvPr>
            <p:ph idx="1"/>
          </p:nvPr>
        </p:nvSpPr>
        <p:spPr/>
        <p:txBody>
          <a:bodyPr/>
          <a:lstStyle/>
          <a:p>
            <a:r>
              <a:rPr lang="en-US" b="1" dirty="0"/>
              <a:t>Why Approved: </a:t>
            </a:r>
          </a:p>
          <a:p>
            <a:pPr lvl="1"/>
            <a:r>
              <a:rPr lang="en-US" dirty="0"/>
              <a:t>Scope of permissible delegation follows “common sense and the inherent necessities of government coordination”</a:t>
            </a:r>
          </a:p>
          <a:p>
            <a:pPr lvl="1"/>
            <a:r>
              <a:rPr lang="en-US" dirty="0"/>
              <a:t>If Congress shall lay down by legislative act an intelligible principle to which the person or body authorized to fix such rates is directed to conform, such legislative action is not a forbidden delegation of legislative power. (80)</a:t>
            </a:r>
          </a:p>
        </p:txBody>
      </p:sp>
      <p:sp>
        <p:nvSpPr>
          <p:cNvPr id="4" name="Footer Placeholder 3">
            <a:extLst>
              <a:ext uri="{FF2B5EF4-FFF2-40B4-BE49-F238E27FC236}">
                <a16:creationId xmlns:a16="http://schemas.microsoft.com/office/drawing/2014/main" id="{A1EB7A5E-9246-BA89-BB29-60CF5CD0B774}"/>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D20163FB-C3E4-473E-EFB4-7B40A782660B}"/>
              </a:ext>
            </a:extLst>
          </p:cNvPr>
          <p:cNvSpPr>
            <a:spLocks noGrp="1"/>
          </p:cNvSpPr>
          <p:nvPr>
            <p:ph type="sldNum" sz="quarter" idx="12"/>
          </p:nvPr>
        </p:nvSpPr>
        <p:spPr/>
        <p:txBody>
          <a:bodyPr/>
          <a:lstStyle/>
          <a:p>
            <a:fld id="{43E3236E-8354-4469-A39B-052E70412384}" type="slidenum">
              <a:rPr lang="en-US" smtClean="0"/>
              <a:pPr/>
              <a:t>29</a:t>
            </a:fld>
            <a:endParaRPr lang="en-US"/>
          </a:p>
        </p:txBody>
      </p:sp>
    </p:spTree>
    <p:extLst>
      <p:ext uri="{BB962C8B-B14F-4D97-AF65-F5344CB8AC3E}">
        <p14:creationId xmlns:p14="http://schemas.microsoft.com/office/powerpoint/2010/main" val="4093990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751AC-9C59-99C4-3EFB-599750076C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15D3D-BC6A-1A6E-8E73-503D9155B701}"/>
              </a:ext>
            </a:extLst>
          </p:cNvPr>
          <p:cNvSpPr>
            <a:spLocks noGrp="1"/>
          </p:cNvSpPr>
          <p:nvPr>
            <p:ph type="title"/>
          </p:nvPr>
        </p:nvSpPr>
        <p:spPr/>
        <p:txBody>
          <a:bodyPr/>
          <a:lstStyle/>
          <a:p>
            <a:r>
              <a:rPr lang="en-US" sz="3600" i="1" dirty="0"/>
              <a:t>J.R. Hampton, Jr. &amp; Co. v. U.S. </a:t>
            </a:r>
            <a:r>
              <a:rPr lang="en-US" sz="3600" dirty="0"/>
              <a:t>(1928)</a:t>
            </a:r>
          </a:p>
        </p:txBody>
      </p:sp>
      <p:sp>
        <p:nvSpPr>
          <p:cNvPr id="3" name="Content Placeholder 2">
            <a:extLst>
              <a:ext uri="{FF2B5EF4-FFF2-40B4-BE49-F238E27FC236}">
                <a16:creationId xmlns:a16="http://schemas.microsoft.com/office/drawing/2014/main" id="{D1A00B8D-0D79-EC9D-7488-7494CA83705D}"/>
              </a:ext>
            </a:extLst>
          </p:cNvPr>
          <p:cNvSpPr>
            <a:spLocks noGrp="1"/>
          </p:cNvSpPr>
          <p:nvPr>
            <p:ph idx="1"/>
          </p:nvPr>
        </p:nvSpPr>
        <p:spPr/>
        <p:txBody>
          <a:bodyPr/>
          <a:lstStyle/>
          <a:p>
            <a:r>
              <a:rPr lang="en-US" dirty="0"/>
              <a:t>Why Approved: </a:t>
            </a:r>
          </a:p>
          <a:p>
            <a:pPr lvl="1"/>
            <a:r>
              <a:rPr lang="en-US" sz="2400" dirty="0"/>
              <a:t>If it is thought wise to vary the customs duties according to changing conditions of production at home and abroad, it may authorize the Chief Executive to carry out this purpose, with the advisory assistance of a Tariff Commission appointed under congressional authority.</a:t>
            </a:r>
          </a:p>
          <a:p>
            <a:pPr lvl="1"/>
            <a:r>
              <a:rPr lang="en-US" sz="2400" dirty="0"/>
              <a:t>Like </a:t>
            </a:r>
            <a:r>
              <a:rPr lang="en-US" sz="2400" i="1" dirty="0"/>
              <a:t>Field</a:t>
            </a:r>
            <a:r>
              <a:rPr lang="en-US" sz="2400" dirty="0"/>
              <a:t>: “[N]</a:t>
            </a:r>
            <a:r>
              <a:rPr lang="en-US" sz="2400" dirty="0" err="1"/>
              <a:t>othing</a:t>
            </a:r>
            <a:r>
              <a:rPr lang="en-US" sz="2400" dirty="0"/>
              <a:t> involving the expediency or just operation of such legislation was left to the determination of the President”</a:t>
            </a:r>
          </a:p>
          <a:p>
            <a:pPr lvl="1"/>
            <a:endParaRPr lang="en-US" dirty="0"/>
          </a:p>
        </p:txBody>
      </p:sp>
      <p:sp>
        <p:nvSpPr>
          <p:cNvPr id="4" name="Footer Placeholder 3">
            <a:extLst>
              <a:ext uri="{FF2B5EF4-FFF2-40B4-BE49-F238E27FC236}">
                <a16:creationId xmlns:a16="http://schemas.microsoft.com/office/drawing/2014/main" id="{28669621-BB70-167D-1A3C-65F43B728E37}"/>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B7A181B3-D46D-4627-5079-EBDB1FAAE9C1}"/>
              </a:ext>
            </a:extLst>
          </p:cNvPr>
          <p:cNvSpPr>
            <a:spLocks noGrp="1"/>
          </p:cNvSpPr>
          <p:nvPr>
            <p:ph type="sldNum" sz="quarter" idx="12"/>
          </p:nvPr>
        </p:nvSpPr>
        <p:spPr/>
        <p:txBody>
          <a:bodyPr/>
          <a:lstStyle/>
          <a:p>
            <a:fld id="{43E3236E-8354-4469-A39B-052E70412384}" type="slidenum">
              <a:rPr lang="en-US" smtClean="0"/>
              <a:pPr/>
              <a:t>30</a:t>
            </a:fld>
            <a:endParaRPr lang="en-US"/>
          </a:p>
        </p:txBody>
      </p:sp>
    </p:spTree>
    <p:extLst>
      <p:ext uri="{BB962C8B-B14F-4D97-AF65-F5344CB8AC3E}">
        <p14:creationId xmlns:p14="http://schemas.microsoft.com/office/powerpoint/2010/main" val="4778497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B9C0D-5015-5AC5-D94D-FAFA16D4220E}"/>
              </a:ext>
            </a:extLst>
          </p:cNvPr>
          <p:cNvSpPr>
            <a:spLocks noGrp="1"/>
          </p:cNvSpPr>
          <p:nvPr>
            <p:ph type="title"/>
          </p:nvPr>
        </p:nvSpPr>
        <p:spPr/>
        <p:txBody>
          <a:bodyPr/>
          <a:lstStyle/>
          <a:p>
            <a:r>
              <a:rPr lang="en-US" i="1" dirty="0"/>
              <a:t>Schechter Poultry v. U.S. </a:t>
            </a:r>
            <a:r>
              <a:rPr lang="en-US" dirty="0"/>
              <a:t>(1935)</a:t>
            </a:r>
          </a:p>
        </p:txBody>
      </p:sp>
      <p:sp>
        <p:nvSpPr>
          <p:cNvPr id="3" name="Content Placeholder 2">
            <a:extLst>
              <a:ext uri="{FF2B5EF4-FFF2-40B4-BE49-F238E27FC236}">
                <a16:creationId xmlns:a16="http://schemas.microsoft.com/office/drawing/2014/main" id="{B3EF5EAD-F1EB-504E-5A59-4188CC42E474}"/>
              </a:ext>
            </a:extLst>
          </p:cNvPr>
          <p:cNvSpPr>
            <a:spLocks noGrp="1"/>
          </p:cNvSpPr>
          <p:nvPr>
            <p:ph idx="1"/>
          </p:nvPr>
        </p:nvSpPr>
        <p:spPr/>
        <p:txBody>
          <a:bodyPr/>
          <a:lstStyle/>
          <a:p>
            <a:r>
              <a:rPr lang="en-US" b="1" dirty="0"/>
              <a:t>Action at Stake</a:t>
            </a:r>
            <a:r>
              <a:rPr lang="en-US" dirty="0"/>
              <a:t>: </a:t>
            </a:r>
          </a:p>
          <a:p>
            <a:pPr marL="0" indent="0">
              <a:buNone/>
            </a:pPr>
            <a:r>
              <a:rPr lang="en-US" dirty="0"/>
              <a:t>Approval or promulgation of Codes of Fair Competition</a:t>
            </a:r>
          </a:p>
          <a:p>
            <a:pPr lvl="1"/>
            <a:r>
              <a:rPr lang="en-US" dirty="0"/>
              <a:t>Code for live poultry industry covers:</a:t>
            </a:r>
          </a:p>
          <a:p>
            <a:pPr lvl="2"/>
            <a:r>
              <a:rPr lang="en-US" dirty="0"/>
              <a:t>Hours</a:t>
            </a:r>
          </a:p>
          <a:p>
            <a:pPr lvl="2"/>
            <a:r>
              <a:rPr lang="en-US" dirty="0"/>
              <a:t>Wages</a:t>
            </a:r>
          </a:p>
          <a:p>
            <a:pPr lvl="2"/>
            <a:r>
              <a:rPr lang="en-US" dirty="0"/>
              <a:t>Labor conditions</a:t>
            </a:r>
          </a:p>
          <a:p>
            <a:pPr lvl="2"/>
            <a:r>
              <a:rPr lang="en-US" dirty="0"/>
              <a:t>Trade practices</a:t>
            </a:r>
          </a:p>
          <a:p>
            <a:pPr lvl="2"/>
            <a:r>
              <a:rPr lang="en-US" dirty="0"/>
              <a:t>Reporting requirements</a:t>
            </a:r>
          </a:p>
        </p:txBody>
      </p:sp>
      <p:sp>
        <p:nvSpPr>
          <p:cNvPr id="4" name="Footer Placeholder 3">
            <a:extLst>
              <a:ext uri="{FF2B5EF4-FFF2-40B4-BE49-F238E27FC236}">
                <a16:creationId xmlns:a16="http://schemas.microsoft.com/office/drawing/2014/main" id="{A1B31473-F2EB-F9E6-608F-8028AC873EF9}"/>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77A649C8-6768-6893-7065-4237A05BE261}"/>
              </a:ext>
            </a:extLst>
          </p:cNvPr>
          <p:cNvSpPr>
            <a:spLocks noGrp="1"/>
          </p:cNvSpPr>
          <p:nvPr>
            <p:ph type="sldNum" sz="quarter" idx="12"/>
          </p:nvPr>
        </p:nvSpPr>
        <p:spPr/>
        <p:txBody>
          <a:bodyPr/>
          <a:lstStyle/>
          <a:p>
            <a:fld id="{43E3236E-8354-4469-A39B-052E70412384}" type="slidenum">
              <a:rPr lang="en-US" smtClean="0"/>
              <a:pPr/>
              <a:t>31</a:t>
            </a:fld>
            <a:endParaRPr lang="en-US"/>
          </a:p>
        </p:txBody>
      </p:sp>
    </p:spTree>
    <p:extLst>
      <p:ext uri="{BB962C8B-B14F-4D97-AF65-F5344CB8AC3E}">
        <p14:creationId xmlns:p14="http://schemas.microsoft.com/office/powerpoint/2010/main" val="1355881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DFBFD-EA90-811E-62CA-217BA608FD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AE131B-803B-9283-3779-16C3A455F520}"/>
              </a:ext>
            </a:extLst>
          </p:cNvPr>
          <p:cNvSpPr>
            <a:spLocks noGrp="1"/>
          </p:cNvSpPr>
          <p:nvPr>
            <p:ph type="title"/>
          </p:nvPr>
        </p:nvSpPr>
        <p:spPr/>
        <p:txBody>
          <a:bodyPr/>
          <a:lstStyle/>
          <a:p>
            <a:r>
              <a:rPr lang="en-US" i="1" dirty="0"/>
              <a:t>Schechter Poultry v. U.S. </a:t>
            </a:r>
            <a:r>
              <a:rPr lang="en-US" dirty="0"/>
              <a:t>(1935)</a:t>
            </a:r>
          </a:p>
        </p:txBody>
      </p:sp>
      <p:sp>
        <p:nvSpPr>
          <p:cNvPr id="3" name="Content Placeholder 2">
            <a:extLst>
              <a:ext uri="{FF2B5EF4-FFF2-40B4-BE49-F238E27FC236}">
                <a16:creationId xmlns:a16="http://schemas.microsoft.com/office/drawing/2014/main" id="{7E36699C-67EB-4FD1-C6AC-2AAA1F146962}"/>
              </a:ext>
            </a:extLst>
          </p:cNvPr>
          <p:cNvSpPr>
            <a:spLocks noGrp="1"/>
          </p:cNvSpPr>
          <p:nvPr>
            <p:ph idx="1"/>
          </p:nvPr>
        </p:nvSpPr>
        <p:spPr/>
        <p:txBody>
          <a:bodyPr/>
          <a:lstStyle/>
          <a:p>
            <a:pPr marL="0" indent="0">
              <a:buNone/>
            </a:pPr>
            <a:r>
              <a:rPr lang="en-US" sz="2400" b="1" dirty="0"/>
              <a:t>Limit on Discretion</a:t>
            </a:r>
            <a:r>
              <a:rPr lang="en-US" sz="2400" dirty="0"/>
              <a:t>: </a:t>
            </a:r>
          </a:p>
          <a:p>
            <a:r>
              <a:rPr lang="en-US" sz="2400" dirty="0"/>
              <a:t>Codes may not erect inequitable barriers to entry or promote monopoly</a:t>
            </a:r>
          </a:p>
          <a:p>
            <a:r>
              <a:rPr lang="en-US" sz="2400" dirty="0"/>
              <a:t>“As a condition of his approval, the President may ‘impose such conditions (including requirements for the making of reports and the keeping of accounts) for the protection of consumers, competitors, employees, and others, and in furtherance of the public interest, and may provide such exceptions to and exemptions from the provisions of such code as the President in his discretion deems necessary to effectuate the policy herein declared.”</a:t>
            </a:r>
          </a:p>
          <a:p>
            <a:endParaRPr lang="en-US" dirty="0"/>
          </a:p>
        </p:txBody>
      </p:sp>
      <p:sp>
        <p:nvSpPr>
          <p:cNvPr id="4" name="Footer Placeholder 3">
            <a:extLst>
              <a:ext uri="{FF2B5EF4-FFF2-40B4-BE49-F238E27FC236}">
                <a16:creationId xmlns:a16="http://schemas.microsoft.com/office/drawing/2014/main" id="{519BB387-6E5D-4942-4A35-123F22C73265}"/>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A93B7FDD-3FCC-79AD-3F7E-8037BA20AD23}"/>
              </a:ext>
            </a:extLst>
          </p:cNvPr>
          <p:cNvSpPr>
            <a:spLocks noGrp="1"/>
          </p:cNvSpPr>
          <p:nvPr>
            <p:ph type="sldNum" sz="quarter" idx="12"/>
          </p:nvPr>
        </p:nvSpPr>
        <p:spPr/>
        <p:txBody>
          <a:bodyPr/>
          <a:lstStyle/>
          <a:p>
            <a:fld id="{43E3236E-8354-4469-A39B-052E70412384}" type="slidenum">
              <a:rPr lang="en-US" smtClean="0"/>
              <a:pPr/>
              <a:t>32</a:t>
            </a:fld>
            <a:endParaRPr lang="en-US"/>
          </a:p>
        </p:txBody>
      </p:sp>
    </p:spTree>
    <p:extLst>
      <p:ext uri="{BB962C8B-B14F-4D97-AF65-F5344CB8AC3E}">
        <p14:creationId xmlns:p14="http://schemas.microsoft.com/office/powerpoint/2010/main" val="1791284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CCE55-8C9F-630C-C6DA-EDDDE256943B}"/>
              </a:ext>
            </a:extLst>
          </p:cNvPr>
          <p:cNvSpPr>
            <a:spLocks noGrp="1"/>
          </p:cNvSpPr>
          <p:nvPr>
            <p:ph type="title"/>
          </p:nvPr>
        </p:nvSpPr>
        <p:spPr/>
        <p:txBody>
          <a:bodyPr/>
          <a:lstStyle/>
          <a:p>
            <a:r>
              <a:rPr lang="en-US" dirty="0"/>
              <a:t>Why Impermissible?</a:t>
            </a:r>
          </a:p>
        </p:txBody>
      </p:sp>
      <p:sp>
        <p:nvSpPr>
          <p:cNvPr id="3" name="Content Placeholder 2">
            <a:extLst>
              <a:ext uri="{FF2B5EF4-FFF2-40B4-BE49-F238E27FC236}">
                <a16:creationId xmlns:a16="http://schemas.microsoft.com/office/drawing/2014/main" id="{A94E6EFB-3CF6-456E-42C1-9E3ED49CF7F5}"/>
              </a:ext>
            </a:extLst>
          </p:cNvPr>
          <p:cNvSpPr>
            <a:spLocks noGrp="1"/>
          </p:cNvSpPr>
          <p:nvPr>
            <p:ph idx="1"/>
          </p:nvPr>
        </p:nvSpPr>
        <p:spPr/>
        <p:txBody>
          <a:bodyPr/>
          <a:lstStyle/>
          <a:p>
            <a:r>
              <a:rPr lang="en-US" sz="2800" dirty="0"/>
              <a:t>No adequate definition of the subject to which the codes are to be addressed.</a:t>
            </a:r>
          </a:p>
          <a:p>
            <a:r>
              <a:rPr lang="en-US" sz="2800" dirty="0"/>
              <a:t>No standards for any trade, industry, or activity. </a:t>
            </a:r>
          </a:p>
          <a:p>
            <a:r>
              <a:rPr lang="en-US" sz="2800" dirty="0"/>
              <a:t>Discretion of the President in approving or prescribing codes is virtually unfettered. </a:t>
            </a:r>
          </a:p>
          <a:p>
            <a:r>
              <a:rPr lang="en-US" sz="2800" dirty="0"/>
              <a:t>Presidential “finding” is “really but a statement of an opinion as to the general effect upon the promotion of trade or industry of a scheme of laws.”</a:t>
            </a:r>
          </a:p>
        </p:txBody>
      </p:sp>
      <p:sp>
        <p:nvSpPr>
          <p:cNvPr id="4" name="Footer Placeholder 3">
            <a:extLst>
              <a:ext uri="{FF2B5EF4-FFF2-40B4-BE49-F238E27FC236}">
                <a16:creationId xmlns:a16="http://schemas.microsoft.com/office/drawing/2014/main" id="{3D1F332D-7C80-75C6-4DF6-07428FFC85C7}"/>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322F8A70-CB72-5CAD-7683-AE08AD587E41}"/>
              </a:ext>
            </a:extLst>
          </p:cNvPr>
          <p:cNvSpPr>
            <a:spLocks noGrp="1"/>
          </p:cNvSpPr>
          <p:nvPr>
            <p:ph type="sldNum" sz="quarter" idx="12"/>
          </p:nvPr>
        </p:nvSpPr>
        <p:spPr/>
        <p:txBody>
          <a:bodyPr/>
          <a:lstStyle/>
          <a:p>
            <a:fld id="{43E3236E-8354-4469-A39B-052E70412384}" type="slidenum">
              <a:rPr lang="en-US" smtClean="0"/>
              <a:pPr/>
              <a:t>33</a:t>
            </a:fld>
            <a:endParaRPr lang="en-US" dirty="0"/>
          </a:p>
        </p:txBody>
      </p:sp>
    </p:spTree>
    <p:extLst>
      <p:ext uri="{BB962C8B-B14F-4D97-AF65-F5344CB8AC3E}">
        <p14:creationId xmlns:p14="http://schemas.microsoft.com/office/powerpoint/2010/main" val="3911864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91EB2-68E7-A28C-E843-36C0A906B6C7}"/>
              </a:ext>
            </a:extLst>
          </p:cNvPr>
          <p:cNvSpPr>
            <a:spLocks noGrp="1"/>
          </p:cNvSpPr>
          <p:nvPr>
            <p:ph type="title"/>
          </p:nvPr>
        </p:nvSpPr>
        <p:spPr/>
        <p:txBody>
          <a:bodyPr/>
          <a:lstStyle/>
          <a:p>
            <a:r>
              <a:rPr lang="en-US" dirty="0"/>
              <a:t>NIRA Policy Section</a:t>
            </a:r>
          </a:p>
        </p:txBody>
      </p:sp>
      <p:sp>
        <p:nvSpPr>
          <p:cNvPr id="3" name="Content Placeholder 2">
            <a:extLst>
              <a:ext uri="{FF2B5EF4-FFF2-40B4-BE49-F238E27FC236}">
                <a16:creationId xmlns:a16="http://schemas.microsoft.com/office/drawing/2014/main" id="{542948B7-BA72-2500-6517-9C8ED220E099}"/>
              </a:ext>
            </a:extLst>
          </p:cNvPr>
          <p:cNvSpPr>
            <a:spLocks noGrp="1"/>
          </p:cNvSpPr>
          <p:nvPr>
            <p:ph idx="1"/>
          </p:nvPr>
        </p:nvSpPr>
        <p:spPr/>
        <p:txBody>
          <a:bodyPr/>
          <a:lstStyle/>
          <a:p>
            <a:pPr marL="0" indent="0">
              <a:buNone/>
            </a:pPr>
            <a:r>
              <a:rPr lang="en-US" sz="2000" dirty="0"/>
              <a:t>“It is hereby declared to be the policy of Congress to remove obstructions to the free flow of interstate and foreign commerce which tend to diminish the amount thereof; and to provide for the general welfare by promoting the organization of industry for the purpose of cooperative action among trade groups, to induce and maintain united action of labor and management under adequate governmental sanctions and supervision, to eliminate unfair competitive practices, </a:t>
            </a:r>
            <a:r>
              <a:rPr lang="en-US" sz="2000" dirty="0">
                <a:solidFill>
                  <a:srgbClr val="FF0000"/>
                </a:solidFill>
              </a:rPr>
              <a:t>to promote the fullest possible utilization of the present productive capacity of industries</a:t>
            </a:r>
            <a:r>
              <a:rPr lang="en-US" sz="2000" dirty="0"/>
              <a:t>, to avoid undue restriction of production (except as may be temporarily required), to increase the consumption of industrial and agricultural products by increasing purchasing power, to reduce and relieve unemployment, to improve standards of labor, and otherwise to rehabilitate industry and </a:t>
            </a:r>
            <a:r>
              <a:rPr lang="en-US" sz="2000" dirty="0">
                <a:solidFill>
                  <a:srgbClr val="FF0000"/>
                </a:solidFill>
              </a:rPr>
              <a:t>to conserve natural resources</a:t>
            </a:r>
            <a:r>
              <a:rPr lang="en-US" sz="2000" dirty="0"/>
              <a:t>.</a:t>
            </a:r>
          </a:p>
        </p:txBody>
      </p:sp>
      <p:sp>
        <p:nvSpPr>
          <p:cNvPr id="4" name="Footer Placeholder 3">
            <a:extLst>
              <a:ext uri="{FF2B5EF4-FFF2-40B4-BE49-F238E27FC236}">
                <a16:creationId xmlns:a16="http://schemas.microsoft.com/office/drawing/2014/main" id="{C4275EC0-CBC8-813B-C43A-167B4E6E2CEB}"/>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6FADE342-0F64-F0D5-BB18-CBADCA28AC0D}"/>
              </a:ext>
            </a:extLst>
          </p:cNvPr>
          <p:cNvSpPr>
            <a:spLocks noGrp="1"/>
          </p:cNvSpPr>
          <p:nvPr>
            <p:ph type="sldNum" sz="quarter" idx="12"/>
          </p:nvPr>
        </p:nvSpPr>
        <p:spPr/>
        <p:txBody>
          <a:bodyPr/>
          <a:lstStyle/>
          <a:p>
            <a:fld id="{43E3236E-8354-4469-A39B-052E70412384}" type="slidenum">
              <a:rPr lang="en-US" smtClean="0"/>
              <a:pPr/>
              <a:t>34</a:t>
            </a:fld>
            <a:endParaRPr lang="en-US"/>
          </a:p>
        </p:txBody>
      </p:sp>
    </p:spTree>
    <p:extLst>
      <p:ext uri="{BB962C8B-B14F-4D97-AF65-F5344CB8AC3E}">
        <p14:creationId xmlns:p14="http://schemas.microsoft.com/office/powerpoint/2010/main" val="11055519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CABD0-D8FF-FF2C-8E51-269247FE01C9}"/>
              </a:ext>
            </a:extLst>
          </p:cNvPr>
          <p:cNvSpPr>
            <a:spLocks noGrp="1"/>
          </p:cNvSpPr>
          <p:nvPr>
            <p:ph type="title"/>
          </p:nvPr>
        </p:nvSpPr>
        <p:spPr/>
        <p:txBody>
          <a:bodyPr/>
          <a:lstStyle/>
          <a:p>
            <a:r>
              <a:rPr lang="en-US" i="1" dirty="0"/>
              <a:t>Yakus v. U.S. </a:t>
            </a:r>
            <a:r>
              <a:rPr lang="en-US" dirty="0"/>
              <a:t>(1944)</a:t>
            </a:r>
          </a:p>
        </p:txBody>
      </p:sp>
      <p:sp>
        <p:nvSpPr>
          <p:cNvPr id="3" name="Content Placeholder 2">
            <a:extLst>
              <a:ext uri="{FF2B5EF4-FFF2-40B4-BE49-F238E27FC236}">
                <a16:creationId xmlns:a16="http://schemas.microsoft.com/office/drawing/2014/main" id="{359C58F8-A1C0-B188-004D-6F067096086F}"/>
              </a:ext>
            </a:extLst>
          </p:cNvPr>
          <p:cNvSpPr>
            <a:spLocks noGrp="1"/>
          </p:cNvSpPr>
          <p:nvPr>
            <p:ph idx="1"/>
          </p:nvPr>
        </p:nvSpPr>
        <p:spPr/>
        <p:txBody>
          <a:bodyPr/>
          <a:lstStyle/>
          <a:p>
            <a:r>
              <a:rPr lang="en-US" sz="2800" b="1" dirty="0"/>
              <a:t>Action at Stake</a:t>
            </a:r>
            <a:r>
              <a:rPr lang="en-US" sz="2800" dirty="0"/>
              <a:t>: Imposition of wartime price controls</a:t>
            </a:r>
          </a:p>
          <a:p>
            <a:r>
              <a:rPr lang="en-US" sz="2800" b="1" dirty="0"/>
              <a:t>Limits on Discretion</a:t>
            </a:r>
            <a:r>
              <a:rPr lang="en-US" sz="2800" dirty="0"/>
              <a:t>: Price administrator may fix prices of commodities which ‘in his judgment will be generally fair and equitable and will effectuate the purposes of this Act’ when, in his judgment, their prices ‘have risen or threaten to rise to an extent or in a manner inconsistent with the purposes of this Act.’</a:t>
            </a:r>
            <a:endParaRPr lang="en-US" sz="3600" dirty="0"/>
          </a:p>
        </p:txBody>
      </p:sp>
      <p:sp>
        <p:nvSpPr>
          <p:cNvPr id="4" name="Footer Placeholder 3">
            <a:extLst>
              <a:ext uri="{FF2B5EF4-FFF2-40B4-BE49-F238E27FC236}">
                <a16:creationId xmlns:a16="http://schemas.microsoft.com/office/drawing/2014/main" id="{1DD60E7C-25A4-FE4F-7C4B-E3D0107730DD}"/>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CF705FA4-1DA4-B2A1-55C5-7BCBD8312A5B}"/>
              </a:ext>
            </a:extLst>
          </p:cNvPr>
          <p:cNvSpPr>
            <a:spLocks noGrp="1"/>
          </p:cNvSpPr>
          <p:nvPr>
            <p:ph type="sldNum" sz="quarter" idx="12"/>
          </p:nvPr>
        </p:nvSpPr>
        <p:spPr/>
        <p:txBody>
          <a:bodyPr/>
          <a:lstStyle/>
          <a:p>
            <a:fld id="{43E3236E-8354-4469-A39B-052E70412384}" type="slidenum">
              <a:rPr lang="en-US" smtClean="0"/>
              <a:pPr/>
              <a:t>35</a:t>
            </a:fld>
            <a:endParaRPr lang="en-US"/>
          </a:p>
        </p:txBody>
      </p:sp>
    </p:spTree>
    <p:extLst>
      <p:ext uri="{BB962C8B-B14F-4D97-AF65-F5344CB8AC3E}">
        <p14:creationId xmlns:p14="http://schemas.microsoft.com/office/powerpoint/2010/main" val="3452578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08935-D5E6-B9D5-817C-7EEDA1D98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D80417-F38F-658E-5793-778A11EBA3EB}"/>
              </a:ext>
            </a:extLst>
          </p:cNvPr>
          <p:cNvSpPr>
            <a:spLocks noGrp="1"/>
          </p:cNvSpPr>
          <p:nvPr>
            <p:ph type="title"/>
          </p:nvPr>
        </p:nvSpPr>
        <p:spPr/>
        <p:txBody>
          <a:bodyPr/>
          <a:lstStyle/>
          <a:p>
            <a:r>
              <a:rPr lang="en-US" dirty="0"/>
              <a:t>Policies of the EPCA</a:t>
            </a:r>
          </a:p>
        </p:txBody>
      </p:sp>
      <p:sp>
        <p:nvSpPr>
          <p:cNvPr id="3" name="Content Placeholder 2">
            <a:extLst>
              <a:ext uri="{FF2B5EF4-FFF2-40B4-BE49-F238E27FC236}">
                <a16:creationId xmlns:a16="http://schemas.microsoft.com/office/drawing/2014/main" id="{EC20E7D6-2073-C5A6-9E10-5A5D1996B814}"/>
              </a:ext>
            </a:extLst>
          </p:cNvPr>
          <p:cNvSpPr>
            <a:spLocks noGrp="1"/>
          </p:cNvSpPr>
          <p:nvPr>
            <p:ph idx="1"/>
          </p:nvPr>
        </p:nvSpPr>
        <p:spPr/>
        <p:txBody>
          <a:bodyPr/>
          <a:lstStyle/>
          <a:p>
            <a:pPr marL="0" indent="0">
              <a:buNone/>
            </a:pPr>
            <a:r>
              <a:rPr lang="en-US" sz="2200" dirty="0"/>
              <a:t>to stabilize prices and to prevent speculative, unwarranted, and abnormal increases in prices and rents; to eliminate . . .disruptive practices resulting from abnormal market conditions or scarcities caused by or contributing to the national emergency; to assure that defense appropriations are not dissipated by excessive prices; to protect persons with relatively fixed and limited incomes, consumers, wage earners, investors, and persons dependent on life insurance, annuities, and pensions, from undue impairment of their standard of living; to prevent hardships to persons engaged in business, * * * and to the Federal, State, and local governments . . .; to assist in securing adequate production of commodities and facilities; to prevent a post emergency collapse of values; *</a:t>
            </a:r>
          </a:p>
          <a:p>
            <a:pPr marL="0" indent="0">
              <a:buNone/>
            </a:pPr>
            <a:endParaRPr lang="en-US" dirty="0"/>
          </a:p>
        </p:txBody>
      </p:sp>
      <p:sp>
        <p:nvSpPr>
          <p:cNvPr id="4" name="Footer Placeholder 3">
            <a:extLst>
              <a:ext uri="{FF2B5EF4-FFF2-40B4-BE49-F238E27FC236}">
                <a16:creationId xmlns:a16="http://schemas.microsoft.com/office/drawing/2014/main" id="{9A3A12F1-FC09-7FCB-DCCE-0533493106FA}"/>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259C9D79-A026-146D-A6C2-3E36A094D76E}"/>
              </a:ext>
            </a:extLst>
          </p:cNvPr>
          <p:cNvSpPr>
            <a:spLocks noGrp="1"/>
          </p:cNvSpPr>
          <p:nvPr>
            <p:ph type="sldNum" sz="quarter" idx="12"/>
          </p:nvPr>
        </p:nvSpPr>
        <p:spPr/>
        <p:txBody>
          <a:bodyPr/>
          <a:lstStyle/>
          <a:p>
            <a:fld id="{43E3236E-8354-4469-A39B-052E70412384}" type="slidenum">
              <a:rPr lang="en-US" smtClean="0"/>
              <a:pPr/>
              <a:t>36</a:t>
            </a:fld>
            <a:endParaRPr lang="en-US"/>
          </a:p>
        </p:txBody>
      </p:sp>
    </p:spTree>
    <p:extLst>
      <p:ext uri="{BB962C8B-B14F-4D97-AF65-F5344CB8AC3E}">
        <p14:creationId xmlns:p14="http://schemas.microsoft.com/office/powerpoint/2010/main" val="8153035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905B7-72F6-4219-4FCC-36FC8EC29DEC}"/>
              </a:ext>
            </a:extLst>
          </p:cNvPr>
          <p:cNvSpPr>
            <a:spLocks noGrp="1"/>
          </p:cNvSpPr>
          <p:nvPr>
            <p:ph type="title"/>
          </p:nvPr>
        </p:nvSpPr>
        <p:spPr/>
        <p:txBody>
          <a:bodyPr/>
          <a:lstStyle/>
          <a:p>
            <a:r>
              <a:rPr lang="en-US" dirty="0"/>
              <a:t>And Why Permissible?</a:t>
            </a:r>
          </a:p>
        </p:txBody>
      </p:sp>
      <p:sp>
        <p:nvSpPr>
          <p:cNvPr id="3" name="Content Placeholder 2">
            <a:extLst>
              <a:ext uri="{FF2B5EF4-FFF2-40B4-BE49-F238E27FC236}">
                <a16:creationId xmlns:a16="http://schemas.microsoft.com/office/drawing/2014/main" id="{9F040A6A-FF04-BC3E-0611-3CD3E9B56AD3}"/>
              </a:ext>
            </a:extLst>
          </p:cNvPr>
          <p:cNvSpPr>
            <a:spLocks noGrp="1"/>
          </p:cNvSpPr>
          <p:nvPr>
            <p:ph idx="1"/>
          </p:nvPr>
        </p:nvSpPr>
        <p:spPr/>
        <p:txBody>
          <a:bodyPr/>
          <a:lstStyle/>
          <a:p>
            <a:r>
              <a:rPr lang="en-US" dirty="0"/>
              <a:t>“Only if we could say that there is an absence of standards for the guidance of the Administrator's action, so that it would be impossible in a proper proceeding to ascertain whether the will of Congress has been obeyed, would we be justified in overriding its choice of means for effecting its declared purpose of preventing inflation.”</a:t>
            </a:r>
          </a:p>
        </p:txBody>
      </p:sp>
      <p:sp>
        <p:nvSpPr>
          <p:cNvPr id="4" name="Footer Placeholder 3">
            <a:extLst>
              <a:ext uri="{FF2B5EF4-FFF2-40B4-BE49-F238E27FC236}">
                <a16:creationId xmlns:a16="http://schemas.microsoft.com/office/drawing/2014/main" id="{1529329E-1C9A-9FCE-4DDF-81A7A3A23818}"/>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9F5745F6-B19E-5769-BF8B-2AD21942ED83}"/>
              </a:ext>
            </a:extLst>
          </p:cNvPr>
          <p:cNvSpPr>
            <a:spLocks noGrp="1"/>
          </p:cNvSpPr>
          <p:nvPr>
            <p:ph type="sldNum" sz="quarter" idx="12"/>
          </p:nvPr>
        </p:nvSpPr>
        <p:spPr/>
        <p:txBody>
          <a:bodyPr/>
          <a:lstStyle/>
          <a:p>
            <a:fld id="{43E3236E-8354-4469-A39B-052E70412384}" type="slidenum">
              <a:rPr lang="en-US" smtClean="0"/>
              <a:pPr/>
              <a:t>37</a:t>
            </a:fld>
            <a:endParaRPr lang="en-US"/>
          </a:p>
        </p:txBody>
      </p:sp>
    </p:spTree>
    <p:extLst>
      <p:ext uri="{BB962C8B-B14F-4D97-AF65-F5344CB8AC3E}">
        <p14:creationId xmlns:p14="http://schemas.microsoft.com/office/powerpoint/2010/main" val="3852054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2839</TotalTime>
  <Words>3519</Words>
  <Application>Microsoft Office PowerPoint</Application>
  <PresentationFormat>On-screen Show (4:3)</PresentationFormat>
  <Paragraphs>236</Paragraphs>
  <Slides>37</Slides>
  <Notes>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37</vt:i4>
      </vt:variant>
    </vt:vector>
  </HeadingPairs>
  <TitlesOfParts>
    <vt:vector size="39" baseType="lpstr">
      <vt:lpstr>Arial</vt:lpstr>
      <vt:lpstr>Default Design</vt:lpstr>
      <vt:lpstr>Recap of Class 6</vt:lpstr>
      <vt:lpstr>Epic Systems v. Lewis (2018)</vt:lpstr>
      <vt:lpstr>How did case get to SCOTUS?</vt:lpstr>
      <vt:lpstr>What collective options were foregone?</vt:lpstr>
      <vt:lpstr>Fair Labor Standards Act</vt:lpstr>
      <vt:lpstr>Majority Opinion (per Gorsuch, J.)</vt:lpstr>
      <vt:lpstr>But the Act contains exclusions:</vt:lpstr>
      <vt:lpstr>And within Section 2 itself</vt:lpstr>
      <vt:lpstr>Canons Applicable to Multi-statute problems</vt:lpstr>
      <vt:lpstr>National Labor Relations Act 29 U.S.C. § 157</vt:lpstr>
      <vt:lpstr>Majority’s “Harmonization”: NLRA Irrelevant</vt:lpstr>
      <vt:lpstr>Other “Tools” of Textualism </vt:lpstr>
      <vt:lpstr>Ginsburg: Textualist or Purposivist</vt:lpstr>
      <vt:lpstr>Retorts to Majority - 1</vt:lpstr>
      <vt:lpstr>Retorts to Majority - 2</vt:lpstr>
      <vt:lpstr>Retorts to Majority - 3</vt:lpstr>
      <vt:lpstr>Bottom-Line Difference Between Majority and Dissent?</vt:lpstr>
      <vt:lpstr>Agenda for Classes 7-8</vt:lpstr>
      <vt:lpstr>Separation of Powers/ Checks and Balances</vt:lpstr>
      <vt:lpstr>Zone of discretion</vt:lpstr>
      <vt:lpstr>Levels of Discretion</vt:lpstr>
      <vt:lpstr>Cargo of the Brig Aurora v. U.S. (1813)</vt:lpstr>
      <vt:lpstr>Marshall Field &amp; Co. v. Clark (1892)</vt:lpstr>
      <vt:lpstr>Marshall Field &amp; Co. v. Clark (1892)</vt:lpstr>
      <vt:lpstr>U.S. v. Grimaud (1911)</vt:lpstr>
      <vt:lpstr>U.S. v. Grimaud (1911)</vt:lpstr>
      <vt:lpstr>Quoting Wayman v. Southard (1825)</vt:lpstr>
      <vt:lpstr>J.R. Hampton, Jr. &amp; Co. v. U.S. (1928)</vt:lpstr>
      <vt:lpstr>J.R. Hampton, Jr. &amp; Co. v. U.S. (1928)</vt:lpstr>
      <vt:lpstr>J.R. Hampton, Jr. &amp; Co. v. U.S. (1928)</vt:lpstr>
      <vt:lpstr>Schechter Poultry v. U.S. (1935)</vt:lpstr>
      <vt:lpstr>Schechter Poultry v. U.S. (1935)</vt:lpstr>
      <vt:lpstr>Why Impermissible?</vt:lpstr>
      <vt:lpstr>NIRA Policy Section</vt:lpstr>
      <vt:lpstr>Yakus v. U.S. (1944)</vt:lpstr>
      <vt:lpstr>Policies of the EPCA</vt:lpstr>
      <vt:lpstr>And Why Permissible?</vt:lpstr>
    </vt:vector>
  </TitlesOfParts>
  <Company>OSU Moritz College of Law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 ID Act</dc:title>
  <dc:creator>Peter Shand</dc:creator>
  <cp:lastModifiedBy>Shane, Peter</cp:lastModifiedBy>
  <cp:revision>59</cp:revision>
  <cp:lastPrinted>2026-09-16T18:23:17Z</cp:lastPrinted>
  <dcterms:created xsi:type="dcterms:W3CDTF">2008-12-22T21:50:38Z</dcterms:created>
  <dcterms:modified xsi:type="dcterms:W3CDTF">2026-09-21T19:21:58Z</dcterms:modified>
</cp:coreProperties>
</file>