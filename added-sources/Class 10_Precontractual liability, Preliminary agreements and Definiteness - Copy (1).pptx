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 id="2147483698" r:id="rId3"/>
  </p:sldMasterIdLst>
  <p:sldIdLst>
    <p:sldId id="257" r:id="rId4"/>
    <p:sldId id="258" r:id="rId5"/>
    <p:sldId id="278" r:id="rId6"/>
    <p:sldId id="274" r:id="rId7"/>
    <p:sldId id="260" r:id="rId8"/>
    <p:sldId id="282" r:id="rId9"/>
    <p:sldId id="283" r:id="rId10"/>
    <p:sldId id="264" r:id="rId11"/>
    <p:sldId id="277" r:id="rId12"/>
    <p:sldId id="276" r:id="rId13"/>
    <p:sldId id="273" r:id="rId14"/>
    <p:sldId id="275" r:id="rId15"/>
    <p:sldId id="265" r:id="rId16"/>
    <p:sldId id="280" r:id="rId17"/>
    <p:sldId id="266" r:id="rId18"/>
    <p:sldId id="263" r:id="rId19"/>
    <p:sldId id="284" r:id="rId20"/>
    <p:sldId id="267" r:id="rId21"/>
    <p:sldId id="268" r:id="rId22"/>
    <p:sldId id="269" r:id="rId23"/>
    <p:sldId id="281" r:id="rId24"/>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8B999E3D-45A9-497C-BEB0-B4F0C3D298AF}" type="datetimeFigureOut">
              <a:rPr lang="en-US" smtClean="0">
                <a:solidFill>
                  <a:srgbClr val="464653"/>
                </a:solidFill>
              </a:rPr>
              <a:pPr/>
              <a:t>9/24/2026</a:t>
            </a:fld>
            <a:endParaRPr lang="en-US">
              <a:solidFill>
                <a:srgbClr val="464653"/>
              </a:solidFill>
            </a:endParaRPr>
          </a:p>
        </p:txBody>
      </p:sp>
      <p:sp>
        <p:nvSpPr>
          <p:cNvPr id="17" name="Footer Placeholder 16"/>
          <p:cNvSpPr>
            <a:spLocks noGrp="1"/>
          </p:cNvSpPr>
          <p:nvPr>
            <p:ph type="ftr" sz="quarter" idx="11"/>
          </p:nvPr>
        </p:nvSpPr>
        <p:spPr>
          <a:xfrm>
            <a:off x="2898648" y="6355080"/>
            <a:ext cx="3474720" cy="365760"/>
          </a:xfrm>
        </p:spPr>
        <p:txBody>
          <a:bodyPr/>
          <a:lstStyle/>
          <a:p>
            <a:endParaRPr lang="en-US">
              <a:solidFill>
                <a:srgbClr val="464653"/>
              </a:solidFill>
            </a:endParaRPr>
          </a:p>
        </p:txBody>
      </p:sp>
      <p:sp>
        <p:nvSpPr>
          <p:cNvPr id="29" name="Slide Number Placeholder 28"/>
          <p:cNvSpPr>
            <a:spLocks noGrp="1"/>
          </p:cNvSpPr>
          <p:nvPr>
            <p:ph type="sldNum" sz="quarter" idx="12"/>
          </p:nvPr>
        </p:nvSpPr>
        <p:spPr>
          <a:xfrm>
            <a:off x="1216152" y="6355080"/>
            <a:ext cx="1219200" cy="365760"/>
          </a:xfrm>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4232066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9/24/2026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898400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8B999E3D-45A9-497C-BEB0-B4F0C3D298AF}" type="datetimeFigureOut">
              <a:rPr lang="en-US" smtClean="0">
                <a:solidFill>
                  <a:srgbClr val="DDE9EC"/>
                </a:solidFill>
              </a:rPr>
              <a:pPr/>
              <a:t>9/24/2026</a:t>
            </a:fld>
            <a:endParaRPr lang="en-US">
              <a:solidFill>
                <a:srgbClr val="DDE9EC"/>
              </a:solidFill>
            </a:endParaRPr>
          </a:p>
        </p:txBody>
      </p:sp>
      <p:sp>
        <p:nvSpPr>
          <p:cNvPr id="5" name="Footer Placeholder 4"/>
          <p:cNvSpPr>
            <a:spLocks noGrp="1"/>
          </p:cNvSpPr>
          <p:nvPr>
            <p:ph type="ftr" sz="quarter" idx="11"/>
          </p:nvPr>
        </p:nvSpPr>
        <p:spPr>
          <a:xfrm>
            <a:off x="2898648" y="6355080"/>
            <a:ext cx="3474720" cy="365760"/>
          </a:xfrm>
        </p:spPr>
        <p:txBody>
          <a:bodyPr/>
          <a:lstStyle/>
          <a:p>
            <a:endParaRPr lang="en-US">
              <a:solidFill>
                <a:srgbClr val="DDE9EC"/>
              </a:solidFill>
            </a:endParaRPr>
          </a:p>
        </p:txBody>
      </p:sp>
      <p:sp>
        <p:nvSpPr>
          <p:cNvPr id="6" name="Slide Number Placeholder 5"/>
          <p:cNvSpPr>
            <a:spLocks noGrp="1"/>
          </p:cNvSpPr>
          <p:nvPr>
            <p:ph type="sldNum" sz="quarter" idx="12"/>
          </p:nvPr>
        </p:nvSpPr>
        <p:spPr>
          <a:xfrm>
            <a:off x="1069848" y="6355080"/>
            <a:ext cx="1520952" cy="365760"/>
          </a:xfrm>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35343738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9/24/2026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3158574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8B999E3D-45A9-497C-BEB0-B4F0C3D298AF}" type="datetimeFigureOut">
              <a:rPr lang="en-US" smtClean="0">
                <a:solidFill>
                  <a:srgbClr val="464653"/>
                </a:solidFill>
              </a:rPr>
              <a:pPr/>
              <a:t>9/24/2026</a:t>
            </a:fld>
            <a:endParaRPr lang="en-US">
              <a:solidFill>
                <a:srgbClr val="464653"/>
              </a:solidFill>
            </a:endParaRPr>
          </a:p>
        </p:txBody>
      </p:sp>
      <p:sp>
        <p:nvSpPr>
          <p:cNvPr id="8" name="Footer Placeholder 7"/>
          <p:cNvSpPr>
            <a:spLocks noGrp="1"/>
          </p:cNvSpPr>
          <p:nvPr>
            <p:ph type="ftr" sz="quarter" idx="11"/>
          </p:nvPr>
        </p:nvSpPr>
        <p:spPr/>
        <p:txBody>
          <a:bodyPr/>
          <a:lstStyle/>
          <a:p>
            <a:endParaRPr lang="en-US">
              <a:solidFill>
                <a:srgbClr val="464653"/>
              </a:solidFill>
            </a:endParaRPr>
          </a:p>
        </p:txBody>
      </p:sp>
      <p:sp>
        <p:nvSpPr>
          <p:cNvPr id="9" name="Slide Number Placeholder 8"/>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76399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8B999E3D-45A9-497C-BEB0-B4F0C3D298AF}" type="datetimeFigureOut">
              <a:rPr lang="en-US" smtClean="0">
                <a:solidFill>
                  <a:srgbClr val="464653"/>
                </a:solidFill>
              </a:rPr>
              <a:pPr/>
              <a:t>9/24/2026</a:t>
            </a:fld>
            <a:endParaRPr lang="en-US">
              <a:solidFill>
                <a:srgbClr val="464653"/>
              </a:solidFill>
            </a:endParaRPr>
          </a:p>
        </p:txBody>
      </p:sp>
      <p:sp>
        <p:nvSpPr>
          <p:cNvPr id="4" name="Footer Placeholder 3"/>
          <p:cNvSpPr>
            <a:spLocks noGrp="1"/>
          </p:cNvSpPr>
          <p:nvPr>
            <p:ph type="ftr" sz="quarter" idx="11"/>
          </p:nvPr>
        </p:nvSpPr>
        <p:spPr/>
        <p:txBody>
          <a:bodyPr/>
          <a:lstStyle/>
          <a:p>
            <a:endParaRPr lang="en-US">
              <a:solidFill>
                <a:srgbClr val="464653"/>
              </a:solidFill>
            </a:endParaRPr>
          </a:p>
        </p:txBody>
      </p:sp>
      <p:sp>
        <p:nvSpPr>
          <p:cNvPr id="5" name="Slide Number Placeholder 4"/>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1768273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999E3D-45A9-497C-BEB0-B4F0C3D298AF}" type="datetimeFigureOut">
              <a:rPr lang="en-US" smtClean="0">
                <a:solidFill>
                  <a:srgbClr val="464653"/>
                </a:solidFill>
              </a:rPr>
              <a:pPr/>
              <a:t>9/24/2026</a:t>
            </a:fld>
            <a:endParaRPr lang="en-US">
              <a:solidFill>
                <a:srgbClr val="464653"/>
              </a:solidFill>
            </a:endParaRPr>
          </a:p>
        </p:txBody>
      </p:sp>
      <p:sp>
        <p:nvSpPr>
          <p:cNvPr id="3" name="Footer Placeholder 2"/>
          <p:cNvSpPr>
            <a:spLocks noGrp="1"/>
          </p:cNvSpPr>
          <p:nvPr>
            <p:ph type="ftr" sz="quarter" idx="11"/>
          </p:nvPr>
        </p:nvSpPr>
        <p:spPr/>
        <p:txBody>
          <a:bodyPr/>
          <a:lstStyle/>
          <a:p>
            <a:endParaRPr lang="en-US">
              <a:solidFill>
                <a:srgbClr val="464653"/>
              </a:solidFill>
            </a:endParaRPr>
          </a:p>
        </p:txBody>
      </p:sp>
      <p:sp>
        <p:nvSpPr>
          <p:cNvPr id="4" name="Slide Number Placeholder 3"/>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1083764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9/24/2026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466660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DDE9EC"/>
                </a:solidFill>
              </a:rPr>
              <a:pPr/>
              <a:t>9/24/2026</a:t>
            </a:fld>
            <a:endParaRPr lang="en-US">
              <a:solidFill>
                <a:srgbClr val="DDE9EC"/>
              </a:solidFill>
            </a:endParaRPr>
          </a:p>
        </p:txBody>
      </p:sp>
      <p:sp>
        <p:nvSpPr>
          <p:cNvPr id="6" name="Footer Placeholder 5"/>
          <p:cNvSpPr>
            <a:spLocks noGrp="1"/>
          </p:cNvSpPr>
          <p:nvPr>
            <p:ph type="ftr" sz="quarter" idx="11"/>
          </p:nvPr>
        </p:nvSpPr>
        <p:spPr/>
        <p:txBody>
          <a:bodyPr/>
          <a:lstStyle/>
          <a:p>
            <a:endParaRPr lang="en-US">
              <a:solidFill>
                <a:srgbClr val="DDE9EC"/>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177750872"/>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9/24/2026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Tree>
    <p:extLst>
      <p:ext uri="{BB962C8B-B14F-4D97-AF65-F5344CB8AC3E}">
        <p14:creationId xmlns:p14="http://schemas.microsoft.com/office/powerpoint/2010/main" val="1141759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9/24/2026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Tree>
    <p:extLst>
      <p:ext uri="{BB962C8B-B14F-4D97-AF65-F5344CB8AC3E}">
        <p14:creationId xmlns:p14="http://schemas.microsoft.com/office/powerpoint/2010/main" val="1307956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524000" y="190500"/>
            <a:ext cx="7010400" cy="1527175"/>
          </a:xfrm>
        </p:spPr>
        <p:txBody>
          <a:bodyPr/>
          <a:lstStyle/>
          <a:p>
            <a:r>
              <a:rPr lang="en-US"/>
              <a:t>Click to edit Master title style</a:t>
            </a:r>
          </a:p>
        </p:txBody>
      </p:sp>
      <p:sp>
        <p:nvSpPr>
          <p:cNvPr id="3" name="Table Placeholder 2"/>
          <p:cNvSpPr>
            <a:spLocks noGrp="1"/>
          </p:cNvSpPr>
          <p:nvPr>
            <p:ph type="tbl" idx="1"/>
          </p:nvPr>
        </p:nvSpPr>
        <p:spPr>
          <a:xfrm>
            <a:off x="1524000" y="1905000"/>
            <a:ext cx="7010400" cy="4114800"/>
          </a:xfrm>
        </p:spPr>
        <p:txBody>
          <a:bodyPr>
            <a:normAutofit/>
          </a:bodyPr>
          <a:lstStyle/>
          <a:p>
            <a:pPr lvl="0"/>
            <a:endParaRPr lang="en-US" noProof="0"/>
          </a:p>
        </p:txBody>
      </p:sp>
      <p:sp>
        <p:nvSpPr>
          <p:cNvPr id="4" name="Date Placeholder 13"/>
          <p:cNvSpPr>
            <a:spLocks noGrp="1"/>
          </p:cNvSpPr>
          <p:nvPr>
            <p:ph type="dt" sz="half" idx="10"/>
          </p:nvPr>
        </p:nvSpPr>
        <p:spPr/>
        <p:txBody>
          <a:bodyPr/>
          <a:lstStyle>
            <a:lvl1pPr>
              <a:defRPr/>
            </a:lvl1pPr>
          </a:lstStyle>
          <a:p>
            <a:pPr>
              <a:defRPr/>
            </a:pPr>
            <a:endParaRPr lang="en-US">
              <a:solidFill>
                <a:srgbClr val="464653"/>
              </a:solidFill>
            </a:endParaRPr>
          </a:p>
        </p:txBody>
      </p:sp>
      <p:sp>
        <p:nvSpPr>
          <p:cNvPr id="5" name="Footer Placeholder 2"/>
          <p:cNvSpPr>
            <a:spLocks noGrp="1"/>
          </p:cNvSpPr>
          <p:nvPr>
            <p:ph type="ftr" sz="quarter" idx="11"/>
          </p:nvPr>
        </p:nvSpPr>
        <p:spPr/>
        <p:txBody>
          <a:bodyPr/>
          <a:lstStyle>
            <a:lvl1pPr>
              <a:defRPr/>
            </a:lvl1pPr>
          </a:lstStyle>
          <a:p>
            <a:pPr>
              <a:defRPr/>
            </a:pPr>
            <a:endParaRPr lang="en-US">
              <a:solidFill>
                <a:srgbClr val="464653"/>
              </a:solidFill>
            </a:endParaRPr>
          </a:p>
        </p:txBody>
      </p:sp>
      <p:sp>
        <p:nvSpPr>
          <p:cNvPr id="6" name="Slide Number Placeholder 22"/>
          <p:cNvSpPr>
            <a:spLocks noGrp="1"/>
          </p:cNvSpPr>
          <p:nvPr>
            <p:ph type="sldNum" sz="quarter" idx="12"/>
          </p:nvPr>
        </p:nvSpPr>
        <p:spPr/>
        <p:txBody>
          <a:bodyPr/>
          <a:lstStyle>
            <a:lvl1pPr>
              <a:defRPr/>
            </a:lvl1pPr>
          </a:lstStyle>
          <a:p>
            <a:pPr>
              <a:defRPr/>
            </a:pPr>
            <a:fld id="{DF14308C-09F3-41F1-86D1-785A210D56D2}" type="slidenum">
              <a:rPr lang="en-US">
                <a:solidFill>
                  <a:srgbClr val="464653"/>
                </a:solidFill>
              </a:rPr>
              <a:pPr>
                <a:defRPr/>
              </a:pPr>
              <a:t>‹#›</a:t>
            </a:fld>
            <a:endParaRPr lang="en-US">
              <a:solidFill>
                <a:srgbClr val="464653"/>
              </a:solidFill>
            </a:endParaRPr>
          </a:p>
        </p:txBody>
      </p:sp>
    </p:spTree>
    <p:extLst>
      <p:ext uri="{BB962C8B-B14F-4D97-AF65-F5344CB8AC3E}">
        <p14:creationId xmlns:p14="http://schemas.microsoft.com/office/powerpoint/2010/main" val="13331903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8B999E3D-45A9-497C-BEB0-B4F0C3D298AF}" type="datetimeFigureOut">
              <a:rPr lang="en-US" smtClean="0">
                <a:solidFill>
                  <a:srgbClr val="464653"/>
                </a:solidFill>
              </a:rPr>
              <a:pPr/>
              <a:t>9/24/2026</a:t>
            </a:fld>
            <a:endParaRPr lang="en-US">
              <a:solidFill>
                <a:srgbClr val="464653"/>
              </a:solidFill>
            </a:endParaRPr>
          </a:p>
        </p:txBody>
      </p:sp>
      <p:sp>
        <p:nvSpPr>
          <p:cNvPr id="17" name="Footer Placeholder 16"/>
          <p:cNvSpPr>
            <a:spLocks noGrp="1"/>
          </p:cNvSpPr>
          <p:nvPr>
            <p:ph type="ftr" sz="quarter" idx="11"/>
          </p:nvPr>
        </p:nvSpPr>
        <p:spPr>
          <a:xfrm>
            <a:off x="2898648" y="6355080"/>
            <a:ext cx="3474720" cy="365760"/>
          </a:xfrm>
        </p:spPr>
        <p:txBody>
          <a:bodyPr/>
          <a:lstStyle/>
          <a:p>
            <a:endParaRPr lang="en-US">
              <a:solidFill>
                <a:srgbClr val="464653"/>
              </a:solidFill>
            </a:endParaRPr>
          </a:p>
        </p:txBody>
      </p:sp>
      <p:sp>
        <p:nvSpPr>
          <p:cNvPr id="29" name="Slide Number Placeholder 28"/>
          <p:cNvSpPr>
            <a:spLocks noGrp="1"/>
          </p:cNvSpPr>
          <p:nvPr>
            <p:ph type="sldNum" sz="quarter" idx="12"/>
          </p:nvPr>
        </p:nvSpPr>
        <p:spPr>
          <a:xfrm>
            <a:off x="1216152" y="6355080"/>
            <a:ext cx="1219200" cy="365760"/>
          </a:xfrm>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14309357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9/24/2026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9228710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8B999E3D-45A9-497C-BEB0-B4F0C3D298AF}" type="datetimeFigureOut">
              <a:rPr lang="en-US" smtClean="0">
                <a:solidFill>
                  <a:srgbClr val="DDE9EC"/>
                </a:solidFill>
              </a:rPr>
              <a:pPr/>
              <a:t>9/24/2026</a:t>
            </a:fld>
            <a:endParaRPr lang="en-US">
              <a:solidFill>
                <a:srgbClr val="DDE9EC"/>
              </a:solidFill>
            </a:endParaRPr>
          </a:p>
        </p:txBody>
      </p:sp>
      <p:sp>
        <p:nvSpPr>
          <p:cNvPr id="5" name="Footer Placeholder 4"/>
          <p:cNvSpPr>
            <a:spLocks noGrp="1"/>
          </p:cNvSpPr>
          <p:nvPr>
            <p:ph type="ftr" sz="quarter" idx="11"/>
          </p:nvPr>
        </p:nvSpPr>
        <p:spPr>
          <a:xfrm>
            <a:off x="2898648" y="6355080"/>
            <a:ext cx="3474720" cy="365760"/>
          </a:xfrm>
        </p:spPr>
        <p:txBody>
          <a:bodyPr/>
          <a:lstStyle/>
          <a:p>
            <a:endParaRPr lang="en-US">
              <a:solidFill>
                <a:srgbClr val="DDE9EC"/>
              </a:solidFill>
            </a:endParaRPr>
          </a:p>
        </p:txBody>
      </p:sp>
      <p:sp>
        <p:nvSpPr>
          <p:cNvPr id="6" name="Slide Number Placeholder 5"/>
          <p:cNvSpPr>
            <a:spLocks noGrp="1"/>
          </p:cNvSpPr>
          <p:nvPr>
            <p:ph type="sldNum" sz="quarter" idx="12"/>
          </p:nvPr>
        </p:nvSpPr>
        <p:spPr>
          <a:xfrm>
            <a:off x="1069848" y="6355080"/>
            <a:ext cx="1520952" cy="365760"/>
          </a:xfrm>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206907473"/>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9/24/2026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2867831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8B999E3D-45A9-497C-BEB0-B4F0C3D298AF}" type="datetimeFigureOut">
              <a:rPr lang="en-US" smtClean="0">
                <a:solidFill>
                  <a:srgbClr val="464653"/>
                </a:solidFill>
              </a:rPr>
              <a:pPr/>
              <a:t>9/24/2026</a:t>
            </a:fld>
            <a:endParaRPr lang="en-US">
              <a:solidFill>
                <a:srgbClr val="464653"/>
              </a:solidFill>
            </a:endParaRPr>
          </a:p>
        </p:txBody>
      </p:sp>
      <p:sp>
        <p:nvSpPr>
          <p:cNvPr id="8" name="Footer Placeholder 7"/>
          <p:cNvSpPr>
            <a:spLocks noGrp="1"/>
          </p:cNvSpPr>
          <p:nvPr>
            <p:ph type="ftr" sz="quarter" idx="11"/>
          </p:nvPr>
        </p:nvSpPr>
        <p:spPr/>
        <p:txBody>
          <a:bodyPr/>
          <a:lstStyle/>
          <a:p>
            <a:endParaRPr lang="en-US">
              <a:solidFill>
                <a:srgbClr val="464653"/>
              </a:solidFill>
            </a:endParaRPr>
          </a:p>
        </p:txBody>
      </p:sp>
      <p:sp>
        <p:nvSpPr>
          <p:cNvPr id="9" name="Slide Number Placeholder 8"/>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0978967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8B999E3D-45A9-497C-BEB0-B4F0C3D298AF}" type="datetimeFigureOut">
              <a:rPr lang="en-US" smtClean="0">
                <a:solidFill>
                  <a:srgbClr val="464653"/>
                </a:solidFill>
              </a:rPr>
              <a:pPr/>
              <a:t>9/24/2026</a:t>
            </a:fld>
            <a:endParaRPr lang="en-US">
              <a:solidFill>
                <a:srgbClr val="464653"/>
              </a:solidFill>
            </a:endParaRPr>
          </a:p>
        </p:txBody>
      </p:sp>
      <p:sp>
        <p:nvSpPr>
          <p:cNvPr id="4" name="Footer Placeholder 3"/>
          <p:cNvSpPr>
            <a:spLocks noGrp="1"/>
          </p:cNvSpPr>
          <p:nvPr>
            <p:ph type="ftr" sz="quarter" idx="11"/>
          </p:nvPr>
        </p:nvSpPr>
        <p:spPr/>
        <p:txBody>
          <a:bodyPr/>
          <a:lstStyle/>
          <a:p>
            <a:endParaRPr lang="en-US">
              <a:solidFill>
                <a:srgbClr val="464653"/>
              </a:solidFill>
            </a:endParaRPr>
          </a:p>
        </p:txBody>
      </p:sp>
      <p:sp>
        <p:nvSpPr>
          <p:cNvPr id="5" name="Slide Number Placeholder 4"/>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22149186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999E3D-45A9-497C-BEB0-B4F0C3D298AF}" type="datetimeFigureOut">
              <a:rPr lang="en-US" smtClean="0">
                <a:solidFill>
                  <a:srgbClr val="464653"/>
                </a:solidFill>
              </a:rPr>
              <a:pPr/>
              <a:t>9/24/2026</a:t>
            </a:fld>
            <a:endParaRPr lang="en-US">
              <a:solidFill>
                <a:srgbClr val="464653"/>
              </a:solidFill>
            </a:endParaRPr>
          </a:p>
        </p:txBody>
      </p:sp>
      <p:sp>
        <p:nvSpPr>
          <p:cNvPr id="3" name="Footer Placeholder 2"/>
          <p:cNvSpPr>
            <a:spLocks noGrp="1"/>
          </p:cNvSpPr>
          <p:nvPr>
            <p:ph type="ftr" sz="quarter" idx="11"/>
          </p:nvPr>
        </p:nvSpPr>
        <p:spPr/>
        <p:txBody>
          <a:bodyPr/>
          <a:lstStyle/>
          <a:p>
            <a:endParaRPr lang="en-US">
              <a:solidFill>
                <a:srgbClr val="464653"/>
              </a:solidFill>
            </a:endParaRPr>
          </a:p>
        </p:txBody>
      </p:sp>
      <p:sp>
        <p:nvSpPr>
          <p:cNvPr id="4" name="Slide Number Placeholder 3"/>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077762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9/24/2026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4329961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DDE9EC"/>
                </a:solidFill>
              </a:rPr>
              <a:pPr/>
              <a:t>9/24/2026</a:t>
            </a:fld>
            <a:endParaRPr lang="en-US">
              <a:solidFill>
                <a:srgbClr val="DDE9EC"/>
              </a:solidFill>
            </a:endParaRPr>
          </a:p>
        </p:txBody>
      </p:sp>
      <p:sp>
        <p:nvSpPr>
          <p:cNvPr id="6" name="Footer Placeholder 5"/>
          <p:cNvSpPr>
            <a:spLocks noGrp="1"/>
          </p:cNvSpPr>
          <p:nvPr>
            <p:ph type="ftr" sz="quarter" idx="11"/>
          </p:nvPr>
        </p:nvSpPr>
        <p:spPr/>
        <p:txBody>
          <a:bodyPr/>
          <a:lstStyle/>
          <a:p>
            <a:endParaRPr lang="en-US">
              <a:solidFill>
                <a:srgbClr val="DDE9EC"/>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965551897"/>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9/24/2026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Tree>
    <p:extLst>
      <p:ext uri="{BB962C8B-B14F-4D97-AF65-F5344CB8AC3E}">
        <p14:creationId xmlns:p14="http://schemas.microsoft.com/office/powerpoint/2010/main" val="30359168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9/24/2026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Tree>
    <p:extLst>
      <p:ext uri="{BB962C8B-B14F-4D97-AF65-F5344CB8AC3E}">
        <p14:creationId xmlns:p14="http://schemas.microsoft.com/office/powerpoint/2010/main" val="38626720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524000" y="190500"/>
            <a:ext cx="7010400" cy="1527175"/>
          </a:xfrm>
        </p:spPr>
        <p:txBody>
          <a:bodyPr/>
          <a:lstStyle/>
          <a:p>
            <a:r>
              <a:rPr lang="en-US"/>
              <a:t>Click to edit Master title style</a:t>
            </a:r>
          </a:p>
        </p:txBody>
      </p:sp>
      <p:sp>
        <p:nvSpPr>
          <p:cNvPr id="3" name="Table Placeholder 2"/>
          <p:cNvSpPr>
            <a:spLocks noGrp="1"/>
          </p:cNvSpPr>
          <p:nvPr>
            <p:ph type="tbl" idx="1"/>
          </p:nvPr>
        </p:nvSpPr>
        <p:spPr>
          <a:xfrm>
            <a:off x="1524000" y="1905000"/>
            <a:ext cx="7010400" cy="4114800"/>
          </a:xfrm>
        </p:spPr>
        <p:txBody>
          <a:bodyPr>
            <a:normAutofit/>
          </a:bodyPr>
          <a:lstStyle/>
          <a:p>
            <a:pPr lvl="0"/>
            <a:endParaRPr lang="en-US" noProof="0"/>
          </a:p>
        </p:txBody>
      </p:sp>
      <p:sp>
        <p:nvSpPr>
          <p:cNvPr id="4" name="Date Placeholder 13"/>
          <p:cNvSpPr>
            <a:spLocks noGrp="1"/>
          </p:cNvSpPr>
          <p:nvPr>
            <p:ph type="dt" sz="half" idx="10"/>
          </p:nvPr>
        </p:nvSpPr>
        <p:spPr/>
        <p:txBody>
          <a:bodyPr/>
          <a:lstStyle>
            <a:lvl1pPr>
              <a:defRPr/>
            </a:lvl1pPr>
          </a:lstStyle>
          <a:p>
            <a:pPr>
              <a:defRPr/>
            </a:pPr>
            <a:endParaRPr lang="en-US">
              <a:solidFill>
                <a:srgbClr val="464653"/>
              </a:solidFill>
            </a:endParaRPr>
          </a:p>
        </p:txBody>
      </p:sp>
      <p:sp>
        <p:nvSpPr>
          <p:cNvPr id="5" name="Footer Placeholder 2"/>
          <p:cNvSpPr>
            <a:spLocks noGrp="1"/>
          </p:cNvSpPr>
          <p:nvPr>
            <p:ph type="ftr" sz="quarter" idx="11"/>
          </p:nvPr>
        </p:nvSpPr>
        <p:spPr/>
        <p:txBody>
          <a:bodyPr/>
          <a:lstStyle>
            <a:lvl1pPr>
              <a:defRPr/>
            </a:lvl1pPr>
          </a:lstStyle>
          <a:p>
            <a:pPr>
              <a:defRPr/>
            </a:pPr>
            <a:endParaRPr lang="en-US">
              <a:solidFill>
                <a:srgbClr val="464653"/>
              </a:solidFill>
            </a:endParaRPr>
          </a:p>
        </p:txBody>
      </p:sp>
      <p:sp>
        <p:nvSpPr>
          <p:cNvPr id="6" name="Slide Number Placeholder 22"/>
          <p:cNvSpPr>
            <a:spLocks noGrp="1"/>
          </p:cNvSpPr>
          <p:nvPr>
            <p:ph type="sldNum" sz="quarter" idx="12"/>
          </p:nvPr>
        </p:nvSpPr>
        <p:spPr/>
        <p:txBody>
          <a:bodyPr/>
          <a:lstStyle>
            <a:lvl1pPr>
              <a:defRPr/>
            </a:lvl1pPr>
          </a:lstStyle>
          <a:p>
            <a:pPr>
              <a:defRPr/>
            </a:pPr>
            <a:fld id="{DF14308C-09F3-41F1-86D1-785A210D56D2}" type="slidenum">
              <a:rPr lang="en-US">
                <a:solidFill>
                  <a:srgbClr val="464653"/>
                </a:solidFill>
              </a:rPr>
              <a:pPr>
                <a:defRPr/>
              </a:pPr>
              <a:t>‹#›</a:t>
            </a:fld>
            <a:endParaRPr lang="en-US">
              <a:solidFill>
                <a:srgbClr val="464653"/>
              </a:solidFill>
            </a:endParaRPr>
          </a:p>
        </p:txBody>
      </p:sp>
    </p:spTree>
    <p:extLst>
      <p:ext uri="{BB962C8B-B14F-4D97-AF65-F5344CB8AC3E}">
        <p14:creationId xmlns:p14="http://schemas.microsoft.com/office/powerpoint/2010/main" val="6947313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DB68BFD-4189-433F-895A-FBBBF52F5BF5}" type="datetimeFigureOut">
              <a:rPr lang="en-US" smtClean="0">
                <a:solidFill>
                  <a:prstClr val="black">
                    <a:tint val="75000"/>
                  </a:prstClr>
                </a:solidFill>
              </a:rPr>
              <a:pPr/>
              <a:t>9/24/2026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F8C651C-8C1E-4EA4-98BC-2C7264427D2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60493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DB68BFD-4189-433F-895A-FBBBF52F5BF5}" type="datetimeFigureOut">
              <a:rPr lang="en-US" smtClean="0">
                <a:solidFill>
                  <a:prstClr val="black">
                    <a:tint val="75000"/>
                  </a:prstClr>
                </a:solidFill>
              </a:rPr>
              <a:pPr/>
              <a:t>9/24/2026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F8C651C-8C1E-4EA4-98BC-2C7264427D2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961377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DB68BFD-4189-433F-895A-FBBBF52F5BF5}" type="datetimeFigureOut">
              <a:rPr lang="en-US" smtClean="0">
                <a:solidFill>
                  <a:prstClr val="black">
                    <a:tint val="75000"/>
                  </a:prstClr>
                </a:solidFill>
              </a:rPr>
              <a:pPr/>
              <a:t>9/24/2026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F8C651C-8C1E-4EA4-98BC-2C7264427D2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44716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DB68BFD-4189-433F-895A-FBBBF52F5BF5}" type="datetimeFigureOut">
              <a:rPr lang="en-US" smtClean="0">
                <a:solidFill>
                  <a:prstClr val="black">
                    <a:tint val="75000"/>
                  </a:prstClr>
                </a:solidFill>
              </a:rPr>
              <a:pPr/>
              <a:t>9/24/2026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F8C651C-8C1E-4EA4-98BC-2C7264427D2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6939948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DB68BFD-4189-433F-895A-FBBBF52F5BF5}" type="datetimeFigureOut">
              <a:rPr lang="en-US" smtClean="0">
                <a:solidFill>
                  <a:prstClr val="black">
                    <a:tint val="75000"/>
                  </a:prstClr>
                </a:solidFill>
              </a:rPr>
              <a:pPr/>
              <a:t>9/24/2026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9F8C651C-8C1E-4EA4-98BC-2C7264427D2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8201121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DB68BFD-4189-433F-895A-FBBBF52F5BF5}" type="datetimeFigureOut">
              <a:rPr lang="en-US" smtClean="0">
                <a:solidFill>
                  <a:prstClr val="black">
                    <a:tint val="75000"/>
                  </a:prstClr>
                </a:solidFill>
              </a:rPr>
              <a:pPr/>
              <a:t>9/24/2026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9F8C651C-8C1E-4EA4-98BC-2C7264427D2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606573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B68BFD-4189-433F-895A-FBBBF52F5BF5}" type="datetimeFigureOut">
              <a:rPr lang="en-US" smtClean="0">
                <a:solidFill>
                  <a:prstClr val="black">
                    <a:tint val="75000"/>
                  </a:prstClr>
                </a:solidFill>
              </a:rPr>
              <a:pPr/>
              <a:t>9/24/2026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9F8C651C-8C1E-4EA4-98BC-2C7264427D2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193256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DB68BFD-4189-433F-895A-FBBBF52F5BF5}" type="datetimeFigureOut">
              <a:rPr lang="en-US" smtClean="0">
                <a:solidFill>
                  <a:prstClr val="black">
                    <a:tint val="75000"/>
                  </a:prstClr>
                </a:solidFill>
              </a:rPr>
              <a:pPr/>
              <a:t>9/24/2026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F8C651C-8C1E-4EA4-98BC-2C7264427D2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546373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DB68BFD-4189-433F-895A-FBBBF52F5BF5}" type="datetimeFigureOut">
              <a:rPr lang="en-US" smtClean="0">
                <a:solidFill>
                  <a:prstClr val="black">
                    <a:tint val="75000"/>
                  </a:prstClr>
                </a:solidFill>
              </a:rPr>
              <a:pPr/>
              <a:t>9/24/2026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F8C651C-8C1E-4EA4-98BC-2C7264427D2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3638641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DB68BFD-4189-433F-895A-FBBBF52F5BF5}" type="datetimeFigureOut">
              <a:rPr lang="en-US" smtClean="0">
                <a:solidFill>
                  <a:prstClr val="black">
                    <a:tint val="75000"/>
                  </a:prstClr>
                </a:solidFill>
              </a:rPr>
              <a:pPr/>
              <a:t>9/24/2026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F8C651C-8C1E-4EA4-98BC-2C7264427D2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9921377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DB68BFD-4189-433F-895A-FBBBF52F5BF5}" type="datetimeFigureOut">
              <a:rPr lang="en-US" smtClean="0">
                <a:solidFill>
                  <a:prstClr val="black">
                    <a:tint val="75000"/>
                  </a:prstClr>
                </a:solidFill>
              </a:rPr>
              <a:pPr/>
              <a:t>9/24/2026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F8C651C-8C1E-4EA4-98BC-2C7264427D2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752475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8B999E3D-45A9-497C-BEB0-B4F0C3D298AF}" type="datetimeFigureOut">
              <a:rPr lang="en-US" smtClean="0">
                <a:solidFill>
                  <a:srgbClr val="464653"/>
                </a:solidFill>
              </a:rPr>
              <a:pPr/>
              <a:t>9/24/2026</a:t>
            </a:fld>
            <a:endParaRPr lang="en-US">
              <a:solidFill>
                <a:srgbClr val="464653"/>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solidFill>
                <a:srgbClr val="464653"/>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94B729A-5F0B-4B52-BE6D-A579B7D0035B}" type="slidenum">
              <a:rPr lang="en-US" smtClean="0">
                <a:solidFill>
                  <a:srgbClr val="464653"/>
                </a:solidFill>
              </a:rPr>
              <a:pPr/>
              <a:t>‹#›</a:t>
            </a:fld>
            <a:endParaRPr lang="en-US">
              <a:solidFill>
                <a:srgbClr val="464653"/>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0323029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8B999E3D-45A9-497C-BEB0-B4F0C3D298AF}" type="datetimeFigureOut">
              <a:rPr lang="en-US" smtClean="0">
                <a:solidFill>
                  <a:srgbClr val="464653"/>
                </a:solidFill>
              </a:rPr>
              <a:pPr/>
              <a:t>9/24/2026</a:t>
            </a:fld>
            <a:endParaRPr lang="en-US">
              <a:solidFill>
                <a:srgbClr val="464653"/>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solidFill>
                <a:srgbClr val="464653"/>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94B729A-5F0B-4B52-BE6D-A579B7D0035B}" type="slidenum">
              <a:rPr lang="en-US" smtClean="0">
                <a:solidFill>
                  <a:srgbClr val="464653"/>
                </a:solidFill>
              </a:rPr>
              <a:pPr/>
              <a:t>‹#›</a:t>
            </a:fld>
            <a:endParaRPr lang="en-US">
              <a:solidFill>
                <a:srgbClr val="464653"/>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1991147472"/>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DB68BFD-4189-433F-895A-FBBBF52F5BF5}" type="datetimeFigureOut">
              <a:rPr lang="en-US" smtClean="0">
                <a:solidFill>
                  <a:prstClr val="black">
                    <a:tint val="75000"/>
                  </a:prstClr>
                </a:solidFill>
              </a:rPr>
              <a:pPr/>
              <a:t>9/24/2026</a:t>
            </a:fld>
            <a:endParaRPr lang="en-US">
              <a:solidFill>
                <a:prstClr val="black">
                  <a:tint val="75000"/>
                </a:prstClr>
              </a:soli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F8C651C-8C1E-4EA4-98BC-2C7264427D2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40556069"/>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Layout" Target="../slideLayouts/slideLayout25.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3"/>
          <p:cNvSpPr>
            <a:spLocks noGrp="1"/>
          </p:cNvSpPr>
          <p:nvPr>
            <p:ph type="ctrTitle"/>
          </p:nvPr>
        </p:nvSpPr>
        <p:spPr/>
        <p:txBody>
          <a:bodyPr>
            <a:normAutofit fontScale="90000"/>
          </a:bodyPr>
          <a:lstStyle/>
          <a:p>
            <a:r>
              <a:rPr lang="en-US" dirty="0"/>
              <a:t>Class 10: Precontractual liability and Definiteness</a:t>
            </a:r>
          </a:p>
        </p:txBody>
      </p:sp>
      <p:sp>
        <p:nvSpPr>
          <p:cNvPr id="10243" name="Subtitle 4"/>
          <p:cNvSpPr>
            <a:spLocks noGrp="1"/>
          </p:cNvSpPr>
          <p:nvPr>
            <p:ph type="subTitle" idx="1"/>
          </p:nvPr>
        </p:nvSpPr>
        <p:spPr/>
        <p:txBody>
          <a:bodyPr>
            <a:normAutofit/>
          </a:bodyPr>
          <a:lstStyle/>
          <a:p>
            <a:pPr eaLnBrk="1" fontAlgn="auto" hangingPunct="1">
              <a:spcAft>
                <a:spcPts val="0"/>
              </a:spcAft>
              <a:buFont typeface="Wingdings 3"/>
              <a:buNone/>
              <a:defRPr/>
            </a:pPr>
            <a:endParaRPr lang="en-US" dirty="0"/>
          </a:p>
        </p:txBody>
      </p:sp>
    </p:spTree>
    <p:extLst>
      <p:ext uri="{BB962C8B-B14F-4D97-AF65-F5344CB8AC3E}">
        <p14:creationId xmlns:p14="http://schemas.microsoft.com/office/powerpoint/2010/main" val="4044091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dirty="0"/>
              <a:t>Topics</a:t>
            </a:r>
          </a:p>
        </p:txBody>
      </p:sp>
      <p:sp>
        <p:nvSpPr>
          <p:cNvPr id="10243" name="Content Placeholder 2"/>
          <p:cNvSpPr>
            <a:spLocks noGrp="1"/>
          </p:cNvSpPr>
          <p:nvPr>
            <p:ph sz="quarter" idx="1"/>
          </p:nvPr>
        </p:nvSpPr>
        <p:spPr>
          <a:xfrm>
            <a:off x="457200" y="1219200"/>
            <a:ext cx="8610600" cy="4937125"/>
          </a:xfrm>
        </p:spPr>
        <p:txBody>
          <a:bodyPr/>
          <a:lstStyle/>
          <a:p>
            <a:pPr eaLnBrk="1" hangingPunct="1"/>
            <a:r>
              <a:rPr lang="en-US" dirty="0"/>
              <a:t>The requirement of definiteness</a:t>
            </a:r>
          </a:p>
          <a:p>
            <a:pPr eaLnBrk="1" hangingPunct="1"/>
            <a:r>
              <a:rPr lang="en-US" dirty="0"/>
              <a:t>Possible legal effects of preliminary statements</a:t>
            </a:r>
          </a:p>
          <a:p>
            <a:pPr lvl="1"/>
            <a:r>
              <a:rPr lang="en-US" dirty="0"/>
              <a:t>Unenforceable preliminary agreement</a:t>
            </a:r>
          </a:p>
          <a:p>
            <a:pPr lvl="1"/>
            <a:r>
              <a:rPr lang="en-US" dirty="0"/>
              <a:t>Enforceable agreement subject to formalization (</a:t>
            </a:r>
            <a:r>
              <a:rPr lang="en-US" i="1" dirty="0"/>
              <a:t>Tribune I</a:t>
            </a:r>
            <a:r>
              <a:rPr lang="en-US" dirty="0"/>
              <a:t>)</a:t>
            </a:r>
          </a:p>
          <a:p>
            <a:pPr lvl="1"/>
            <a:r>
              <a:rPr lang="en-US" dirty="0"/>
              <a:t>Enforceable agreement to negotiate in good faith (</a:t>
            </a:r>
            <a:r>
              <a:rPr lang="en-US" i="1" dirty="0"/>
              <a:t>Tribune II</a:t>
            </a:r>
            <a:r>
              <a:rPr lang="en-US" dirty="0"/>
              <a:t>)</a:t>
            </a:r>
          </a:p>
          <a:p>
            <a:pPr lvl="1"/>
            <a:r>
              <a:rPr lang="en-US" dirty="0"/>
              <a:t>Promissory estoppel</a:t>
            </a:r>
          </a:p>
          <a:p>
            <a:pPr lvl="1"/>
            <a:r>
              <a:rPr lang="en-US" dirty="0"/>
              <a:t>Promissory fraud</a:t>
            </a:r>
          </a:p>
          <a:p>
            <a:pPr lvl="1"/>
            <a:r>
              <a:rPr lang="en-US" dirty="0"/>
              <a:t>Misrepresentation</a:t>
            </a:r>
          </a:p>
          <a:p>
            <a:pPr lvl="1"/>
            <a:r>
              <a:rPr lang="en-US" dirty="0"/>
              <a:t>Restitution</a:t>
            </a:r>
          </a:p>
          <a:p>
            <a:pPr lvl="1"/>
            <a:endParaRPr lang="en-US" dirty="0"/>
          </a:p>
          <a:p>
            <a:pPr marL="274320" lvl="1" indent="0">
              <a:buNone/>
            </a:pPr>
            <a:endParaRPr lang="en-US" dirty="0"/>
          </a:p>
        </p:txBody>
      </p:sp>
    </p:spTree>
    <p:extLst>
      <p:ext uri="{BB962C8B-B14F-4D97-AF65-F5344CB8AC3E}">
        <p14:creationId xmlns:p14="http://schemas.microsoft.com/office/powerpoint/2010/main" val="1607884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questions</a:t>
            </a:r>
          </a:p>
        </p:txBody>
      </p:sp>
      <p:sp>
        <p:nvSpPr>
          <p:cNvPr id="5" name="Content Placeholder 4"/>
          <p:cNvSpPr>
            <a:spLocks noGrp="1"/>
          </p:cNvSpPr>
          <p:nvPr>
            <p:ph sz="quarter" idx="1"/>
          </p:nvPr>
        </p:nvSpPr>
        <p:spPr/>
        <p:txBody>
          <a:bodyPr/>
          <a:lstStyle/>
          <a:p>
            <a:r>
              <a:rPr lang="en-US" altLang="en-US" b="1" dirty="0"/>
              <a:t>Is there an enforceable promise?</a:t>
            </a:r>
          </a:p>
          <a:p>
            <a:pPr lvl="1"/>
            <a:r>
              <a:rPr lang="en-US" altLang="en-US" dirty="0"/>
              <a:t>Mutual assent</a:t>
            </a:r>
          </a:p>
          <a:p>
            <a:pPr lvl="1"/>
            <a:r>
              <a:rPr lang="en-US" altLang="en-US" dirty="0"/>
              <a:t>Consideration</a:t>
            </a:r>
          </a:p>
          <a:p>
            <a:pPr lvl="1"/>
            <a:r>
              <a:rPr lang="en-US" altLang="en-US" dirty="0"/>
              <a:t>Definiteness</a:t>
            </a:r>
          </a:p>
          <a:p>
            <a:r>
              <a:rPr lang="en-US" altLang="en-US" dirty="0"/>
              <a:t>Has it been breached?</a:t>
            </a:r>
          </a:p>
          <a:p>
            <a:r>
              <a:rPr lang="en-US" altLang="en-US" dirty="0"/>
              <a:t>Has performance been excused?</a:t>
            </a:r>
          </a:p>
          <a:p>
            <a:r>
              <a:rPr lang="en-US" altLang="en-US" dirty="0"/>
              <a:t>How should it be enforced?</a:t>
            </a:r>
          </a:p>
        </p:txBody>
      </p:sp>
    </p:spTree>
    <p:extLst>
      <p:ext uri="{BB962C8B-B14F-4D97-AF65-F5344CB8AC3E}">
        <p14:creationId xmlns:p14="http://schemas.microsoft.com/office/powerpoint/2010/main" val="3083073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Definiteness</a:t>
            </a:r>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3717968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requirement of definiteness</a:t>
            </a:r>
          </a:p>
        </p:txBody>
      </p:sp>
      <p:sp>
        <p:nvSpPr>
          <p:cNvPr id="3" name="Content Placeholder 2"/>
          <p:cNvSpPr>
            <a:spLocks noGrp="1"/>
          </p:cNvSpPr>
          <p:nvPr>
            <p:ph sz="quarter" idx="1"/>
          </p:nvPr>
        </p:nvSpPr>
        <p:spPr>
          <a:xfrm>
            <a:off x="457200" y="1219200"/>
            <a:ext cx="8305800" cy="4937760"/>
          </a:xfrm>
        </p:spPr>
        <p:txBody>
          <a:bodyPr>
            <a:normAutofit/>
          </a:bodyPr>
          <a:lstStyle/>
          <a:p>
            <a:pPr marL="0" indent="0">
              <a:buNone/>
            </a:pPr>
            <a:r>
              <a:rPr lang="en-US" dirty="0"/>
              <a:t>Alternative formulations of the requirement:</a:t>
            </a:r>
          </a:p>
          <a:p>
            <a:r>
              <a:rPr lang="en-US" dirty="0"/>
              <a:t>Terms must “provide a basis for determining the existence of a breach and for giving an appropriate remedy.”</a:t>
            </a:r>
          </a:p>
          <a:p>
            <a:r>
              <a:rPr lang="en-US" dirty="0"/>
              <a:t>“Parties must have reached agreement on all essential terms.”</a:t>
            </a:r>
          </a:p>
          <a:p>
            <a:pPr marL="0" indent="0">
              <a:buNone/>
            </a:pPr>
            <a:r>
              <a:rPr lang="en-US" dirty="0"/>
              <a:t>Also note that:</a:t>
            </a:r>
          </a:p>
          <a:p>
            <a:r>
              <a:rPr lang="en-US" dirty="0"/>
              <a:t>“Damages are not recoverable for loss beyond an amount that the evidence permits to be established with reasonable certainty.”</a:t>
            </a:r>
          </a:p>
          <a:p>
            <a:r>
              <a:rPr lang="en-US" dirty="0"/>
              <a:t>Specific relief will not be granted unless the terms of the contract are sufficiently certain.</a:t>
            </a:r>
          </a:p>
          <a:p>
            <a:pPr marL="0" indent="0">
              <a:buNone/>
            </a:pPr>
            <a:endParaRPr lang="en-US"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310622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Sun Printing &amp; Publishing v. Remington Paper &amp; Power (353)</a:t>
            </a:r>
          </a:p>
        </p:txBody>
      </p:sp>
      <p:sp>
        <p:nvSpPr>
          <p:cNvPr id="3" name="Content Placeholder 2"/>
          <p:cNvSpPr>
            <a:spLocks noGrp="1"/>
          </p:cNvSpPr>
          <p:nvPr>
            <p:ph sz="quarter" idx="1"/>
          </p:nvPr>
        </p:nvSpPr>
        <p:spPr/>
        <p:txBody>
          <a:bodyPr/>
          <a:lstStyle/>
          <a:p>
            <a:pPr marL="0" indent="0">
              <a:buNone/>
            </a:pPr>
            <a:r>
              <a:rPr lang="en-US" dirty="0"/>
              <a:t> “For the balance of the period of this agreement the price of the paper and length of terms for which such price shall apply shall be agreed upon by and between the parties hereto fifteen days prior to the expiration of each period for which the price and length of term thereof have been previously agreed upon, said price in no event to be higher than the contract price for news print charged by the Canadian Export Paper Company to the large consumers, the seller to receive the benefit of any differentials in freight rates.”</a:t>
            </a:r>
          </a:p>
        </p:txBody>
      </p:sp>
    </p:spTree>
    <p:extLst>
      <p:ext uri="{BB962C8B-B14F-4D97-AF65-F5344CB8AC3E}">
        <p14:creationId xmlns:p14="http://schemas.microsoft.com/office/powerpoint/2010/main" val="1332689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Sun Printing &amp; Publishing v. Remington Paper &amp; Power (353)</a:t>
            </a:r>
          </a:p>
        </p:txBody>
      </p:sp>
      <p:sp>
        <p:nvSpPr>
          <p:cNvPr id="3" name="Content Placeholder 2"/>
          <p:cNvSpPr>
            <a:spLocks noGrp="1"/>
          </p:cNvSpPr>
          <p:nvPr>
            <p:ph sz="quarter" idx="1"/>
          </p:nvPr>
        </p:nvSpPr>
        <p:spPr/>
        <p:txBody>
          <a:bodyPr/>
          <a:lstStyle/>
          <a:p>
            <a:r>
              <a:rPr lang="en-US" dirty="0"/>
              <a:t>Did the parties intend the agreement to be legally binding?</a:t>
            </a:r>
          </a:p>
          <a:p>
            <a:r>
              <a:rPr lang="en-US" dirty="0"/>
              <a:t>In what sense was the agreement indefinite?</a:t>
            </a:r>
          </a:p>
          <a:p>
            <a:r>
              <a:rPr lang="en-US" dirty="0"/>
              <a:t>Why didn’t the court fill the gap with reasonable terms?</a:t>
            </a:r>
          </a:p>
          <a:p>
            <a:pPr marL="891540" lvl="2" indent="-342900"/>
            <a:r>
              <a:rPr lang="en-US" sz="2400" dirty="0"/>
              <a:t>How would damages be calculated? </a:t>
            </a:r>
          </a:p>
          <a:p>
            <a:pPr marL="891540" lvl="2" indent="-342900"/>
            <a:r>
              <a:rPr lang="en-US" sz="2400" dirty="0"/>
              <a:t>What if the price had fallen?</a:t>
            </a:r>
            <a:br>
              <a:rPr lang="en-US" dirty="0"/>
            </a:br>
            <a:endParaRPr lang="en-US" dirty="0"/>
          </a:p>
          <a:p>
            <a:endParaRPr lang="en-US" dirty="0"/>
          </a:p>
        </p:txBody>
      </p:sp>
    </p:spTree>
    <p:extLst>
      <p:ext uri="{BB962C8B-B14F-4D97-AF65-F5344CB8AC3E}">
        <p14:creationId xmlns:p14="http://schemas.microsoft.com/office/powerpoint/2010/main" val="1563040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Oglebay</a:t>
            </a:r>
            <a:r>
              <a:rPr lang="en-US" dirty="0"/>
              <a:t> Norton v. Armco (366)</a:t>
            </a:r>
          </a:p>
        </p:txBody>
      </p:sp>
      <p:sp>
        <p:nvSpPr>
          <p:cNvPr id="3" name="Content Placeholder 2"/>
          <p:cNvSpPr>
            <a:spLocks noGrp="1"/>
          </p:cNvSpPr>
          <p:nvPr>
            <p:ph sz="quarter" idx="1"/>
          </p:nvPr>
        </p:nvSpPr>
        <p:spPr/>
        <p:txBody>
          <a:bodyPr>
            <a:normAutofit/>
          </a:bodyPr>
          <a:lstStyle/>
          <a:p>
            <a:pPr marL="0" indent="0">
              <a:buNone/>
            </a:pPr>
            <a:r>
              <a:rPr lang="en-US" dirty="0"/>
              <a:t>“Armco agrees to pay * * * for all iron ore transported hereunder the regular net contract rates for the season in which the ore is transported, as recognized by the leading iron ore shippers in such season for the transportation of iron ore * * *. If, in any season of navigation hereunder, there is no regular net contract rate recognized by the leading iron ore shippers for such transportation, the parties shall mutually agree upon a rate for such transportation, taking into consideration the contract rate being charged for similar transportation by the leading independent vessel operators engaged in transportation of iron ore from The Lake Superior District.”</a:t>
            </a:r>
          </a:p>
          <a:p>
            <a:endParaRPr lang="en-US" dirty="0"/>
          </a:p>
          <a:p>
            <a:pPr marL="0" indent="0">
              <a:buNone/>
            </a:pPr>
            <a:endParaRPr lang="en-US" dirty="0"/>
          </a:p>
        </p:txBody>
      </p:sp>
    </p:spTree>
    <p:extLst>
      <p:ext uri="{BB962C8B-B14F-4D97-AF65-F5344CB8AC3E}">
        <p14:creationId xmlns:p14="http://schemas.microsoft.com/office/powerpoint/2010/main" val="5845020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Oglebay</a:t>
            </a:r>
            <a:r>
              <a:rPr lang="en-US" dirty="0"/>
              <a:t> Norton v. Armco (366)</a:t>
            </a:r>
          </a:p>
        </p:txBody>
      </p:sp>
      <p:sp>
        <p:nvSpPr>
          <p:cNvPr id="3" name="Content Placeholder 2"/>
          <p:cNvSpPr>
            <a:spLocks noGrp="1"/>
          </p:cNvSpPr>
          <p:nvPr>
            <p:ph sz="quarter" idx="1"/>
          </p:nvPr>
        </p:nvSpPr>
        <p:spPr/>
        <p:txBody>
          <a:bodyPr>
            <a:normAutofit/>
          </a:bodyPr>
          <a:lstStyle/>
          <a:p>
            <a:r>
              <a:rPr lang="en-US" dirty="0"/>
              <a:t>What promise was </a:t>
            </a:r>
            <a:r>
              <a:rPr lang="en-US" dirty="0" err="1"/>
              <a:t>Oglebay</a:t>
            </a:r>
            <a:r>
              <a:rPr lang="en-US" dirty="0"/>
              <a:t> seeking to enforce?</a:t>
            </a:r>
          </a:p>
          <a:p>
            <a:r>
              <a:rPr lang="en-US" dirty="0"/>
              <a:t>Did the parties intend it to be binding?</a:t>
            </a:r>
          </a:p>
          <a:p>
            <a:r>
              <a:rPr lang="en-US" dirty="0"/>
              <a:t>Are there reasons not to give effect to the parties’ intention to be bound?</a:t>
            </a:r>
          </a:p>
          <a:p>
            <a:r>
              <a:rPr lang="en-US" dirty="0"/>
              <a:t>How could the parties have avoided this dispute?</a:t>
            </a:r>
          </a:p>
          <a:p>
            <a:pPr marL="0" indent="0">
              <a:buNone/>
            </a:pPr>
            <a:endParaRPr lang="en-US" dirty="0"/>
          </a:p>
        </p:txBody>
      </p:sp>
    </p:spTree>
    <p:extLst>
      <p:ext uri="{BB962C8B-B14F-4D97-AF65-F5344CB8AC3E}">
        <p14:creationId xmlns:p14="http://schemas.microsoft.com/office/powerpoint/2010/main" val="419455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Oglebay</a:t>
            </a:r>
            <a:r>
              <a:rPr lang="en-US" dirty="0"/>
              <a:t> Norton v. Armco (366, 362)</a:t>
            </a:r>
          </a:p>
        </p:txBody>
      </p:sp>
      <p:sp>
        <p:nvSpPr>
          <p:cNvPr id="3" name="Content Placeholder 2"/>
          <p:cNvSpPr>
            <a:spLocks noGrp="1"/>
          </p:cNvSpPr>
          <p:nvPr>
            <p:ph sz="quarter" idx="1"/>
          </p:nvPr>
        </p:nvSpPr>
        <p:spPr/>
        <p:txBody>
          <a:bodyPr>
            <a:normAutofit lnSpcReduction="10000"/>
          </a:bodyPr>
          <a:lstStyle/>
          <a:p>
            <a:pPr marL="0" indent="0">
              <a:buNone/>
            </a:pPr>
            <a:r>
              <a:rPr lang="en-US" dirty="0"/>
              <a:t>Why did the parties fail to adopt a third pricing mechanism?</a:t>
            </a:r>
          </a:p>
          <a:p>
            <a:r>
              <a:rPr lang="en-US" dirty="0"/>
              <a:t>They could not agree on one of several alternatives.</a:t>
            </a:r>
          </a:p>
          <a:p>
            <a:r>
              <a:rPr lang="en-US" dirty="0"/>
              <a:t>They did not want to incur additional drafting costs.</a:t>
            </a:r>
          </a:p>
          <a:p>
            <a:r>
              <a:rPr lang="en-US" dirty="0"/>
              <a:t>They worried that dwelling on the issue would send the wrong signal.</a:t>
            </a:r>
          </a:p>
          <a:p>
            <a:r>
              <a:rPr lang="en-US" dirty="0"/>
              <a:t>No one imagined the other mechanisms might fail.</a:t>
            </a:r>
          </a:p>
          <a:p>
            <a:r>
              <a:rPr lang="en-US" dirty="0"/>
              <a:t>Armco did not want to share research on market prices and </a:t>
            </a:r>
            <a:r>
              <a:rPr lang="en-US" dirty="0" err="1"/>
              <a:t>Oglebay</a:t>
            </a:r>
            <a:r>
              <a:rPr lang="en-US" dirty="0"/>
              <a:t> did not want to share information on costs.</a:t>
            </a:r>
          </a:p>
          <a:p>
            <a:pPr marL="0" indent="0">
              <a:buNone/>
            </a:pPr>
            <a:endParaRPr lang="en-US" dirty="0"/>
          </a:p>
          <a:p>
            <a:pPr marL="0" indent="0">
              <a:buNone/>
            </a:pPr>
            <a:r>
              <a:rPr lang="en-US" dirty="0"/>
              <a:t>Which of these reasons should the court effectively condone by enforcing the agreement?</a:t>
            </a:r>
          </a:p>
        </p:txBody>
      </p:sp>
    </p:spTree>
    <p:extLst>
      <p:ext uri="{BB962C8B-B14F-4D97-AF65-F5344CB8AC3E}">
        <p14:creationId xmlns:p14="http://schemas.microsoft.com/office/powerpoint/2010/main" val="2013656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Preliminary agreements</a:t>
            </a:r>
          </a:p>
        </p:txBody>
      </p:sp>
      <p:sp>
        <p:nvSpPr>
          <p:cNvPr id="6" name="Subtitle 5"/>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11386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401069" y="1412171"/>
            <a:ext cx="2150000" cy="721429"/>
          </a:xfrm>
          <a:prstGeom prst="rect">
            <a:avLst/>
          </a:prstGeom>
        </p:spPr>
      </p:pic>
      <p:pic>
        <p:nvPicPr>
          <p:cNvPr id="5" name="Picture 4"/>
          <p:cNvPicPr>
            <a:picLocks noChangeAspect="1"/>
          </p:cNvPicPr>
          <p:nvPr/>
        </p:nvPicPr>
        <p:blipFill>
          <a:blip r:embed="rId3"/>
          <a:stretch>
            <a:fillRect/>
          </a:stretch>
        </p:blipFill>
        <p:spPr>
          <a:xfrm>
            <a:off x="762000" y="2133600"/>
            <a:ext cx="7428138" cy="4610321"/>
          </a:xfrm>
          <a:prstGeom prst="rect">
            <a:avLst/>
          </a:prstGeom>
        </p:spPr>
      </p:pic>
      <p:pic>
        <p:nvPicPr>
          <p:cNvPr id="3" name="Picture 2">
            <a:extLst>
              <a:ext uri="{FF2B5EF4-FFF2-40B4-BE49-F238E27FC236}">
                <a16:creationId xmlns:a16="http://schemas.microsoft.com/office/drawing/2014/main" id="{F70FB3C3-851B-4ECA-933A-4F710519BB2E}"/>
              </a:ext>
            </a:extLst>
          </p:cNvPr>
          <p:cNvPicPr>
            <a:picLocks noChangeAspect="1"/>
          </p:cNvPicPr>
          <p:nvPr/>
        </p:nvPicPr>
        <p:blipFill>
          <a:blip r:embed="rId4"/>
          <a:stretch>
            <a:fillRect/>
          </a:stretch>
        </p:blipFill>
        <p:spPr>
          <a:xfrm>
            <a:off x="762000" y="493522"/>
            <a:ext cx="5730737" cy="845893"/>
          </a:xfrm>
          <a:prstGeom prst="rect">
            <a:avLst/>
          </a:prstGeom>
        </p:spPr>
      </p:pic>
    </p:spTree>
    <p:extLst>
      <p:ext uri="{BB962C8B-B14F-4D97-AF65-F5344CB8AC3E}">
        <p14:creationId xmlns:p14="http://schemas.microsoft.com/office/powerpoint/2010/main" val="17763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Potential effects of preliminary statements</a:t>
            </a:r>
          </a:p>
        </p:txBody>
      </p:sp>
      <p:sp>
        <p:nvSpPr>
          <p:cNvPr id="3" name="Content Placeholder 2"/>
          <p:cNvSpPr>
            <a:spLocks noGrp="1"/>
          </p:cNvSpPr>
          <p:nvPr>
            <p:ph sz="quarter" idx="1"/>
          </p:nvPr>
        </p:nvSpPr>
        <p:spPr>
          <a:xfrm>
            <a:off x="457200" y="1219200"/>
            <a:ext cx="8534400" cy="4937760"/>
          </a:xfrm>
        </p:spPr>
        <p:txBody>
          <a:bodyPr>
            <a:normAutofit fontScale="92500"/>
          </a:bodyPr>
          <a:lstStyle/>
          <a:p>
            <a:r>
              <a:rPr lang="en-US" dirty="0"/>
              <a:t>No legal effect</a:t>
            </a:r>
          </a:p>
          <a:p>
            <a:r>
              <a:rPr lang="en-US" dirty="0"/>
              <a:t>Contract:</a:t>
            </a:r>
          </a:p>
          <a:p>
            <a:pPr lvl="1"/>
            <a:r>
              <a:rPr lang="en-US" dirty="0"/>
              <a:t>Enforceable agreement subject to formalization (Tribune I)</a:t>
            </a:r>
          </a:p>
          <a:p>
            <a:pPr lvl="1"/>
            <a:r>
              <a:rPr lang="en-US" dirty="0"/>
              <a:t>Enforceable agreement to negotiate in good faith (Tribune II)</a:t>
            </a:r>
          </a:p>
          <a:p>
            <a:r>
              <a:rPr lang="en-US" dirty="0"/>
              <a:t>Promissory estoppel</a:t>
            </a:r>
          </a:p>
          <a:p>
            <a:r>
              <a:rPr lang="en-US" dirty="0"/>
              <a:t>Misrepresentation (tort)</a:t>
            </a:r>
          </a:p>
          <a:p>
            <a:r>
              <a:rPr lang="en-US" dirty="0"/>
              <a:t>Promissory fraud (tort)</a:t>
            </a:r>
          </a:p>
          <a:p>
            <a:endParaRPr lang="en-US" dirty="0"/>
          </a:p>
          <a:p>
            <a:pPr marL="0" indent="0">
              <a:buNone/>
            </a:pPr>
            <a:r>
              <a:rPr lang="en-US" dirty="0"/>
              <a:t>Background rules:</a:t>
            </a:r>
          </a:p>
          <a:p>
            <a:r>
              <a:rPr lang="en-US" dirty="0"/>
              <a:t>No general duty to negotiate in good faith</a:t>
            </a:r>
          </a:p>
          <a:p>
            <a:r>
              <a:rPr lang="en-US" dirty="0"/>
              <a:t>Recovery in restitution may be available for benefits conferred</a:t>
            </a:r>
          </a:p>
          <a:p>
            <a:endParaRPr lang="en-US" dirty="0"/>
          </a:p>
        </p:txBody>
      </p:sp>
    </p:spTree>
    <p:extLst>
      <p:ext uri="{BB962C8B-B14F-4D97-AF65-F5344CB8AC3E}">
        <p14:creationId xmlns:p14="http://schemas.microsoft.com/office/powerpoint/2010/main" val="10422741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Tribune I agreements (190)</a:t>
            </a:r>
          </a:p>
        </p:txBody>
      </p:sp>
      <p:sp>
        <p:nvSpPr>
          <p:cNvPr id="3" name="Content Placeholder 2"/>
          <p:cNvSpPr>
            <a:spLocks noGrp="1"/>
          </p:cNvSpPr>
          <p:nvPr>
            <p:ph sz="quarter" idx="1"/>
          </p:nvPr>
        </p:nvSpPr>
        <p:spPr/>
        <p:txBody>
          <a:bodyPr>
            <a:normAutofit lnSpcReduction="10000"/>
          </a:bodyPr>
          <a:lstStyle/>
          <a:p>
            <a:pPr marL="0" indent="0">
              <a:buNone/>
            </a:pPr>
            <a:r>
              <a:rPr lang="en-US" dirty="0"/>
              <a:t>“…occurs when the parties have reached complete agreement (including the agreement to be bound) on all the issues perceived to require negotiation. Such an agreement is preliminary only in form—only in the sense that the parties desire a more elaborate formalization of the agreement. The second stage is not necessary; it is merely considered desirable….[The agreement] binds both sides to their ultimate contractual objective in recognition that that contract has been reached, despite the anticipation of further formalities.”</a:t>
            </a:r>
          </a:p>
          <a:p>
            <a:pPr marL="0" indent="0">
              <a:buNone/>
            </a:pPr>
            <a:endParaRPr lang="en-US" sz="1800" dirty="0"/>
          </a:p>
          <a:p>
            <a:pPr marL="0" indent="0" algn="r">
              <a:buNone/>
            </a:pPr>
            <a:r>
              <a:rPr lang="en-US" sz="1800" dirty="0"/>
              <a:t>Teachers Ins. and Annuity </a:t>
            </a:r>
            <a:r>
              <a:rPr lang="en-US" sz="1800" dirty="0" err="1"/>
              <a:t>Ass'n</a:t>
            </a:r>
            <a:r>
              <a:rPr lang="en-US" sz="1800" dirty="0"/>
              <a:t> of America v. Tribune Co.  670 F. Supp. 491 (S.D.N.Y. 1987) </a:t>
            </a:r>
          </a:p>
          <a:p>
            <a:pPr marL="0" indent="0" algn="r">
              <a:buNone/>
            </a:pPr>
            <a:endParaRPr lang="en-US" dirty="0"/>
          </a:p>
        </p:txBody>
      </p:sp>
    </p:spTree>
    <p:extLst>
      <p:ext uri="{BB962C8B-B14F-4D97-AF65-F5344CB8AC3E}">
        <p14:creationId xmlns:p14="http://schemas.microsoft.com/office/powerpoint/2010/main" val="2048733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Tribune I agreements</a:t>
            </a:r>
          </a:p>
        </p:txBody>
      </p:sp>
      <p:sp>
        <p:nvSpPr>
          <p:cNvPr id="3" name="Content Placeholder 2"/>
          <p:cNvSpPr>
            <a:spLocks noGrp="1"/>
          </p:cNvSpPr>
          <p:nvPr>
            <p:ph sz="quarter" idx="1"/>
          </p:nvPr>
        </p:nvSpPr>
        <p:spPr/>
        <p:txBody>
          <a:bodyPr/>
          <a:lstStyle/>
          <a:p>
            <a:pPr marL="274638" marR="0" lvl="1">
              <a:spcBef>
                <a:spcPts val="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600" dirty="0">
                <a:solidFill>
                  <a:schemeClr val="tx1"/>
                </a:solidFill>
              </a:rPr>
              <a:t>Factors suggesting a preliminary agreement is not binding:</a:t>
            </a:r>
          </a:p>
          <a:p>
            <a:pPr lvl="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t>Disclaimer of intention to be bound</a:t>
            </a:r>
          </a:p>
          <a:p>
            <a:pPr lvl="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t>Indefiniteness</a:t>
            </a:r>
          </a:p>
          <a:p>
            <a:pPr lvl="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t>Complex transaction</a:t>
            </a:r>
          </a:p>
          <a:p>
            <a:pPr marL="274638" lvl="1">
              <a:spcBef>
                <a:spcPts val="0"/>
              </a:spcBef>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600" dirty="0">
                <a:solidFill>
                  <a:schemeClr val="tx1"/>
                </a:solidFill>
              </a:rPr>
              <a:t>Factors suggesting a preliminary agreement is binding:</a:t>
            </a:r>
          </a:p>
          <a:p>
            <a:pPr lvl="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t>Formality</a:t>
            </a:r>
          </a:p>
          <a:p>
            <a:pPr lvl="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t>Part performance</a:t>
            </a:r>
          </a:p>
          <a:p>
            <a:pPr lvl="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t>Reliance</a:t>
            </a:r>
          </a:p>
          <a:p>
            <a:pPr marL="274638" lvl="1">
              <a:spcBef>
                <a:spcPts val="0"/>
              </a:spcBef>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2600" dirty="0">
              <a:solidFill>
                <a:schemeClr val="tx1"/>
              </a:solidFill>
            </a:endParaRPr>
          </a:p>
          <a:p>
            <a:pPr marL="274638" lvl="1">
              <a:spcBef>
                <a:spcPts val="0"/>
              </a:spcBef>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2500" dirty="0">
              <a:latin typeface="Times New Roman"/>
              <a:ea typeface="Times New Roman"/>
            </a:endParaRPr>
          </a:p>
          <a:p>
            <a:endParaRPr lang="en-US" dirty="0"/>
          </a:p>
        </p:txBody>
      </p:sp>
    </p:spTree>
    <p:extLst>
      <p:ext uri="{BB962C8B-B14F-4D97-AF65-F5344CB8AC3E}">
        <p14:creationId xmlns:p14="http://schemas.microsoft.com/office/powerpoint/2010/main" val="3594349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 for all cases</a:t>
            </a:r>
          </a:p>
        </p:txBody>
      </p:sp>
      <p:sp>
        <p:nvSpPr>
          <p:cNvPr id="3" name="Content Placeholder 2"/>
          <p:cNvSpPr>
            <a:spLocks noGrp="1"/>
          </p:cNvSpPr>
          <p:nvPr>
            <p:ph sz="quarter" idx="1"/>
          </p:nvPr>
        </p:nvSpPr>
        <p:spPr/>
        <p:txBody>
          <a:bodyPr>
            <a:normAutofit lnSpcReduction="10000"/>
          </a:bodyPr>
          <a:lstStyle/>
          <a:p>
            <a:r>
              <a:rPr lang="en-US" dirty="0"/>
              <a:t>What promise is the claimant seeking to enforce?</a:t>
            </a:r>
          </a:p>
          <a:p>
            <a:r>
              <a:rPr lang="en-US" dirty="0"/>
              <a:t>Is it sufficiently definite to enforce in contract?</a:t>
            </a:r>
          </a:p>
          <a:p>
            <a:r>
              <a:rPr lang="en-US" dirty="0"/>
              <a:t>Are mutual assent and consideration present?</a:t>
            </a:r>
          </a:p>
          <a:p>
            <a:r>
              <a:rPr lang="en-US" dirty="0"/>
              <a:t>Has the promise been breached?</a:t>
            </a:r>
          </a:p>
          <a:p>
            <a:r>
              <a:rPr lang="en-US" dirty="0"/>
              <a:t>What is the remedy?</a:t>
            </a:r>
          </a:p>
          <a:p>
            <a:endParaRPr lang="en-US" dirty="0"/>
          </a:p>
          <a:p>
            <a:r>
              <a:rPr lang="en-US" dirty="0"/>
              <a:t>Is recovery available in promissory estoppel?</a:t>
            </a:r>
          </a:p>
          <a:p>
            <a:endParaRPr lang="en-US" dirty="0"/>
          </a:p>
          <a:p>
            <a:r>
              <a:rPr lang="en-US" dirty="0"/>
              <a:t>How could the parties have avoided this dispute?</a:t>
            </a:r>
          </a:p>
          <a:p>
            <a:r>
              <a:rPr lang="en-US" dirty="0"/>
              <a:t>How should they behave going forward?</a:t>
            </a:r>
          </a:p>
          <a:p>
            <a:r>
              <a:rPr lang="en-US" dirty="0"/>
              <a:t>Would the result be different under French law?</a:t>
            </a:r>
          </a:p>
          <a:p>
            <a:endParaRPr lang="en-US" dirty="0"/>
          </a:p>
          <a:p>
            <a:endParaRPr lang="en-US" dirty="0"/>
          </a:p>
        </p:txBody>
      </p:sp>
    </p:spTree>
    <p:extLst>
      <p:ext uri="{BB962C8B-B14F-4D97-AF65-F5344CB8AC3E}">
        <p14:creationId xmlns:p14="http://schemas.microsoft.com/office/powerpoint/2010/main" val="2087662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BB598-EA0F-BCE6-C38D-4E03770A2FF3}"/>
              </a:ext>
            </a:extLst>
          </p:cNvPr>
          <p:cNvSpPr>
            <a:spLocks noGrp="1"/>
          </p:cNvSpPr>
          <p:nvPr>
            <p:ph type="title"/>
          </p:nvPr>
        </p:nvSpPr>
        <p:spPr/>
        <p:txBody>
          <a:bodyPr/>
          <a:lstStyle/>
          <a:p>
            <a:r>
              <a:rPr lang="en-US" dirty="0"/>
              <a:t>French Civil Code (2016)</a:t>
            </a:r>
          </a:p>
        </p:txBody>
      </p:sp>
      <p:sp>
        <p:nvSpPr>
          <p:cNvPr id="3" name="Content Placeholder 2">
            <a:extLst>
              <a:ext uri="{FF2B5EF4-FFF2-40B4-BE49-F238E27FC236}">
                <a16:creationId xmlns:a16="http://schemas.microsoft.com/office/drawing/2014/main" id="{24D89E1E-02C0-B434-3E24-E196E6459A04}"/>
              </a:ext>
            </a:extLst>
          </p:cNvPr>
          <p:cNvSpPr>
            <a:spLocks noGrp="1"/>
          </p:cNvSpPr>
          <p:nvPr>
            <p:ph sz="quarter" idx="1"/>
          </p:nvPr>
        </p:nvSpPr>
        <p:spPr/>
        <p:txBody>
          <a:bodyPr/>
          <a:lstStyle/>
          <a:p>
            <a:pPr marL="0" indent="0">
              <a:buNone/>
            </a:pPr>
            <a:endParaRPr lang="en-US" dirty="0"/>
          </a:p>
          <a:p>
            <a:pPr marL="0" indent="0">
              <a:buNone/>
            </a:pPr>
            <a:r>
              <a:rPr lang="en-US" dirty="0"/>
              <a:t>Art. 1112. –The commencement, continuation and breaking-off of precontractual negotiations are free from control. They must mandatorily satisfy the requirements of good faith.</a:t>
            </a:r>
          </a:p>
          <a:p>
            <a:pPr marL="0" indent="0">
              <a:buNone/>
            </a:pPr>
            <a:endParaRPr lang="en-US" dirty="0"/>
          </a:p>
          <a:p>
            <a:pPr marL="0" indent="0">
              <a:buNone/>
            </a:pPr>
            <a:r>
              <a:rPr lang="en-US" dirty="0"/>
              <a:t>In case of fault committed during the negotiations, the reparation of the resulting loss is not calculated so as to compensate the loss of benefits which were expected from the contract that was not concluded.</a:t>
            </a:r>
          </a:p>
        </p:txBody>
      </p:sp>
    </p:spTree>
    <p:extLst>
      <p:ext uri="{BB962C8B-B14F-4D97-AF65-F5344CB8AC3E}">
        <p14:creationId xmlns:p14="http://schemas.microsoft.com/office/powerpoint/2010/main" val="2637083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Channel Home Centers (345)</a:t>
            </a:r>
          </a:p>
        </p:txBody>
      </p:sp>
      <p:sp>
        <p:nvSpPr>
          <p:cNvPr id="3" name="Content Placeholder 2"/>
          <p:cNvSpPr>
            <a:spLocks noGrp="1"/>
          </p:cNvSpPr>
          <p:nvPr>
            <p:ph sz="quarter" idx="1"/>
          </p:nvPr>
        </p:nvSpPr>
        <p:spPr/>
        <p:txBody>
          <a:bodyPr>
            <a:normAutofit lnSpcReduction="10000"/>
          </a:bodyPr>
          <a:lstStyle/>
          <a:p>
            <a:pPr marL="0" indent="0">
              <a:buNone/>
            </a:pPr>
            <a:r>
              <a:rPr lang="en-US" dirty="0"/>
              <a:t>“The Channel Home Centers Division of Grace Retail Corporation has approved the leasing of a store at the above described location subject to the terms and conditions of this letter. The purpose of this letter is to express the understanding under which an Agreement of Lease, prepared by Tenant, but in a mutually satisfactory form, is to be executed….”</a:t>
            </a:r>
          </a:p>
          <a:p>
            <a:pPr marL="0" indent="0" algn="ctr">
              <a:buNone/>
            </a:pPr>
            <a:r>
              <a:rPr lang="en-US" dirty="0"/>
              <a:t>….</a:t>
            </a:r>
          </a:p>
          <a:p>
            <a:pPr marL="0" indent="0">
              <a:buNone/>
            </a:pPr>
            <a:r>
              <a:rPr lang="en-US" dirty="0"/>
              <a:t>“To induce the Tenant to proceed with the leasing of this Store, you will withdraw the Store from the rental market, and only negotiate the above described leasing transaction to completion.”</a:t>
            </a:r>
          </a:p>
        </p:txBody>
      </p:sp>
    </p:spTree>
    <p:extLst>
      <p:ext uri="{BB962C8B-B14F-4D97-AF65-F5344CB8AC3E}">
        <p14:creationId xmlns:p14="http://schemas.microsoft.com/office/powerpoint/2010/main" val="39338402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err="1"/>
              <a:t>Cyberchron</a:t>
            </a:r>
            <a:r>
              <a:rPr lang="en-US" dirty="0"/>
              <a:t> v. </a:t>
            </a:r>
            <a:r>
              <a:rPr lang="en-US" dirty="0" err="1"/>
              <a:t>Calldata</a:t>
            </a:r>
            <a:r>
              <a:rPr lang="en-US" dirty="0"/>
              <a:t> Systems Development (340)</a:t>
            </a:r>
          </a:p>
        </p:txBody>
      </p:sp>
      <p:sp>
        <p:nvSpPr>
          <p:cNvPr id="3" name="Content Placeholder 2"/>
          <p:cNvSpPr>
            <a:spLocks noGrp="1"/>
          </p:cNvSpPr>
          <p:nvPr>
            <p:ph sz="quarter" idx="1"/>
          </p:nvPr>
        </p:nvSpPr>
        <p:spPr/>
        <p:txBody>
          <a:bodyPr/>
          <a:lstStyle/>
          <a:p>
            <a:pPr marL="0" indent="0">
              <a:buNone/>
            </a:pPr>
            <a:r>
              <a:rPr lang="en-US" dirty="0"/>
              <a:t>“…in mid-July 1990, Grumman's Wilhelm directed </a:t>
            </a:r>
            <a:r>
              <a:rPr lang="en-US" dirty="0" err="1"/>
              <a:t>Cyberchron's</a:t>
            </a:r>
            <a:r>
              <a:rPr lang="en-US" dirty="0"/>
              <a:t> Paul “to proceed ‘as if the new set of weights was approved ... and we would work out the </a:t>
            </a:r>
            <a:r>
              <a:rPr lang="en-US" dirty="0" err="1"/>
              <a:t>definitization</a:t>
            </a:r>
            <a:r>
              <a:rPr lang="en-US" dirty="0"/>
              <a:t> of the purchase order later.’ ” Id. at 102 (quoting Paul testimony, alteration in district court opinion). Later, when Paul asked Wilhelm to put this reassurance in writing, Wilhelm refused. Id. at 114. Paul then stated that: “ ‘If I have your assurance that we will resolve the issues in the very near future ...-we will proceed.’ ” Id. (quoting Paul testimony, alteration added). Wilhelm responded: “ ‘[Y]</a:t>
            </a:r>
            <a:r>
              <a:rPr lang="en-US" dirty="0" err="1"/>
              <a:t>ou</a:t>
            </a:r>
            <a:r>
              <a:rPr lang="en-US" dirty="0"/>
              <a:t> should proceed.’ ” Id. (quoting Paul testimony).”</a:t>
            </a:r>
          </a:p>
        </p:txBody>
      </p:sp>
    </p:spTree>
    <p:extLst>
      <p:ext uri="{BB962C8B-B14F-4D97-AF65-F5344CB8AC3E}">
        <p14:creationId xmlns:p14="http://schemas.microsoft.com/office/powerpoint/2010/main" val="3991472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Dixon v. Wells Fargo (333)</a:t>
            </a:r>
          </a:p>
        </p:txBody>
      </p:sp>
      <p:sp>
        <p:nvSpPr>
          <p:cNvPr id="3" name="Content Placeholder 2"/>
          <p:cNvSpPr>
            <a:spLocks noGrp="1"/>
          </p:cNvSpPr>
          <p:nvPr>
            <p:ph sz="quarter" idx="1"/>
          </p:nvPr>
        </p:nvSpPr>
        <p:spPr/>
        <p:txBody>
          <a:bodyPr/>
          <a:lstStyle/>
          <a:p>
            <a:pPr marL="0" indent="0">
              <a:buNone/>
            </a:pPr>
            <a:r>
              <a:rPr lang="en-US" dirty="0"/>
              <a:t>“Wells Fargo made a specific promise to consider the Dixons’ eligibility for a loan modification if they defaulted on their payments and submitted certain financial information.”</a:t>
            </a:r>
          </a:p>
        </p:txBody>
      </p:sp>
    </p:spTree>
    <p:extLst>
      <p:ext uri="{BB962C8B-B14F-4D97-AF65-F5344CB8AC3E}">
        <p14:creationId xmlns:p14="http://schemas.microsoft.com/office/powerpoint/2010/main" val="2016183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4"/>
          <p:cNvSpPr>
            <a:spLocks noGrp="1"/>
          </p:cNvSpPr>
          <p:nvPr>
            <p:ph type="title"/>
          </p:nvPr>
        </p:nvSpPr>
        <p:spPr/>
        <p:txBody>
          <a:bodyPr/>
          <a:lstStyle/>
          <a:p>
            <a:r>
              <a:rPr lang="en-US" altLang="en-US" dirty="0"/>
              <a:t>Recap</a:t>
            </a:r>
          </a:p>
        </p:txBody>
      </p:sp>
      <p:sp>
        <p:nvSpPr>
          <p:cNvPr id="11267" name="Content Placeholder 5"/>
          <p:cNvSpPr>
            <a:spLocks noGrp="1"/>
          </p:cNvSpPr>
          <p:nvPr>
            <p:ph sz="quarter" idx="1"/>
          </p:nvPr>
        </p:nvSpPr>
        <p:spPr>
          <a:xfrm>
            <a:off x="457200" y="1219200"/>
            <a:ext cx="8229600" cy="4937125"/>
          </a:xfrm>
        </p:spPr>
        <p:txBody>
          <a:bodyPr>
            <a:normAutofit lnSpcReduction="10000"/>
          </a:bodyPr>
          <a:lstStyle/>
          <a:p>
            <a:r>
              <a:rPr lang="en-US" altLang="en-US" b="1" dirty="0"/>
              <a:t>Is there an enforceable promise?</a:t>
            </a:r>
          </a:p>
          <a:p>
            <a:pPr lvl="1"/>
            <a:r>
              <a:rPr lang="en-US" altLang="en-US" dirty="0"/>
              <a:t>Common law: offer and acceptance, consideration, definiteness</a:t>
            </a:r>
          </a:p>
          <a:p>
            <a:pPr lvl="1"/>
            <a:r>
              <a:rPr lang="en-US" altLang="en-US" dirty="0"/>
              <a:t>UCC §§ 2-204 – 2-207 (sale of goods only)</a:t>
            </a:r>
          </a:p>
          <a:p>
            <a:pPr lvl="1"/>
            <a:r>
              <a:rPr lang="en-US" altLang="en-US" dirty="0"/>
              <a:t>Promissory estoppel</a:t>
            </a:r>
          </a:p>
          <a:p>
            <a:pPr lvl="1"/>
            <a:r>
              <a:rPr lang="en-US" altLang="en-US" dirty="0"/>
              <a:t>RLCC § 2 (consumer contracts)</a:t>
            </a:r>
          </a:p>
          <a:p>
            <a:pPr lvl="1"/>
            <a:r>
              <a:rPr lang="en-US" altLang="en-US" dirty="0"/>
              <a:t>Statute of Frauds (selected transactions)</a:t>
            </a:r>
          </a:p>
          <a:p>
            <a:r>
              <a:rPr lang="en-US" altLang="en-US" b="1" dirty="0"/>
              <a:t>Has it been performed?</a:t>
            </a:r>
          </a:p>
          <a:p>
            <a:endParaRPr lang="en-US" altLang="en-US" dirty="0"/>
          </a:p>
          <a:p>
            <a:r>
              <a:rPr lang="en-US" altLang="en-US" dirty="0"/>
              <a:t>Applications:</a:t>
            </a:r>
          </a:p>
          <a:p>
            <a:pPr lvl="1"/>
            <a:r>
              <a:rPr lang="en-US" altLang="en-US" dirty="0"/>
              <a:t>Battle of the forms</a:t>
            </a:r>
          </a:p>
          <a:p>
            <a:pPr lvl="1"/>
            <a:r>
              <a:rPr lang="en-US" altLang="en-US" dirty="0"/>
              <a:t>Terms that follow</a:t>
            </a:r>
          </a:p>
          <a:p>
            <a:pPr lvl="1"/>
            <a:r>
              <a:rPr lang="en-US" altLang="en-US" dirty="0"/>
              <a:t>Preliminary negotiations</a:t>
            </a:r>
          </a:p>
          <a:p>
            <a:pPr lvl="1"/>
            <a:endParaRPr lang="en-US" altLang="en-US" dirty="0"/>
          </a:p>
        </p:txBody>
      </p:sp>
    </p:spTree>
    <p:extLst>
      <p:ext uri="{BB962C8B-B14F-4D97-AF65-F5344CB8AC3E}">
        <p14:creationId xmlns:p14="http://schemas.microsoft.com/office/powerpoint/2010/main" val="6216260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1_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4835</TotalTime>
  <Words>1314</Words>
  <Application>Microsoft Office PowerPoint</Application>
  <PresentationFormat>On-screen Show (4:3)</PresentationFormat>
  <Paragraphs>118</Paragraphs>
  <Slides>21</Slides>
  <Notes>0</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21</vt:i4>
      </vt:variant>
    </vt:vector>
  </HeadingPairs>
  <TitlesOfParts>
    <vt:vector size="32" baseType="lpstr">
      <vt:lpstr>Arial</vt:lpstr>
      <vt:lpstr>Bookman Old Style</vt:lpstr>
      <vt:lpstr>Calibri</vt:lpstr>
      <vt:lpstr>Calibri Light</vt:lpstr>
      <vt:lpstr>Gill Sans MT</vt:lpstr>
      <vt:lpstr>Times New Roman</vt:lpstr>
      <vt:lpstr>Wingdings</vt:lpstr>
      <vt:lpstr>Wingdings 3</vt:lpstr>
      <vt:lpstr>Origin</vt:lpstr>
      <vt:lpstr>1_Origin</vt:lpstr>
      <vt:lpstr>1_Office Theme</vt:lpstr>
      <vt:lpstr>Class 10: Precontractual liability and Definiteness</vt:lpstr>
      <vt:lpstr>Topics</vt:lpstr>
      <vt:lpstr>Key questions</vt:lpstr>
      <vt:lpstr>Definiteness</vt:lpstr>
      <vt:lpstr>The requirement of definiteness</vt:lpstr>
      <vt:lpstr>Sun Printing &amp; Publishing v. Remington Paper &amp; Power (353)</vt:lpstr>
      <vt:lpstr>Sun Printing &amp; Publishing v. Remington Paper &amp; Power (353)</vt:lpstr>
      <vt:lpstr>Oglebay Norton v. Armco (366)</vt:lpstr>
      <vt:lpstr>Oglebay Norton v. Armco (366)</vt:lpstr>
      <vt:lpstr>Oglebay Norton v. Armco (366, 362)</vt:lpstr>
      <vt:lpstr>Preliminary agreements</vt:lpstr>
      <vt:lpstr>PowerPoint Presentation</vt:lpstr>
      <vt:lpstr>Potential effects of preliminary statements</vt:lpstr>
      <vt:lpstr>Tribune I agreements (190)</vt:lpstr>
      <vt:lpstr>Tribune I agreements</vt:lpstr>
      <vt:lpstr>Questions for all cases</vt:lpstr>
      <vt:lpstr>French Civil Code (2016)</vt:lpstr>
      <vt:lpstr>Channel Home Centers (345)</vt:lpstr>
      <vt:lpstr>Cyberchron v. Calldata Systems Development (340)</vt:lpstr>
      <vt:lpstr>Dixon v. Wells Fargo (333)</vt:lpstr>
      <vt:lpstr>Recap</vt:lpstr>
    </vt:vector>
  </TitlesOfParts>
  <Company>NYU School of Law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10: Definiteness and  Preliminary agreements</dc:title>
  <dc:creator>Davis, Kevin</dc:creator>
  <cp:lastModifiedBy>Davis, Kevin</cp:lastModifiedBy>
  <cp:revision>48</cp:revision>
  <cp:lastPrinted>2023-10-04T12:40:07Z</cp:lastPrinted>
  <dcterms:created xsi:type="dcterms:W3CDTF">2014-10-01T16:27:48Z</dcterms:created>
  <dcterms:modified xsi:type="dcterms:W3CDTF">2026-09-24T14:53:21Z</dcterms:modified>
</cp:coreProperties>
</file>