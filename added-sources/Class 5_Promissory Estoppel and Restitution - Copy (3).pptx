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3"/>
  </p:notesMasterIdLst>
  <p:sldIdLst>
    <p:sldId id="257" r:id="rId2"/>
    <p:sldId id="258" r:id="rId3"/>
    <p:sldId id="259" r:id="rId4"/>
    <p:sldId id="260" r:id="rId5"/>
    <p:sldId id="261" r:id="rId6"/>
    <p:sldId id="262" r:id="rId7"/>
    <p:sldId id="264" r:id="rId8"/>
    <p:sldId id="263" r:id="rId9"/>
    <p:sldId id="281" r:id="rId10"/>
    <p:sldId id="266" r:id="rId11"/>
    <p:sldId id="267" r:id="rId12"/>
    <p:sldId id="268" r:id="rId13"/>
    <p:sldId id="269" r:id="rId14"/>
    <p:sldId id="270" r:id="rId15"/>
    <p:sldId id="280" r:id="rId16"/>
    <p:sldId id="272" r:id="rId17"/>
    <p:sldId id="273" r:id="rId18"/>
    <p:sldId id="283" r:id="rId19"/>
    <p:sldId id="274" r:id="rId20"/>
    <p:sldId id="265" r:id="rId21"/>
    <p:sldId id="282" r:id="rId2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105" d="100"/>
          <a:sy n="105" d="100"/>
        </p:scale>
        <p:origin x="1794" y="96"/>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54EADB3-7D23-4D27-A34D-716AA42A67B4}" type="datetimeFigureOut">
              <a:rPr lang="en-US" smtClean="0"/>
              <a:t>9/8/2026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1CB5BC4-CDF3-4BE9-BABC-5FE29D3D36A6}" type="slidenum">
              <a:rPr lang="en-US" smtClean="0"/>
              <a:t>‹#›</a:t>
            </a:fld>
            <a:endParaRPr lang="en-US"/>
          </a:p>
        </p:txBody>
      </p:sp>
    </p:spTree>
    <p:extLst>
      <p:ext uri="{BB962C8B-B14F-4D97-AF65-F5344CB8AC3E}">
        <p14:creationId xmlns:p14="http://schemas.microsoft.com/office/powerpoint/2010/main" val="27007030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7"/>
          <p:cNvSpPr>
            <a:spLocks noGrp="1" noChangeArrowheads="1"/>
          </p:cNvSpPr>
          <p:nvPr>
            <p:ph type="sldNum" sz="quarter" idx="5"/>
          </p:nvPr>
        </p:nvSpPr>
        <p:spPr>
          <a:noFill/>
        </p:spPr>
        <p:txBody>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fld id="{CF271AAF-3A9B-4FF2-BA02-19E194D62083}" type="slidenum">
              <a:rPr lang="en-US" altLang="en-US" smtClean="0">
                <a:solidFill>
                  <a:prstClr val="black"/>
                </a:solidFill>
              </a:rPr>
              <a:pPr/>
              <a:t>14</a:t>
            </a:fld>
            <a:endParaRPr lang="en-US" altLang="en-US">
              <a:solidFill>
                <a:prstClr val="black"/>
              </a:solidFill>
            </a:endParaRPr>
          </a:p>
        </p:txBody>
      </p:sp>
      <p:sp>
        <p:nvSpPr>
          <p:cNvPr id="25603" name="Rectangle 2"/>
          <p:cNvSpPr>
            <a:spLocks noGrp="1" noRot="1" noChangeAspect="1" noChangeArrowheads="1" noTextEdit="1"/>
          </p:cNvSpPr>
          <p:nvPr>
            <p:ph type="sldImg"/>
          </p:nvPr>
        </p:nvSpPr>
        <p:spPr>
          <a:ln/>
        </p:spPr>
      </p:sp>
      <p:sp>
        <p:nvSpPr>
          <p:cNvPr id="25604" name="Rectangle 3"/>
          <p:cNvSpPr>
            <a:spLocks noGrp="1" noChangeArrowheads="1"/>
          </p:cNvSpPr>
          <p:nvPr>
            <p:ph type="body" idx="1"/>
          </p:nvPr>
        </p:nvSpPr>
        <p:spPr>
          <a:noFill/>
        </p:spPr>
        <p:txBody>
          <a:bodyPr/>
          <a:lstStyle/>
          <a:p>
            <a:pPr eaLnBrk="1" hangingPunct="1"/>
            <a:endParaRPr lang="en-US" altLang="en-US"/>
          </a:p>
        </p:txBody>
      </p:sp>
    </p:spTree>
    <p:extLst>
      <p:ext uri="{BB962C8B-B14F-4D97-AF65-F5344CB8AC3E}">
        <p14:creationId xmlns:p14="http://schemas.microsoft.com/office/powerpoint/2010/main" val="176204970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8" name="Title 7"/>
          <p:cNvSpPr>
            <a:spLocks noGrp="1"/>
          </p:cNvSpPr>
          <p:nvPr>
            <p:ph type="ctrTitle"/>
          </p:nvPr>
        </p:nvSpPr>
        <p:spPr>
          <a:xfrm>
            <a:off x="1219200" y="3886200"/>
            <a:ext cx="6858000" cy="990600"/>
          </a:xfrm>
        </p:spPr>
        <p:txBody>
          <a:bodyPr anchor="t" anchorCtr="0"/>
          <a:lstStyle>
            <a:lvl1pPr algn="r">
              <a:defRPr sz="3200">
                <a:solidFill>
                  <a:schemeClr val="tx1"/>
                </a:solidFill>
              </a:defRPr>
            </a:lvl1pPr>
          </a:lstStyle>
          <a:p>
            <a:r>
              <a:rPr kumimoji="0" lang="en-US"/>
              <a:t>Click to edit Master title style</a:t>
            </a:r>
          </a:p>
        </p:txBody>
      </p:sp>
      <p:sp>
        <p:nvSpPr>
          <p:cNvPr id="9" name="Subtitle 8"/>
          <p:cNvSpPr>
            <a:spLocks noGrp="1"/>
          </p:cNvSpPr>
          <p:nvPr>
            <p:ph type="subTitle" idx="1"/>
          </p:nvPr>
        </p:nvSpPr>
        <p:spPr>
          <a:xfrm>
            <a:off x="1219200" y="5124450"/>
            <a:ext cx="6858000" cy="533400"/>
          </a:xfrm>
        </p:spPr>
        <p:txBody>
          <a:bodyPr/>
          <a:lstStyle>
            <a:lvl1pPr marL="0" indent="0" algn="r">
              <a:buNone/>
              <a:defRPr sz="2000">
                <a:solidFill>
                  <a:schemeClr val="tx2"/>
                </a:solidFill>
                <a:latin typeface="+mj-lt"/>
                <a:ea typeface="+mj-ea"/>
                <a:cs typeface="+mj-cs"/>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a:xfrm>
            <a:off x="6400800" y="6355080"/>
            <a:ext cx="2286000" cy="365760"/>
          </a:xfrm>
        </p:spPr>
        <p:txBody>
          <a:bodyPr/>
          <a:lstStyle>
            <a:lvl1pPr>
              <a:defRPr sz="1400"/>
            </a:lvl1pPr>
          </a:lstStyle>
          <a:p>
            <a:fld id="{8B999E3D-45A9-497C-BEB0-B4F0C3D298AF}" type="datetimeFigureOut">
              <a:rPr lang="en-US" smtClean="0">
                <a:solidFill>
                  <a:srgbClr val="464653"/>
                </a:solidFill>
              </a:rPr>
              <a:pPr/>
              <a:t>9/8/2026</a:t>
            </a:fld>
            <a:endParaRPr lang="en-US">
              <a:solidFill>
                <a:srgbClr val="464653"/>
              </a:solidFill>
            </a:endParaRPr>
          </a:p>
        </p:txBody>
      </p:sp>
      <p:sp>
        <p:nvSpPr>
          <p:cNvPr id="17" name="Footer Placeholder 16"/>
          <p:cNvSpPr>
            <a:spLocks noGrp="1"/>
          </p:cNvSpPr>
          <p:nvPr>
            <p:ph type="ftr" sz="quarter" idx="11"/>
          </p:nvPr>
        </p:nvSpPr>
        <p:spPr>
          <a:xfrm>
            <a:off x="2898648" y="6355080"/>
            <a:ext cx="3474720" cy="365760"/>
          </a:xfrm>
        </p:spPr>
        <p:txBody>
          <a:bodyPr/>
          <a:lstStyle/>
          <a:p>
            <a:endParaRPr lang="en-US">
              <a:solidFill>
                <a:srgbClr val="464653"/>
              </a:solidFill>
            </a:endParaRPr>
          </a:p>
        </p:txBody>
      </p:sp>
      <p:sp>
        <p:nvSpPr>
          <p:cNvPr id="29" name="Slide Number Placeholder 28"/>
          <p:cNvSpPr>
            <a:spLocks noGrp="1"/>
          </p:cNvSpPr>
          <p:nvPr>
            <p:ph type="sldNum" sz="quarter" idx="12"/>
          </p:nvPr>
        </p:nvSpPr>
        <p:spPr>
          <a:xfrm>
            <a:off x="1216152" y="6355080"/>
            <a:ext cx="1219200" cy="365760"/>
          </a:xfrm>
        </p:spPr>
        <p:txBody>
          <a:bodyPr/>
          <a:lstStyle/>
          <a:p>
            <a:fld id="{994B729A-5F0B-4B52-BE6D-A579B7D0035B}" type="slidenum">
              <a:rPr lang="en-US" smtClean="0">
                <a:solidFill>
                  <a:srgbClr val="464653"/>
                </a:solidFill>
              </a:rPr>
              <a:pPr/>
              <a:t>‹#›</a:t>
            </a:fld>
            <a:endParaRPr lang="en-US">
              <a:solidFill>
                <a:srgbClr val="464653"/>
              </a:solidFill>
            </a:endParaRPr>
          </a:p>
        </p:txBody>
      </p:sp>
      <p:sp>
        <p:nvSpPr>
          <p:cNvPr id="21" name="Rectangle 20"/>
          <p:cNvSpPr/>
          <p:nvPr/>
        </p:nvSpPr>
        <p:spPr>
          <a:xfrm>
            <a:off x="904875" y="3648075"/>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33" name="Rectangle 32"/>
          <p:cNvSpPr/>
          <p:nvPr/>
        </p:nvSpPr>
        <p:spPr>
          <a:xfrm>
            <a:off x="914400" y="5048250"/>
            <a:ext cx="7315200" cy="685800"/>
          </a:xfrm>
          <a:prstGeom prst="rect">
            <a:avLst/>
          </a:prstGeom>
          <a:noFill/>
          <a:ln w="6350" cap="rnd" cmpd="sng" algn="ctr">
            <a:solidFill>
              <a:schemeClr val="accent2"/>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22" name="Rectangle 21"/>
          <p:cNvSpPr/>
          <p:nvPr/>
        </p:nvSpPr>
        <p:spPr>
          <a:xfrm>
            <a:off x="904875" y="3648075"/>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32" name="Rectangle 31"/>
          <p:cNvSpPr/>
          <p:nvPr/>
        </p:nvSpPr>
        <p:spPr>
          <a:xfrm>
            <a:off x="914400" y="5048250"/>
            <a:ext cx="228600" cy="685800"/>
          </a:xfrm>
          <a:prstGeom prst="rect">
            <a:avLst/>
          </a:prstGeom>
          <a:solidFill>
            <a:schemeClr val="accent2"/>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Tree>
    <p:extLst>
      <p:ext uri="{BB962C8B-B14F-4D97-AF65-F5344CB8AC3E}">
        <p14:creationId xmlns:p14="http://schemas.microsoft.com/office/powerpoint/2010/main" val="15363667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4" name="Date Placeholder 3"/>
          <p:cNvSpPr>
            <a:spLocks noGrp="1"/>
          </p:cNvSpPr>
          <p:nvPr>
            <p:ph type="dt" sz="half" idx="10"/>
          </p:nvPr>
        </p:nvSpPr>
        <p:spPr/>
        <p:txBody>
          <a:bodyPr/>
          <a:lstStyle/>
          <a:p>
            <a:fld id="{8B999E3D-45A9-497C-BEB0-B4F0C3D298AF}" type="datetimeFigureOut">
              <a:rPr lang="en-US" smtClean="0">
                <a:solidFill>
                  <a:srgbClr val="464653"/>
                </a:solidFill>
              </a:rPr>
              <a:pPr/>
              <a:t>9/8/2026</a:t>
            </a:fld>
            <a:endParaRPr lang="en-US">
              <a:solidFill>
                <a:srgbClr val="464653"/>
              </a:solidFill>
            </a:endParaRPr>
          </a:p>
        </p:txBody>
      </p:sp>
      <p:sp>
        <p:nvSpPr>
          <p:cNvPr id="5" name="Footer Placeholder 4"/>
          <p:cNvSpPr>
            <a:spLocks noGrp="1"/>
          </p:cNvSpPr>
          <p:nvPr>
            <p:ph type="ftr" sz="quarter" idx="11"/>
          </p:nvPr>
        </p:nvSpPr>
        <p:spPr/>
        <p:txBody>
          <a:bodyPr/>
          <a:lstStyle/>
          <a:p>
            <a:endParaRPr lang="en-US">
              <a:solidFill>
                <a:srgbClr val="464653"/>
              </a:solidFill>
            </a:endParaRPr>
          </a:p>
        </p:txBody>
      </p:sp>
      <p:sp>
        <p:nvSpPr>
          <p:cNvPr id="6" name="Slide Number Placeholder 5"/>
          <p:cNvSpPr>
            <a:spLocks noGrp="1"/>
          </p:cNvSpPr>
          <p:nvPr>
            <p:ph type="sldNum" sz="quarter" idx="12"/>
          </p:nvPr>
        </p:nvSpPr>
        <p:spPr/>
        <p:txBody>
          <a:bodyPr/>
          <a:lstStyle/>
          <a:p>
            <a:fld id="{994B729A-5F0B-4B52-BE6D-A579B7D0035B}" type="slidenum">
              <a:rPr lang="en-US" smtClean="0">
                <a:solidFill>
                  <a:srgbClr val="464653"/>
                </a:solidFill>
              </a:rPr>
              <a:pPr/>
              <a:t>‹#›</a:t>
            </a:fld>
            <a:endParaRPr lang="en-US">
              <a:solidFill>
                <a:srgbClr val="464653"/>
              </a:solidFill>
            </a:endParaRPr>
          </a:p>
        </p:txBody>
      </p:sp>
      <p:sp>
        <p:nvSpPr>
          <p:cNvPr id="8" name="Content Placeholder 7"/>
          <p:cNvSpPr>
            <a:spLocks noGrp="1"/>
          </p:cNvSpPr>
          <p:nvPr>
            <p:ph sz="quarter" idx="1"/>
          </p:nvPr>
        </p:nvSpPr>
        <p:spPr>
          <a:xfrm>
            <a:off x="457200" y="1219200"/>
            <a:ext cx="8229600"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extLst>
      <p:ext uri="{BB962C8B-B14F-4D97-AF65-F5344CB8AC3E}">
        <p14:creationId xmlns:p14="http://schemas.microsoft.com/office/powerpoint/2010/main" val="9220085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219200" y="2971800"/>
            <a:ext cx="6858000" cy="1066800"/>
          </a:xfrm>
        </p:spPr>
        <p:txBody>
          <a:bodyPr anchor="t" anchorCtr="0"/>
          <a:lstStyle>
            <a:lvl1pPr algn="r">
              <a:buNone/>
              <a:defRPr sz="3200" b="0" cap="none" baseline="0"/>
            </a:lvl1pPr>
          </a:lstStyle>
          <a:p>
            <a:r>
              <a:rPr kumimoji="0" lang="en-US"/>
              <a:t>Click to edit Master title style</a:t>
            </a:r>
          </a:p>
        </p:txBody>
      </p:sp>
      <p:sp>
        <p:nvSpPr>
          <p:cNvPr id="3" name="Text Placeholder 2"/>
          <p:cNvSpPr>
            <a:spLocks noGrp="1"/>
          </p:cNvSpPr>
          <p:nvPr>
            <p:ph type="body" idx="1"/>
          </p:nvPr>
        </p:nvSpPr>
        <p:spPr>
          <a:xfrm>
            <a:off x="1295400" y="4267200"/>
            <a:ext cx="6781800" cy="1143000"/>
          </a:xfrm>
        </p:spPr>
        <p:txBody>
          <a:bodyPr anchor="t" anchorCtr="0"/>
          <a:lstStyle>
            <a:lvl1pPr marL="0" indent="0" algn="r">
              <a:buNone/>
              <a:defRPr sz="20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a:xfrm>
            <a:off x="6400800" y="6355080"/>
            <a:ext cx="2286000" cy="365760"/>
          </a:xfrm>
        </p:spPr>
        <p:txBody>
          <a:bodyPr/>
          <a:lstStyle/>
          <a:p>
            <a:fld id="{8B999E3D-45A9-497C-BEB0-B4F0C3D298AF}" type="datetimeFigureOut">
              <a:rPr lang="en-US" smtClean="0">
                <a:solidFill>
                  <a:srgbClr val="DDE9EC"/>
                </a:solidFill>
              </a:rPr>
              <a:pPr/>
              <a:t>9/8/2026</a:t>
            </a:fld>
            <a:endParaRPr lang="en-US">
              <a:solidFill>
                <a:srgbClr val="DDE9EC"/>
              </a:solidFill>
            </a:endParaRPr>
          </a:p>
        </p:txBody>
      </p:sp>
      <p:sp>
        <p:nvSpPr>
          <p:cNvPr id="5" name="Footer Placeholder 4"/>
          <p:cNvSpPr>
            <a:spLocks noGrp="1"/>
          </p:cNvSpPr>
          <p:nvPr>
            <p:ph type="ftr" sz="quarter" idx="11"/>
          </p:nvPr>
        </p:nvSpPr>
        <p:spPr>
          <a:xfrm>
            <a:off x="2898648" y="6355080"/>
            <a:ext cx="3474720" cy="365760"/>
          </a:xfrm>
        </p:spPr>
        <p:txBody>
          <a:bodyPr/>
          <a:lstStyle/>
          <a:p>
            <a:endParaRPr lang="en-US">
              <a:solidFill>
                <a:srgbClr val="DDE9EC"/>
              </a:solidFill>
            </a:endParaRPr>
          </a:p>
        </p:txBody>
      </p:sp>
      <p:sp>
        <p:nvSpPr>
          <p:cNvPr id="6" name="Slide Number Placeholder 5"/>
          <p:cNvSpPr>
            <a:spLocks noGrp="1"/>
          </p:cNvSpPr>
          <p:nvPr>
            <p:ph type="sldNum" sz="quarter" idx="12"/>
          </p:nvPr>
        </p:nvSpPr>
        <p:spPr>
          <a:xfrm>
            <a:off x="1069848" y="6355080"/>
            <a:ext cx="1520952" cy="365760"/>
          </a:xfrm>
        </p:spPr>
        <p:txBody>
          <a:bodyPr/>
          <a:lstStyle/>
          <a:p>
            <a:fld id="{994B729A-5F0B-4B52-BE6D-A579B7D0035B}" type="slidenum">
              <a:rPr lang="en-US" smtClean="0">
                <a:solidFill>
                  <a:srgbClr val="DDE9EC"/>
                </a:solidFill>
              </a:rPr>
              <a:pPr/>
              <a:t>‹#›</a:t>
            </a:fld>
            <a:endParaRPr lang="en-US">
              <a:solidFill>
                <a:srgbClr val="DDE9EC"/>
              </a:solidFill>
            </a:endParaRPr>
          </a:p>
        </p:txBody>
      </p:sp>
      <p:sp>
        <p:nvSpPr>
          <p:cNvPr id="7" name="Rectangle 6"/>
          <p:cNvSpPr/>
          <p:nvPr/>
        </p:nvSpPr>
        <p:spPr>
          <a:xfrm>
            <a:off x="914400" y="2819400"/>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8" name="Rectangle 7"/>
          <p:cNvSpPr/>
          <p:nvPr/>
        </p:nvSpPr>
        <p:spPr>
          <a:xfrm>
            <a:off x="914400" y="2819400"/>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Tree>
    <p:extLst>
      <p:ext uri="{BB962C8B-B14F-4D97-AF65-F5344CB8AC3E}">
        <p14:creationId xmlns:p14="http://schemas.microsoft.com/office/powerpoint/2010/main" val="2193875661"/>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lstStyle/>
          <a:p>
            <a:r>
              <a:rPr kumimoji="0" lang="en-US"/>
              <a:t>Click to edit Master title style</a:t>
            </a:r>
          </a:p>
        </p:txBody>
      </p:sp>
      <p:sp>
        <p:nvSpPr>
          <p:cNvPr id="5" name="Date Placeholder 4"/>
          <p:cNvSpPr>
            <a:spLocks noGrp="1"/>
          </p:cNvSpPr>
          <p:nvPr>
            <p:ph type="dt" sz="half" idx="10"/>
          </p:nvPr>
        </p:nvSpPr>
        <p:spPr/>
        <p:txBody>
          <a:bodyPr/>
          <a:lstStyle/>
          <a:p>
            <a:fld id="{8B999E3D-45A9-497C-BEB0-B4F0C3D298AF}" type="datetimeFigureOut">
              <a:rPr lang="en-US" smtClean="0">
                <a:solidFill>
                  <a:srgbClr val="464653"/>
                </a:solidFill>
              </a:rPr>
              <a:pPr/>
              <a:t>9/8/2026</a:t>
            </a:fld>
            <a:endParaRPr lang="en-US">
              <a:solidFill>
                <a:srgbClr val="464653"/>
              </a:solidFill>
            </a:endParaRPr>
          </a:p>
        </p:txBody>
      </p:sp>
      <p:sp>
        <p:nvSpPr>
          <p:cNvPr id="6" name="Footer Placeholder 5"/>
          <p:cNvSpPr>
            <a:spLocks noGrp="1"/>
          </p:cNvSpPr>
          <p:nvPr>
            <p:ph type="ftr" sz="quarter" idx="11"/>
          </p:nvPr>
        </p:nvSpPr>
        <p:spPr/>
        <p:txBody>
          <a:bodyPr/>
          <a:lstStyle/>
          <a:p>
            <a:endParaRPr lang="en-US">
              <a:solidFill>
                <a:srgbClr val="464653"/>
              </a:solidFill>
            </a:endParaRPr>
          </a:p>
        </p:txBody>
      </p:sp>
      <p:sp>
        <p:nvSpPr>
          <p:cNvPr id="7" name="Slide Number Placeholder 6"/>
          <p:cNvSpPr>
            <a:spLocks noGrp="1"/>
          </p:cNvSpPr>
          <p:nvPr>
            <p:ph type="sldNum" sz="quarter" idx="12"/>
          </p:nvPr>
        </p:nvSpPr>
        <p:spPr/>
        <p:txBody>
          <a:bodyPr/>
          <a:lstStyle/>
          <a:p>
            <a:fld id="{994B729A-5F0B-4B52-BE6D-A579B7D0035B}" type="slidenum">
              <a:rPr lang="en-US" smtClean="0">
                <a:solidFill>
                  <a:srgbClr val="464653"/>
                </a:solidFill>
              </a:rPr>
              <a:pPr/>
              <a:t>‹#›</a:t>
            </a:fld>
            <a:endParaRPr lang="en-US">
              <a:solidFill>
                <a:srgbClr val="464653"/>
              </a:solidFill>
            </a:endParaRPr>
          </a:p>
        </p:txBody>
      </p:sp>
      <p:sp>
        <p:nvSpPr>
          <p:cNvPr id="9" name="Content Placeholder 8"/>
          <p:cNvSpPr>
            <a:spLocks noGrp="1"/>
          </p:cNvSpPr>
          <p:nvPr>
            <p:ph sz="quarter" idx="1"/>
          </p:nvPr>
        </p:nvSpPr>
        <p:spPr>
          <a:xfrm>
            <a:off x="457200" y="1219200"/>
            <a:ext cx="4041648"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4632198" y="1216152"/>
            <a:ext cx="4041648"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extLst>
      <p:ext uri="{BB962C8B-B14F-4D97-AF65-F5344CB8AC3E}">
        <p14:creationId xmlns:p14="http://schemas.microsoft.com/office/powerpoint/2010/main" val="4348224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nchor="ctr"/>
          <a:lstStyle>
            <a:lvl1pPr>
              <a:defRPr/>
            </a:lvl1pPr>
          </a:lstStyle>
          <a:p>
            <a:r>
              <a:rPr kumimoji="0" lang="en-US"/>
              <a:t>Click to edit Master title style</a:t>
            </a:r>
          </a:p>
        </p:txBody>
      </p:sp>
      <p:sp>
        <p:nvSpPr>
          <p:cNvPr id="3" name="Text Placeholder 2"/>
          <p:cNvSpPr>
            <a:spLocks noGrp="1"/>
          </p:cNvSpPr>
          <p:nvPr>
            <p:ph type="body" idx="1"/>
          </p:nvPr>
        </p:nvSpPr>
        <p:spPr>
          <a:xfrm>
            <a:off x="457200" y="1285875"/>
            <a:ext cx="4040188" cy="685800"/>
          </a:xfrm>
          <a:noFill/>
          <a:ln>
            <a:noFill/>
          </a:ln>
        </p:spPr>
        <p:txBody>
          <a:bodyPr lIns="91440" anchor="b" anchorCtr="0">
            <a:noAutofit/>
          </a:bodyPr>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48200" y="1295400"/>
            <a:ext cx="4041775" cy="685800"/>
          </a:xfrm>
          <a:noFill/>
          <a:ln>
            <a:noFill/>
          </a:ln>
        </p:spPr>
        <p:txBody>
          <a:bodyPr lIns="91440" anchor="b" anchorCtr="0"/>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7" name="Date Placeholder 6"/>
          <p:cNvSpPr>
            <a:spLocks noGrp="1"/>
          </p:cNvSpPr>
          <p:nvPr>
            <p:ph type="dt" sz="half" idx="10"/>
          </p:nvPr>
        </p:nvSpPr>
        <p:spPr/>
        <p:txBody>
          <a:bodyPr/>
          <a:lstStyle/>
          <a:p>
            <a:fld id="{8B999E3D-45A9-497C-BEB0-B4F0C3D298AF}" type="datetimeFigureOut">
              <a:rPr lang="en-US" smtClean="0">
                <a:solidFill>
                  <a:srgbClr val="464653"/>
                </a:solidFill>
              </a:rPr>
              <a:pPr/>
              <a:t>9/8/2026</a:t>
            </a:fld>
            <a:endParaRPr lang="en-US">
              <a:solidFill>
                <a:srgbClr val="464653"/>
              </a:solidFill>
            </a:endParaRPr>
          </a:p>
        </p:txBody>
      </p:sp>
      <p:sp>
        <p:nvSpPr>
          <p:cNvPr id="8" name="Footer Placeholder 7"/>
          <p:cNvSpPr>
            <a:spLocks noGrp="1"/>
          </p:cNvSpPr>
          <p:nvPr>
            <p:ph type="ftr" sz="quarter" idx="11"/>
          </p:nvPr>
        </p:nvSpPr>
        <p:spPr/>
        <p:txBody>
          <a:bodyPr/>
          <a:lstStyle/>
          <a:p>
            <a:endParaRPr lang="en-US">
              <a:solidFill>
                <a:srgbClr val="464653"/>
              </a:solidFill>
            </a:endParaRPr>
          </a:p>
        </p:txBody>
      </p:sp>
      <p:sp>
        <p:nvSpPr>
          <p:cNvPr id="9" name="Slide Number Placeholder 8"/>
          <p:cNvSpPr>
            <a:spLocks noGrp="1"/>
          </p:cNvSpPr>
          <p:nvPr>
            <p:ph type="sldNum" sz="quarter" idx="12"/>
          </p:nvPr>
        </p:nvSpPr>
        <p:spPr/>
        <p:txBody>
          <a:bodyPr/>
          <a:lstStyle/>
          <a:p>
            <a:fld id="{994B729A-5F0B-4B52-BE6D-A579B7D0035B}" type="slidenum">
              <a:rPr lang="en-US" smtClean="0">
                <a:solidFill>
                  <a:srgbClr val="464653"/>
                </a:solidFill>
              </a:rPr>
              <a:pPr/>
              <a:t>‹#›</a:t>
            </a:fld>
            <a:endParaRPr lang="en-US">
              <a:solidFill>
                <a:srgbClr val="464653"/>
              </a:solidFill>
            </a:endParaRPr>
          </a:p>
        </p:txBody>
      </p:sp>
      <p:sp>
        <p:nvSpPr>
          <p:cNvPr id="11" name="Content Placeholder 10"/>
          <p:cNvSpPr>
            <a:spLocks noGrp="1"/>
          </p:cNvSpPr>
          <p:nvPr>
            <p:ph sz="quarter" idx="2"/>
          </p:nvPr>
        </p:nvSpPr>
        <p:spPr>
          <a:xfrm>
            <a:off x="457200" y="2133600"/>
            <a:ext cx="4038600" cy="4038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quarter" idx="4"/>
          </p:nvPr>
        </p:nvSpPr>
        <p:spPr>
          <a:xfrm>
            <a:off x="4648200" y="2133600"/>
            <a:ext cx="4038600" cy="4038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extLst>
      <p:ext uri="{BB962C8B-B14F-4D97-AF65-F5344CB8AC3E}">
        <p14:creationId xmlns:p14="http://schemas.microsoft.com/office/powerpoint/2010/main" val="12921095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lstStyle/>
          <a:p>
            <a:r>
              <a:rPr kumimoji="0" lang="en-US"/>
              <a:t>Click to edit Master title style</a:t>
            </a:r>
          </a:p>
        </p:txBody>
      </p:sp>
      <p:sp>
        <p:nvSpPr>
          <p:cNvPr id="3" name="Date Placeholder 2"/>
          <p:cNvSpPr>
            <a:spLocks noGrp="1"/>
          </p:cNvSpPr>
          <p:nvPr>
            <p:ph type="dt" sz="half" idx="10"/>
          </p:nvPr>
        </p:nvSpPr>
        <p:spPr/>
        <p:txBody>
          <a:bodyPr/>
          <a:lstStyle/>
          <a:p>
            <a:fld id="{8B999E3D-45A9-497C-BEB0-B4F0C3D298AF}" type="datetimeFigureOut">
              <a:rPr lang="en-US" smtClean="0">
                <a:solidFill>
                  <a:srgbClr val="464653"/>
                </a:solidFill>
              </a:rPr>
              <a:pPr/>
              <a:t>9/8/2026</a:t>
            </a:fld>
            <a:endParaRPr lang="en-US">
              <a:solidFill>
                <a:srgbClr val="464653"/>
              </a:solidFill>
            </a:endParaRPr>
          </a:p>
        </p:txBody>
      </p:sp>
      <p:sp>
        <p:nvSpPr>
          <p:cNvPr id="4" name="Footer Placeholder 3"/>
          <p:cNvSpPr>
            <a:spLocks noGrp="1"/>
          </p:cNvSpPr>
          <p:nvPr>
            <p:ph type="ftr" sz="quarter" idx="11"/>
          </p:nvPr>
        </p:nvSpPr>
        <p:spPr/>
        <p:txBody>
          <a:bodyPr/>
          <a:lstStyle/>
          <a:p>
            <a:endParaRPr lang="en-US">
              <a:solidFill>
                <a:srgbClr val="464653"/>
              </a:solidFill>
            </a:endParaRPr>
          </a:p>
        </p:txBody>
      </p:sp>
      <p:sp>
        <p:nvSpPr>
          <p:cNvPr id="5" name="Slide Number Placeholder 4"/>
          <p:cNvSpPr>
            <a:spLocks noGrp="1"/>
          </p:cNvSpPr>
          <p:nvPr>
            <p:ph type="sldNum" sz="quarter" idx="12"/>
          </p:nvPr>
        </p:nvSpPr>
        <p:spPr/>
        <p:txBody>
          <a:bodyPr/>
          <a:lstStyle/>
          <a:p>
            <a:fld id="{994B729A-5F0B-4B52-BE6D-A579B7D0035B}" type="slidenum">
              <a:rPr lang="en-US" smtClean="0">
                <a:solidFill>
                  <a:srgbClr val="464653"/>
                </a:solidFill>
              </a:rPr>
              <a:pPr/>
              <a:t>‹#›</a:t>
            </a:fld>
            <a:endParaRPr lang="en-US">
              <a:solidFill>
                <a:srgbClr val="464653"/>
              </a:solidFill>
            </a:endParaRPr>
          </a:p>
        </p:txBody>
      </p:sp>
      <p:sp>
        <p:nvSpPr>
          <p:cNvPr id="6" name="Isosceles Triangle 5"/>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Tree>
    <p:extLst>
      <p:ext uri="{BB962C8B-B14F-4D97-AF65-F5344CB8AC3E}">
        <p14:creationId xmlns:p14="http://schemas.microsoft.com/office/powerpoint/2010/main" val="12035939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B999E3D-45A9-497C-BEB0-B4F0C3D298AF}" type="datetimeFigureOut">
              <a:rPr lang="en-US" smtClean="0">
                <a:solidFill>
                  <a:srgbClr val="464653"/>
                </a:solidFill>
              </a:rPr>
              <a:pPr/>
              <a:t>9/8/2026</a:t>
            </a:fld>
            <a:endParaRPr lang="en-US">
              <a:solidFill>
                <a:srgbClr val="464653"/>
              </a:solidFill>
            </a:endParaRPr>
          </a:p>
        </p:txBody>
      </p:sp>
      <p:sp>
        <p:nvSpPr>
          <p:cNvPr id="3" name="Footer Placeholder 2"/>
          <p:cNvSpPr>
            <a:spLocks noGrp="1"/>
          </p:cNvSpPr>
          <p:nvPr>
            <p:ph type="ftr" sz="quarter" idx="11"/>
          </p:nvPr>
        </p:nvSpPr>
        <p:spPr/>
        <p:txBody>
          <a:bodyPr/>
          <a:lstStyle/>
          <a:p>
            <a:endParaRPr lang="en-US">
              <a:solidFill>
                <a:srgbClr val="464653"/>
              </a:solidFill>
            </a:endParaRPr>
          </a:p>
        </p:txBody>
      </p:sp>
      <p:sp>
        <p:nvSpPr>
          <p:cNvPr id="4" name="Slide Number Placeholder 3"/>
          <p:cNvSpPr>
            <a:spLocks noGrp="1"/>
          </p:cNvSpPr>
          <p:nvPr>
            <p:ph type="sldNum" sz="quarter" idx="12"/>
          </p:nvPr>
        </p:nvSpPr>
        <p:spPr/>
        <p:txBody>
          <a:bodyPr/>
          <a:lstStyle/>
          <a:p>
            <a:fld id="{994B729A-5F0B-4B52-BE6D-A579B7D0035B}" type="slidenum">
              <a:rPr lang="en-US" smtClean="0">
                <a:solidFill>
                  <a:srgbClr val="464653"/>
                </a:solidFill>
              </a:rPr>
              <a:pPr/>
              <a:t>‹#›</a:t>
            </a:fld>
            <a:endParaRPr lang="en-US">
              <a:solidFill>
                <a:srgbClr val="464653"/>
              </a:solidFill>
            </a:endParaRPr>
          </a:p>
        </p:txBody>
      </p:sp>
      <p:sp>
        <p:nvSpPr>
          <p:cNvPr id="5" name="Straight Connector 4"/>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lang="en-US">
              <a:solidFill>
                <a:prstClr val="black"/>
              </a:solidFill>
            </a:endParaRPr>
          </a:p>
        </p:txBody>
      </p:sp>
      <p:sp>
        <p:nvSpPr>
          <p:cNvPr id="6" name="Isosceles Triangle 5"/>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Tree>
    <p:extLst>
      <p:ext uri="{BB962C8B-B14F-4D97-AF65-F5344CB8AC3E}">
        <p14:creationId xmlns:p14="http://schemas.microsoft.com/office/powerpoint/2010/main" val="31947870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24600" y="304800"/>
            <a:ext cx="2514600" cy="838200"/>
          </a:xfrm>
        </p:spPr>
        <p:txBody>
          <a:bodyPr anchor="b" anchorCtr="0">
            <a:noAutofit/>
          </a:bodyPr>
          <a:lstStyle>
            <a:lvl1pPr algn="l">
              <a:buNone/>
              <a:defRPr sz="2000" b="1">
                <a:solidFill>
                  <a:schemeClr val="tx2"/>
                </a:solidFill>
                <a:latin typeface="+mn-lt"/>
                <a:ea typeface="+mn-ea"/>
                <a:cs typeface="+mn-cs"/>
              </a:defRPr>
            </a:lvl1pPr>
          </a:lstStyle>
          <a:p>
            <a:r>
              <a:rPr kumimoji="0" lang="en-US"/>
              <a:t>Click to edit Master title style</a:t>
            </a:r>
          </a:p>
        </p:txBody>
      </p:sp>
      <p:sp>
        <p:nvSpPr>
          <p:cNvPr id="3" name="Text Placeholder 2"/>
          <p:cNvSpPr>
            <a:spLocks noGrp="1"/>
          </p:cNvSpPr>
          <p:nvPr>
            <p:ph type="body" idx="2"/>
          </p:nvPr>
        </p:nvSpPr>
        <p:spPr>
          <a:xfrm>
            <a:off x="6324600" y="1219200"/>
            <a:ext cx="2514600" cy="4843463"/>
          </a:xfrm>
        </p:spPr>
        <p:txBody>
          <a:bodyPr/>
          <a:lstStyle>
            <a:lvl1pPr marL="0" indent="0">
              <a:lnSpc>
                <a:spcPts val="2200"/>
              </a:lnSpc>
              <a:spcAft>
                <a:spcPts val="1000"/>
              </a:spcAft>
              <a:buNone/>
              <a:defRPr sz="1600">
                <a:solidFill>
                  <a:schemeClr val="tx2"/>
                </a:solidFill>
              </a:defRPr>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8B999E3D-45A9-497C-BEB0-B4F0C3D298AF}" type="datetimeFigureOut">
              <a:rPr lang="en-US" smtClean="0">
                <a:solidFill>
                  <a:srgbClr val="464653"/>
                </a:solidFill>
              </a:rPr>
              <a:pPr/>
              <a:t>9/8/2026</a:t>
            </a:fld>
            <a:endParaRPr lang="en-US">
              <a:solidFill>
                <a:srgbClr val="464653"/>
              </a:solidFill>
            </a:endParaRPr>
          </a:p>
        </p:txBody>
      </p:sp>
      <p:sp>
        <p:nvSpPr>
          <p:cNvPr id="6" name="Footer Placeholder 5"/>
          <p:cNvSpPr>
            <a:spLocks noGrp="1"/>
          </p:cNvSpPr>
          <p:nvPr>
            <p:ph type="ftr" sz="quarter" idx="11"/>
          </p:nvPr>
        </p:nvSpPr>
        <p:spPr/>
        <p:txBody>
          <a:bodyPr/>
          <a:lstStyle/>
          <a:p>
            <a:endParaRPr lang="en-US">
              <a:solidFill>
                <a:srgbClr val="464653"/>
              </a:solidFill>
            </a:endParaRPr>
          </a:p>
        </p:txBody>
      </p:sp>
      <p:sp>
        <p:nvSpPr>
          <p:cNvPr id="7" name="Slide Number Placeholder 6"/>
          <p:cNvSpPr>
            <a:spLocks noGrp="1"/>
          </p:cNvSpPr>
          <p:nvPr>
            <p:ph type="sldNum" sz="quarter" idx="12"/>
          </p:nvPr>
        </p:nvSpPr>
        <p:spPr/>
        <p:txBody>
          <a:bodyPr/>
          <a:lstStyle/>
          <a:p>
            <a:fld id="{994B729A-5F0B-4B52-BE6D-A579B7D0035B}" type="slidenum">
              <a:rPr lang="en-US" smtClean="0">
                <a:solidFill>
                  <a:srgbClr val="464653"/>
                </a:solidFill>
              </a:rPr>
              <a:pPr/>
              <a:t>‹#›</a:t>
            </a:fld>
            <a:endParaRPr lang="en-US">
              <a:solidFill>
                <a:srgbClr val="464653"/>
              </a:solidFill>
            </a:endParaRPr>
          </a:p>
        </p:txBody>
      </p:sp>
      <p:sp>
        <p:nvSpPr>
          <p:cNvPr id="8" name="Straight Connector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lang="en-US">
              <a:solidFill>
                <a:prstClr val="black"/>
              </a:solidFill>
            </a:endParaRPr>
          </a:p>
        </p:txBody>
      </p:sp>
      <p:sp>
        <p:nvSpPr>
          <p:cNvPr id="10" name="Straight Connector 9"/>
          <p:cNvSpPr>
            <a:spLocks noChangeShapeType="1"/>
          </p:cNvSpPr>
          <p:nvPr/>
        </p:nvSpPr>
        <p:spPr bwMode="auto">
          <a:xfrm rot="5400000">
            <a:off x="3160645" y="3324225"/>
            <a:ext cx="603504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lang="en-US" dirty="0">
              <a:solidFill>
                <a:prstClr val="black"/>
              </a:solidFill>
            </a:endParaRPr>
          </a:p>
        </p:txBody>
      </p:sp>
      <p:sp>
        <p:nvSpPr>
          <p:cNvPr id="9" name="Isosceles Triangle 8"/>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12" name="Content Placeholder 11"/>
          <p:cNvSpPr>
            <a:spLocks noGrp="1"/>
          </p:cNvSpPr>
          <p:nvPr>
            <p:ph sz="quarter" idx="1"/>
          </p:nvPr>
        </p:nvSpPr>
        <p:spPr>
          <a:xfrm>
            <a:off x="304800" y="304800"/>
            <a:ext cx="5715000" cy="5715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extLst>
      <p:ext uri="{BB962C8B-B14F-4D97-AF65-F5344CB8AC3E}">
        <p14:creationId xmlns:p14="http://schemas.microsoft.com/office/powerpoint/2010/main" val="18037449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500856"/>
            <a:ext cx="8229600" cy="674688"/>
          </a:xfrm>
          <a:ln>
            <a:solidFill>
              <a:schemeClr val="accent1"/>
            </a:solidFill>
          </a:ln>
        </p:spPr>
        <p:txBody>
          <a:bodyPr lIns="274320" anchor="ctr"/>
          <a:lstStyle>
            <a:lvl1pPr algn="r">
              <a:buNone/>
              <a:defRPr sz="2000" b="0">
                <a:solidFill>
                  <a:schemeClr val="tx1"/>
                </a:solidFill>
              </a:defRPr>
            </a:lvl1pPr>
          </a:lstStyle>
          <a:p>
            <a:r>
              <a:rPr kumimoji="0" lang="en-US"/>
              <a:t>Click to edit Master title style</a:t>
            </a:r>
          </a:p>
        </p:txBody>
      </p:sp>
      <p:sp>
        <p:nvSpPr>
          <p:cNvPr id="3" name="Picture Placeholder 2"/>
          <p:cNvSpPr>
            <a:spLocks noGrp="1"/>
          </p:cNvSpPr>
          <p:nvPr>
            <p:ph type="pic" idx="1"/>
          </p:nvPr>
        </p:nvSpPr>
        <p:spPr>
          <a:xfrm>
            <a:off x="457200" y="1905000"/>
            <a:ext cx="8229600" cy="4270248"/>
          </a:xfrm>
          <a:solidFill>
            <a:schemeClr val="tx1">
              <a:shade val="50000"/>
            </a:schemeClr>
          </a:solidFill>
          <a:ln>
            <a:noFill/>
          </a:ln>
          <a:effectLst/>
        </p:spPr>
        <p:txBody>
          <a:bodyPr/>
          <a:lstStyle>
            <a:lvl1pPr marL="0" indent="0">
              <a:spcBef>
                <a:spcPts val="600"/>
              </a:spcBef>
              <a:buNone/>
              <a:defRPr sz="3200"/>
            </a:lvl1pPr>
          </a:lstStyle>
          <a:p>
            <a:r>
              <a:rPr kumimoji="0" lang="en-US"/>
              <a:t>Click icon to add picture</a:t>
            </a:r>
            <a:endParaRPr kumimoji="0" lang="en-US" dirty="0"/>
          </a:p>
        </p:txBody>
      </p:sp>
      <p:sp>
        <p:nvSpPr>
          <p:cNvPr id="4" name="Text Placeholder 3"/>
          <p:cNvSpPr>
            <a:spLocks noGrp="1"/>
          </p:cNvSpPr>
          <p:nvPr>
            <p:ph type="body" sz="half" idx="2"/>
          </p:nvPr>
        </p:nvSpPr>
        <p:spPr>
          <a:xfrm>
            <a:off x="457200" y="1219200"/>
            <a:ext cx="8229600" cy="533400"/>
          </a:xfrm>
        </p:spPr>
        <p:txBody>
          <a:bodyPr anchor="ctr" anchorCtr="0"/>
          <a:lstStyle>
            <a:lvl1pPr marL="0" indent="0" algn="l">
              <a:buFontTx/>
              <a:buNone/>
              <a:defRPr sz="14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8B999E3D-45A9-497C-BEB0-B4F0C3D298AF}" type="datetimeFigureOut">
              <a:rPr lang="en-US" smtClean="0">
                <a:solidFill>
                  <a:srgbClr val="DDE9EC"/>
                </a:solidFill>
              </a:rPr>
              <a:pPr/>
              <a:t>9/8/2026</a:t>
            </a:fld>
            <a:endParaRPr lang="en-US">
              <a:solidFill>
                <a:srgbClr val="DDE9EC"/>
              </a:solidFill>
            </a:endParaRPr>
          </a:p>
        </p:txBody>
      </p:sp>
      <p:sp>
        <p:nvSpPr>
          <p:cNvPr id="6" name="Footer Placeholder 5"/>
          <p:cNvSpPr>
            <a:spLocks noGrp="1"/>
          </p:cNvSpPr>
          <p:nvPr>
            <p:ph type="ftr" sz="quarter" idx="11"/>
          </p:nvPr>
        </p:nvSpPr>
        <p:spPr/>
        <p:txBody>
          <a:bodyPr/>
          <a:lstStyle/>
          <a:p>
            <a:endParaRPr lang="en-US">
              <a:solidFill>
                <a:srgbClr val="DDE9EC"/>
              </a:solidFill>
            </a:endParaRPr>
          </a:p>
        </p:txBody>
      </p:sp>
      <p:sp>
        <p:nvSpPr>
          <p:cNvPr id="7" name="Slide Number Placeholder 6"/>
          <p:cNvSpPr>
            <a:spLocks noGrp="1"/>
          </p:cNvSpPr>
          <p:nvPr>
            <p:ph type="sldNum" sz="quarter" idx="12"/>
          </p:nvPr>
        </p:nvSpPr>
        <p:spPr/>
        <p:txBody>
          <a:bodyPr/>
          <a:lstStyle/>
          <a:p>
            <a:fld id="{994B729A-5F0B-4B52-BE6D-A579B7D0035B}" type="slidenum">
              <a:rPr lang="en-US" smtClean="0">
                <a:solidFill>
                  <a:srgbClr val="DDE9EC"/>
                </a:solidFill>
              </a:rPr>
              <a:pPr/>
              <a:t>‹#›</a:t>
            </a:fld>
            <a:endParaRPr lang="en-US">
              <a:solidFill>
                <a:srgbClr val="DDE9EC"/>
              </a:solidFill>
            </a:endParaRPr>
          </a:p>
        </p:txBody>
      </p:sp>
      <p:sp>
        <p:nvSpPr>
          <p:cNvPr id="8" name="Straight Connector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lang="en-US">
              <a:solidFill>
                <a:prstClr val="white"/>
              </a:solidFill>
            </a:endParaRPr>
          </a:p>
        </p:txBody>
      </p:sp>
      <p:sp>
        <p:nvSpPr>
          <p:cNvPr id="9" name="Isosceles Triangle 8"/>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10" name="Rectangle 9"/>
          <p:cNvSpPr/>
          <p:nvPr/>
        </p:nvSpPr>
        <p:spPr>
          <a:xfrm>
            <a:off x="457200" y="500856"/>
            <a:ext cx="182880" cy="68580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Tree>
    <p:extLst>
      <p:ext uri="{BB962C8B-B14F-4D97-AF65-F5344CB8AC3E}">
        <p14:creationId xmlns:p14="http://schemas.microsoft.com/office/powerpoint/2010/main" val="3191128264"/>
      </p:ext>
    </p:extLst>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8B999E3D-45A9-497C-BEB0-B4F0C3D298AF}" type="datetimeFigureOut">
              <a:rPr lang="en-US" smtClean="0">
                <a:solidFill>
                  <a:srgbClr val="464653"/>
                </a:solidFill>
              </a:rPr>
              <a:pPr/>
              <a:t>9/8/2026</a:t>
            </a:fld>
            <a:endParaRPr lang="en-US">
              <a:solidFill>
                <a:srgbClr val="464653"/>
              </a:solidFill>
            </a:endParaRPr>
          </a:p>
        </p:txBody>
      </p:sp>
      <p:sp>
        <p:nvSpPr>
          <p:cNvPr id="5" name="Footer Placeholder 4"/>
          <p:cNvSpPr>
            <a:spLocks noGrp="1"/>
          </p:cNvSpPr>
          <p:nvPr>
            <p:ph type="ftr" sz="quarter" idx="11"/>
          </p:nvPr>
        </p:nvSpPr>
        <p:spPr/>
        <p:txBody>
          <a:bodyPr/>
          <a:lstStyle/>
          <a:p>
            <a:endParaRPr lang="en-US">
              <a:solidFill>
                <a:srgbClr val="464653"/>
              </a:solidFill>
            </a:endParaRPr>
          </a:p>
        </p:txBody>
      </p:sp>
      <p:sp>
        <p:nvSpPr>
          <p:cNvPr id="6" name="Slide Number Placeholder 5"/>
          <p:cNvSpPr>
            <a:spLocks noGrp="1"/>
          </p:cNvSpPr>
          <p:nvPr>
            <p:ph type="sldNum" sz="quarter" idx="12"/>
          </p:nvPr>
        </p:nvSpPr>
        <p:spPr/>
        <p:txBody>
          <a:bodyPr/>
          <a:lstStyle/>
          <a:p>
            <a:fld id="{994B729A-5F0B-4B52-BE6D-A579B7D0035B}" type="slidenum">
              <a:rPr lang="en-US" smtClean="0">
                <a:solidFill>
                  <a:srgbClr val="464653"/>
                </a:solidFill>
              </a:rPr>
              <a:pPr/>
              <a:t>‹#›</a:t>
            </a:fld>
            <a:endParaRPr lang="en-US">
              <a:solidFill>
                <a:srgbClr val="464653"/>
              </a:solidFill>
            </a:endParaRPr>
          </a:p>
        </p:txBody>
      </p:sp>
    </p:spTree>
    <p:extLst>
      <p:ext uri="{BB962C8B-B14F-4D97-AF65-F5344CB8AC3E}">
        <p14:creationId xmlns:p14="http://schemas.microsoft.com/office/powerpoint/2010/main" val="25915765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8B999E3D-45A9-497C-BEB0-B4F0C3D298AF}" type="datetimeFigureOut">
              <a:rPr lang="en-US" smtClean="0">
                <a:solidFill>
                  <a:srgbClr val="464653"/>
                </a:solidFill>
              </a:rPr>
              <a:pPr/>
              <a:t>9/8/2026</a:t>
            </a:fld>
            <a:endParaRPr lang="en-US">
              <a:solidFill>
                <a:srgbClr val="464653"/>
              </a:solidFill>
            </a:endParaRPr>
          </a:p>
        </p:txBody>
      </p:sp>
      <p:sp>
        <p:nvSpPr>
          <p:cNvPr id="5" name="Footer Placeholder 4"/>
          <p:cNvSpPr>
            <a:spLocks noGrp="1"/>
          </p:cNvSpPr>
          <p:nvPr>
            <p:ph type="ftr" sz="quarter" idx="11"/>
          </p:nvPr>
        </p:nvSpPr>
        <p:spPr/>
        <p:txBody>
          <a:bodyPr/>
          <a:lstStyle/>
          <a:p>
            <a:endParaRPr lang="en-US">
              <a:solidFill>
                <a:srgbClr val="464653"/>
              </a:solidFill>
            </a:endParaRPr>
          </a:p>
        </p:txBody>
      </p:sp>
      <p:sp>
        <p:nvSpPr>
          <p:cNvPr id="6" name="Slide Number Placeholder 5"/>
          <p:cNvSpPr>
            <a:spLocks noGrp="1"/>
          </p:cNvSpPr>
          <p:nvPr>
            <p:ph type="sldNum" sz="quarter" idx="12"/>
          </p:nvPr>
        </p:nvSpPr>
        <p:spPr/>
        <p:txBody>
          <a:bodyPr/>
          <a:lstStyle/>
          <a:p>
            <a:fld id="{994B729A-5F0B-4B52-BE6D-A579B7D0035B}" type="slidenum">
              <a:rPr lang="en-US" smtClean="0">
                <a:solidFill>
                  <a:srgbClr val="464653"/>
                </a:solidFill>
              </a:rPr>
              <a:pPr/>
              <a:t>‹#›</a:t>
            </a:fld>
            <a:endParaRPr lang="en-US">
              <a:solidFill>
                <a:srgbClr val="464653"/>
              </a:solidFill>
            </a:endParaRPr>
          </a:p>
        </p:txBody>
      </p:sp>
      <p:sp>
        <p:nvSpPr>
          <p:cNvPr id="7" name="Straight Connector 6"/>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lang="en-US">
              <a:solidFill>
                <a:prstClr val="black"/>
              </a:solidFill>
            </a:endParaRPr>
          </a:p>
        </p:txBody>
      </p:sp>
      <p:sp>
        <p:nvSpPr>
          <p:cNvPr id="8" name="Isosceles Triangle 7"/>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9" name="Straight Connector 8"/>
          <p:cNvSpPr>
            <a:spLocks noChangeShapeType="1"/>
          </p:cNvSpPr>
          <p:nvPr/>
        </p:nvSpPr>
        <p:spPr bwMode="auto">
          <a:xfrm rot="5400000">
            <a:off x="3629607" y="3201952"/>
            <a:ext cx="585216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lang="en-US">
              <a:solidFill>
                <a:prstClr val="black"/>
              </a:solidFill>
            </a:endParaRPr>
          </a:p>
        </p:txBody>
      </p:sp>
    </p:spTree>
    <p:extLst>
      <p:ext uri="{BB962C8B-B14F-4D97-AF65-F5344CB8AC3E}">
        <p14:creationId xmlns:p14="http://schemas.microsoft.com/office/powerpoint/2010/main" val="21583940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1524000" y="190500"/>
            <a:ext cx="7010400" cy="1527175"/>
          </a:xfrm>
        </p:spPr>
        <p:txBody>
          <a:bodyPr/>
          <a:lstStyle/>
          <a:p>
            <a:r>
              <a:rPr lang="en-US"/>
              <a:t>Click to edit Master title style</a:t>
            </a:r>
          </a:p>
        </p:txBody>
      </p:sp>
      <p:sp>
        <p:nvSpPr>
          <p:cNvPr id="3" name="Table Placeholder 2"/>
          <p:cNvSpPr>
            <a:spLocks noGrp="1"/>
          </p:cNvSpPr>
          <p:nvPr>
            <p:ph type="tbl" idx="1"/>
          </p:nvPr>
        </p:nvSpPr>
        <p:spPr>
          <a:xfrm>
            <a:off x="1524000" y="1905000"/>
            <a:ext cx="7010400" cy="4114800"/>
          </a:xfrm>
        </p:spPr>
        <p:txBody>
          <a:bodyPr>
            <a:normAutofit/>
          </a:bodyPr>
          <a:lstStyle/>
          <a:p>
            <a:pPr lvl="0"/>
            <a:endParaRPr lang="en-US" noProof="0"/>
          </a:p>
        </p:txBody>
      </p:sp>
      <p:sp>
        <p:nvSpPr>
          <p:cNvPr id="4" name="Date Placeholder 13"/>
          <p:cNvSpPr>
            <a:spLocks noGrp="1"/>
          </p:cNvSpPr>
          <p:nvPr>
            <p:ph type="dt" sz="half" idx="10"/>
          </p:nvPr>
        </p:nvSpPr>
        <p:spPr/>
        <p:txBody>
          <a:bodyPr/>
          <a:lstStyle>
            <a:lvl1pPr>
              <a:defRPr/>
            </a:lvl1pPr>
          </a:lstStyle>
          <a:p>
            <a:pPr>
              <a:defRPr/>
            </a:pPr>
            <a:endParaRPr lang="en-US">
              <a:solidFill>
                <a:srgbClr val="464653"/>
              </a:solidFill>
            </a:endParaRPr>
          </a:p>
        </p:txBody>
      </p:sp>
      <p:sp>
        <p:nvSpPr>
          <p:cNvPr id="5" name="Footer Placeholder 2"/>
          <p:cNvSpPr>
            <a:spLocks noGrp="1"/>
          </p:cNvSpPr>
          <p:nvPr>
            <p:ph type="ftr" sz="quarter" idx="11"/>
          </p:nvPr>
        </p:nvSpPr>
        <p:spPr/>
        <p:txBody>
          <a:bodyPr/>
          <a:lstStyle>
            <a:lvl1pPr>
              <a:defRPr/>
            </a:lvl1pPr>
          </a:lstStyle>
          <a:p>
            <a:pPr>
              <a:defRPr/>
            </a:pPr>
            <a:endParaRPr lang="en-US">
              <a:solidFill>
                <a:srgbClr val="464653"/>
              </a:solidFill>
            </a:endParaRPr>
          </a:p>
        </p:txBody>
      </p:sp>
      <p:sp>
        <p:nvSpPr>
          <p:cNvPr id="6" name="Slide Number Placeholder 22"/>
          <p:cNvSpPr>
            <a:spLocks noGrp="1"/>
          </p:cNvSpPr>
          <p:nvPr>
            <p:ph type="sldNum" sz="quarter" idx="12"/>
          </p:nvPr>
        </p:nvSpPr>
        <p:spPr/>
        <p:txBody>
          <a:bodyPr/>
          <a:lstStyle>
            <a:lvl1pPr>
              <a:defRPr/>
            </a:lvl1pPr>
          </a:lstStyle>
          <a:p>
            <a:pPr>
              <a:defRPr/>
            </a:pPr>
            <a:fld id="{DF14308C-09F3-41F1-86D1-785A210D56D2}" type="slidenum">
              <a:rPr lang="en-US">
                <a:solidFill>
                  <a:srgbClr val="464653"/>
                </a:solidFill>
              </a:rPr>
              <a:pPr>
                <a:defRPr/>
              </a:pPr>
              <a:t>‹#›</a:t>
            </a:fld>
            <a:endParaRPr lang="en-US">
              <a:solidFill>
                <a:srgbClr val="464653"/>
              </a:solidFill>
            </a:endParaRPr>
          </a:p>
        </p:txBody>
      </p:sp>
    </p:spTree>
    <p:extLst>
      <p:ext uri="{BB962C8B-B14F-4D97-AF65-F5344CB8AC3E}">
        <p14:creationId xmlns:p14="http://schemas.microsoft.com/office/powerpoint/2010/main" val="7162778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457200" y="152400"/>
            <a:ext cx="8229600" cy="990600"/>
          </a:xfrm>
          <a:prstGeom prst="rect">
            <a:avLst/>
          </a:prstGeom>
        </p:spPr>
        <p:txBody>
          <a:bodyPr vert="horz" anchor="b" anchorCtr="0">
            <a:normAutofit/>
          </a:bodyPr>
          <a:lstStyle/>
          <a:p>
            <a:r>
              <a:rPr kumimoji="0" lang="en-US"/>
              <a:t>Click to edit Master title style</a:t>
            </a:r>
          </a:p>
        </p:txBody>
      </p:sp>
      <p:sp>
        <p:nvSpPr>
          <p:cNvPr id="13" name="Text Placeholder 12"/>
          <p:cNvSpPr>
            <a:spLocks noGrp="1"/>
          </p:cNvSpPr>
          <p:nvPr>
            <p:ph type="body" idx="1"/>
          </p:nvPr>
        </p:nvSpPr>
        <p:spPr>
          <a:xfrm>
            <a:off x="457200" y="1219200"/>
            <a:ext cx="8229600" cy="4910328"/>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6400800" y="6356350"/>
            <a:ext cx="2289048" cy="365760"/>
          </a:xfrm>
          <a:prstGeom prst="rect">
            <a:avLst/>
          </a:prstGeom>
        </p:spPr>
        <p:txBody>
          <a:bodyPr vert="horz"/>
          <a:lstStyle>
            <a:lvl1pPr algn="l" eaLnBrk="1" latinLnBrk="0" hangingPunct="1">
              <a:defRPr kumimoji="0" sz="1400">
                <a:solidFill>
                  <a:schemeClr val="tx2"/>
                </a:solidFill>
              </a:defRPr>
            </a:lvl1pPr>
          </a:lstStyle>
          <a:p>
            <a:fld id="{8B999E3D-45A9-497C-BEB0-B4F0C3D298AF}" type="datetimeFigureOut">
              <a:rPr lang="en-US" smtClean="0">
                <a:solidFill>
                  <a:srgbClr val="464653"/>
                </a:solidFill>
              </a:rPr>
              <a:pPr/>
              <a:t>9/8/2026</a:t>
            </a:fld>
            <a:endParaRPr lang="en-US">
              <a:solidFill>
                <a:srgbClr val="464653"/>
              </a:solidFill>
            </a:endParaRPr>
          </a:p>
        </p:txBody>
      </p:sp>
      <p:sp>
        <p:nvSpPr>
          <p:cNvPr id="3" name="Footer Placeholder 2"/>
          <p:cNvSpPr>
            <a:spLocks noGrp="1"/>
          </p:cNvSpPr>
          <p:nvPr>
            <p:ph type="ftr" sz="quarter" idx="3"/>
          </p:nvPr>
        </p:nvSpPr>
        <p:spPr>
          <a:xfrm>
            <a:off x="2898648" y="6356350"/>
            <a:ext cx="3505200" cy="365760"/>
          </a:xfrm>
          <a:prstGeom prst="rect">
            <a:avLst/>
          </a:prstGeom>
        </p:spPr>
        <p:txBody>
          <a:bodyPr vert="horz"/>
          <a:lstStyle>
            <a:lvl1pPr algn="r" eaLnBrk="1" latinLnBrk="0" hangingPunct="1">
              <a:defRPr kumimoji="0" sz="1400">
                <a:solidFill>
                  <a:schemeClr val="tx2"/>
                </a:solidFill>
              </a:defRPr>
            </a:lvl1pPr>
          </a:lstStyle>
          <a:p>
            <a:endParaRPr lang="en-US">
              <a:solidFill>
                <a:srgbClr val="464653"/>
              </a:solidFill>
            </a:endParaRPr>
          </a:p>
        </p:txBody>
      </p:sp>
      <p:sp>
        <p:nvSpPr>
          <p:cNvPr id="23" name="Slide Number Placeholder 22"/>
          <p:cNvSpPr>
            <a:spLocks noGrp="1"/>
          </p:cNvSpPr>
          <p:nvPr>
            <p:ph type="sldNum" sz="quarter" idx="4"/>
          </p:nvPr>
        </p:nvSpPr>
        <p:spPr>
          <a:xfrm>
            <a:off x="612648" y="6356350"/>
            <a:ext cx="1981200" cy="365760"/>
          </a:xfrm>
          <a:prstGeom prst="rect">
            <a:avLst/>
          </a:prstGeom>
        </p:spPr>
        <p:txBody>
          <a:bodyPr vert="horz"/>
          <a:lstStyle>
            <a:lvl1pPr algn="l" eaLnBrk="1" latinLnBrk="0" hangingPunct="1">
              <a:defRPr kumimoji="0" sz="1400">
                <a:solidFill>
                  <a:schemeClr val="tx2"/>
                </a:solidFill>
              </a:defRPr>
            </a:lvl1pPr>
          </a:lstStyle>
          <a:p>
            <a:fld id="{994B729A-5F0B-4B52-BE6D-A579B7D0035B}" type="slidenum">
              <a:rPr lang="en-US" smtClean="0">
                <a:solidFill>
                  <a:srgbClr val="464653"/>
                </a:solidFill>
              </a:rPr>
              <a:pPr/>
              <a:t>‹#›</a:t>
            </a:fld>
            <a:endParaRPr lang="en-US">
              <a:solidFill>
                <a:srgbClr val="464653"/>
              </a:solidFill>
            </a:endParaRPr>
          </a:p>
        </p:txBody>
      </p:sp>
      <p:sp>
        <p:nvSpPr>
          <p:cNvPr id="28" name="Straight Connector 2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lang="en-US">
              <a:solidFill>
                <a:prstClr val="black"/>
              </a:solidFill>
            </a:endParaRPr>
          </a:p>
        </p:txBody>
      </p:sp>
      <p:sp>
        <p:nvSpPr>
          <p:cNvPr id="29" name="Straight Connector 28"/>
          <p:cNvSpPr>
            <a:spLocks noChangeShapeType="1"/>
          </p:cNvSpPr>
          <p:nvPr/>
        </p:nvSpPr>
        <p:spPr bwMode="auto">
          <a:xfrm>
            <a:off x="457200" y="1143000"/>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lang="en-US">
              <a:solidFill>
                <a:prstClr val="black"/>
              </a:solidFill>
            </a:endParaRPr>
          </a:p>
        </p:txBody>
      </p:sp>
      <p:sp>
        <p:nvSpPr>
          <p:cNvPr id="10" name="Isosceles Triangle 9"/>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Tree>
    <p:extLst>
      <p:ext uri="{BB962C8B-B14F-4D97-AF65-F5344CB8AC3E}">
        <p14:creationId xmlns:p14="http://schemas.microsoft.com/office/powerpoint/2010/main" val="55539324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xStyles>
    <p:titleStyle>
      <a:lvl1pPr algn="l" rtl="0" eaLnBrk="1" latinLnBrk="0" hangingPunct="1">
        <a:spcBef>
          <a:spcPct val="0"/>
        </a:spcBef>
        <a:buNone/>
        <a:defRPr kumimoji="0" sz="3200" kern="120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3"/>
          <p:cNvSpPr>
            <a:spLocks noGrp="1"/>
          </p:cNvSpPr>
          <p:nvPr>
            <p:ph type="ctrTitle"/>
          </p:nvPr>
        </p:nvSpPr>
        <p:spPr/>
        <p:txBody>
          <a:bodyPr>
            <a:normAutofit fontScale="90000"/>
          </a:bodyPr>
          <a:lstStyle/>
          <a:p>
            <a:pPr eaLnBrk="1" hangingPunct="1"/>
            <a:r>
              <a:rPr lang="en-US" altLang="en-US" dirty="0"/>
              <a:t>Class 5: Promissory estoppel and Restitution</a:t>
            </a:r>
            <a:br>
              <a:rPr lang="en-US" altLang="en-US" dirty="0"/>
            </a:br>
            <a:endParaRPr lang="en-US" altLang="en-US" dirty="0"/>
          </a:p>
        </p:txBody>
      </p:sp>
      <p:sp>
        <p:nvSpPr>
          <p:cNvPr id="10243" name="Subtitle 4"/>
          <p:cNvSpPr>
            <a:spLocks noGrp="1"/>
          </p:cNvSpPr>
          <p:nvPr>
            <p:ph type="subTitle" idx="1"/>
          </p:nvPr>
        </p:nvSpPr>
        <p:spPr/>
        <p:txBody>
          <a:bodyPr>
            <a:normAutofit/>
          </a:bodyPr>
          <a:lstStyle/>
          <a:p>
            <a:pPr eaLnBrk="1" fontAlgn="auto" hangingPunct="1">
              <a:spcAft>
                <a:spcPts val="0"/>
              </a:spcAft>
              <a:buFont typeface="Wingdings 3"/>
              <a:buNone/>
              <a:defRPr/>
            </a:pPr>
            <a:endParaRPr lang="en-US" dirty="0"/>
          </a:p>
        </p:txBody>
      </p:sp>
    </p:spTree>
    <p:extLst>
      <p:ext uri="{BB962C8B-B14F-4D97-AF65-F5344CB8AC3E}">
        <p14:creationId xmlns:p14="http://schemas.microsoft.com/office/powerpoint/2010/main" val="31529105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title"/>
          </p:nvPr>
        </p:nvSpPr>
        <p:spPr/>
        <p:txBody>
          <a:bodyPr/>
          <a:lstStyle/>
          <a:p>
            <a:pPr eaLnBrk="1" hangingPunct="1"/>
            <a:r>
              <a:rPr lang="en-US" altLang="en-US"/>
              <a:t>Topics</a:t>
            </a:r>
          </a:p>
        </p:txBody>
      </p:sp>
      <p:sp>
        <p:nvSpPr>
          <p:cNvPr id="10243" name="Content Placeholder 2"/>
          <p:cNvSpPr>
            <a:spLocks noGrp="1"/>
          </p:cNvSpPr>
          <p:nvPr>
            <p:ph sz="quarter" idx="1"/>
          </p:nvPr>
        </p:nvSpPr>
        <p:spPr>
          <a:xfrm>
            <a:off x="457200" y="1219200"/>
            <a:ext cx="8229600" cy="4937125"/>
          </a:xfrm>
        </p:spPr>
        <p:txBody>
          <a:bodyPr/>
          <a:lstStyle/>
          <a:p>
            <a:pPr eaLnBrk="1" hangingPunct="1"/>
            <a:r>
              <a:rPr lang="en-US" altLang="en-US" dirty="0"/>
              <a:t>Overview of restitution</a:t>
            </a:r>
          </a:p>
          <a:p>
            <a:pPr eaLnBrk="1" hangingPunct="1"/>
            <a:r>
              <a:rPr lang="en-US" altLang="en-US" dirty="0"/>
              <a:t>History of the doctrine of promissory estoppel</a:t>
            </a:r>
          </a:p>
          <a:p>
            <a:pPr eaLnBrk="1" hangingPunct="1"/>
            <a:r>
              <a:rPr lang="en-US" altLang="en-US" dirty="0"/>
              <a:t>Potential applications</a:t>
            </a:r>
          </a:p>
          <a:p>
            <a:pPr eaLnBrk="1" hangingPunct="1"/>
            <a:r>
              <a:rPr lang="en-US" altLang="en-US" dirty="0"/>
              <a:t>Elements of promissory estoppel, including remedies</a:t>
            </a:r>
          </a:p>
          <a:p>
            <a:pPr eaLnBrk="1" hangingPunct="1"/>
            <a:r>
              <a:rPr lang="en-US" altLang="en-US" dirty="0"/>
              <a:t>Differences between contract and promissory estoppel</a:t>
            </a:r>
          </a:p>
          <a:p>
            <a:pPr eaLnBrk="1" hangingPunct="1"/>
            <a:r>
              <a:rPr lang="en-US" altLang="en-US" dirty="0"/>
              <a:t>Justifications for the doctrine</a:t>
            </a:r>
          </a:p>
          <a:p>
            <a:pPr eaLnBrk="1" hangingPunct="1"/>
            <a:endParaRPr lang="en-US" altLang="en-US" dirty="0"/>
          </a:p>
        </p:txBody>
      </p:sp>
    </p:spTree>
    <p:extLst>
      <p:ext uri="{BB962C8B-B14F-4D97-AF65-F5344CB8AC3E}">
        <p14:creationId xmlns:p14="http://schemas.microsoft.com/office/powerpoint/2010/main" val="17404561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Overview of restitution</a:t>
            </a:r>
          </a:p>
        </p:txBody>
      </p:sp>
      <p:sp>
        <p:nvSpPr>
          <p:cNvPr id="3" name="Content Placeholder 2"/>
          <p:cNvSpPr>
            <a:spLocks noGrp="1"/>
          </p:cNvSpPr>
          <p:nvPr>
            <p:ph sz="quarter" idx="1"/>
          </p:nvPr>
        </p:nvSpPr>
        <p:spPr/>
        <p:txBody>
          <a:bodyPr>
            <a:normAutofit/>
          </a:bodyPr>
          <a:lstStyle/>
          <a:p>
            <a:r>
              <a:rPr lang="en-US" dirty="0"/>
              <a:t>Broad term for recovery based on unjust enrichment.</a:t>
            </a:r>
          </a:p>
          <a:p>
            <a:r>
              <a:rPr lang="en-US" dirty="0"/>
              <a:t>Commonly awarded in cases involving:</a:t>
            </a:r>
          </a:p>
          <a:p>
            <a:pPr lvl="1"/>
            <a:r>
              <a:rPr lang="en-US" dirty="0"/>
              <a:t>mistaken payments</a:t>
            </a:r>
          </a:p>
          <a:p>
            <a:pPr lvl="1"/>
            <a:r>
              <a:rPr lang="en-US" dirty="0"/>
              <a:t>implied contracts</a:t>
            </a:r>
          </a:p>
          <a:p>
            <a:pPr lvl="1"/>
            <a:r>
              <a:rPr lang="en-US" dirty="0"/>
              <a:t>contracts avoided on account of misrepresentation, etc.</a:t>
            </a:r>
          </a:p>
          <a:p>
            <a:pPr lvl="1"/>
            <a:r>
              <a:rPr lang="en-US" dirty="0"/>
              <a:t>contracts whose performance is excused on account of breach, impossibility, non-occurrence of a condition, etc.</a:t>
            </a:r>
          </a:p>
          <a:p>
            <a:r>
              <a:rPr lang="en-US" dirty="0"/>
              <a:t>Measure of recovery may be either the cost of the goods or services rendered, or the extent to which they increase the value of the defendant’s property or advance the defendant’s interests.</a:t>
            </a:r>
          </a:p>
          <a:p>
            <a:pPr marL="0" indent="0">
              <a:buNone/>
            </a:pPr>
            <a:endParaRPr lang="en-US" dirty="0"/>
          </a:p>
        </p:txBody>
      </p:sp>
    </p:spTree>
    <p:extLst>
      <p:ext uri="{BB962C8B-B14F-4D97-AF65-F5344CB8AC3E}">
        <p14:creationId xmlns:p14="http://schemas.microsoft.com/office/powerpoint/2010/main" val="42706759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p:cNvSpPr>
            <a:spLocks noGrp="1"/>
          </p:cNvSpPr>
          <p:nvPr>
            <p:ph type="title"/>
          </p:nvPr>
        </p:nvSpPr>
        <p:spPr/>
        <p:txBody>
          <a:bodyPr/>
          <a:lstStyle/>
          <a:p>
            <a:r>
              <a:rPr lang="en-US" altLang="en-US" dirty="0"/>
              <a:t>History of promissory estoppel</a:t>
            </a:r>
          </a:p>
        </p:txBody>
      </p:sp>
      <p:sp>
        <p:nvSpPr>
          <p:cNvPr id="12291" name="Content Placeholder 2"/>
          <p:cNvSpPr>
            <a:spLocks noGrp="1"/>
          </p:cNvSpPr>
          <p:nvPr>
            <p:ph sz="quarter" idx="1"/>
          </p:nvPr>
        </p:nvSpPr>
        <p:spPr>
          <a:xfrm>
            <a:off x="457200" y="1219200"/>
            <a:ext cx="8229600" cy="4937125"/>
          </a:xfrm>
        </p:spPr>
        <p:txBody>
          <a:bodyPr/>
          <a:lstStyle/>
          <a:p>
            <a:r>
              <a:rPr lang="en-US" altLang="en-US" dirty="0"/>
              <a:t>Equitable doctrine</a:t>
            </a:r>
          </a:p>
          <a:p>
            <a:r>
              <a:rPr lang="en-US" altLang="en-US" dirty="0"/>
              <a:t>Developed from equitable estoppel, a doctrine which precludes denial of facts</a:t>
            </a:r>
          </a:p>
          <a:p>
            <a:r>
              <a:rPr lang="en-US" altLang="en-US" dirty="0"/>
              <a:t>Promissory estoppel precludes denial of the existence of a binding promise</a:t>
            </a:r>
          </a:p>
          <a:p>
            <a:r>
              <a:rPr lang="en-US" altLang="en-US" dirty="0"/>
              <a:t>Endorsed in §§ 87-90 of the Restatement 2d</a:t>
            </a:r>
          </a:p>
          <a:p>
            <a:r>
              <a:rPr lang="en-US" altLang="en-US" dirty="0"/>
              <a:t>Led Gilmore to predict “The Death of Contract”</a:t>
            </a:r>
          </a:p>
          <a:p>
            <a:r>
              <a:rPr lang="en-US" altLang="en-US" dirty="0"/>
              <a:t>Frequently argued, but often without success</a:t>
            </a:r>
          </a:p>
          <a:p>
            <a:endParaRPr lang="en-US" altLang="en-US" dirty="0"/>
          </a:p>
          <a:p>
            <a:endParaRPr lang="en-US" altLang="en-US" dirty="0"/>
          </a:p>
        </p:txBody>
      </p:sp>
    </p:spTree>
    <p:extLst>
      <p:ext uri="{BB962C8B-B14F-4D97-AF65-F5344CB8AC3E}">
        <p14:creationId xmlns:p14="http://schemas.microsoft.com/office/powerpoint/2010/main" val="25386147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p:txBody>
          <a:bodyPr/>
          <a:lstStyle/>
          <a:p>
            <a:r>
              <a:rPr lang="en-US" altLang="en-US" dirty="0"/>
              <a:t>Applications of promissory estoppel</a:t>
            </a:r>
          </a:p>
        </p:txBody>
      </p:sp>
      <p:sp>
        <p:nvSpPr>
          <p:cNvPr id="11267" name="Content Placeholder 2"/>
          <p:cNvSpPr>
            <a:spLocks noGrp="1"/>
          </p:cNvSpPr>
          <p:nvPr>
            <p:ph sz="quarter" idx="1"/>
          </p:nvPr>
        </p:nvSpPr>
        <p:spPr>
          <a:xfrm>
            <a:off x="457200" y="1219200"/>
            <a:ext cx="8229600" cy="4937125"/>
          </a:xfrm>
        </p:spPr>
        <p:txBody>
          <a:bodyPr/>
          <a:lstStyle/>
          <a:p>
            <a:r>
              <a:rPr lang="en-US" altLang="en-US" dirty="0"/>
              <a:t>Promises to family members</a:t>
            </a:r>
          </a:p>
          <a:p>
            <a:r>
              <a:rPr lang="en-US" altLang="en-US" dirty="0"/>
              <a:t>Promises of gifts to charity</a:t>
            </a:r>
          </a:p>
          <a:p>
            <a:r>
              <a:rPr lang="en-US" altLang="en-US" dirty="0"/>
              <a:t>Firm offers</a:t>
            </a:r>
          </a:p>
          <a:p>
            <a:r>
              <a:rPr lang="en-US" altLang="en-US" dirty="0"/>
              <a:t>Contract modifications</a:t>
            </a:r>
          </a:p>
          <a:p>
            <a:r>
              <a:rPr lang="en-US" altLang="en-US" dirty="0"/>
              <a:t>Promises to employees</a:t>
            </a:r>
          </a:p>
          <a:p>
            <a:r>
              <a:rPr lang="en-US" altLang="en-US" dirty="0"/>
              <a:t>Preliminary negotiations</a:t>
            </a:r>
          </a:p>
        </p:txBody>
      </p:sp>
    </p:spTree>
    <p:extLst>
      <p:ext uri="{BB962C8B-B14F-4D97-AF65-F5344CB8AC3E}">
        <p14:creationId xmlns:p14="http://schemas.microsoft.com/office/powerpoint/2010/main" val="546331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p:txBody>
          <a:bodyPr/>
          <a:lstStyle/>
          <a:p>
            <a:r>
              <a:rPr lang="en-US" altLang="en-US"/>
              <a:t>Elements of promissory estoppel</a:t>
            </a:r>
          </a:p>
        </p:txBody>
      </p:sp>
      <p:sp>
        <p:nvSpPr>
          <p:cNvPr id="3" name="Content Placeholder 2"/>
          <p:cNvSpPr>
            <a:spLocks noGrp="1"/>
          </p:cNvSpPr>
          <p:nvPr>
            <p:ph sz="quarter" idx="1"/>
          </p:nvPr>
        </p:nvSpPr>
        <p:spPr>
          <a:xfrm>
            <a:off x="457200" y="1295400"/>
            <a:ext cx="8229600" cy="4937125"/>
          </a:xfrm>
        </p:spPr>
        <p:txBody>
          <a:bodyPr/>
          <a:lstStyle/>
          <a:p>
            <a:pPr marL="0" indent="0">
              <a:buFont typeface="Wingdings 3" pitchFamily="18" charset="2"/>
              <a:buNone/>
              <a:defRPr/>
            </a:pPr>
            <a:r>
              <a:rPr lang="en-US" dirty="0"/>
              <a:t>§90. PROMISE REASONABLY INDUCING ACTION OR FORBEARANCE</a:t>
            </a:r>
          </a:p>
          <a:p>
            <a:pPr marL="0" indent="0">
              <a:buFont typeface="Wingdings 3" pitchFamily="18" charset="2"/>
              <a:buNone/>
              <a:defRPr/>
            </a:pPr>
            <a:endParaRPr lang="en-US" b="1" dirty="0"/>
          </a:p>
          <a:p>
            <a:pPr marL="0" indent="0">
              <a:buFont typeface="Wingdings 3" pitchFamily="18" charset="2"/>
              <a:buNone/>
              <a:defRPr/>
            </a:pPr>
            <a:r>
              <a:rPr lang="en-US" dirty="0"/>
              <a:t>(1) A </a:t>
            </a:r>
            <a:r>
              <a:rPr lang="en-US" b="1" dirty="0"/>
              <a:t>promise</a:t>
            </a:r>
            <a:r>
              <a:rPr lang="en-US" dirty="0"/>
              <a:t> which the </a:t>
            </a:r>
            <a:r>
              <a:rPr lang="en-US" b="1" dirty="0"/>
              <a:t>promisor should reasonably expect to induce action or forbearance </a:t>
            </a:r>
            <a:r>
              <a:rPr lang="en-US" dirty="0"/>
              <a:t>on the part of the promisee or a third person and which </a:t>
            </a:r>
            <a:r>
              <a:rPr lang="en-US" b="1" dirty="0"/>
              <a:t>does induce such action or forbearance</a:t>
            </a:r>
            <a:r>
              <a:rPr lang="en-US" dirty="0"/>
              <a:t> is binding if </a:t>
            </a:r>
            <a:r>
              <a:rPr lang="en-US" b="1" dirty="0"/>
              <a:t>injustice can be avoided only by enforcement of the promise</a:t>
            </a:r>
            <a:r>
              <a:rPr lang="en-US" dirty="0"/>
              <a:t>. The </a:t>
            </a:r>
            <a:r>
              <a:rPr lang="en-US" b="1" dirty="0"/>
              <a:t>remedy</a:t>
            </a:r>
            <a:r>
              <a:rPr lang="en-US" dirty="0"/>
              <a:t> granted for breach </a:t>
            </a:r>
            <a:r>
              <a:rPr lang="en-US" b="1" dirty="0"/>
              <a:t>may be limited </a:t>
            </a:r>
            <a:r>
              <a:rPr lang="en-US" dirty="0"/>
              <a:t>as justice requires</a:t>
            </a:r>
            <a:r>
              <a:rPr lang="en-US" b="1" dirty="0"/>
              <a:t>.</a:t>
            </a:r>
          </a:p>
          <a:p>
            <a:pPr marL="0" indent="0">
              <a:buFont typeface="Wingdings 3" pitchFamily="18" charset="2"/>
              <a:buNone/>
              <a:defRPr/>
            </a:pPr>
            <a:endParaRPr lang="en-US" dirty="0"/>
          </a:p>
          <a:p>
            <a:pPr>
              <a:defRPr/>
            </a:pPr>
            <a:endParaRPr lang="en-US" dirty="0"/>
          </a:p>
        </p:txBody>
      </p:sp>
    </p:spTree>
    <p:extLst>
      <p:ext uri="{BB962C8B-B14F-4D97-AF65-F5344CB8AC3E}">
        <p14:creationId xmlns:p14="http://schemas.microsoft.com/office/powerpoint/2010/main" val="29850523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p:nvPr>
        </p:nvSpPr>
        <p:spPr/>
        <p:txBody>
          <a:bodyPr/>
          <a:lstStyle/>
          <a:p>
            <a:r>
              <a:rPr lang="en-US" altLang="en-US"/>
              <a:t>Elements of promissory estoppel</a:t>
            </a:r>
          </a:p>
        </p:txBody>
      </p:sp>
      <p:sp>
        <p:nvSpPr>
          <p:cNvPr id="3" name="Content Placeholder 2"/>
          <p:cNvSpPr>
            <a:spLocks noGrp="1"/>
          </p:cNvSpPr>
          <p:nvPr>
            <p:ph sz="quarter" idx="1"/>
          </p:nvPr>
        </p:nvSpPr>
        <p:spPr>
          <a:xfrm>
            <a:off x="457200" y="1219200"/>
            <a:ext cx="8229600" cy="4937125"/>
          </a:xfrm>
        </p:spPr>
        <p:txBody>
          <a:bodyPr/>
          <a:lstStyle/>
          <a:p>
            <a:pPr marL="0" indent="0">
              <a:buFont typeface="Wingdings 3" pitchFamily="18" charset="2"/>
              <a:buNone/>
              <a:defRPr/>
            </a:pPr>
            <a:r>
              <a:rPr lang="en-US" dirty="0"/>
              <a:t>§90. </a:t>
            </a:r>
            <a:r>
              <a:rPr lang="en-US" sz="2400" dirty="0"/>
              <a:t>Cmt b. </a:t>
            </a:r>
            <a:r>
              <a:rPr lang="en-US" sz="2400" b="1" dirty="0"/>
              <a:t>The principle of this Section is flexible. </a:t>
            </a:r>
            <a:r>
              <a:rPr lang="en-US" sz="2400" dirty="0"/>
              <a:t>The promisor is affected only by reliance which he does or should foresee, and enforcement must be necessary to avoid injustice. Satisfaction of the latter requirement may depend on the reasonableness of the promisee's reliance, on its </a:t>
            </a:r>
            <a:r>
              <a:rPr lang="en-US" sz="2400" b="1" dirty="0"/>
              <a:t>definite and substantial character </a:t>
            </a:r>
            <a:r>
              <a:rPr lang="en-US" sz="2400" dirty="0"/>
              <a:t>in relation to the remedy sought, on the </a:t>
            </a:r>
            <a:r>
              <a:rPr lang="en-US" sz="2400" b="1" dirty="0"/>
              <a:t>formality</a:t>
            </a:r>
            <a:r>
              <a:rPr lang="en-US" sz="2400" dirty="0"/>
              <a:t> with which the promise is made, on the extent to which the </a:t>
            </a:r>
            <a:r>
              <a:rPr lang="en-US" sz="2400" b="1" dirty="0"/>
              <a:t>evidentiary, cautionary, deterrent and channeling functions </a:t>
            </a:r>
            <a:r>
              <a:rPr lang="en-US" sz="2400" dirty="0"/>
              <a:t>of form are met by the commercial setting or otherwise, and on the extent to which such </a:t>
            </a:r>
            <a:r>
              <a:rPr lang="en-US" sz="2400" b="1" dirty="0"/>
              <a:t>other policies </a:t>
            </a:r>
            <a:r>
              <a:rPr lang="en-US" sz="2400" dirty="0"/>
              <a:t>as the enforcement of bargains and the prevention of unjust enrichment are relevant...</a:t>
            </a:r>
          </a:p>
          <a:p>
            <a:pPr>
              <a:defRPr/>
            </a:pPr>
            <a:endParaRPr lang="en-US" dirty="0"/>
          </a:p>
        </p:txBody>
      </p:sp>
    </p:spTree>
    <p:extLst>
      <p:ext uri="{BB962C8B-B14F-4D97-AF65-F5344CB8AC3E}">
        <p14:creationId xmlns:p14="http://schemas.microsoft.com/office/powerpoint/2010/main" val="5781937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title"/>
          </p:nvPr>
        </p:nvSpPr>
        <p:spPr/>
        <p:txBody>
          <a:bodyPr/>
          <a:lstStyle/>
          <a:p>
            <a:r>
              <a:rPr lang="en-US" altLang="en-US"/>
              <a:t>Charitable subscriptions</a:t>
            </a:r>
          </a:p>
        </p:txBody>
      </p:sp>
      <p:sp>
        <p:nvSpPr>
          <p:cNvPr id="20483" name="Content Placeholder 2"/>
          <p:cNvSpPr>
            <a:spLocks noGrp="1"/>
          </p:cNvSpPr>
          <p:nvPr>
            <p:ph sz="quarter" idx="1"/>
          </p:nvPr>
        </p:nvSpPr>
        <p:spPr>
          <a:xfrm>
            <a:off x="457200" y="1219200"/>
            <a:ext cx="8229600" cy="4937125"/>
          </a:xfrm>
        </p:spPr>
        <p:txBody>
          <a:bodyPr/>
          <a:lstStyle/>
          <a:p>
            <a:pPr marL="0" indent="0">
              <a:buFont typeface="Wingdings 3" pitchFamily="18" charset="2"/>
              <a:buNone/>
            </a:pPr>
            <a:r>
              <a:rPr lang="en-US" altLang="en-US"/>
              <a:t>§90. PROMISE REASONABLY INDUCING ACTION OR FORBEARANCE</a:t>
            </a:r>
          </a:p>
          <a:p>
            <a:pPr marL="0" indent="0">
              <a:buFont typeface="Wingdings 3" pitchFamily="18" charset="2"/>
              <a:buNone/>
            </a:pPr>
            <a:endParaRPr lang="en-US" altLang="en-US" b="1"/>
          </a:p>
          <a:p>
            <a:pPr marL="0" indent="0">
              <a:buFont typeface="Wingdings 3" pitchFamily="18" charset="2"/>
              <a:buNone/>
            </a:pPr>
            <a:r>
              <a:rPr lang="en-US" altLang="en-US"/>
              <a:t>(2) A charitable subscription or a marriage settlement is binding under Subsection (1) without proof that the promise induced action or forbearance.</a:t>
            </a:r>
            <a:br>
              <a:rPr lang="en-US" altLang="en-US"/>
            </a:br>
            <a:endParaRPr lang="en-US" altLang="en-US"/>
          </a:p>
        </p:txBody>
      </p:sp>
    </p:spTree>
    <p:extLst>
      <p:ext uri="{BB962C8B-B14F-4D97-AF65-F5344CB8AC3E}">
        <p14:creationId xmlns:p14="http://schemas.microsoft.com/office/powerpoint/2010/main" val="31889374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p:cNvSpPr>
            <a:spLocks noGrp="1"/>
          </p:cNvSpPr>
          <p:nvPr>
            <p:ph type="title"/>
          </p:nvPr>
        </p:nvSpPr>
        <p:spPr/>
        <p:txBody>
          <a:bodyPr>
            <a:normAutofit fontScale="90000"/>
          </a:bodyPr>
          <a:lstStyle/>
          <a:p>
            <a:r>
              <a:rPr lang="en-US" altLang="en-US"/>
              <a:t>Differences between contract and promissory estoppel</a:t>
            </a:r>
          </a:p>
        </p:txBody>
      </p:sp>
      <p:sp>
        <p:nvSpPr>
          <p:cNvPr id="22531" name="Content Placeholder 2"/>
          <p:cNvSpPr>
            <a:spLocks noGrp="1"/>
          </p:cNvSpPr>
          <p:nvPr>
            <p:ph sz="quarter" idx="1"/>
          </p:nvPr>
        </p:nvSpPr>
        <p:spPr>
          <a:xfrm>
            <a:off x="457200" y="1219200"/>
            <a:ext cx="8229600" cy="4937125"/>
          </a:xfrm>
        </p:spPr>
        <p:txBody>
          <a:bodyPr/>
          <a:lstStyle/>
          <a:p>
            <a:r>
              <a:rPr lang="en-US" altLang="en-US" dirty="0"/>
              <a:t>The requirement of consideration</a:t>
            </a:r>
          </a:p>
          <a:p>
            <a:r>
              <a:rPr lang="en-US" altLang="en-US" dirty="0"/>
              <a:t>The requirement of a definite promise?</a:t>
            </a:r>
          </a:p>
          <a:p>
            <a:r>
              <a:rPr lang="en-US" altLang="en-US" dirty="0"/>
              <a:t>The remedy?</a:t>
            </a:r>
          </a:p>
        </p:txBody>
      </p:sp>
    </p:spTree>
    <p:extLst>
      <p:ext uri="{BB962C8B-B14F-4D97-AF65-F5344CB8AC3E}">
        <p14:creationId xmlns:p14="http://schemas.microsoft.com/office/powerpoint/2010/main" val="37272909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p:cNvSpPr>
            <a:spLocks noGrp="1"/>
          </p:cNvSpPr>
          <p:nvPr>
            <p:ph type="title"/>
          </p:nvPr>
        </p:nvSpPr>
        <p:spPr/>
        <p:txBody>
          <a:bodyPr/>
          <a:lstStyle/>
          <a:p>
            <a:r>
              <a:rPr lang="en-US" altLang="en-US" dirty="0"/>
              <a:t>Ricketts v. </a:t>
            </a:r>
            <a:r>
              <a:rPr lang="en-US" altLang="en-US" dirty="0" err="1"/>
              <a:t>Scothorn</a:t>
            </a:r>
            <a:r>
              <a:rPr lang="en-US" altLang="en-US" dirty="0"/>
              <a:t> (121)</a:t>
            </a:r>
          </a:p>
        </p:txBody>
      </p:sp>
      <p:sp>
        <p:nvSpPr>
          <p:cNvPr id="13315" name="Content Placeholder 2"/>
          <p:cNvSpPr>
            <a:spLocks noGrp="1"/>
          </p:cNvSpPr>
          <p:nvPr>
            <p:ph sz="quarter" idx="1"/>
          </p:nvPr>
        </p:nvSpPr>
        <p:spPr>
          <a:xfrm>
            <a:off x="457200" y="1219200"/>
            <a:ext cx="8229600" cy="4937125"/>
          </a:xfrm>
        </p:spPr>
        <p:txBody>
          <a:bodyPr/>
          <a:lstStyle/>
          <a:p>
            <a:pPr marL="0" indent="0">
              <a:buFont typeface="Wingdings 3" pitchFamily="18" charset="2"/>
              <a:buNone/>
              <a:defRPr/>
            </a:pPr>
            <a:r>
              <a:rPr lang="en-US" dirty="0"/>
              <a:t>“I promise to pay Katie Scothorn on demand, $2,000 to be at 6 per cent per annum.”</a:t>
            </a:r>
          </a:p>
          <a:p>
            <a:pPr marL="0" indent="0">
              <a:buFont typeface="Wingdings 3" pitchFamily="18" charset="2"/>
              <a:buNone/>
              <a:defRPr/>
            </a:pPr>
            <a:endParaRPr lang="en-US" dirty="0"/>
          </a:p>
          <a:p>
            <a:pPr marL="0" indent="0">
              <a:buFont typeface="Wingdings 3" pitchFamily="18" charset="2"/>
              <a:buNone/>
              <a:defRPr/>
            </a:pPr>
            <a:r>
              <a:rPr lang="en-US" dirty="0"/>
              <a:t>“I have fixed out something that you have not got to work any more.  None of my grandchildren work, and you don’t have to.”</a:t>
            </a:r>
          </a:p>
          <a:p>
            <a:pPr>
              <a:defRPr/>
            </a:pPr>
            <a:endParaRPr lang="en-US" dirty="0"/>
          </a:p>
        </p:txBody>
      </p:sp>
    </p:spTree>
    <p:extLst>
      <p:ext uri="{BB962C8B-B14F-4D97-AF65-F5344CB8AC3E}">
        <p14:creationId xmlns:p14="http://schemas.microsoft.com/office/powerpoint/2010/main" val="38201744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p:cNvSpPr>
            <a:spLocks noGrp="1"/>
          </p:cNvSpPr>
          <p:nvPr>
            <p:ph type="title"/>
          </p:nvPr>
        </p:nvSpPr>
        <p:spPr/>
        <p:txBody>
          <a:bodyPr/>
          <a:lstStyle/>
          <a:p>
            <a:r>
              <a:rPr lang="en-US" altLang="en-US" dirty="0"/>
              <a:t>Ricketts v. </a:t>
            </a:r>
            <a:r>
              <a:rPr lang="en-US" altLang="en-US" dirty="0" err="1"/>
              <a:t>Scothorn</a:t>
            </a:r>
            <a:r>
              <a:rPr lang="en-US" altLang="en-US" dirty="0"/>
              <a:t> (121)</a:t>
            </a:r>
          </a:p>
        </p:txBody>
      </p:sp>
      <p:sp>
        <p:nvSpPr>
          <p:cNvPr id="17411" name="Content Placeholder 2"/>
          <p:cNvSpPr>
            <a:spLocks noGrp="1"/>
          </p:cNvSpPr>
          <p:nvPr>
            <p:ph sz="quarter" idx="1"/>
          </p:nvPr>
        </p:nvSpPr>
        <p:spPr>
          <a:xfrm>
            <a:off x="457200" y="1219200"/>
            <a:ext cx="8229600" cy="4937125"/>
          </a:xfrm>
        </p:spPr>
        <p:txBody>
          <a:bodyPr>
            <a:normAutofit/>
          </a:bodyPr>
          <a:lstStyle/>
          <a:p>
            <a:r>
              <a:rPr lang="en-US" altLang="en-US" dirty="0"/>
              <a:t>Was there a contract? </a:t>
            </a:r>
          </a:p>
          <a:p>
            <a:endParaRPr lang="en-US" altLang="en-US" dirty="0"/>
          </a:p>
          <a:p>
            <a:r>
              <a:rPr lang="en-US" altLang="en-US" dirty="0"/>
              <a:t>Were the elements of promissory estoppel present? </a:t>
            </a:r>
          </a:p>
          <a:p>
            <a:r>
              <a:rPr lang="en-US" altLang="en-US" dirty="0"/>
              <a:t>What remedy was appropriate? </a:t>
            </a:r>
          </a:p>
          <a:p>
            <a:endParaRPr lang="en-US" altLang="en-US" dirty="0"/>
          </a:p>
          <a:p>
            <a:r>
              <a:rPr lang="en-US" altLang="en-US" dirty="0"/>
              <a:t>What if quitting work had not been mentioned?</a:t>
            </a:r>
          </a:p>
          <a:p>
            <a:r>
              <a:rPr lang="en-US" altLang="en-US" dirty="0"/>
              <a:t>What if she had relied by buying a horse?</a:t>
            </a:r>
          </a:p>
          <a:p>
            <a:r>
              <a:rPr lang="en-US" altLang="en-US" dirty="0"/>
              <a:t>What if both understood the doctrine of consideration?</a:t>
            </a:r>
          </a:p>
          <a:p>
            <a:endParaRPr lang="en-US" altLang="en-US" dirty="0"/>
          </a:p>
          <a:p>
            <a:endParaRPr lang="en-US" altLang="en-US" dirty="0"/>
          </a:p>
        </p:txBody>
      </p:sp>
    </p:spTree>
    <p:extLst>
      <p:ext uri="{BB962C8B-B14F-4D97-AF65-F5344CB8AC3E}">
        <p14:creationId xmlns:p14="http://schemas.microsoft.com/office/powerpoint/2010/main" val="38573963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p:txBody>
          <a:bodyPr/>
          <a:lstStyle/>
          <a:p>
            <a:r>
              <a:rPr lang="en-US" altLang="en-US"/>
              <a:t>Elements of promissory estoppel</a:t>
            </a:r>
          </a:p>
        </p:txBody>
      </p:sp>
      <p:sp>
        <p:nvSpPr>
          <p:cNvPr id="3" name="Content Placeholder 2"/>
          <p:cNvSpPr>
            <a:spLocks noGrp="1"/>
          </p:cNvSpPr>
          <p:nvPr>
            <p:ph sz="quarter" idx="1"/>
          </p:nvPr>
        </p:nvSpPr>
        <p:spPr>
          <a:xfrm>
            <a:off x="457200" y="1295400"/>
            <a:ext cx="8229600" cy="4937125"/>
          </a:xfrm>
        </p:spPr>
        <p:txBody>
          <a:bodyPr/>
          <a:lstStyle/>
          <a:p>
            <a:pPr marL="0" indent="0">
              <a:buFont typeface="Wingdings 3" pitchFamily="18" charset="2"/>
              <a:buNone/>
              <a:defRPr/>
            </a:pPr>
            <a:r>
              <a:rPr lang="en-US" dirty="0"/>
              <a:t>§90. PROMISE REASONABLY INDUCING ACTION OR FORBEARANCE</a:t>
            </a:r>
          </a:p>
          <a:p>
            <a:pPr marL="0" indent="0">
              <a:buFont typeface="Wingdings 3" pitchFamily="18" charset="2"/>
              <a:buNone/>
              <a:defRPr/>
            </a:pPr>
            <a:endParaRPr lang="en-US" b="1" dirty="0"/>
          </a:p>
          <a:p>
            <a:pPr marL="0" indent="0">
              <a:buFont typeface="Wingdings 3" pitchFamily="18" charset="2"/>
              <a:buNone/>
              <a:defRPr/>
            </a:pPr>
            <a:r>
              <a:rPr lang="en-US" dirty="0"/>
              <a:t>(1) A </a:t>
            </a:r>
            <a:r>
              <a:rPr lang="en-US" b="1" dirty="0"/>
              <a:t>promise</a:t>
            </a:r>
            <a:r>
              <a:rPr lang="en-US" dirty="0"/>
              <a:t> which the promisor should </a:t>
            </a:r>
            <a:r>
              <a:rPr lang="en-US" b="1" dirty="0"/>
              <a:t>reasonably expect to induce action or forbearance </a:t>
            </a:r>
            <a:r>
              <a:rPr lang="en-US" dirty="0"/>
              <a:t>on the part of the promisee or a third person and which </a:t>
            </a:r>
            <a:r>
              <a:rPr lang="en-US" b="1" dirty="0"/>
              <a:t>does induce such action or forbearance</a:t>
            </a:r>
            <a:r>
              <a:rPr lang="en-US" dirty="0"/>
              <a:t> is binding if </a:t>
            </a:r>
            <a:r>
              <a:rPr lang="en-US" b="1" dirty="0"/>
              <a:t>injustice can be avoided only by enforcement of the promise</a:t>
            </a:r>
            <a:r>
              <a:rPr lang="en-US" dirty="0"/>
              <a:t>. The </a:t>
            </a:r>
            <a:r>
              <a:rPr lang="en-US" b="1" dirty="0"/>
              <a:t>remedy</a:t>
            </a:r>
            <a:r>
              <a:rPr lang="en-US" dirty="0"/>
              <a:t> granted for breach </a:t>
            </a:r>
            <a:r>
              <a:rPr lang="en-US" b="1" dirty="0"/>
              <a:t>may be limited </a:t>
            </a:r>
            <a:r>
              <a:rPr lang="en-US" dirty="0"/>
              <a:t>as justice requires</a:t>
            </a:r>
            <a:r>
              <a:rPr lang="en-US" b="1" dirty="0"/>
              <a:t>.</a:t>
            </a:r>
          </a:p>
          <a:p>
            <a:pPr marL="0" indent="0">
              <a:buFont typeface="Wingdings 3" pitchFamily="18" charset="2"/>
              <a:buNone/>
              <a:defRPr/>
            </a:pPr>
            <a:endParaRPr lang="en-US" dirty="0"/>
          </a:p>
          <a:p>
            <a:pPr>
              <a:defRPr/>
            </a:pPr>
            <a:endParaRPr lang="en-US" dirty="0"/>
          </a:p>
        </p:txBody>
      </p:sp>
    </p:spTree>
    <p:extLst>
      <p:ext uri="{BB962C8B-B14F-4D97-AF65-F5344CB8AC3E}">
        <p14:creationId xmlns:p14="http://schemas.microsoft.com/office/powerpoint/2010/main" val="75662208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p:nvPr>
        </p:nvSpPr>
        <p:spPr/>
        <p:txBody>
          <a:bodyPr/>
          <a:lstStyle/>
          <a:p>
            <a:r>
              <a:rPr lang="en-US" altLang="en-US"/>
              <a:t>Elements of promissory estoppel</a:t>
            </a:r>
          </a:p>
        </p:txBody>
      </p:sp>
      <p:sp>
        <p:nvSpPr>
          <p:cNvPr id="3" name="Content Placeholder 2"/>
          <p:cNvSpPr>
            <a:spLocks noGrp="1"/>
          </p:cNvSpPr>
          <p:nvPr>
            <p:ph sz="quarter" idx="1"/>
          </p:nvPr>
        </p:nvSpPr>
        <p:spPr>
          <a:xfrm>
            <a:off x="457200" y="1219200"/>
            <a:ext cx="8229600" cy="4937125"/>
          </a:xfrm>
        </p:spPr>
        <p:txBody>
          <a:bodyPr/>
          <a:lstStyle/>
          <a:p>
            <a:pPr marL="0" indent="0">
              <a:buFont typeface="Wingdings 3" pitchFamily="18" charset="2"/>
              <a:buNone/>
              <a:defRPr/>
            </a:pPr>
            <a:r>
              <a:rPr lang="en-US" dirty="0"/>
              <a:t>§90. </a:t>
            </a:r>
            <a:r>
              <a:rPr lang="en-US" sz="2400" dirty="0"/>
              <a:t>Cmt b. </a:t>
            </a:r>
            <a:r>
              <a:rPr lang="en-US" sz="2400" b="1" dirty="0"/>
              <a:t>The principle of this Section is flexible. </a:t>
            </a:r>
            <a:r>
              <a:rPr lang="en-US" sz="2400" dirty="0"/>
              <a:t>The promisor is affected only by reliance which he does or should foresee, and enforcement must be necessary to avoid injustice. Satisfaction of the latter requirement may depend on the reasonableness of the promisee's reliance, on its </a:t>
            </a:r>
            <a:r>
              <a:rPr lang="en-US" sz="2400" b="1" dirty="0"/>
              <a:t>definite and substantial character </a:t>
            </a:r>
            <a:r>
              <a:rPr lang="en-US" sz="2400" dirty="0"/>
              <a:t>in relation to the remedy sought, on the </a:t>
            </a:r>
            <a:r>
              <a:rPr lang="en-US" sz="2400" b="1" dirty="0"/>
              <a:t>formality</a:t>
            </a:r>
            <a:r>
              <a:rPr lang="en-US" sz="2400" dirty="0"/>
              <a:t> with which the promise is made, on the extent to which the </a:t>
            </a:r>
            <a:r>
              <a:rPr lang="en-US" sz="2400" b="1" dirty="0"/>
              <a:t>evidentiary, cautionary, deterrent and channeling functions </a:t>
            </a:r>
            <a:r>
              <a:rPr lang="en-US" sz="2400" dirty="0"/>
              <a:t>of form are met by the commercial setting or otherwise, and on the extent to which such </a:t>
            </a:r>
            <a:r>
              <a:rPr lang="en-US" sz="2400" b="1" dirty="0"/>
              <a:t>other policies </a:t>
            </a:r>
            <a:r>
              <a:rPr lang="en-US" sz="2400" dirty="0"/>
              <a:t>as the enforcement of bargains and the prevention of unjust enrichment are relevant...</a:t>
            </a:r>
          </a:p>
          <a:p>
            <a:pPr>
              <a:defRPr/>
            </a:pPr>
            <a:endParaRPr lang="en-US" dirty="0"/>
          </a:p>
        </p:txBody>
      </p:sp>
    </p:spTree>
    <p:extLst>
      <p:ext uri="{BB962C8B-B14F-4D97-AF65-F5344CB8AC3E}">
        <p14:creationId xmlns:p14="http://schemas.microsoft.com/office/powerpoint/2010/main" val="27185562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p:txBody>
          <a:bodyPr/>
          <a:lstStyle/>
          <a:p>
            <a:pPr eaLnBrk="1" hangingPunct="1"/>
            <a:r>
              <a:rPr lang="en-US" altLang="en-US"/>
              <a:t>The concept of employment-at-will</a:t>
            </a:r>
          </a:p>
        </p:txBody>
      </p:sp>
      <p:sp>
        <p:nvSpPr>
          <p:cNvPr id="7171" name="Rectangle 3"/>
          <p:cNvSpPr>
            <a:spLocks noGrp="1" noChangeArrowheads="1"/>
          </p:cNvSpPr>
          <p:nvPr>
            <p:ph sz="quarter" idx="1"/>
          </p:nvPr>
        </p:nvSpPr>
        <p:spPr>
          <a:xfrm>
            <a:off x="457200" y="1219200"/>
            <a:ext cx="8229600" cy="4937125"/>
          </a:xfrm>
        </p:spPr>
        <p:txBody>
          <a:bodyPr>
            <a:normAutofit lnSpcReduction="10000"/>
          </a:bodyPr>
          <a:lstStyle/>
          <a:p>
            <a:pPr marL="0" indent="0" eaLnBrk="1" hangingPunct="1">
              <a:buFont typeface="Wingdings 3" pitchFamily="18" charset="2"/>
              <a:buNone/>
              <a:defRPr/>
            </a:pPr>
            <a:r>
              <a:rPr lang="en-US" dirty="0"/>
              <a:t>“Either an employer or an employee in a pure at-will employment relationship may legally terminate the employment relationship at any time and for any reason [without liability].”</a:t>
            </a:r>
          </a:p>
          <a:p>
            <a:pPr marL="0" indent="0" eaLnBrk="1" hangingPunct="1">
              <a:buFont typeface="Wingdings 3" pitchFamily="18" charset="2"/>
              <a:buNone/>
              <a:defRPr/>
            </a:pPr>
            <a:endParaRPr lang="en-US" dirty="0"/>
          </a:p>
          <a:p>
            <a:pPr marL="0" indent="0" eaLnBrk="1" hangingPunct="1">
              <a:buFont typeface="Wingdings 3" pitchFamily="18" charset="2"/>
              <a:buNone/>
              <a:defRPr/>
            </a:pPr>
            <a:r>
              <a:rPr lang="en-US" dirty="0"/>
              <a:t>Depending on the state, the doctrine may not apply to:</a:t>
            </a:r>
          </a:p>
          <a:p>
            <a:pPr eaLnBrk="1" hangingPunct="1">
              <a:defRPr/>
            </a:pPr>
            <a:r>
              <a:rPr lang="en-US" dirty="0"/>
              <a:t>contracts with a definite term</a:t>
            </a:r>
          </a:p>
          <a:p>
            <a:pPr eaLnBrk="1" hangingPunct="1">
              <a:defRPr/>
            </a:pPr>
            <a:r>
              <a:rPr lang="en-US" dirty="0"/>
              <a:t>collective agreements</a:t>
            </a:r>
          </a:p>
          <a:p>
            <a:pPr eaLnBrk="1" hangingPunct="1">
              <a:defRPr/>
            </a:pPr>
            <a:r>
              <a:rPr lang="en-US" dirty="0"/>
              <a:t>termination in violation of public policy</a:t>
            </a:r>
          </a:p>
          <a:p>
            <a:pPr eaLnBrk="1" hangingPunct="1">
              <a:defRPr/>
            </a:pPr>
            <a:r>
              <a:rPr lang="en-US" dirty="0"/>
              <a:t>termination in violation of implied terms, or</a:t>
            </a:r>
          </a:p>
          <a:p>
            <a:pPr eaLnBrk="1" hangingPunct="1">
              <a:defRPr/>
            </a:pPr>
            <a:r>
              <a:rPr lang="en-US" dirty="0"/>
              <a:t>termination in violation of the implied duty of good faith.</a:t>
            </a:r>
          </a:p>
          <a:p>
            <a:pPr eaLnBrk="1" hangingPunct="1">
              <a:defRPr/>
            </a:pPr>
            <a:endParaRPr lang="en-US" dirty="0"/>
          </a:p>
          <a:p>
            <a:pPr eaLnBrk="1" hangingPunct="1">
              <a:defRPr/>
            </a:pPr>
            <a:endParaRPr lang="en-US" dirty="0"/>
          </a:p>
          <a:p>
            <a:pPr eaLnBrk="1" hangingPunct="1">
              <a:defRPr/>
            </a:pPr>
            <a:endParaRPr lang="en-US" dirty="0"/>
          </a:p>
          <a:p>
            <a:pPr marL="0" indent="0" eaLnBrk="1" hangingPunct="1">
              <a:buFont typeface="Wingdings 3" pitchFamily="18" charset="2"/>
              <a:buNone/>
              <a:defRPr/>
            </a:pPr>
            <a:endParaRPr lang="en-US" dirty="0"/>
          </a:p>
          <a:p>
            <a:pPr marL="0" indent="0" eaLnBrk="1" hangingPunct="1">
              <a:buFont typeface="Wingdings 3" pitchFamily="18" charset="2"/>
              <a:buNone/>
              <a:defRPr/>
            </a:pPr>
            <a:endParaRPr lang="en-US" dirty="0"/>
          </a:p>
          <a:p>
            <a:pPr marL="0" indent="0" eaLnBrk="1" hangingPunct="1">
              <a:buFont typeface="Wingdings 3" pitchFamily="18" charset="2"/>
              <a:buNone/>
              <a:defRPr/>
            </a:pPr>
            <a:endParaRPr lang="en-US" dirty="0"/>
          </a:p>
        </p:txBody>
      </p:sp>
    </p:spTree>
    <p:extLst>
      <p:ext uri="{BB962C8B-B14F-4D97-AF65-F5344CB8AC3E}">
        <p14:creationId xmlns:p14="http://schemas.microsoft.com/office/powerpoint/2010/main" val="410231222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p:cNvSpPr>
            <a:spLocks noGrp="1"/>
          </p:cNvSpPr>
          <p:nvPr>
            <p:ph type="title"/>
          </p:nvPr>
        </p:nvSpPr>
        <p:spPr/>
        <p:txBody>
          <a:bodyPr>
            <a:normAutofit fontScale="90000"/>
          </a:bodyPr>
          <a:lstStyle/>
          <a:p>
            <a:pPr eaLnBrk="1" hangingPunct="1"/>
            <a:r>
              <a:rPr lang="en-US" altLang="en-US" dirty="0"/>
              <a:t>Consideration for an employer’s promise: Feinberg v. Pfeiffer Co. (69, 127)</a:t>
            </a:r>
          </a:p>
        </p:txBody>
      </p:sp>
      <p:sp>
        <p:nvSpPr>
          <p:cNvPr id="14339" name="Content Placeholder 2"/>
          <p:cNvSpPr>
            <a:spLocks noGrp="1"/>
          </p:cNvSpPr>
          <p:nvPr>
            <p:ph sz="quarter" idx="1"/>
          </p:nvPr>
        </p:nvSpPr>
        <p:spPr>
          <a:xfrm>
            <a:off x="457200" y="1219200"/>
            <a:ext cx="8229600" cy="4937125"/>
          </a:xfrm>
        </p:spPr>
        <p:txBody>
          <a:bodyPr/>
          <a:lstStyle/>
          <a:p>
            <a:pPr marL="0" indent="0" eaLnBrk="1" hangingPunct="1">
              <a:buFont typeface="Wingdings 3" pitchFamily="18" charset="2"/>
              <a:buNone/>
              <a:defRPr/>
            </a:pPr>
            <a:r>
              <a:rPr lang="en-US" dirty="0"/>
              <a:t>What was the consideration for the promise of a pension?</a:t>
            </a:r>
          </a:p>
          <a:p>
            <a:pPr eaLnBrk="1" hangingPunct="1">
              <a:defRPr/>
            </a:pPr>
            <a:r>
              <a:rPr lang="en-US" dirty="0"/>
              <a:t>Past services</a:t>
            </a:r>
          </a:p>
          <a:p>
            <a:pPr eaLnBrk="1" hangingPunct="1">
              <a:defRPr/>
            </a:pPr>
            <a:r>
              <a:rPr lang="en-US" dirty="0"/>
              <a:t>Promise to continue in employ of defendant</a:t>
            </a:r>
          </a:p>
          <a:p>
            <a:pPr eaLnBrk="1" hangingPunct="1">
              <a:defRPr/>
            </a:pPr>
            <a:r>
              <a:rPr lang="en-US" dirty="0"/>
              <a:t>Continuation of employment</a:t>
            </a:r>
          </a:p>
          <a:p>
            <a:pPr eaLnBrk="1" hangingPunct="1">
              <a:defRPr/>
            </a:pPr>
            <a:r>
              <a:rPr lang="en-US" dirty="0"/>
              <a:t>Retirement</a:t>
            </a:r>
          </a:p>
          <a:p>
            <a:pPr eaLnBrk="1" hangingPunct="1">
              <a:defRPr/>
            </a:pPr>
            <a:endParaRPr lang="en-US" dirty="0"/>
          </a:p>
          <a:p>
            <a:pPr eaLnBrk="1" hangingPunct="1">
              <a:defRPr/>
            </a:pPr>
            <a:endParaRPr lang="en-US" dirty="0"/>
          </a:p>
          <a:p>
            <a:pPr eaLnBrk="1" hangingPunct="1">
              <a:defRPr/>
            </a:pPr>
            <a:endParaRPr lang="en-US" dirty="0"/>
          </a:p>
          <a:p>
            <a:pPr eaLnBrk="1" hangingPunct="1">
              <a:defRPr/>
            </a:pPr>
            <a:endParaRPr lang="en-US" dirty="0"/>
          </a:p>
        </p:txBody>
      </p:sp>
      <p:sp>
        <p:nvSpPr>
          <p:cNvPr id="2" name="Rectangular Callout 1"/>
          <p:cNvSpPr/>
          <p:nvPr/>
        </p:nvSpPr>
        <p:spPr>
          <a:xfrm>
            <a:off x="4876800" y="1669256"/>
            <a:ext cx="3429000" cy="460375"/>
          </a:xfrm>
          <a:prstGeom prst="wedgeRectCallout">
            <a:avLst>
              <a:gd name="adj1" fmla="val -114624"/>
              <a:gd name="adj2" fmla="val 20397"/>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solidFill>
                  <a:prstClr val="white"/>
                </a:solidFill>
              </a:rPr>
              <a:t>Not induced by promise</a:t>
            </a:r>
          </a:p>
        </p:txBody>
      </p:sp>
      <p:sp>
        <p:nvSpPr>
          <p:cNvPr id="3" name="Rectangular Callout 2"/>
          <p:cNvSpPr/>
          <p:nvPr/>
        </p:nvSpPr>
        <p:spPr>
          <a:xfrm>
            <a:off x="5867400" y="2819400"/>
            <a:ext cx="2971800" cy="990600"/>
          </a:xfrm>
          <a:prstGeom prst="wedgeRectCallout">
            <a:avLst>
              <a:gd name="adj1" fmla="val -20378"/>
              <a:gd name="adj2" fmla="val -78046"/>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solidFill>
                  <a:prstClr val="white"/>
                </a:solidFill>
              </a:rPr>
              <a:t>Not supported by evidence</a:t>
            </a:r>
          </a:p>
        </p:txBody>
      </p:sp>
      <p:sp>
        <p:nvSpPr>
          <p:cNvPr id="4" name="Rectangular Callout 3"/>
          <p:cNvSpPr/>
          <p:nvPr/>
        </p:nvSpPr>
        <p:spPr>
          <a:xfrm>
            <a:off x="2514600" y="3581400"/>
            <a:ext cx="3124200" cy="857250"/>
          </a:xfrm>
          <a:prstGeom prst="wedgeRectCallout">
            <a:avLst>
              <a:gd name="adj1" fmla="val 21351"/>
              <a:gd name="adj2" fmla="val -116476"/>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solidFill>
                  <a:prstClr val="white"/>
                </a:solidFill>
              </a:rPr>
              <a:t>Not sought by promisor;</a:t>
            </a:r>
          </a:p>
          <a:p>
            <a:pPr algn="ctr">
              <a:defRPr/>
            </a:pPr>
            <a:r>
              <a:rPr lang="en-US" dirty="0">
                <a:solidFill>
                  <a:prstClr val="white"/>
                </a:solidFill>
              </a:rPr>
              <a:t>not clearly induced by promise</a:t>
            </a:r>
          </a:p>
        </p:txBody>
      </p:sp>
      <p:sp>
        <p:nvSpPr>
          <p:cNvPr id="8" name="Rectangular Callout 7"/>
          <p:cNvSpPr/>
          <p:nvPr/>
        </p:nvSpPr>
        <p:spPr>
          <a:xfrm>
            <a:off x="487680" y="4514850"/>
            <a:ext cx="2552700" cy="857250"/>
          </a:xfrm>
          <a:prstGeom prst="wedgeRectCallout">
            <a:avLst>
              <a:gd name="adj1" fmla="val -12049"/>
              <a:gd name="adj2" fmla="val -166491"/>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solidFill>
                  <a:prstClr val="white"/>
                </a:solidFill>
              </a:rPr>
              <a:t>Not sought by promisor</a:t>
            </a:r>
          </a:p>
        </p:txBody>
      </p:sp>
    </p:spTree>
    <p:extLst>
      <p:ext uri="{BB962C8B-B14F-4D97-AF65-F5344CB8AC3E}">
        <p14:creationId xmlns:p14="http://schemas.microsoft.com/office/powerpoint/2010/main" val="18711815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8"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p:txBody>
          <a:bodyPr/>
          <a:lstStyle/>
          <a:p>
            <a:r>
              <a:rPr lang="en-US" altLang="en-US" dirty="0"/>
              <a:t>Feinberg v. Pfeiffer Co. (69, 127)</a:t>
            </a:r>
          </a:p>
        </p:txBody>
      </p:sp>
      <p:sp>
        <p:nvSpPr>
          <p:cNvPr id="3" name="Content Placeholder 2"/>
          <p:cNvSpPr>
            <a:spLocks noGrp="1"/>
          </p:cNvSpPr>
          <p:nvPr>
            <p:ph sz="quarter" idx="1"/>
          </p:nvPr>
        </p:nvSpPr>
        <p:spPr>
          <a:xfrm>
            <a:off x="457200" y="1219200"/>
            <a:ext cx="8229600" cy="4937125"/>
          </a:xfrm>
        </p:spPr>
        <p:txBody>
          <a:bodyPr/>
          <a:lstStyle/>
          <a:p>
            <a:r>
              <a:rPr lang="en-US" altLang="en-US" dirty="0"/>
              <a:t>Were the elements of promissory estoppel present?</a:t>
            </a:r>
          </a:p>
          <a:p>
            <a:pPr lvl="1"/>
            <a:r>
              <a:rPr lang="en-US" altLang="en-US" dirty="0"/>
              <a:t>Promise</a:t>
            </a:r>
          </a:p>
          <a:p>
            <a:pPr lvl="1"/>
            <a:r>
              <a:rPr lang="en-US" altLang="en-US" dirty="0"/>
              <a:t>Promisor should reasonably expect reliance</a:t>
            </a:r>
          </a:p>
          <a:p>
            <a:pPr lvl="1"/>
            <a:r>
              <a:rPr lang="en-US" altLang="en-US" dirty="0"/>
              <a:t>Reliance</a:t>
            </a:r>
          </a:p>
          <a:p>
            <a:pPr lvl="1"/>
            <a:r>
              <a:rPr lang="en-US" altLang="en-US" dirty="0"/>
              <a:t>Enforcement necessary to prevent injustice</a:t>
            </a:r>
          </a:p>
          <a:p>
            <a:r>
              <a:rPr lang="en-US" altLang="en-US" dirty="0"/>
              <a:t>What if she was capable of returning to work?</a:t>
            </a:r>
          </a:p>
          <a:p>
            <a:r>
              <a:rPr lang="en-US" altLang="en-US" dirty="0"/>
              <a:t>What if she had retired on account of illness?</a:t>
            </a:r>
          </a:p>
          <a:p>
            <a:r>
              <a:rPr lang="en-US" altLang="en-US" dirty="0"/>
              <a:t>What if they understood the doctrine of consideration?</a:t>
            </a:r>
          </a:p>
        </p:txBody>
      </p:sp>
    </p:spTree>
    <p:extLst>
      <p:ext uri="{BB962C8B-B14F-4D97-AF65-F5344CB8AC3E}">
        <p14:creationId xmlns:p14="http://schemas.microsoft.com/office/powerpoint/2010/main" val="22021938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p:cNvSpPr>
            <a:spLocks noGrp="1"/>
          </p:cNvSpPr>
          <p:nvPr>
            <p:ph type="title"/>
          </p:nvPr>
        </p:nvSpPr>
        <p:spPr/>
        <p:txBody>
          <a:bodyPr/>
          <a:lstStyle/>
          <a:p>
            <a:r>
              <a:rPr lang="en-US" altLang="en-US" dirty="0"/>
              <a:t>Problem: Drafting for Mr. </a:t>
            </a:r>
            <a:r>
              <a:rPr lang="en-US" altLang="en-US" dirty="0" err="1"/>
              <a:t>Lippman</a:t>
            </a:r>
            <a:r>
              <a:rPr lang="en-US" altLang="en-US" dirty="0"/>
              <a:t> (73)</a:t>
            </a:r>
          </a:p>
        </p:txBody>
      </p:sp>
      <p:sp>
        <p:nvSpPr>
          <p:cNvPr id="3" name="Content Placeholder 2"/>
          <p:cNvSpPr>
            <a:spLocks noGrp="1"/>
          </p:cNvSpPr>
          <p:nvPr>
            <p:ph sz="quarter" idx="1"/>
          </p:nvPr>
        </p:nvSpPr>
        <p:spPr>
          <a:xfrm>
            <a:off x="457200" y="1219200"/>
            <a:ext cx="8229600" cy="4937125"/>
          </a:xfrm>
        </p:spPr>
        <p:txBody>
          <a:bodyPr/>
          <a:lstStyle/>
          <a:p>
            <a:pPr marL="0" indent="0">
              <a:buFont typeface="Wingdings 3" pitchFamily="18" charset="2"/>
              <a:buNone/>
            </a:pPr>
            <a:r>
              <a:rPr lang="en-US" altLang="en-US" dirty="0"/>
              <a:t>Can you improve on this language?</a:t>
            </a:r>
          </a:p>
          <a:p>
            <a:pPr marL="0" indent="0">
              <a:buFont typeface="Wingdings 3" pitchFamily="18" charset="2"/>
              <a:buNone/>
            </a:pPr>
            <a:endParaRPr lang="en-US" altLang="en-US" dirty="0"/>
          </a:p>
          <a:p>
            <a:pPr marL="0" indent="0">
              <a:buFont typeface="Wingdings 3" pitchFamily="18" charset="2"/>
              <a:buNone/>
            </a:pPr>
            <a:r>
              <a:rPr lang="en-US" altLang="en-US" b="1" dirty="0"/>
              <a:t>In consideration of her many years of long and faithful service:</a:t>
            </a:r>
          </a:p>
          <a:p>
            <a:pPr marL="0" indent="0">
              <a:buFont typeface="Wingdings 3" pitchFamily="18" charset="2"/>
              <a:buNone/>
            </a:pPr>
            <a:endParaRPr lang="en-US" altLang="en-US" b="1" dirty="0"/>
          </a:p>
          <a:p>
            <a:pPr marL="0" indent="0">
              <a:buFont typeface="Wingdings 3" pitchFamily="18" charset="2"/>
              <a:buNone/>
            </a:pPr>
            <a:r>
              <a:rPr lang="en-US" altLang="en-US" dirty="0"/>
              <a:t>Resolved that the salary of Anna Sacks Feinberg be increased from $350.00 to $400.00 per month and that she be afforded the privilege of retiring from active duty in the corporation at any time she may elect fit so to do upon retirement pay of $200.00 per month, for the remainder of her life.</a:t>
            </a:r>
          </a:p>
        </p:txBody>
      </p:sp>
    </p:spTree>
    <p:extLst>
      <p:ext uri="{BB962C8B-B14F-4D97-AF65-F5344CB8AC3E}">
        <p14:creationId xmlns:p14="http://schemas.microsoft.com/office/powerpoint/2010/main" val="312602181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C29059-F762-DE19-E1FF-6EC78EED39C3}"/>
              </a:ext>
            </a:extLst>
          </p:cNvPr>
          <p:cNvSpPr>
            <a:spLocks noGrp="1"/>
          </p:cNvSpPr>
          <p:nvPr>
            <p:ph type="title"/>
          </p:nvPr>
        </p:nvSpPr>
        <p:spPr/>
        <p:txBody>
          <a:bodyPr/>
          <a:lstStyle/>
          <a:p>
            <a:r>
              <a:rPr lang="en-US" dirty="0"/>
              <a:t>Cohen v. Cowles Media (135)</a:t>
            </a:r>
          </a:p>
        </p:txBody>
      </p:sp>
      <p:sp>
        <p:nvSpPr>
          <p:cNvPr id="3" name="Content Placeholder 2">
            <a:extLst>
              <a:ext uri="{FF2B5EF4-FFF2-40B4-BE49-F238E27FC236}">
                <a16:creationId xmlns:a16="http://schemas.microsoft.com/office/drawing/2014/main" id="{EFAE1962-331D-4351-D124-35CA49C7BE5F}"/>
              </a:ext>
            </a:extLst>
          </p:cNvPr>
          <p:cNvSpPr>
            <a:spLocks noGrp="1"/>
          </p:cNvSpPr>
          <p:nvPr>
            <p:ph sz="quarter" idx="1"/>
          </p:nvPr>
        </p:nvSpPr>
        <p:spPr/>
        <p:txBody>
          <a:bodyPr>
            <a:normAutofit lnSpcReduction="10000"/>
          </a:bodyPr>
          <a:lstStyle/>
          <a:p>
            <a:r>
              <a:rPr lang="en-US" dirty="0"/>
              <a:t>“it is no more than the incidental, and constitutionally insignificant, consequence of applying to the press a generally applicable law that requires those who make certain kinds of promises to keep them.” </a:t>
            </a:r>
          </a:p>
          <a:p>
            <a:pPr marL="0" indent="0">
              <a:buNone/>
            </a:pPr>
            <a:r>
              <a:rPr lang="en-US" dirty="0"/>
              <a:t>			50 U.S. 663, 672 per White J.</a:t>
            </a:r>
          </a:p>
          <a:p>
            <a:pPr marL="0" indent="0">
              <a:buNone/>
            </a:pPr>
            <a:endParaRPr lang="en-US" dirty="0"/>
          </a:p>
          <a:p>
            <a:r>
              <a:rPr lang="en-US" dirty="0"/>
              <a:t>Was there consideration for the promise?</a:t>
            </a:r>
          </a:p>
          <a:p>
            <a:r>
              <a:rPr lang="en-US" dirty="0"/>
              <a:t>Were the elements of promissory estoppel present?</a:t>
            </a:r>
          </a:p>
          <a:p>
            <a:pPr lvl="1"/>
            <a:r>
              <a:rPr lang="en-US" dirty="0"/>
              <a:t>Promise</a:t>
            </a:r>
          </a:p>
          <a:p>
            <a:pPr lvl="1"/>
            <a:r>
              <a:rPr lang="en-US" dirty="0"/>
              <a:t>Promisor should reasonably expect reliance</a:t>
            </a:r>
          </a:p>
          <a:p>
            <a:pPr lvl="1"/>
            <a:r>
              <a:rPr lang="en-US" dirty="0"/>
              <a:t>Reliance</a:t>
            </a:r>
          </a:p>
          <a:p>
            <a:pPr lvl="1"/>
            <a:r>
              <a:rPr lang="en-US" dirty="0"/>
              <a:t>Enforcement necessary to prevent injustice</a:t>
            </a:r>
          </a:p>
          <a:p>
            <a:endParaRPr lang="en-US" dirty="0"/>
          </a:p>
        </p:txBody>
      </p:sp>
    </p:spTree>
    <p:extLst>
      <p:ext uri="{BB962C8B-B14F-4D97-AF65-F5344CB8AC3E}">
        <p14:creationId xmlns:p14="http://schemas.microsoft.com/office/powerpoint/2010/main" val="377902422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p:cNvSpPr>
            <a:spLocks noGrp="1"/>
          </p:cNvSpPr>
          <p:nvPr>
            <p:ph type="title"/>
          </p:nvPr>
        </p:nvSpPr>
        <p:spPr/>
        <p:txBody>
          <a:bodyPr/>
          <a:lstStyle/>
          <a:p>
            <a:r>
              <a:rPr lang="en-US" altLang="en-US" dirty="0"/>
              <a:t>D&amp;G Stout v. Bacardi Imports (138)</a:t>
            </a:r>
          </a:p>
        </p:txBody>
      </p:sp>
      <p:sp>
        <p:nvSpPr>
          <p:cNvPr id="3" name="Content Placeholder 2"/>
          <p:cNvSpPr>
            <a:spLocks noGrp="1"/>
          </p:cNvSpPr>
          <p:nvPr>
            <p:ph sz="quarter" idx="1"/>
          </p:nvPr>
        </p:nvSpPr>
        <p:spPr>
          <a:xfrm>
            <a:off x="457200" y="1219200"/>
            <a:ext cx="8229600" cy="4937125"/>
          </a:xfrm>
        </p:spPr>
        <p:txBody>
          <a:bodyPr/>
          <a:lstStyle/>
          <a:p>
            <a:pPr>
              <a:defRPr/>
            </a:pPr>
            <a:r>
              <a:rPr lang="en-US" dirty="0"/>
              <a:t>What was the promise? Was it broken?</a:t>
            </a:r>
          </a:p>
          <a:p>
            <a:pPr>
              <a:defRPr/>
            </a:pPr>
            <a:r>
              <a:rPr lang="en-US" dirty="0"/>
              <a:t>Was it reasonable to expect reliance?</a:t>
            </a:r>
          </a:p>
          <a:p>
            <a:pPr>
              <a:defRPr/>
            </a:pPr>
            <a:r>
              <a:rPr lang="en-US" dirty="0"/>
              <a:t>What was the reliance?</a:t>
            </a:r>
          </a:p>
          <a:p>
            <a:pPr>
              <a:defRPr/>
            </a:pPr>
            <a:r>
              <a:rPr lang="en-US" dirty="0"/>
              <a:t>Was enforcement necessary to prevent injustice?</a:t>
            </a:r>
          </a:p>
          <a:p>
            <a:pPr>
              <a:defRPr/>
            </a:pPr>
            <a:r>
              <a:rPr lang="en-US" dirty="0"/>
              <a:t>What remedy would the court provide?</a:t>
            </a:r>
          </a:p>
          <a:p>
            <a:pPr>
              <a:defRPr/>
            </a:pPr>
            <a:r>
              <a:rPr lang="en-US" dirty="0"/>
              <a:t>Are these expectation or reliance damages?</a:t>
            </a:r>
          </a:p>
        </p:txBody>
      </p:sp>
    </p:spTree>
    <p:extLst>
      <p:ext uri="{BB962C8B-B14F-4D97-AF65-F5344CB8AC3E}">
        <p14:creationId xmlns:p14="http://schemas.microsoft.com/office/powerpoint/2010/main" val="393609308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p:txBody>
          <a:bodyPr/>
          <a:lstStyle/>
          <a:p>
            <a:r>
              <a:rPr lang="en-US" altLang="en-US" dirty="0"/>
              <a:t>Justifications for consideration</a:t>
            </a:r>
          </a:p>
        </p:txBody>
      </p:sp>
      <p:sp>
        <p:nvSpPr>
          <p:cNvPr id="15363" name="Content Placeholder 2"/>
          <p:cNvSpPr>
            <a:spLocks noGrp="1"/>
          </p:cNvSpPr>
          <p:nvPr>
            <p:ph sz="quarter" idx="1"/>
          </p:nvPr>
        </p:nvSpPr>
        <p:spPr>
          <a:xfrm>
            <a:off x="457200" y="1219200"/>
            <a:ext cx="8229600" cy="4952999"/>
          </a:xfrm>
        </p:spPr>
        <p:txBody>
          <a:bodyPr>
            <a:normAutofit/>
          </a:bodyPr>
          <a:lstStyle/>
          <a:p>
            <a:pPr marL="0" indent="0">
              <a:buNone/>
            </a:pPr>
            <a:r>
              <a:rPr lang="en-US" altLang="en-US" dirty="0"/>
              <a:t>Key policy considerations:</a:t>
            </a:r>
          </a:p>
          <a:p>
            <a:r>
              <a:rPr lang="en-US" altLang="en-US" dirty="0"/>
              <a:t>Autonomy</a:t>
            </a:r>
          </a:p>
          <a:p>
            <a:r>
              <a:rPr lang="en-US" altLang="en-US" dirty="0"/>
              <a:t>Efficiency</a:t>
            </a:r>
          </a:p>
          <a:p>
            <a:r>
              <a:rPr lang="en-US" altLang="en-US" dirty="0"/>
              <a:t>Fairness</a:t>
            </a:r>
          </a:p>
          <a:p>
            <a:r>
              <a:rPr lang="en-US" altLang="en-US" dirty="0"/>
              <a:t>Distributive justice</a:t>
            </a:r>
          </a:p>
          <a:p>
            <a:pPr marL="0" indent="0">
              <a:buNone/>
            </a:pPr>
            <a:endParaRPr lang="en-US" altLang="en-US" dirty="0"/>
          </a:p>
          <a:p>
            <a:pPr marL="0" indent="0">
              <a:buNone/>
            </a:pPr>
            <a:r>
              <a:rPr lang="en-US" altLang="en-US" dirty="0"/>
              <a:t>Why require consideration?</a:t>
            </a:r>
          </a:p>
          <a:p>
            <a:r>
              <a:rPr lang="en-US" altLang="en-US" dirty="0"/>
              <a:t>Provides evidence of the promise?</a:t>
            </a:r>
          </a:p>
          <a:p>
            <a:r>
              <a:rPr lang="en-US" altLang="en-US" dirty="0"/>
              <a:t>Indicates caution and intention to be bound?</a:t>
            </a:r>
          </a:p>
          <a:p>
            <a:r>
              <a:rPr lang="en-US" altLang="en-US" dirty="0"/>
              <a:t>Ensures fairness?</a:t>
            </a:r>
          </a:p>
        </p:txBody>
      </p:sp>
    </p:spTree>
    <p:extLst>
      <p:ext uri="{BB962C8B-B14F-4D97-AF65-F5344CB8AC3E}">
        <p14:creationId xmlns:p14="http://schemas.microsoft.com/office/powerpoint/2010/main" val="222104302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p:txBody>
          <a:bodyPr/>
          <a:lstStyle/>
          <a:p>
            <a:r>
              <a:rPr lang="en-US" altLang="en-US" dirty="0"/>
              <a:t>Justifications for promissory estoppel</a:t>
            </a:r>
          </a:p>
        </p:txBody>
      </p:sp>
      <p:sp>
        <p:nvSpPr>
          <p:cNvPr id="15363" name="Content Placeholder 2"/>
          <p:cNvSpPr>
            <a:spLocks noGrp="1"/>
          </p:cNvSpPr>
          <p:nvPr>
            <p:ph sz="quarter" idx="1"/>
          </p:nvPr>
        </p:nvSpPr>
        <p:spPr>
          <a:xfrm>
            <a:off x="457200" y="1219200"/>
            <a:ext cx="8229600" cy="5105400"/>
          </a:xfrm>
        </p:spPr>
        <p:txBody>
          <a:bodyPr>
            <a:noAutofit/>
          </a:bodyPr>
          <a:lstStyle/>
          <a:p>
            <a:pPr marL="0" indent="0">
              <a:buNone/>
            </a:pPr>
            <a:r>
              <a:rPr lang="en-US" altLang="en-US" dirty="0"/>
              <a:t>Key policy considerations:</a:t>
            </a:r>
          </a:p>
          <a:p>
            <a:r>
              <a:rPr lang="en-US" altLang="en-US" dirty="0"/>
              <a:t>Autonomy</a:t>
            </a:r>
          </a:p>
          <a:p>
            <a:r>
              <a:rPr lang="en-US" altLang="en-US" dirty="0"/>
              <a:t>Efficiency</a:t>
            </a:r>
          </a:p>
          <a:p>
            <a:r>
              <a:rPr lang="en-US" altLang="en-US" dirty="0"/>
              <a:t>Fairness</a:t>
            </a:r>
          </a:p>
          <a:p>
            <a:r>
              <a:rPr lang="en-US" altLang="en-US" dirty="0"/>
              <a:t>Distributive justice</a:t>
            </a:r>
          </a:p>
          <a:p>
            <a:pPr marL="0" indent="0">
              <a:buNone/>
            </a:pPr>
            <a:endParaRPr lang="en-US" altLang="en-US" dirty="0"/>
          </a:p>
          <a:p>
            <a:pPr marL="0" indent="0">
              <a:buNone/>
            </a:pPr>
            <a:r>
              <a:rPr lang="en-US" altLang="en-US" dirty="0"/>
              <a:t>Why is foreseeable reliance a substitute for consideration?</a:t>
            </a:r>
          </a:p>
          <a:p>
            <a:r>
              <a:rPr lang="en-US" altLang="en-US" dirty="0"/>
              <a:t>Provides evidence of the promise?</a:t>
            </a:r>
          </a:p>
          <a:p>
            <a:r>
              <a:rPr lang="en-US" altLang="en-US" dirty="0"/>
              <a:t>Induces caution? Indicates intention to be bound?</a:t>
            </a:r>
          </a:p>
          <a:p>
            <a:r>
              <a:rPr lang="en-US" altLang="en-US" dirty="0"/>
              <a:t>Ensures fairness by protecting </a:t>
            </a:r>
            <a:r>
              <a:rPr lang="en-US" altLang="en-US" dirty="0" err="1"/>
              <a:t>promisees</a:t>
            </a:r>
            <a:r>
              <a:rPr lang="en-US" altLang="en-US" dirty="0"/>
              <a:t> who behave reasonably from harm in the form of detrimental reliance?</a:t>
            </a:r>
          </a:p>
        </p:txBody>
      </p:sp>
    </p:spTree>
    <p:extLst>
      <p:ext uri="{BB962C8B-B14F-4D97-AF65-F5344CB8AC3E}">
        <p14:creationId xmlns:p14="http://schemas.microsoft.com/office/powerpoint/2010/main" val="179990598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rigin">
  <a:themeElements>
    <a:clrScheme name="Origin">
      <a:dk1>
        <a:sysClr val="windowText" lastClr="000000"/>
      </a:dk1>
      <a:lt1>
        <a:sysClr val="window" lastClr="FFFFFF"/>
      </a:lt1>
      <a:dk2>
        <a:srgbClr val="464653"/>
      </a:dk2>
      <a:lt2>
        <a:srgbClr val="DDE9EC"/>
      </a:lt2>
      <a:accent1>
        <a:srgbClr val="727CA3"/>
      </a:accent1>
      <a:accent2>
        <a:srgbClr val="9FB8CD"/>
      </a:accent2>
      <a:accent3>
        <a:srgbClr val="D2DA7A"/>
      </a:accent3>
      <a:accent4>
        <a:srgbClr val="FADA7A"/>
      </a:accent4>
      <a:accent5>
        <a:srgbClr val="B88472"/>
      </a:accent5>
      <a:accent6>
        <a:srgbClr val="8E736A"/>
      </a:accent6>
      <a:hlink>
        <a:srgbClr val="B292CA"/>
      </a:hlink>
      <a:folHlink>
        <a:srgbClr val="6B5680"/>
      </a:folHlink>
    </a:clrScheme>
    <a:fontScheme name="Origin">
      <a:majorFont>
        <a:latin typeface="Bookman Old Style"/>
        <a:ea typeface=""/>
        <a:cs typeface=""/>
        <a:font script="Grek" typeface="Cambria"/>
        <a:font script="Cyrl" typeface="Cambria"/>
        <a:font script="Jpan" typeface="HG明朝E"/>
        <a:font script="Hang" typeface="돋움"/>
        <a:font script="Hans" typeface="宋体"/>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a:ea typeface=""/>
        <a:cs typeface=""/>
        <a:font script="Grek" typeface="Calibri"/>
        <a:font script="Cyrl" typeface="Calibri"/>
        <a:font script="Jpan" typeface="ＭＳ Ｐゴシック"/>
        <a:font script="Hang" typeface="맑은 고딕"/>
        <a:font script="Hans" typeface="华文新魏"/>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rigin">
      <a:fillStyleLst>
        <a:solidFill>
          <a:schemeClr val="phClr"/>
        </a:solidFill>
        <a:gradFill rotWithShape="1">
          <a:gsLst>
            <a:gs pos="0">
              <a:schemeClr val="phClr">
                <a:tint val="45000"/>
                <a:satMod val="200000"/>
              </a:schemeClr>
            </a:gs>
            <a:gs pos="30000">
              <a:schemeClr val="phClr">
                <a:tint val="61000"/>
                <a:satMod val="200000"/>
              </a:schemeClr>
            </a:gs>
            <a:gs pos="45000">
              <a:schemeClr val="phClr">
                <a:tint val="66000"/>
                <a:satMod val="200000"/>
              </a:schemeClr>
            </a:gs>
            <a:gs pos="55000">
              <a:schemeClr val="phClr">
                <a:tint val="66000"/>
                <a:satMod val="200000"/>
              </a:schemeClr>
            </a:gs>
            <a:gs pos="73000">
              <a:schemeClr val="phClr">
                <a:tint val="61000"/>
                <a:satMod val="200000"/>
              </a:schemeClr>
            </a:gs>
            <a:gs pos="100000">
              <a:schemeClr val="phClr">
                <a:tint val="45000"/>
                <a:satMod val="200000"/>
              </a:schemeClr>
            </a:gs>
          </a:gsLst>
          <a:lin ang="950000" scaled="1"/>
        </a:gradFill>
        <a:gradFill rotWithShape="1">
          <a:gsLst>
            <a:gs pos="0">
              <a:schemeClr val="phClr">
                <a:shade val="63000"/>
              </a:schemeClr>
            </a:gs>
            <a:gs pos="30000">
              <a:schemeClr val="phClr">
                <a:shade val="90000"/>
                <a:satMod val="110000"/>
              </a:schemeClr>
            </a:gs>
            <a:gs pos="45000">
              <a:schemeClr val="phClr">
                <a:shade val="100000"/>
                <a:satMod val="118000"/>
              </a:schemeClr>
            </a:gs>
            <a:gs pos="55000">
              <a:schemeClr val="phClr">
                <a:shade val="100000"/>
                <a:satMod val="118000"/>
              </a:schemeClr>
            </a:gs>
            <a:gs pos="73000">
              <a:schemeClr val="phClr">
                <a:shade val="90000"/>
                <a:satMod val="110000"/>
              </a:schemeClr>
            </a:gs>
            <a:gs pos="100000">
              <a:schemeClr val="phClr">
                <a:shade val="63000"/>
              </a:schemeClr>
            </a:gs>
          </a:gsLst>
          <a:lin ang="950000" scaled="1"/>
        </a:gradFill>
      </a:fillStyleLst>
      <a:lnStyleLst>
        <a:ln w="9525"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3000" dir="5400000" rotWithShape="0">
              <a:srgbClr val="000000">
                <a:alpha val="40000"/>
              </a:srgbClr>
            </a:outerShdw>
          </a:effectLst>
          <a:scene3d>
            <a:camera prst="orthographicFront" fov="0">
              <a:rot lat="0" lon="0" rev="0"/>
            </a:camera>
            <a:lightRig rig="balanced" dir="t">
              <a:rot lat="0" lon="0" rev="0"/>
            </a:lightRig>
          </a:scene3d>
          <a:sp3d prstMaterial="matte">
            <a:bevelT w="0" h="0"/>
            <a:contourClr>
              <a:schemeClr val="phClr">
                <a:tint val="100000"/>
                <a:shade val="100000"/>
                <a:hueMod val="100000"/>
                <a:satMod val="100000"/>
              </a:schemeClr>
            </a:contourClr>
          </a:sp3d>
        </a:effectStyle>
        <a:effectStyle>
          <a:effectLst>
            <a:outerShdw blurRad="50800" dist="25400" dir="5400000" rotWithShape="0">
              <a:srgbClr val="000000">
                <a:alpha val="50000"/>
              </a:srgbClr>
            </a:outerShdw>
          </a:effectLst>
          <a:scene3d>
            <a:camera prst="orthographicFront" fov="0">
              <a:rot lat="0" lon="0" rev="0"/>
            </a:camera>
            <a:lightRig rig="soft" dir="t">
              <a:rot lat="0" lon="0" rev="2700000"/>
            </a:lightRig>
          </a:scene3d>
          <a:sp3d prstMaterial="matte">
            <a:bevelT w="50800" h="50800"/>
            <a:contourClr>
              <a:schemeClr val="phClr"/>
            </a:contourClr>
          </a:sp3d>
        </a:effectStyle>
      </a:effectStyleLst>
      <a:bgFillStyleLst>
        <a:solidFill>
          <a:schemeClr val="phClr"/>
        </a:solidFill>
        <a:gradFill rotWithShape="1">
          <a:gsLst>
            <a:gs pos="0">
              <a:schemeClr val="phClr">
                <a:shade val="60000"/>
                <a:satMod val="300000"/>
              </a:schemeClr>
            </a:gs>
            <a:gs pos="30000">
              <a:schemeClr val="phClr">
                <a:shade val="80000"/>
                <a:satMod val="230000"/>
              </a:schemeClr>
            </a:gs>
            <a:gs pos="100000">
              <a:schemeClr val="phClr">
                <a:tint val="97000"/>
                <a:satMod val="220000"/>
              </a:schemeClr>
            </a:gs>
          </a:gsLst>
          <a:lin ang="16200000" scaled="1"/>
        </a:gradFill>
        <a:blipFill>
          <a:blip xmlns:r="http://schemas.openxmlformats.org/officeDocument/2006/relationships" r:embed="rId1">
            <a:duotone>
              <a:schemeClr val="phClr">
                <a:shade val="6000"/>
                <a:satMod val="120000"/>
              </a:schemeClr>
              <a:schemeClr val="phClr">
                <a:tint val="90000"/>
              </a:schemeClr>
            </a:duotone>
          </a:blip>
          <a:tile tx="0" ty="0" sx="35000" sy="40000" flip="x"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490</TotalTime>
  <Words>1282</Words>
  <Application>Microsoft Office PowerPoint</Application>
  <PresentationFormat>On-screen Show (4:3)</PresentationFormat>
  <Paragraphs>144</Paragraphs>
  <Slides>21</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21</vt:i4>
      </vt:variant>
    </vt:vector>
  </HeadingPairs>
  <TitlesOfParts>
    <vt:vector size="27" baseType="lpstr">
      <vt:lpstr>Bookman Old Style</vt:lpstr>
      <vt:lpstr>Calibri</vt:lpstr>
      <vt:lpstr>Gill Sans MT</vt:lpstr>
      <vt:lpstr>Wingdings</vt:lpstr>
      <vt:lpstr>Wingdings 3</vt:lpstr>
      <vt:lpstr>Origin</vt:lpstr>
      <vt:lpstr>Class 5: Promissory estoppel and Restitution </vt:lpstr>
      <vt:lpstr>Topics</vt:lpstr>
      <vt:lpstr>Overview of restitution</vt:lpstr>
      <vt:lpstr>History of promissory estoppel</vt:lpstr>
      <vt:lpstr>Applications of promissory estoppel</vt:lpstr>
      <vt:lpstr>Elements of promissory estoppel</vt:lpstr>
      <vt:lpstr>Elements of promissory estoppel</vt:lpstr>
      <vt:lpstr>Charitable subscriptions</vt:lpstr>
      <vt:lpstr>Differences between contract and promissory estoppel</vt:lpstr>
      <vt:lpstr>Ricketts v. Scothorn (121)</vt:lpstr>
      <vt:lpstr>Ricketts v. Scothorn (121)</vt:lpstr>
      <vt:lpstr>Elements of promissory estoppel</vt:lpstr>
      <vt:lpstr>Elements of promissory estoppel</vt:lpstr>
      <vt:lpstr>The concept of employment-at-will</vt:lpstr>
      <vt:lpstr>Consideration for an employer’s promise: Feinberg v. Pfeiffer Co. (69, 127)</vt:lpstr>
      <vt:lpstr>Feinberg v. Pfeiffer Co. (69, 127)</vt:lpstr>
      <vt:lpstr>Problem: Drafting for Mr. Lippman (73)</vt:lpstr>
      <vt:lpstr>Cohen v. Cowles Media (135)</vt:lpstr>
      <vt:lpstr>D&amp;G Stout v. Bacardi Imports (138)</vt:lpstr>
      <vt:lpstr>Justifications for consideration</vt:lpstr>
      <vt:lpstr>Justifications for promissory estoppel</vt:lpstr>
    </vt:vector>
  </TitlesOfParts>
  <Company>NYU School of Law</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Class 5: Promissory estoppel and Restitution</dc:title>
  <dc:creator>Davis, Kevin</dc:creator>
  <cp:lastModifiedBy>Davis, Kevin</cp:lastModifiedBy>
  <cp:revision>31</cp:revision>
  <dcterms:created xsi:type="dcterms:W3CDTF">2014-09-12T15:55:44Z</dcterms:created>
  <dcterms:modified xsi:type="dcterms:W3CDTF">2026-09-08T14:48:31Z</dcterms:modified>
</cp:coreProperties>
</file>