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82" r:id="rId3"/>
    <p:sldId id="258" r:id="rId4"/>
    <p:sldId id="283" r:id="rId5"/>
    <p:sldId id="279" r:id="rId6"/>
    <p:sldId id="281" r:id="rId7"/>
    <p:sldId id="303" r:id="rId8"/>
    <p:sldId id="304" r:id="rId9"/>
    <p:sldId id="276" r:id="rId10"/>
    <p:sldId id="280" r:id="rId11"/>
    <p:sldId id="284" r:id="rId12"/>
    <p:sldId id="260" r:id="rId13"/>
    <p:sldId id="261" r:id="rId14"/>
    <p:sldId id="293" r:id="rId15"/>
    <p:sldId id="262" r:id="rId16"/>
    <p:sldId id="263" r:id="rId17"/>
    <p:sldId id="264" r:id="rId18"/>
    <p:sldId id="278" r:id="rId19"/>
    <p:sldId id="265" r:id="rId20"/>
    <p:sldId id="266" r:id="rId21"/>
    <p:sldId id="267" r:id="rId22"/>
    <p:sldId id="268" r:id="rId23"/>
    <p:sldId id="269" r:id="rId24"/>
    <p:sldId id="296" r:id="rId25"/>
    <p:sldId id="297" r:id="rId26"/>
    <p:sldId id="298" r:id="rId27"/>
    <p:sldId id="299" r:id="rId28"/>
    <p:sldId id="300" r:id="rId29"/>
    <p:sldId id="301" r:id="rId30"/>
    <p:sldId id="302"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07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778081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047141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9/14/2026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92768053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40732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808205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150396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4273965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5178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9/14/2026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01200264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3247285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2227045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362838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9/14/2026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2204774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normAutofit fontScale="90000"/>
          </a:bodyPr>
          <a:lstStyle/>
          <a:p>
            <a:pPr eaLnBrk="1" hangingPunct="1"/>
            <a:r>
              <a:rPr lang="en-US" altLang="en-US" dirty="0"/>
              <a:t>Class 8: Firm offers and formation under Article 2</a:t>
            </a:r>
            <a:br>
              <a:rPr lang="en-US" altLang="en-US" dirty="0"/>
            </a:br>
            <a:endParaRPr lang="en-US" altLang="en-US" dirty="0"/>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3344623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questions</a:t>
            </a:r>
          </a:p>
        </p:txBody>
      </p:sp>
      <p:sp>
        <p:nvSpPr>
          <p:cNvPr id="5" name="Content Placeholder 4"/>
          <p:cNvSpPr>
            <a:spLocks noGrp="1"/>
          </p:cNvSpPr>
          <p:nvPr>
            <p:ph sz="quarter" idx="1"/>
          </p:nvPr>
        </p:nvSpPr>
        <p:spPr/>
        <p:txBody>
          <a:bodyPr/>
          <a:lstStyle/>
          <a:p>
            <a:r>
              <a:rPr lang="en-US" altLang="en-US" b="1" dirty="0"/>
              <a:t>Is there an enforceable promise?</a:t>
            </a:r>
          </a:p>
          <a:p>
            <a:r>
              <a:rPr lang="en-US" altLang="en-US" b="1" dirty="0"/>
              <a:t>Has it been breached?</a:t>
            </a:r>
          </a:p>
          <a:p>
            <a:r>
              <a:rPr lang="en-US" altLang="en-US" dirty="0"/>
              <a:t>Has performance been excused?</a:t>
            </a:r>
          </a:p>
          <a:p>
            <a:r>
              <a:rPr lang="en-US" altLang="en-US" dirty="0"/>
              <a:t>How should it be enforced?</a:t>
            </a:r>
          </a:p>
        </p:txBody>
      </p:sp>
    </p:spTree>
    <p:extLst>
      <p:ext uri="{BB962C8B-B14F-4D97-AF65-F5344CB8AC3E}">
        <p14:creationId xmlns:p14="http://schemas.microsoft.com/office/powerpoint/2010/main" val="2600869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altLang="en-US" dirty="0"/>
              <a:t>Firm offers</a:t>
            </a:r>
          </a:p>
          <a:p>
            <a:pPr eaLnBrk="1" hangingPunct="1"/>
            <a:r>
              <a:rPr lang="en-US" altLang="en-US" dirty="0"/>
              <a:t>Battle of the forms</a:t>
            </a:r>
          </a:p>
          <a:p>
            <a:pPr eaLnBrk="1" hangingPunct="1"/>
            <a:endParaRPr lang="en-US" altLang="en-US" dirty="0"/>
          </a:p>
        </p:txBody>
      </p:sp>
    </p:spTree>
    <p:extLst>
      <p:ext uri="{BB962C8B-B14F-4D97-AF65-F5344CB8AC3E}">
        <p14:creationId xmlns:p14="http://schemas.microsoft.com/office/powerpoint/2010/main" val="495751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Firm offers</a:t>
            </a: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2050913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Limits on the power of revocation</a:t>
            </a:r>
          </a:p>
        </p:txBody>
      </p:sp>
      <p:sp>
        <p:nvSpPr>
          <p:cNvPr id="3" name="Content Placeholder 2"/>
          <p:cNvSpPr>
            <a:spLocks noGrp="1"/>
          </p:cNvSpPr>
          <p:nvPr>
            <p:ph sz="quarter" idx="1"/>
          </p:nvPr>
        </p:nvSpPr>
        <p:spPr/>
        <p:txBody>
          <a:bodyPr>
            <a:normAutofit fontScale="92500"/>
          </a:bodyPr>
          <a:lstStyle/>
          <a:p>
            <a:r>
              <a:rPr lang="en-US" dirty="0"/>
              <a:t>A promise to hold an offer open is enforceable if:</a:t>
            </a:r>
          </a:p>
          <a:p>
            <a:pPr lvl="1"/>
            <a:r>
              <a:rPr lang="en-US" dirty="0"/>
              <a:t>Supported by consideration</a:t>
            </a:r>
          </a:p>
          <a:p>
            <a:pPr lvl="1"/>
            <a:r>
              <a:rPr lang="en-US" dirty="0"/>
              <a:t>Rendered enforceable by a statute such as UCC </a:t>
            </a:r>
            <a:r>
              <a:rPr lang="en-US" dirty="0">
                <a:latin typeface="Calibri" panose="020F0502020204030204" pitchFamily="34" charset="0"/>
                <a:cs typeface="Calibri" panose="020F0502020204030204" pitchFamily="34" charset="0"/>
              </a:rPr>
              <a:t>§ </a:t>
            </a:r>
            <a:r>
              <a:rPr lang="en-US" dirty="0"/>
              <a:t>2-205 or NY Gen </a:t>
            </a:r>
            <a:r>
              <a:rPr lang="en-US" dirty="0" err="1"/>
              <a:t>Oblig</a:t>
            </a:r>
            <a:r>
              <a:rPr lang="en-US" dirty="0"/>
              <a:t>. L. §  5-1109.</a:t>
            </a:r>
          </a:p>
          <a:p>
            <a:pPr lvl="1"/>
            <a:r>
              <a:rPr lang="en-US" dirty="0"/>
              <a:t>The offer is in writing and signed by the </a:t>
            </a:r>
            <a:r>
              <a:rPr lang="en-US" dirty="0" err="1"/>
              <a:t>offeror</a:t>
            </a:r>
            <a:r>
              <a:rPr lang="en-US" dirty="0"/>
              <a:t>, recites a purported consideration for the making of the offer, and proposes an exchange on fair terms within a reasonable time: Restatement § 87(1)</a:t>
            </a:r>
          </a:p>
          <a:p>
            <a:r>
              <a:rPr lang="en-US" dirty="0"/>
              <a:t>The Restatement calls an enforceable promise of this sort an “option contract” (Restatement § 25)</a:t>
            </a:r>
          </a:p>
          <a:p>
            <a:r>
              <a:rPr lang="en-US" dirty="0"/>
              <a:t>An offer may also become irrevocable when:</a:t>
            </a:r>
          </a:p>
          <a:p>
            <a:pPr lvl="1"/>
            <a:r>
              <a:rPr lang="en-US" dirty="0"/>
              <a:t>It seeks acceptance by performance and the offeree tenders or begins performance: Restatement §§ 45 or 62.</a:t>
            </a:r>
          </a:p>
          <a:p>
            <a:pPr lvl="1"/>
            <a:r>
              <a:rPr lang="en-US" dirty="0"/>
              <a:t>It has been relied upon: Restatement </a:t>
            </a:r>
            <a:r>
              <a:rPr lang="en-US" dirty="0">
                <a:latin typeface="Calibri" panose="020F0502020204030204" pitchFamily="34" charset="0"/>
                <a:cs typeface="Calibri" panose="020F0502020204030204" pitchFamily="34" charset="0"/>
              </a:rPr>
              <a:t>§87(2)</a:t>
            </a:r>
            <a:r>
              <a:rPr lang="en-US" dirty="0"/>
              <a:t>. </a:t>
            </a:r>
          </a:p>
          <a:p>
            <a:endParaRPr lang="en-US" dirty="0"/>
          </a:p>
          <a:p>
            <a:pPr lvl="1"/>
            <a:endParaRPr lang="en-US" dirty="0"/>
          </a:p>
          <a:p>
            <a:pPr marL="274320" lvl="1" indent="0">
              <a:buNone/>
            </a:pPr>
            <a:endParaRPr lang="en-US" dirty="0"/>
          </a:p>
        </p:txBody>
      </p:sp>
    </p:spTree>
    <p:extLst>
      <p:ext uri="{BB962C8B-B14F-4D97-AF65-F5344CB8AC3E}">
        <p14:creationId xmlns:p14="http://schemas.microsoft.com/office/powerpoint/2010/main" val="1749180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The Move to Maine (252)</a:t>
            </a:r>
          </a:p>
        </p:txBody>
      </p:sp>
      <p:sp>
        <p:nvSpPr>
          <p:cNvPr id="3" name="Content Placeholder 2"/>
          <p:cNvSpPr>
            <a:spLocks noGrp="1"/>
          </p:cNvSpPr>
          <p:nvPr>
            <p:ph sz="quarter" idx="1"/>
          </p:nvPr>
        </p:nvSpPr>
        <p:spPr/>
        <p:txBody>
          <a:bodyPr>
            <a:normAutofit/>
          </a:bodyPr>
          <a:lstStyle/>
          <a:p>
            <a:pPr marL="0" indent="0">
              <a:buNone/>
            </a:pPr>
            <a:r>
              <a:rPr lang="en-US" dirty="0"/>
              <a:t>“If you move to Maine and take care of me for the rest of my life you will have the place when I have passed away.”</a:t>
            </a:r>
          </a:p>
          <a:p>
            <a:endParaRPr lang="en-US" dirty="0"/>
          </a:p>
          <a:p>
            <a:pPr marL="0" indent="0">
              <a:buNone/>
            </a:pPr>
            <a:r>
              <a:rPr lang="en-US" dirty="0"/>
              <a:t>“If you will agree to move to Lewiston and care for me for on the home place you will have the place when I have passed away.”</a:t>
            </a:r>
          </a:p>
          <a:p>
            <a:pPr marL="0" indent="0">
              <a:buNone/>
            </a:pPr>
            <a:endParaRPr lang="en-US" dirty="0"/>
          </a:p>
          <a:p>
            <a:r>
              <a:rPr lang="en-US" dirty="0"/>
              <a:t>Is there a contract?</a:t>
            </a:r>
          </a:p>
          <a:p>
            <a:r>
              <a:rPr lang="en-US" dirty="0"/>
              <a:t>What if the </a:t>
            </a:r>
            <a:r>
              <a:rPr lang="en-US" dirty="0" err="1"/>
              <a:t>offeror</a:t>
            </a:r>
            <a:r>
              <a:rPr lang="en-US" dirty="0"/>
              <a:t> had died after the </a:t>
            </a:r>
            <a:r>
              <a:rPr lang="en-US" dirty="0" err="1"/>
              <a:t>offerees</a:t>
            </a:r>
            <a:r>
              <a:rPr lang="en-US" dirty="0"/>
              <a:t> sold their home and business but before they moved to Maine?</a:t>
            </a:r>
          </a:p>
        </p:txBody>
      </p:sp>
    </p:spTree>
    <p:extLst>
      <p:ext uri="{BB962C8B-B14F-4D97-AF65-F5344CB8AC3E}">
        <p14:creationId xmlns:p14="http://schemas.microsoft.com/office/powerpoint/2010/main" val="2915925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Notification of acceptance by performance</a:t>
            </a:r>
          </a:p>
        </p:txBody>
      </p:sp>
      <p:sp>
        <p:nvSpPr>
          <p:cNvPr id="3" name="Content Placeholder 2"/>
          <p:cNvSpPr>
            <a:spLocks noGrp="1"/>
          </p:cNvSpPr>
          <p:nvPr>
            <p:ph sz="quarter" idx="1"/>
          </p:nvPr>
        </p:nvSpPr>
        <p:spPr>
          <a:xfrm>
            <a:off x="457199" y="1219200"/>
            <a:ext cx="8534401" cy="4937760"/>
          </a:xfrm>
        </p:spPr>
        <p:txBody>
          <a:bodyPr>
            <a:noAutofit/>
          </a:bodyPr>
          <a:lstStyle/>
          <a:p>
            <a:pPr marL="0" indent="0">
              <a:buNone/>
            </a:pPr>
            <a:r>
              <a:rPr lang="en-US" sz="2300" dirty="0"/>
              <a:t>§ 54 Acceptance by Performance; Necessity of Notification to Offeror</a:t>
            </a:r>
          </a:p>
          <a:p>
            <a:pPr marL="0" indent="0">
              <a:buNone/>
            </a:pPr>
            <a:r>
              <a:rPr lang="en-US" sz="2300" dirty="0"/>
              <a:t>(1) Where an offer invites an offeree to accept by rendering a performance, no notification is necessary to make such an acceptance effective unless the offer requests such a notification.</a:t>
            </a:r>
          </a:p>
          <a:p>
            <a:pPr marL="0" indent="0">
              <a:buNone/>
            </a:pPr>
            <a:r>
              <a:rPr lang="en-US" sz="2300" dirty="0"/>
              <a:t>(2) If an offeree who accepts by rendering a performance has reason to know that the offeror has no adequate means of learning of the performance with reasonable promptness and certainty, the contractual duty of the offeror is discharged unless</a:t>
            </a:r>
          </a:p>
          <a:p>
            <a:pPr marL="0" indent="0">
              <a:buNone/>
            </a:pPr>
            <a:r>
              <a:rPr lang="en-US" sz="2300" dirty="0"/>
              <a:t>(a) the offeree exercises reasonable diligence to notify the offeror of acceptance, or</a:t>
            </a:r>
          </a:p>
          <a:p>
            <a:pPr marL="0" indent="0">
              <a:buNone/>
            </a:pPr>
            <a:r>
              <a:rPr lang="en-US" sz="2300" dirty="0"/>
              <a:t>(b) the offeror learns of the performance within a reasonable time, or</a:t>
            </a:r>
          </a:p>
          <a:p>
            <a:pPr marL="0" indent="0">
              <a:buNone/>
            </a:pPr>
            <a:r>
              <a:rPr lang="en-US" sz="2300" dirty="0"/>
              <a:t>(c) the offer indicates that notification of acceptance is not required.</a:t>
            </a:r>
          </a:p>
        </p:txBody>
      </p:sp>
    </p:spTree>
    <p:extLst>
      <p:ext uri="{BB962C8B-B14F-4D97-AF65-F5344CB8AC3E}">
        <p14:creationId xmlns:p14="http://schemas.microsoft.com/office/powerpoint/2010/main" val="1569114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0"/>
            <a:ext cx="4873336" cy="6821631"/>
          </a:xfrm>
          <a:prstGeom prst="rect">
            <a:avLst/>
          </a:prstGeom>
        </p:spPr>
      </p:pic>
    </p:spTree>
    <p:extLst>
      <p:ext uri="{BB962C8B-B14F-4D97-AF65-F5344CB8AC3E}">
        <p14:creationId xmlns:p14="http://schemas.microsoft.com/office/powerpoint/2010/main" val="2152718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Carlill</a:t>
            </a:r>
            <a:r>
              <a:rPr lang="en-US" dirty="0"/>
              <a:t> v. Carbolic Smoke Ball (228)</a:t>
            </a:r>
          </a:p>
        </p:txBody>
      </p:sp>
      <p:sp>
        <p:nvSpPr>
          <p:cNvPr id="3" name="Content Placeholder 2"/>
          <p:cNvSpPr>
            <a:spLocks noGrp="1"/>
          </p:cNvSpPr>
          <p:nvPr>
            <p:ph sz="quarter" idx="1"/>
          </p:nvPr>
        </p:nvSpPr>
        <p:spPr/>
        <p:txBody>
          <a:bodyPr>
            <a:normAutofit fontScale="92500" lnSpcReduction="10000"/>
          </a:bodyPr>
          <a:lstStyle/>
          <a:p>
            <a:pPr marL="0" indent="0">
              <a:buNone/>
            </a:pPr>
            <a:r>
              <a:rPr lang="en-US" dirty="0"/>
              <a:t>“£100 reward will be paid by the Carbolic Smoke Ball Company to any person who contracts the influenza after having used the ball three times daily for two weeks according to the printed directions supplied with each ball...£1000 is deposited with the Alliance Bank, shewing our sincerity in the matter.”</a:t>
            </a:r>
          </a:p>
          <a:p>
            <a:pPr marL="0" indent="0">
              <a:buNone/>
            </a:pPr>
            <a:endParaRPr lang="en-US" dirty="0"/>
          </a:p>
          <a:p>
            <a:r>
              <a:rPr lang="en-US" dirty="0"/>
              <a:t>Was the advertisement an offer?</a:t>
            </a:r>
          </a:p>
          <a:p>
            <a:r>
              <a:rPr lang="en-US" dirty="0"/>
              <a:t>Could it be revoked before Mrs. </a:t>
            </a:r>
            <a:r>
              <a:rPr lang="en-US" dirty="0" err="1"/>
              <a:t>Carlill</a:t>
            </a:r>
            <a:r>
              <a:rPr lang="en-US" dirty="0"/>
              <a:t> notified them of her claim? </a:t>
            </a:r>
          </a:p>
          <a:p>
            <a:r>
              <a:rPr lang="en-US" dirty="0"/>
              <a:t>Could it be revoked after she bought the smoke ball but before she had used it as directed? Before she contracted influenza?</a:t>
            </a:r>
          </a:p>
          <a:p>
            <a:r>
              <a:rPr lang="en-US" dirty="0"/>
              <a:t>What was the consideration?</a:t>
            </a:r>
          </a:p>
        </p:txBody>
      </p:sp>
    </p:spTree>
    <p:extLst>
      <p:ext uri="{BB962C8B-B14F-4D97-AF65-F5344CB8AC3E}">
        <p14:creationId xmlns:p14="http://schemas.microsoft.com/office/powerpoint/2010/main" val="974677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Drennan</a:t>
            </a:r>
            <a:r>
              <a:rPr lang="en-US" dirty="0"/>
              <a:t> v. Star Paving (253)</a:t>
            </a:r>
          </a:p>
        </p:txBody>
      </p:sp>
      <p:sp>
        <p:nvSpPr>
          <p:cNvPr id="3" name="Content Placeholder 2"/>
          <p:cNvSpPr>
            <a:spLocks noGrp="1"/>
          </p:cNvSpPr>
          <p:nvPr>
            <p:ph sz="quarter" idx="1"/>
          </p:nvPr>
        </p:nvSpPr>
        <p:spPr/>
        <p:txBody>
          <a:bodyPr>
            <a:normAutofit/>
          </a:bodyPr>
          <a:lstStyle/>
          <a:p>
            <a:r>
              <a:rPr lang="en-US" dirty="0"/>
              <a:t>What was the offer?</a:t>
            </a:r>
          </a:p>
          <a:p>
            <a:r>
              <a:rPr lang="en-US" dirty="0"/>
              <a:t>Was there any indication that it was irrevocable?</a:t>
            </a:r>
          </a:p>
          <a:p>
            <a:r>
              <a:rPr lang="en-US" dirty="0"/>
              <a:t>What form of acceptance was sought? </a:t>
            </a:r>
          </a:p>
          <a:p>
            <a:r>
              <a:rPr lang="en-US" dirty="0"/>
              <a:t>Did </a:t>
            </a:r>
            <a:r>
              <a:rPr lang="en-US" dirty="0" err="1"/>
              <a:t>Drennan</a:t>
            </a:r>
            <a:r>
              <a:rPr lang="en-US" dirty="0"/>
              <a:t> do anything that could be construed as acceptance prior to revocation?</a:t>
            </a:r>
          </a:p>
          <a:p>
            <a:r>
              <a:rPr lang="en-US" dirty="0"/>
              <a:t>Did </a:t>
            </a:r>
            <a:r>
              <a:rPr lang="en-US" dirty="0" err="1"/>
              <a:t>Drennan</a:t>
            </a:r>
            <a:r>
              <a:rPr lang="en-US" dirty="0"/>
              <a:t> rely on the offer?</a:t>
            </a:r>
          </a:p>
          <a:p>
            <a:r>
              <a:rPr lang="en-US" dirty="0"/>
              <a:t>How would this case be resolved in New York?</a:t>
            </a:r>
          </a:p>
          <a:p>
            <a:r>
              <a:rPr lang="en-US" dirty="0"/>
              <a:t>How did the court justify making the offer irrevocable?</a:t>
            </a:r>
          </a:p>
          <a:p>
            <a:r>
              <a:rPr lang="en-US" dirty="0"/>
              <a:t>Why might a bidder be reluctant to make an irrevocable offer?  What did the court do to alleviate those concerns?</a:t>
            </a:r>
          </a:p>
          <a:p>
            <a:endParaRPr lang="en-US" dirty="0"/>
          </a:p>
        </p:txBody>
      </p:sp>
    </p:spTree>
    <p:extLst>
      <p:ext uri="{BB962C8B-B14F-4D97-AF65-F5344CB8AC3E}">
        <p14:creationId xmlns:p14="http://schemas.microsoft.com/office/powerpoint/2010/main" val="1788190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Battle of the forms</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823114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077239662"/>
              </p:ext>
            </p:extLst>
          </p:nvPr>
        </p:nvGraphicFramePr>
        <p:xfrm>
          <a:off x="685800" y="1676400"/>
          <a:ext cx="7848601" cy="2373313"/>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362201">
                  <a:extLst>
                    <a:ext uri="{9D8B030D-6E8A-4147-A177-3AD203B41FA5}">
                      <a16:colId xmlns:a16="http://schemas.microsoft.com/office/drawing/2014/main" val="20002"/>
                    </a:ext>
                  </a:extLst>
                </a:gridCol>
              </a:tblGrid>
              <a:tr h="556144">
                <a:tc>
                  <a:txBody>
                    <a:bodyPr/>
                    <a:lstStyle/>
                    <a:p>
                      <a:pPr marL="0" marR="0" algn="ctr">
                        <a:spcBef>
                          <a:spcPts val="0"/>
                        </a:spcBef>
                        <a:spcAft>
                          <a:spcPts val="0"/>
                        </a:spcAft>
                      </a:pPr>
                      <a:r>
                        <a:rPr lang="en-US" sz="1600" dirty="0">
                          <a:effectLst/>
                        </a:rPr>
                        <a:t>Form 1</a:t>
                      </a:r>
                      <a:endParaRPr lang="en-US" sz="1600" dirty="0">
                        <a:effectLst/>
                        <a:latin typeface="Times New Roman"/>
                        <a:ea typeface="Times New Roman"/>
                      </a:endParaRPr>
                    </a:p>
                  </a:txBody>
                  <a:tcPr marL="68580" marR="68580" marT="0" marB="0"/>
                </a:tc>
                <a:tc>
                  <a:txBody>
                    <a:bodyPr/>
                    <a:lstStyle/>
                    <a:p>
                      <a:pPr marL="0" marR="0" algn="ctr">
                        <a:spcBef>
                          <a:spcPts val="0"/>
                        </a:spcBef>
                        <a:spcAft>
                          <a:spcPts val="0"/>
                        </a:spcAft>
                      </a:pPr>
                      <a:r>
                        <a:rPr lang="en-US" sz="1600" dirty="0">
                          <a:effectLst/>
                        </a:rPr>
                        <a:t>Form 2</a:t>
                      </a:r>
                      <a:endParaRPr lang="en-US" sz="1600" dirty="0">
                        <a:effectLst/>
                        <a:latin typeface="Times New Roman"/>
                        <a:ea typeface="Times New Roman"/>
                      </a:endParaRPr>
                    </a:p>
                  </a:txBody>
                  <a:tcPr marL="68580" marR="68580" marT="0" marB="0"/>
                </a:tc>
                <a:tc>
                  <a:txBody>
                    <a:bodyPr/>
                    <a:lstStyle/>
                    <a:p>
                      <a:pPr marL="0" marR="0" algn="ctr">
                        <a:spcBef>
                          <a:spcPts val="0"/>
                        </a:spcBef>
                        <a:spcAft>
                          <a:spcPts val="0"/>
                        </a:spcAft>
                      </a:pPr>
                      <a:r>
                        <a:rPr lang="en-US" sz="1600" dirty="0">
                          <a:effectLst/>
                        </a:rPr>
                        <a:t>Conduct/Performance</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r h="556144">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r>
                        <a:rPr lang="en-US" sz="1600" baseline="0" dirty="0">
                          <a:effectLst/>
                        </a:rPr>
                        <a:t> of offer.</a:t>
                      </a:r>
                      <a:endParaRPr lang="en-US" sz="1600" dirty="0">
                        <a:effectLst/>
                      </a:endParaRPr>
                    </a:p>
                  </a:txBody>
                  <a:tcPr marL="68580" marR="68580" marT="0" marB="0"/>
                </a:tc>
                <a:extLst>
                  <a:ext uri="{0D108BD9-81ED-4DB2-BD59-A6C34878D82A}">
                    <a16:rowId xmlns:a16="http://schemas.microsoft.com/office/drawing/2014/main" val="10001"/>
                  </a:ext>
                </a:extLst>
              </a:tr>
              <a:tr h="1261025">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Rejection and counter-offer if</a:t>
                      </a:r>
                      <a:r>
                        <a:rPr lang="en-US" sz="1600" baseline="0" dirty="0">
                          <a:effectLst/>
                        </a:rPr>
                        <a:t> it does not exactly mirror the terms of the original offer.</a:t>
                      </a:r>
                      <a:endParaRPr lang="en-US" sz="1600" dirty="0">
                        <a:effectLst/>
                      </a:endParaRPr>
                    </a:p>
                  </a:txBody>
                  <a:tcPr marL="68580" marR="68580" marT="0" marB="0"/>
                </a:tc>
                <a:tc>
                  <a:txBody>
                    <a:bodyPr/>
                    <a:lstStyle/>
                    <a:p>
                      <a:pPr marL="0" marR="0">
                        <a:spcBef>
                          <a:spcPts val="0"/>
                        </a:spcBef>
                        <a:spcAft>
                          <a:spcPts val="0"/>
                        </a:spcAft>
                      </a:pPr>
                      <a:r>
                        <a:rPr lang="en-US" sz="1600" dirty="0">
                          <a:effectLst/>
                        </a:rPr>
                        <a:t>Acceptance</a:t>
                      </a:r>
                      <a:r>
                        <a:rPr lang="en-US" sz="1600" baseline="0" dirty="0">
                          <a:effectLst/>
                        </a:rPr>
                        <a:t> of counter-offer.</a:t>
                      </a:r>
                      <a:endParaRPr lang="en-US" sz="1600" dirty="0">
                        <a:effectLst/>
                      </a:endParaRPr>
                    </a:p>
                  </a:txBody>
                  <a:tcPr marL="68580" marR="68580" marT="0" marB="0"/>
                </a:tc>
                <a:extLst>
                  <a:ext uri="{0D108BD9-81ED-4DB2-BD59-A6C34878D82A}">
                    <a16:rowId xmlns:a16="http://schemas.microsoft.com/office/drawing/2014/main" val="10002"/>
                  </a:ext>
                </a:extLst>
              </a:tr>
            </a:tbl>
          </a:graphicData>
        </a:graphic>
      </p:graphicFrame>
      <p:sp>
        <p:nvSpPr>
          <p:cNvPr id="12308" name="Title 1"/>
          <p:cNvSpPr>
            <a:spLocks noGrp="1"/>
          </p:cNvSpPr>
          <p:nvPr>
            <p:ph type="title"/>
          </p:nvPr>
        </p:nvSpPr>
        <p:spPr/>
        <p:txBody>
          <a:bodyPr/>
          <a:lstStyle/>
          <a:p>
            <a:r>
              <a:rPr lang="en-US" altLang="en-US" sz="2400"/>
              <a:t>Battle of the forms at common law</a:t>
            </a:r>
          </a:p>
        </p:txBody>
      </p:sp>
    </p:spTree>
    <p:extLst>
      <p:ext uri="{BB962C8B-B14F-4D97-AF65-F5344CB8AC3E}">
        <p14:creationId xmlns:p14="http://schemas.microsoft.com/office/powerpoint/2010/main" val="1136677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dirty="0"/>
              <a:t>UCC § 2-204 – Formation in general</a:t>
            </a:r>
          </a:p>
        </p:txBody>
      </p:sp>
      <p:sp>
        <p:nvSpPr>
          <p:cNvPr id="13315" name="Content Placeholder 2"/>
          <p:cNvSpPr>
            <a:spLocks noGrp="1"/>
          </p:cNvSpPr>
          <p:nvPr>
            <p:ph sz="quarter" idx="1"/>
          </p:nvPr>
        </p:nvSpPr>
        <p:spPr>
          <a:xfrm>
            <a:off x="457200" y="1219200"/>
            <a:ext cx="8229600" cy="4937125"/>
          </a:xfrm>
        </p:spPr>
        <p:txBody>
          <a:bodyPr>
            <a:normAutofit/>
          </a:bodyPr>
          <a:lstStyle/>
          <a:p>
            <a:pPr marL="0" indent="0">
              <a:buFont typeface="Wingdings 3" pitchFamily="18" charset="2"/>
              <a:buNone/>
            </a:pPr>
            <a:r>
              <a:rPr lang="en-US" altLang="en-US" dirty="0"/>
              <a:t>(1) A contract for sale of goods may be made in any manner sufficient to show agreement, including conduct by both parties which recognizes the existence of such a contract.</a:t>
            </a:r>
          </a:p>
          <a:p>
            <a:pPr marL="0" indent="0">
              <a:buFont typeface="Wingdings 3" pitchFamily="18" charset="2"/>
              <a:buNone/>
            </a:pPr>
            <a:endParaRPr lang="en-US" altLang="en-US" dirty="0"/>
          </a:p>
          <a:p>
            <a:pPr marL="0" indent="0">
              <a:buFont typeface="Wingdings 3" pitchFamily="18" charset="2"/>
              <a:buNone/>
            </a:pPr>
            <a:r>
              <a:rPr lang="en-US" altLang="en-US" dirty="0"/>
              <a:t>(2) An agreement sufficient to constitute a contract for sale may be found even though the moment of its making is undetermined.</a:t>
            </a:r>
          </a:p>
        </p:txBody>
      </p:sp>
    </p:spTree>
    <p:extLst>
      <p:ext uri="{BB962C8B-B14F-4D97-AF65-F5344CB8AC3E}">
        <p14:creationId xmlns:p14="http://schemas.microsoft.com/office/powerpoint/2010/main" val="2223442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a:t>UCC § 2-207 – Formation rules</a:t>
            </a:r>
          </a:p>
        </p:txBody>
      </p:sp>
      <p:sp>
        <p:nvSpPr>
          <p:cNvPr id="13315" name="Content Placeholder 2"/>
          <p:cNvSpPr>
            <a:spLocks noGrp="1"/>
          </p:cNvSpPr>
          <p:nvPr>
            <p:ph sz="quarter" idx="1"/>
          </p:nvPr>
        </p:nvSpPr>
        <p:spPr>
          <a:xfrm>
            <a:off x="457200" y="1219200"/>
            <a:ext cx="8229600" cy="4937125"/>
          </a:xfrm>
        </p:spPr>
        <p:txBody>
          <a:bodyPr>
            <a:normAutofit/>
          </a:bodyPr>
          <a:lstStyle/>
          <a:p>
            <a:pPr marL="0" indent="0">
              <a:buFont typeface="Wingdings 3" pitchFamily="18" charset="2"/>
              <a:buNone/>
            </a:pPr>
            <a:r>
              <a:rPr lang="en-US" altLang="en-US" dirty="0"/>
              <a:t>(1) A definite and seasonable expression of acceptance or a written confirmation which is sent within a reasonable time operates as an acceptance even though it states terms additional to or different from those offered or agreed upon, unless acceptance is expressly made conditional on assent to the additional or different terms. </a:t>
            </a:r>
          </a:p>
          <a:p>
            <a:pPr marL="0" indent="0" algn="ctr">
              <a:buFont typeface="Wingdings 3" pitchFamily="18" charset="2"/>
              <a:buNone/>
            </a:pPr>
            <a:r>
              <a:rPr lang="en-US" altLang="en-US" dirty="0"/>
              <a:t>…</a:t>
            </a:r>
          </a:p>
          <a:p>
            <a:pPr marL="0" indent="0">
              <a:buFont typeface="Wingdings 3" pitchFamily="18" charset="2"/>
              <a:buNone/>
            </a:pPr>
            <a:r>
              <a:rPr lang="en-US" altLang="en-US" dirty="0"/>
              <a:t>(3) Conduct by both parties which recognizes the existence of a contract is sufficient to establish a contract for sale although the writings of the parties do not otherwise establish a contract….</a:t>
            </a:r>
          </a:p>
        </p:txBody>
      </p:sp>
    </p:spTree>
    <p:extLst>
      <p:ext uri="{BB962C8B-B14F-4D97-AF65-F5344CB8AC3E}">
        <p14:creationId xmlns:p14="http://schemas.microsoft.com/office/powerpoint/2010/main" val="1745139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a:t>UCC § 2-207 – Interpretation rules</a:t>
            </a:r>
          </a:p>
        </p:txBody>
      </p:sp>
      <p:sp>
        <p:nvSpPr>
          <p:cNvPr id="14339" name="Content Placeholder 2"/>
          <p:cNvSpPr>
            <a:spLocks noGrp="1"/>
          </p:cNvSpPr>
          <p:nvPr>
            <p:ph sz="quarter" idx="1"/>
          </p:nvPr>
        </p:nvSpPr>
        <p:spPr>
          <a:xfrm>
            <a:off x="457200" y="1219200"/>
            <a:ext cx="8382000" cy="4937125"/>
          </a:xfrm>
        </p:spPr>
        <p:txBody>
          <a:bodyPr>
            <a:normAutofit lnSpcReduction="10000"/>
          </a:bodyPr>
          <a:lstStyle/>
          <a:p>
            <a:pPr marL="0" indent="0">
              <a:buFont typeface="Wingdings 3" pitchFamily="18" charset="2"/>
              <a:buNone/>
            </a:pPr>
            <a:r>
              <a:rPr lang="en-US" altLang="en-US" sz="2400" dirty="0"/>
              <a:t>(2) The additional terms are to be construed as proposals for addition to the contract. Between merchants such terms become part of the contract unless: </a:t>
            </a:r>
          </a:p>
          <a:p>
            <a:pPr marL="0" indent="0">
              <a:buFont typeface="Wingdings 3" pitchFamily="18" charset="2"/>
              <a:buNone/>
            </a:pPr>
            <a:r>
              <a:rPr lang="en-US" altLang="en-US" sz="2400" dirty="0"/>
              <a:t>(a) the offer expressly limits acceptance to the terms of the offer; </a:t>
            </a:r>
          </a:p>
          <a:p>
            <a:pPr marL="0" indent="0">
              <a:buFont typeface="Wingdings 3" pitchFamily="18" charset="2"/>
              <a:buNone/>
            </a:pPr>
            <a:r>
              <a:rPr lang="en-US" altLang="en-US" sz="2400" dirty="0"/>
              <a:t>(b) they materially alter it; or </a:t>
            </a:r>
          </a:p>
          <a:p>
            <a:pPr marL="0" indent="0">
              <a:buFont typeface="Wingdings 3" pitchFamily="18" charset="2"/>
              <a:buNone/>
            </a:pPr>
            <a:r>
              <a:rPr lang="en-US" altLang="en-US" sz="2400" dirty="0"/>
              <a:t>(c) notification of objection to them has already been given or is given within a reasonable time after notice of them is received.</a:t>
            </a:r>
          </a:p>
          <a:p>
            <a:pPr marL="0" indent="0" algn="ctr">
              <a:buFont typeface="Wingdings 3" pitchFamily="18" charset="2"/>
              <a:buNone/>
            </a:pPr>
            <a:r>
              <a:rPr lang="en-US" altLang="en-US" sz="2400" dirty="0"/>
              <a:t>…</a:t>
            </a:r>
          </a:p>
          <a:p>
            <a:pPr marL="0" indent="0">
              <a:buFont typeface="Wingdings 3" pitchFamily="18" charset="2"/>
              <a:buNone/>
            </a:pPr>
            <a:r>
              <a:rPr lang="en-US" altLang="en-US" sz="2400" dirty="0"/>
              <a:t>(3) [If the writings of the parties do not otherwise establish a contract] the terms of the particular contract consist of those terms on which the writings of the parties agree, together with any supplementary terms incorporated under any other provisions of this Act. </a:t>
            </a:r>
          </a:p>
          <a:p>
            <a:pPr marL="0" indent="0">
              <a:buFont typeface="Wingdings 3" pitchFamily="18" charset="2"/>
              <a:buNone/>
            </a:pPr>
            <a:endParaRPr lang="en-US" altLang="en-US" dirty="0"/>
          </a:p>
          <a:p>
            <a:pPr marL="0" indent="0">
              <a:buFont typeface="Wingdings 3" pitchFamily="18" charset="2"/>
              <a:buNone/>
            </a:pPr>
            <a:endParaRPr lang="en-US" altLang="en-US" dirty="0"/>
          </a:p>
        </p:txBody>
      </p:sp>
    </p:spTree>
    <p:extLst>
      <p:ext uri="{BB962C8B-B14F-4D97-AF65-F5344CB8AC3E}">
        <p14:creationId xmlns:p14="http://schemas.microsoft.com/office/powerpoint/2010/main" val="4040521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677071733"/>
              </p:ext>
            </p:extLst>
          </p:nvPr>
        </p:nvGraphicFramePr>
        <p:xfrm>
          <a:off x="685800" y="914400"/>
          <a:ext cx="7848601" cy="5611812"/>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362201">
                  <a:extLst>
                    <a:ext uri="{9D8B030D-6E8A-4147-A177-3AD203B41FA5}">
                      <a16:colId xmlns:a16="http://schemas.microsoft.com/office/drawing/2014/main" val="20002"/>
                    </a:ext>
                  </a:extLst>
                </a:gridCol>
              </a:tblGrid>
              <a:tr h="556110">
                <a:tc>
                  <a:txBody>
                    <a:bodyPr/>
                    <a:lstStyle/>
                    <a:p>
                      <a:pPr marL="0" marR="0" algn="ctr">
                        <a:spcBef>
                          <a:spcPts val="0"/>
                        </a:spcBef>
                        <a:spcAft>
                          <a:spcPts val="0"/>
                        </a:spcAft>
                      </a:pPr>
                      <a:r>
                        <a:rPr lang="en-US" sz="1600" dirty="0">
                          <a:effectLst/>
                        </a:rPr>
                        <a:t>Form 1</a:t>
                      </a:r>
                      <a:endParaRPr lang="en-US" sz="1600" dirty="0">
                        <a:effectLst/>
                        <a:latin typeface="Times New Roman"/>
                        <a:ea typeface="Times New Roman"/>
                      </a:endParaRPr>
                    </a:p>
                  </a:txBody>
                  <a:tcPr marL="68580" marR="68580" marT="0" marB="0"/>
                </a:tc>
                <a:tc>
                  <a:txBody>
                    <a:bodyPr/>
                    <a:lstStyle/>
                    <a:p>
                      <a:pPr marL="0" marR="0" algn="ctr">
                        <a:spcBef>
                          <a:spcPts val="0"/>
                        </a:spcBef>
                        <a:spcAft>
                          <a:spcPts val="0"/>
                        </a:spcAft>
                      </a:pPr>
                      <a:r>
                        <a:rPr lang="en-US" sz="1600" dirty="0">
                          <a:effectLst/>
                        </a:rPr>
                        <a:t>Form 2</a:t>
                      </a:r>
                      <a:endParaRPr lang="en-US" sz="1600" dirty="0">
                        <a:effectLst/>
                        <a:latin typeface="Times New Roman"/>
                        <a:ea typeface="Times New Roman"/>
                      </a:endParaRPr>
                    </a:p>
                  </a:txBody>
                  <a:tcPr marL="68580" marR="68580" marT="0" marB="0"/>
                </a:tc>
                <a:tc>
                  <a:txBody>
                    <a:bodyPr/>
                    <a:lstStyle/>
                    <a:p>
                      <a:pPr marL="0" marR="0" algn="ctr">
                        <a:spcBef>
                          <a:spcPts val="0"/>
                        </a:spcBef>
                        <a:spcAft>
                          <a:spcPts val="0"/>
                        </a:spcAft>
                      </a:pPr>
                      <a:r>
                        <a:rPr lang="en-US" sz="1600" dirty="0">
                          <a:effectLst/>
                        </a:rPr>
                        <a:t>Conduct/Performance</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r h="556110">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948">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Rejection or</a:t>
                      </a:r>
                      <a:r>
                        <a:rPr lang="en-US" sz="1600" baseline="0" dirty="0">
                          <a:effectLst/>
                        </a:rPr>
                        <a:t> </a:t>
                      </a:r>
                      <a:r>
                        <a:rPr lang="en-US" sz="1600" dirty="0">
                          <a:effectLst/>
                        </a:rPr>
                        <a:t>counter-offer if</a:t>
                      </a:r>
                      <a:r>
                        <a:rPr lang="en-US" sz="1600" baseline="0" dirty="0">
                          <a:effectLst/>
                        </a:rPr>
                        <a:t> </a:t>
                      </a:r>
                      <a:r>
                        <a:rPr lang="en-US" sz="1600" dirty="0">
                          <a:effectLst/>
                        </a:rPr>
                        <a:t>(2-207(1)):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dirty="0">
                          <a:effectLst/>
                        </a:rPr>
                        <a:t>Expressly conditional on assent to additional or different terms</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Trigger for 2-207(3)</a:t>
                      </a:r>
                    </a:p>
                    <a:p>
                      <a:pPr marL="0" marR="0">
                        <a:spcBef>
                          <a:spcPts val="0"/>
                        </a:spcBef>
                        <a:spcAft>
                          <a:spcPts val="0"/>
                        </a:spcAft>
                      </a:pPr>
                      <a:r>
                        <a:rPr lang="en-US" sz="1600" dirty="0">
                          <a:effectLst/>
                        </a:rPr>
                        <a:t>Acceptance?</a:t>
                      </a:r>
                    </a:p>
                    <a:p>
                      <a:pPr marL="0" marR="0">
                        <a:spcBef>
                          <a:spcPts val="0"/>
                        </a:spcBef>
                        <a:spcAft>
                          <a:spcPts val="0"/>
                        </a:spcAft>
                      </a:pPr>
                      <a:endParaRPr lang="en-US" sz="1600" dirty="0">
                        <a:effectLst/>
                      </a:endParaRPr>
                    </a:p>
                  </a:txBody>
                  <a:tcPr marL="68580" marR="68580" marT="0" marB="0"/>
                </a:tc>
                <a:extLst>
                  <a:ext uri="{0D108BD9-81ED-4DB2-BD59-A6C34878D82A}">
                    <a16:rowId xmlns:a16="http://schemas.microsoft.com/office/drawing/2014/main" val="10002"/>
                  </a:ext>
                </a:extLst>
              </a:tr>
              <a:tr h="1950934">
                <a:tc>
                  <a:txBody>
                    <a:bodyPr/>
                    <a:lstStyle/>
                    <a:p>
                      <a:pPr marL="0" marR="0">
                        <a:spcBef>
                          <a:spcPts val="0"/>
                        </a:spcBef>
                        <a:spcAft>
                          <a:spcPts val="0"/>
                        </a:spcAft>
                      </a:pPr>
                      <a:r>
                        <a:rPr lang="en-US" sz="1600" dirty="0">
                          <a:effectLst/>
                        </a:rPr>
                        <a:t>Offer</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Acceptance (2-207(1)) and proposal whose terms are not incorporated (2-207(2)) if:</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or</a:t>
                      </a:r>
                    </a:p>
                    <a:p>
                      <a:pPr marL="342900" marR="0" lvl="0" indent="-342900">
                        <a:spcBef>
                          <a:spcPts val="0"/>
                        </a:spcBef>
                        <a:spcAft>
                          <a:spcPts val="0"/>
                        </a:spcAft>
                        <a:buFont typeface="Symbol"/>
                        <a:buChar char=""/>
                        <a:tabLst>
                          <a:tab pos="228600" algn="l"/>
                        </a:tabLst>
                      </a:pPr>
                      <a:r>
                        <a:rPr lang="en-US" sz="1600" dirty="0">
                          <a:effectLst/>
                        </a:rPr>
                        <a:t>Terms are different (leading</a:t>
                      </a:r>
                      <a:r>
                        <a:rPr lang="en-US" sz="1600" baseline="0" dirty="0">
                          <a:effectLst/>
                        </a:rPr>
                        <a:t> </a:t>
                      </a:r>
                      <a:r>
                        <a:rPr lang="en-US" sz="1600" dirty="0">
                          <a:effectLst/>
                        </a:rPr>
                        <a:t>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6110">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that knocks out different terms</a:t>
                      </a:r>
                      <a:r>
                        <a:rPr lang="en-US" sz="1600"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25" marB="45725"/>
                </a:tc>
                <a:extLst>
                  <a:ext uri="{0D108BD9-81ED-4DB2-BD59-A6C34878D82A}">
                    <a16:rowId xmlns:a16="http://schemas.microsoft.com/office/drawing/2014/main" val="10004"/>
                  </a:ext>
                </a:extLst>
              </a:tr>
              <a:tr h="731600">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(2-207(1)) and proposal whose terms are incorporated into</a:t>
                      </a:r>
                      <a:r>
                        <a:rPr lang="en-US" sz="1600" baseline="0" dirty="0">
                          <a:effectLst/>
                        </a:rPr>
                        <a:t> contract</a:t>
                      </a:r>
                      <a:r>
                        <a:rPr lang="en-US" sz="1600" dirty="0">
                          <a:effectLst/>
                        </a:rPr>
                        <a:t> (2-207(2) (“California” rule,</a:t>
                      </a:r>
                      <a:r>
                        <a:rPr lang="en-US" sz="1600" baseline="0" dirty="0">
                          <a:effectLst/>
                        </a:rPr>
                        <a:t> implied by </a:t>
                      </a:r>
                      <a:r>
                        <a:rPr lang="en-US" sz="1600" baseline="0" dirty="0" err="1">
                          <a:effectLst/>
                        </a:rPr>
                        <a:t>Cmt</a:t>
                      </a:r>
                      <a:r>
                        <a:rPr lang="en-US" sz="1600" baseline="0" dirty="0">
                          <a:effectLst/>
                        </a:rPr>
                        <a:t> 3))</a:t>
                      </a:r>
                      <a:r>
                        <a:rPr lang="en-US" sz="1600" dirty="0">
                          <a:effectLst/>
                        </a:rPr>
                        <a:t>.</a:t>
                      </a:r>
                      <a:endParaRPr lang="en-US" sz="1600" dirty="0">
                        <a:effectLst/>
                        <a:latin typeface="Times New Roman"/>
                        <a:ea typeface="Times New Roman"/>
                      </a:endParaRPr>
                    </a:p>
                  </a:txBody>
                  <a:tcPr marL="68580" marR="68580" marT="0" marB="0"/>
                </a:tc>
                <a:tc>
                  <a:txBody>
                    <a:bodyPr/>
                    <a:lstStyle/>
                    <a:p>
                      <a:endParaRPr lang="en-US" sz="1600" dirty="0"/>
                    </a:p>
                  </a:txBody>
                  <a:tcPr marT="45725" marB="45725"/>
                </a:tc>
                <a:extLst>
                  <a:ext uri="{0D108BD9-81ED-4DB2-BD59-A6C34878D82A}">
                    <a16:rowId xmlns:a16="http://schemas.microsoft.com/office/drawing/2014/main" val="10005"/>
                  </a:ext>
                </a:extLst>
              </a:tr>
            </a:tbl>
          </a:graphicData>
        </a:graphic>
      </p:graphicFrame>
      <p:sp>
        <p:nvSpPr>
          <p:cNvPr id="15392" name="Title 1"/>
          <p:cNvSpPr>
            <a:spLocks noGrp="1"/>
          </p:cNvSpPr>
          <p:nvPr>
            <p:ph type="ctrTitle"/>
          </p:nvPr>
        </p:nvSpPr>
        <p:spPr>
          <a:xfrm>
            <a:off x="685800" y="228600"/>
            <a:ext cx="7848600" cy="533400"/>
          </a:xfrm>
        </p:spPr>
        <p:txBody>
          <a:bodyPr/>
          <a:lstStyle/>
          <a:p>
            <a:pPr algn="l"/>
            <a:r>
              <a:rPr lang="en-US" altLang="en-US" sz="2400" dirty="0"/>
              <a:t>Battle of the forms under UCC </a:t>
            </a:r>
            <a:r>
              <a:rPr lang="en-US" altLang="en-US" sz="2400" dirty="0">
                <a:latin typeface="Calibri" panose="020F0502020204030204" pitchFamily="34" charset="0"/>
                <a:cs typeface="Calibri" panose="020F0502020204030204" pitchFamily="34" charset="0"/>
              </a:rPr>
              <a:t>§ </a:t>
            </a:r>
            <a:r>
              <a:rPr lang="en-US" altLang="en-US" sz="2400" dirty="0"/>
              <a:t>2-207</a:t>
            </a:r>
          </a:p>
        </p:txBody>
      </p:sp>
    </p:spTree>
    <p:extLst>
      <p:ext uri="{BB962C8B-B14F-4D97-AF65-F5344CB8AC3E}">
        <p14:creationId xmlns:p14="http://schemas.microsoft.com/office/powerpoint/2010/main" val="3096135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402086271"/>
              </p:ext>
            </p:extLst>
          </p:nvPr>
        </p:nvGraphicFramePr>
        <p:xfrm>
          <a:off x="685800" y="914400"/>
          <a:ext cx="7848601" cy="4465400"/>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362201">
                  <a:extLst>
                    <a:ext uri="{9D8B030D-6E8A-4147-A177-3AD203B41FA5}">
                      <a16:colId xmlns:a16="http://schemas.microsoft.com/office/drawing/2014/main" val="20002"/>
                    </a:ext>
                  </a:extLst>
                </a:gridCol>
              </a:tblGrid>
              <a:tr h="556110">
                <a:tc>
                  <a:txBody>
                    <a:bodyPr/>
                    <a:lstStyle/>
                    <a:p>
                      <a:pPr marL="0" marR="0" algn="ctr" rtl="0" eaLnBrk="1" latinLnBrk="0" hangingPunct="1">
                        <a:spcBef>
                          <a:spcPts val="0"/>
                        </a:spcBef>
                        <a:spcAft>
                          <a:spcPts val="0"/>
                        </a:spcAft>
                      </a:pPr>
                      <a:r>
                        <a:rPr kumimoji="0" lang="en-US" sz="1600" b="1" kern="1200" dirty="0">
                          <a:solidFill>
                            <a:schemeClr val="lt1"/>
                          </a:solidFill>
                          <a:effectLst/>
                          <a:latin typeface="+mn-lt"/>
                          <a:ea typeface="+mn-ea"/>
                          <a:cs typeface="+mn-cs"/>
                        </a:rPr>
                        <a:t>Agreement</a:t>
                      </a:r>
                    </a:p>
                  </a:txBody>
                  <a:tcPr marL="68580" marR="68580" marT="0" marB="0"/>
                </a:tc>
                <a:tc>
                  <a:txBody>
                    <a:bodyPr/>
                    <a:lstStyle/>
                    <a:p>
                      <a:pPr marL="0" marR="0" algn="ctr">
                        <a:spcBef>
                          <a:spcPts val="0"/>
                        </a:spcBef>
                        <a:spcAft>
                          <a:spcPts val="0"/>
                        </a:spcAft>
                      </a:pPr>
                      <a:r>
                        <a:rPr kumimoji="0" lang="en-US" sz="1600" b="1" kern="1200" dirty="0">
                          <a:solidFill>
                            <a:schemeClr val="lt1"/>
                          </a:solidFill>
                          <a:effectLst/>
                          <a:latin typeface="+mn-lt"/>
                          <a:ea typeface="+mn-ea"/>
                          <a:cs typeface="+mn-cs"/>
                        </a:rPr>
                        <a:t>Form</a:t>
                      </a:r>
                    </a:p>
                  </a:txBody>
                  <a:tcPr marL="68580" marR="68580" marT="0" marB="0"/>
                </a:tc>
                <a:tc>
                  <a:txBody>
                    <a:bodyPr/>
                    <a:lstStyle/>
                    <a:p>
                      <a:pPr marL="0" marR="0" algn="ctr">
                        <a:spcBef>
                          <a:spcPts val="0"/>
                        </a:spcBef>
                        <a:spcAft>
                          <a:spcPts val="0"/>
                        </a:spcAft>
                      </a:pPr>
                      <a:r>
                        <a:rPr lang="en-US" sz="1600" dirty="0">
                          <a:effectLst/>
                        </a:rPr>
                        <a:t>Conduct/Performance</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r h="739290">
                <a:tc>
                  <a:txBody>
                    <a:bodyPr/>
                    <a:lstStyle/>
                    <a:p>
                      <a:pPr marL="0" marR="0">
                        <a:spcBef>
                          <a:spcPts val="0"/>
                        </a:spcBef>
                        <a:spcAft>
                          <a:spcPts val="0"/>
                        </a:spcAft>
                      </a:pPr>
                      <a:r>
                        <a:rPr kumimoji="0" lang="en-US" sz="1600" kern="1200" dirty="0">
                          <a:solidFill>
                            <a:schemeClr val="dk1"/>
                          </a:solidFill>
                          <a:effectLst/>
                          <a:latin typeface="+mn-lt"/>
                          <a:ea typeface="+mn-ea"/>
                          <a:cs typeface="+mn-cs"/>
                        </a:rPr>
                        <a:t>Contract*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Document other than a confirmation whose terms</a:t>
                      </a:r>
                      <a:r>
                        <a:rPr lang="en-US" sz="1600" baseline="0" dirty="0">
                          <a:effectLst/>
                        </a:rPr>
                        <a:t> are not incorporated</a:t>
                      </a:r>
                      <a:r>
                        <a:rPr lang="en-US" sz="1600" dirty="0">
                          <a:effectLst/>
                        </a:rPr>
                        <a:t>.</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effectLst/>
                      </a:endParaRPr>
                    </a:p>
                  </a:txBody>
                  <a:tcPr marL="68580" marR="68580" marT="0" marB="0"/>
                </a:tc>
                <a:extLst>
                  <a:ext uri="{0D108BD9-81ED-4DB2-BD59-A6C34878D82A}">
                    <a16:rowId xmlns:a16="http://schemas.microsoft.com/office/drawing/2014/main" val="10001"/>
                  </a:ext>
                </a:extLst>
              </a:tr>
              <a:tr h="19509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effectLst/>
                          <a:latin typeface="+mn-lt"/>
                          <a:ea typeface="+mn-ea"/>
                          <a:cs typeface="+mn-cs"/>
                        </a:rPr>
                        <a:t>Contract*</a:t>
                      </a:r>
                    </a:p>
                    <a:p>
                      <a:pPr marL="0" marR="0">
                        <a:spcBef>
                          <a:spcPts val="0"/>
                        </a:spcBef>
                        <a:spcAft>
                          <a:spcPts val="0"/>
                        </a:spcAft>
                      </a:pPr>
                      <a:endParaRPr kumimoji="0" lang="en-US" sz="1600" kern="1200" dirty="0">
                        <a:solidFill>
                          <a:schemeClr val="dk1"/>
                        </a:solidFill>
                        <a:effectLst/>
                        <a:latin typeface="+mn-lt"/>
                        <a:ea typeface="+mn-ea"/>
                        <a:cs typeface="+mn-cs"/>
                      </a:endParaRPr>
                    </a:p>
                    <a:p>
                      <a:pPr marL="0" marR="0">
                        <a:spcBef>
                          <a:spcPts val="0"/>
                        </a:spcBef>
                        <a:spcAft>
                          <a:spcPts val="0"/>
                        </a:spcAft>
                      </a:pPr>
                      <a:r>
                        <a:rPr kumimoji="0" lang="en-US" sz="1600" kern="1200" dirty="0">
                          <a:solidFill>
                            <a:schemeClr val="dk1"/>
                          </a:solidFill>
                          <a:effectLst/>
                          <a:latin typeface="+mn-lt"/>
                          <a:ea typeface="+mn-ea"/>
                          <a:cs typeface="+mn-cs"/>
                        </a:rPr>
                        <a:t> </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Proposal whose terms are not incorporated (2-207(2)) if:</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(including in a conflicting confirmation, as per </a:t>
                      </a:r>
                      <a:r>
                        <a:rPr lang="en-US" sz="1600" baseline="0" dirty="0" err="1">
                          <a:effectLst/>
                        </a:rPr>
                        <a:t>Cmt</a:t>
                      </a:r>
                      <a:r>
                        <a:rPr lang="en-US" sz="1600" baseline="0" dirty="0">
                          <a:effectLst/>
                        </a:rPr>
                        <a:t> 6)</a:t>
                      </a:r>
                      <a:r>
                        <a:rPr lang="en-US" sz="1600" dirty="0">
                          <a:effectLst/>
                        </a:rPr>
                        <a:t>; 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2"/>
                  </a:ext>
                </a:extLst>
              </a:tr>
              <a:tr h="731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effectLst/>
                          <a:latin typeface="+mn-lt"/>
                          <a:ea typeface="+mn-ea"/>
                          <a:cs typeface="+mn-cs"/>
                        </a:rPr>
                        <a:t>Contract*</a:t>
                      </a:r>
                    </a:p>
                    <a:p>
                      <a:pPr marL="0" marR="0">
                        <a:spcBef>
                          <a:spcPts val="0"/>
                        </a:spcBef>
                        <a:spcAft>
                          <a:spcPts val="0"/>
                        </a:spcAft>
                      </a:pPr>
                      <a:endParaRPr kumimoji="0" lang="en-US" sz="1600" kern="1200" dirty="0">
                        <a:solidFill>
                          <a:schemeClr val="dk1"/>
                        </a:solidFill>
                        <a:effectLst/>
                        <a:latin typeface="+mn-lt"/>
                        <a:ea typeface="+mn-ea"/>
                        <a:cs typeface="+mn-cs"/>
                      </a:endParaRPr>
                    </a:p>
                  </a:txBody>
                  <a:tcPr marL="68580" marR="68580" marT="0" marB="0"/>
                </a:tc>
                <a:tc>
                  <a:txBody>
                    <a:bodyPr/>
                    <a:lstStyle/>
                    <a:p>
                      <a:pPr marL="0" marR="0">
                        <a:spcBef>
                          <a:spcPts val="0"/>
                        </a:spcBef>
                        <a:spcAft>
                          <a:spcPts val="0"/>
                        </a:spcAft>
                      </a:pPr>
                      <a:r>
                        <a:rPr lang="en-US" sz="1600" dirty="0">
                          <a:effectLst/>
                        </a:rPr>
                        <a:t>Proposal whose terms are incorporated into</a:t>
                      </a:r>
                      <a:r>
                        <a:rPr lang="en-US" sz="1600" baseline="0" dirty="0">
                          <a:effectLst/>
                        </a:rPr>
                        <a:t> contract </a:t>
                      </a:r>
                      <a:r>
                        <a:rPr lang="en-US" sz="1600" dirty="0">
                          <a:effectLst/>
                        </a:rPr>
                        <a:t>(2-207(2) (“California” rule, implied</a:t>
                      </a:r>
                      <a:r>
                        <a:rPr lang="en-US" sz="1600" baseline="0" dirty="0">
                          <a:effectLst/>
                        </a:rPr>
                        <a:t> by </a:t>
                      </a:r>
                      <a:r>
                        <a:rPr lang="en-US" sz="1600" baseline="0" dirty="0" err="1">
                          <a:effectLst/>
                        </a:rPr>
                        <a:t>Cmt</a:t>
                      </a:r>
                      <a:r>
                        <a:rPr lang="en-US" sz="1600" baseline="0" dirty="0">
                          <a:effectLst/>
                        </a:rPr>
                        <a:t> 3))</a:t>
                      </a:r>
                      <a:r>
                        <a:rPr lang="en-US" sz="1600" dirty="0">
                          <a:effectLst/>
                        </a:rPr>
                        <a:t>.</a:t>
                      </a:r>
                      <a:endParaRPr lang="en-US" sz="1600" dirty="0">
                        <a:effectLst/>
                        <a:latin typeface="Times New Roman"/>
                        <a:ea typeface="Times New Roman"/>
                      </a:endParaRPr>
                    </a:p>
                  </a:txBody>
                  <a:tcPr marL="68580" marR="68580" marT="0" marB="0"/>
                </a:tc>
                <a:tc>
                  <a:txBody>
                    <a:bodyPr/>
                    <a:lstStyle/>
                    <a:p>
                      <a:endParaRPr lang="en-US" sz="1600" dirty="0"/>
                    </a:p>
                  </a:txBody>
                  <a:tcPr marT="45725" marB="45725"/>
                </a:tc>
                <a:extLst>
                  <a:ext uri="{0D108BD9-81ED-4DB2-BD59-A6C34878D82A}">
                    <a16:rowId xmlns:a16="http://schemas.microsoft.com/office/drawing/2014/main" val="10003"/>
                  </a:ext>
                </a:extLst>
              </a:tr>
            </a:tbl>
          </a:graphicData>
        </a:graphic>
      </p:graphicFrame>
      <p:sp>
        <p:nvSpPr>
          <p:cNvPr id="15392" name="Title 1"/>
          <p:cNvSpPr>
            <a:spLocks noGrp="1"/>
          </p:cNvSpPr>
          <p:nvPr>
            <p:ph type="ctrTitle" idx="4294967295"/>
          </p:nvPr>
        </p:nvSpPr>
        <p:spPr>
          <a:xfrm>
            <a:off x="685800" y="228600"/>
            <a:ext cx="7848600" cy="533400"/>
          </a:xfrm>
        </p:spPr>
        <p:txBody>
          <a:bodyPr/>
          <a:lstStyle/>
          <a:p>
            <a:pPr algn="l"/>
            <a:r>
              <a:rPr lang="en-US" altLang="en-US" sz="2400" dirty="0"/>
              <a:t>Confirmations under UCC </a:t>
            </a:r>
            <a:r>
              <a:rPr lang="en-US" altLang="en-US" sz="2400" dirty="0">
                <a:latin typeface="Calibri" panose="020F0502020204030204" pitchFamily="34" charset="0"/>
                <a:cs typeface="Calibri" panose="020F0502020204030204" pitchFamily="34" charset="0"/>
              </a:rPr>
              <a:t>§ </a:t>
            </a:r>
            <a:r>
              <a:rPr lang="en-US" altLang="en-US" sz="2400" dirty="0"/>
              <a:t>2-207</a:t>
            </a:r>
          </a:p>
        </p:txBody>
      </p:sp>
      <p:sp>
        <p:nvSpPr>
          <p:cNvPr id="4" name="TextBox 1"/>
          <p:cNvSpPr txBox="1">
            <a:spLocks noChangeArrowheads="1"/>
          </p:cNvSpPr>
          <p:nvPr/>
        </p:nvSpPr>
        <p:spPr bwMode="auto">
          <a:xfrm>
            <a:off x="685800" y="5638800"/>
            <a:ext cx="7543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600" dirty="0">
                <a:solidFill>
                  <a:prstClr val="black"/>
                </a:solidFill>
              </a:rPr>
              <a:t>* Subject to writing requirement, which might be satisfied by the confirmation, and interpreted in light of commercial context.</a:t>
            </a:r>
          </a:p>
        </p:txBody>
      </p:sp>
    </p:spTree>
    <p:extLst>
      <p:ext uri="{BB962C8B-B14F-4D97-AF65-F5344CB8AC3E}">
        <p14:creationId xmlns:p14="http://schemas.microsoft.com/office/powerpoint/2010/main" val="3969920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err="1"/>
              <a:t>Dorton</a:t>
            </a:r>
            <a:r>
              <a:rPr lang="en-US" altLang="en-US" dirty="0"/>
              <a:t> v. Collins &amp; Aikman Corp. (276)</a:t>
            </a:r>
            <a:endParaRPr lang="en-US" dirty="0"/>
          </a:p>
        </p:txBody>
      </p:sp>
      <p:sp>
        <p:nvSpPr>
          <p:cNvPr id="3" name="Content Placeholder 2"/>
          <p:cNvSpPr>
            <a:spLocks noGrp="1"/>
          </p:cNvSpPr>
          <p:nvPr>
            <p:ph sz="quarter" idx="1"/>
          </p:nvPr>
        </p:nvSpPr>
        <p:spPr/>
        <p:txBody>
          <a:bodyPr>
            <a:normAutofit fontScale="92500" lnSpcReduction="10000"/>
          </a:bodyPr>
          <a:lstStyle/>
          <a:p>
            <a:pPr marL="0" indent="0">
              <a:buNone/>
            </a:pPr>
            <a:r>
              <a:rPr lang="en-US" dirty="0"/>
              <a:t>“This order is given </a:t>
            </a:r>
            <a:r>
              <a:rPr lang="en-US" b="1" dirty="0"/>
              <a:t>subject to all of the terms and conditions on the face and reverse side hereof,</a:t>
            </a:r>
            <a:r>
              <a:rPr lang="en-US" dirty="0"/>
              <a:t> including the provisions for arbitration and the exclusion of warranties, all of which are accepted by Buyer, supersede Buyer's order form, if any, and constitute the entire contract between Buyer and Seller. </a:t>
            </a:r>
            <a:r>
              <a:rPr lang="en-US" b="1" dirty="0"/>
              <a:t>This order shall become a contract</a:t>
            </a:r>
            <a:r>
              <a:rPr lang="en-US" dirty="0"/>
              <a:t> as to the entire quantity specified </a:t>
            </a:r>
            <a:r>
              <a:rPr lang="en-US" b="1" dirty="0"/>
              <a:t>either </a:t>
            </a:r>
            <a:r>
              <a:rPr lang="en-US" dirty="0"/>
              <a:t>(a) when signed and delivered by Buyer to Seller and accepted in writing by Seller </a:t>
            </a:r>
            <a:r>
              <a:rPr lang="en-US" b="1" dirty="0"/>
              <a:t>or (b) when Buyer has received and retained this order for ten days without objection, </a:t>
            </a:r>
            <a:r>
              <a:rPr lang="en-US" dirty="0"/>
              <a:t>or (c) when Buyer has accepted delivery of any part of the merchandise specified herein or has furnished to Seller specifications or assortments, delivery dates, shipping instructions, or instructions to bill and hold, or when Buyer has otherwise indicated acceptance of the terms hereof.”</a:t>
            </a:r>
          </a:p>
        </p:txBody>
      </p:sp>
    </p:spTree>
    <p:extLst>
      <p:ext uri="{BB962C8B-B14F-4D97-AF65-F5344CB8AC3E}">
        <p14:creationId xmlns:p14="http://schemas.microsoft.com/office/powerpoint/2010/main" val="3265726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329981129"/>
              </p:ext>
            </p:extLst>
          </p:nvPr>
        </p:nvGraphicFramePr>
        <p:xfrm>
          <a:off x="685800" y="914400"/>
          <a:ext cx="7848601" cy="5542169"/>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362201">
                  <a:extLst>
                    <a:ext uri="{9D8B030D-6E8A-4147-A177-3AD203B41FA5}">
                      <a16:colId xmlns:a16="http://schemas.microsoft.com/office/drawing/2014/main" val="20002"/>
                    </a:ext>
                  </a:extLst>
                </a:gridCol>
              </a:tblGrid>
              <a:tr h="487648">
                <a:tc>
                  <a:txBody>
                    <a:bodyPr/>
                    <a:lstStyle/>
                    <a:p>
                      <a:pPr marL="0" marR="0" algn="ctr">
                        <a:spcBef>
                          <a:spcPts val="0"/>
                        </a:spcBef>
                        <a:spcAft>
                          <a:spcPts val="0"/>
                        </a:spcAft>
                      </a:pPr>
                      <a:r>
                        <a:rPr lang="en-US" sz="1600" dirty="0">
                          <a:effectLst/>
                          <a:latin typeface="+mn-lt"/>
                          <a:ea typeface="+mn-ea"/>
                        </a:rPr>
                        <a:t>Order</a:t>
                      </a:r>
                      <a:endParaRPr lang="en-US" sz="1600" dirty="0">
                        <a:effectLst/>
                        <a:latin typeface="+mn-lt"/>
                        <a:ea typeface="Times New Roman"/>
                      </a:endParaRPr>
                    </a:p>
                  </a:txBody>
                  <a:tcPr marL="68580" marR="68580" marT="0" marB="0"/>
                </a:tc>
                <a:tc>
                  <a:txBody>
                    <a:bodyPr/>
                    <a:lstStyle/>
                    <a:p>
                      <a:pPr marL="0" marR="0" algn="ctr">
                        <a:spcBef>
                          <a:spcPts val="0"/>
                        </a:spcBef>
                        <a:spcAft>
                          <a:spcPts val="0"/>
                        </a:spcAft>
                      </a:pPr>
                      <a:r>
                        <a:rPr lang="en-US" sz="1600" dirty="0">
                          <a:effectLst/>
                          <a:latin typeface="+mn-lt"/>
                          <a:ea typeface="Times New Roman"/>
                        </a:rPr>
                        <a:t>Acknowledgement “subject to”  arbitration clause</a:t>
                      </a:r>
                    </a:p>
                  </a:txBody>
                  <a:tcPr marL="68580" marR="68580" marT="0" marB="0"/>
                </a:tc>
                <a:tc>
                  <a:txBody>
                    <a:bodyPr/>
                    <a:lstStyle/>
                    <a:p>
                      <a:pPr marL="0" marR="0" algn="ctr">
                        <a:spcBef>
                          <a:spcPts val="0"/>
                        </a:spcBef>
                        <a:spcAft>
                          <a:spcPts val="0"/>
                        </a:spcAft>
                      </a:pPr>
                      <a:r>
                        <a:rPr lang="en-US" sz="1600" dirty="0">
                          <a:effectLst/>
                          <a:latin typeface="+mn-lt"/>
                          <a:ea typeface="Times New Roman"/>
                        </a:rPr>
                        <a:t>Delivery</a:t>
                      </a:r>
                    </a:p>
                  </a:txBody>
                  <a:tcPr marL="68580" marR="68580" marT="0" marB="0"/>
                </a:tc>
                <a:extLst>
                  <a:ext uri="{0D108BD9-81ED-4DB2-BD59-A6C34878D82A}">
                    <a16:rowId xmlns:a16="http://schemas.microsoft.com/office/drawing/2014/main" val="10000"/>
                  </a:ext>
                </a:extLst>
              </a:tr>
              <a:tr h="555895">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459">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Rejection </a:t>
                      </a:r>
                      <a:r>
                        <a:rPr lang="en-US" sz="1600" baseline="0" dirty="0">
                          <a:effectLst/>
                        </a:rPr>
                        <a:t>or </a:t>
                      </a:r>
                      <a:r>
                        <a:rPr lang="en-US" sz="1600" dirty="0">
                          <a:effectLst/>
                        </a:rPr>
                        <a:t>counter-offer if</a:t>
                      </a:r>
                      <a:r>
                        <a:rPr lang="en-US" sz="1600" baseline="0" dirty="0">
                          <a:effectLst/>
                        </a:rPr>
                        <a:t> </a:t>
                      </a:r>
                      <a:r>
                        <a:rPr lang="en-US" sz="1600" dirty="0">
                          <a:effectLst/>
                        </a:rPr>
                        <a:t>(2-207(1)):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dirty="0">
                          <a:effectLst/>
                        </a:rPr>
                        <a:t>Expressly conditional on assent to additional or different terms</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Trigger for 2-207(3)</a:t>
                      </a:r>
                      <a:endParaRPr lang="en-US" sz="1600" dirty="0">
                        <a:effectLst/>
                        <a:latin typeface="Times New Roman"/>
                        <a:ea typeface="Times New Roman"/>
                      </a:endParaRPr>
                    </a:p>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2"/>
                  </a:ext>
                </a:extLst>
              </a:tr>
              <a:tr h="1950593">
                <a:tc>
                  <a:txBody>
                    <a:bodyPr/>
                    <a:lstStyle/>
                    <a:p>
                      <a:pPr marL="0" marR="0">
                        <a:spcBef>
                          <a:spcPts val="0"/>
                        </a:spcBef>
                        <a:spcAft>
                          <a:spcPts val="0"/>
                        </a:spcAft>
                      </a:pPr>
                      <a:r>
                        <a:rPr lang="en-US" sz="1600" dirty="0">
                          <a:effectLst/>
                        </a:rPr>
                        <a:t>Offer</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Acceptance (2-207(1)) and proposal whose terms are not incorporated (2-207(2)) if:</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5895">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that knocks out different terms</a:t>
                      </a:r>
                      <a:r>
                        <a:rPr lang="en-US" sz="1600"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07" marB="45707"/>
                </a:tc>
                <a:extLst>
                  <a:ext uri="{0D108BD9-81ED-4DB2-BD59-A6C34878D82A}">
                    <a16:rowId xmlns:a16="http://schemas.microsoft.com/office/drawing/2014/main" val="10004"/>
                  </a:ext>
                </a:extLst>
              </a:tr>
              <a:tr h="731472">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(2-207(1)) and proposal whose terms are incorporated into</a:t>
                      </a:r>
                      <a:r>
                        <a:rPr lang="en-US" sz="1600" baseline="0" dirty="0">
                          <a:effectLst/>
                        </a:rPr>
                        <a:t> contract </a:t>
                      </a:r>
                      <a:r>
                        <a:rPr lang="en-US" sz="1600" dirty="0">
                          <a:effectLst/>
                        </a:rPr>
                        <a:t>(2-207(2)</a:t>
                      </a:r>
                      <a:r>
                        <a:rPr lang="en-US" sz="1600" baseline="0" dirty="0">
                          <a:effectLst/>
                        </a:rPr>
                        <a:t> (“California” rule, implied by </a:t>
                      </a:r>
                      <a:r>
                        <a:rPr lang="en-US" sz="1600" baseline="0" dirty="0" err="1">
                          <a:effectLst/>
                        </a:rPr>
                        <a:t>Cmt</a:t>
                      </a:r>
                      <a:r>
                        <a:rPr lang="en-US" sz="1600" baseline="0" dirty="0">
                          <a:effectLst/>
                        </a:rPr>
                        <a:t>. 3)).</a:t>
                      </a:r>
                      <a:endParaRPr lang="en-US" sz="1600" dirty="0">
                        <a:effectLst/>
                        <a:latin typeface="Times New Roman"/>
                        <a:ea typeface="Times New Roman"/>
                      </a:endParaRPr>
                    </a:p>
                  </a:txBody>
                  <a:tcPr marL="68580" marR="68580" marT="0" marB="0"/>
                </a:tc>
                <a:tc>
                  <a:txBody>
                    <a:bodyPr/>
                    <a:lstStyle/>
                    <a:p>
                      <a:endParaRPr lang="en-US" sz="1600" dirty="0"/>
                    </a:p>
                  </a:txBody>
                  <a:tcPr marT="45707" marB="45707"/>
                </a:tc>
                <a:extLst>
                  <a:ext uri="{0D108BD9-81ED-4DB2-BD59-A6C34878D82A}">
                    <a16:rowId xmlns:a16="http://schemas.microsoft.com/office/drawing/2014/main" val="10005"/>
                  </a:ext>
                </a:extLst>
              </a:tr>
            </a:tbl>
          </a:graphicData>
        </a:graphic>
      </p:graphicFrame>
      <p:sp>
        <p:nvSpPr>
          <p:cNvPr id="16416" name="Title 1"/>
          <p:cNvSpPr>
            <a:spLocks noGrp="1"/>
          </p:cNvSpPr>
          <p:nvPr>
            <p:ph type="ctrTitle"/>
          </p:nvPr>
        </p:nvSpPr>
        <p:spPr>
          <a:xfrm>
            <a:off x="685800" y="228600"/>
            <a:ext cx="7848600" cy="533400"/>
          </a:xfrm>
        </p:spPr>
        <p:txBody>
          <a:bodyPr/>
          <a:lstStyle/>
          <a:p>
            <a:pPr algn="l"/>
            <a:r>
              <a:rPr lang="en-US" altLang="en-US" sz="2400" dirty="0" err="1"/>
              <a:t>Dorton</a:t>
            </a:r>
            <a:r>
              <a:rPr lang="en-US" altLang="en-US" sz="2400" dirty="0"/>
              <a:t> v. Collins &amp; Aikman Corp.</a:t>
            </a:r>
          </a:p>
        </p:txBody>
      </p:sp>
    </p:spTree>
    <p:extLst>
      <p:ext uri="{BB962C8B-B14F-4D97-AF65-F5344CB8AC3E}">
        <p14:creationId xmlns:p14="http://schemas.microsoft.com/office/powerpoint/2010/main" val="1038688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846040729"/>
              </p:ext>
            </p:extLst>
          </p:nvPr>
        </p:nvGraphicFramePr>
        <p:xfrm>
          <a:off x="685800" y="914400"/>
          <a:ext cx="7848601" cy="5542169"/>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gridCol w="1981201">
                  <a:extLst>
                    <a:ext uri="{9D8B030D-6E8A-4147-A177-3AD203B41FA5}">
                      <a16:colId xmlns:a16="http://schemas.microsoft.com/office/drawing/2014/main" val="20002"/>
                    </a:ext>
                  </a:extLst>
                </a:gridCol>
              </a:tblGrid>
              <a:tr h="487648">
                <a:tc>
                  <a:txBody>
                    <a:bodyPr/>
                    <a:lstStyle/>
                    <a:p>
                      <a:pPr marL="0" marR="0" algn="ctr">
                        <a:spcBef>
                          <a:spcPts val="0"/>
                        </a:spcBef>
                        <a:spcAft>
                          <a:spcPts val="0"/>
                        </a:spcAft>
                      </a:pPr>
                      <a:r>
                        <a:rPr lang="en-US" sz="1600" dirty="0">
                          <a:effectLst/>
                          <a:latin typeface="+mn-lt"/>
                          <a:ea typeface="+mn-ea"/>
                        </a:rPr>
                        <a:t>Order</a:t>
                      </a:r>
                      <a:endParaRPr lang="en-US" sz="1600" dirty="0">
                        <a:effectLst/>
                        <a:latin typeface="+mn-lt"/>
                        <a:ea typeface="Times New Roman"/>
                      </a:endParaRPr>
                    </a:p>
                  </a:txBody>
                  <a:tcPr marL="68580" marR="68580" marT="0" marB="0"/>
                </a:tc>
                <a:tc>
                  <a:txBody>
                    <a:bodyPr/>
                    <a:lstStyle/>
                    <a:p>
                      <a:pPr marL="0" marR="0" algn="ctr">
                        <a:spcBef>
                          <a:spcPts val="0"/>
                        </a:spcBef>
                        <a:spcAft>
                          <a:spcPts val="0"/>
                        </a:spcAft>
                      </a:pPr>
                      <a:r>
                        <a:rPr lang="en-US" sz="1600" dirty="0">
                          <a:effectLst/>
                          <a:latin typeface="+mn-lt"/>
                          <a:ea typeface="Times New Roman"/>
                        </a:rPr>
                        <a:t>Acknowledgement “subject to”  arbitration clause</a:t>
                      </a:r>
                    </a:p>
                  </a:txBody>
                  <a:tcPr marL="68580" marR="68580" marT="0" marB="0"/>
                </a:tc>
                <a:tc>
                  <a:txBody>
                    <a:bodyPr/>
                    <a:lstStyle/>
                    <a:p>
                      <a:pPr marL="0" marR="0" algn="ctr">
                        <a:spcBef>
                          <a:spcPts val="0"/>
                        </a:spcBef>
                        <a:spcAft>
                          <a:spcPts val="0"/>
                        </a:spcAft>
                      </a:pPr>
                      <a:r>
                        <a:rPr lang="en-US" sz="1600" dirty="0">
                          <a:effectLst/>
                          <a:latin typeface="+mn-lt"/>
                          <a:ea typeface="Times New Roman"/>
                        </a:rPr>
                        <a:t>Delivery</a:t>
                      </a:r>
                    </a:p>
                  </a:txBody>
                  <a:tcPr marL="68580" marR="68580" marT="0" marB="0"/>
                </a:tc>
                <a:extLst>
                  <a:ext uri="{0D108BD9-81ED-4DB2-BD59-A6C34878D82A}">
                    <a16:rowId xmlns:a16="http://schemas.microsoft.com/office/drawing/2014/main" val="10000"/>
                  </a:ext>
                </a:extLst>
              </a:tr>
              <a:tr h="555895">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459">
                <a:tc>
                  <a:txBody>
                    <a:bodyPr/>
                    <a:lstStyle/>
                    <a:p>
                      <a:pPr marL="0" marR="0">
                        <a:spcBef>
                          <a:spcPts val="0"/>
                        </a:spcBef>
                        <a:spcAft>
                          <a:spcPts val="0"/>
                        </a:spcAft>
                      </a:pPr>
                      <a:r>
                        <a:rPr lang="en-US" sz="1600" b="1" dirty="0">
                          <a:effectLst/>
                        </a:rPr>
                        <a:t>Offer</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Rejection </a:t>
                      </a:r>
                      <a:r>
                        <a:rPr lang="en-US" sz="1600" b="0" dirty="0">
                          <a:effectLst/>
                        </a:rPr>
                        <a:t>or</a:t>
                      </a:r>
                      <a:r>
                        <a:rPr lang="en-US" sz="1600" b="0" baseline="0" dirty="0">
                          <a:effectLst/>
                        </a:rPr>
                        <a:t> </a:t>
                      </a:r>
                      <a:r>
                        <a:rPr lang="en-US" sz="1600" b="0" dirty="0">
                          <a:effectLst/>
                        </a:rPr>
                        <a:t>counter-offer if</a:t>
                      </a:r>
                      <a:r>
                        <a:rPr lang="en-US" sz="1600" b="0" baseline="0" dirty="0">
                          <a:effectLst/>
                        </a:rPr>
                        <a:t> </a:t>
                      </a:r>
                      <a:r>
                        <a:rPr lang="en-US" sz="1600" dirty="0">
                          <a:effectLst/>
                        </a:rPr>
                        <a:t>(2-207(1)):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b="1" dirty="0">
                          <a:effectLst/>
                        </a:rPr>
                        <a:t>Expressly conditional on assent to additional or different terms</a:t>
                      </a:r>
                      <a:endParaRPr lang="en-US" sz="1600" b="1"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Trigger for 2-207(3)</a:t>
                      </a:r>
                      <a:endParaRPr lang="en-US" sz="1600" b="1" dirty="0">
                        <a:effectLst/>
                        <a:latin typeface="Times New Roman"/>
                        <a:ea typeface="Times New Roman"/>
                      </a:endParaRPr>
                    </a:p>
                    <a:p>
                      <a:pPr marL="0" marR="0">
                        <a:spcBef>
                          <a:spcPts val="0"/>
                        </a:spcBef>
                        <a:spcAft>
                          <a:spcPts val="0"/>
                        </a:spcAft>
                      </a:pPr>
                      <a:r>
                        <a:rPr lang="en-US" sz="1600" b="0" dirty="0">
                          <a:effectLst/>
                        </a:rPr>
                        <a:t>Acceptance?</a:t>
                      </a:r>
                    </a:p>
                  </a:txBody>
                  <a:tcPr marL="68580" marR="68580" marT="0" marB="0"/>
                </a:tc>
                <a:extLst>
                  <a:ext uri="{0D108BD9-81ED-4DB2-BD59-A6C34878D82A}">
                    <a16:rowId xmlns:a16="http://schemas.microsoft.com/office/drawing/2014/main" val="10002"/>
                  </a:ext>
                </a:extLst>
              </a:tr>
              <a:tr h="1950593">
                <a:tc>
                  <a:txBody>
                    <a:bodyPr/>
                    <a:lstStyle/>
                    <a:p>
                      <a:pPr marL="0" marR="0">
                        <a:spcBef>
                          <a:spcPts val="0"/>
                        </a:spcBef>
                        <a:spcAft>
                          <a:spcPts val="0"/>
                        </a:spcAft>
                      </a:pPr>
                      <a:r>
                        <a:rPr lang="en-US" sz="1600" dirty="0">
                          <a:effectLst/>
                        </a:rPr>
                        <a:t>Offer</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Acceptance (2-207(1)) and proposal whose terms are not incorporated (2-207(2)) if:</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5895">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that knocks out different terms</a:t>
                      </a:r>
                      <a:r>
                        <a:rPr lang="en-US" sz="1600"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07" marB="45707"/>
                </a:tc>
                <a:extLst>
                  <a:ext uri="{0D108BD9-81ED-4DB2-BD59-A6C34878D82A}">
                    <a16:rowId xmlns:a16="http://schemas.microsoft.com/office/drawing/2014/main" val="10004"/>
                  </a:ext>
                </a:extLst>
              </a:tr>
              <a:tr h="731472">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(2-207(1)) and proposal whose terms are incorporated into</a:t>
                      </a:r>
                      <a:r>
                        <a:rPr lang="en-US" sz="1600" baseline="0" dirty="0">
                          <a:effectLst/>
                        </a:rPr>
                        <a:t> contract </a:t>
                      </a:r>
                      <a:r>
                        <a:rPr lang="en-US" sz="1600" dirty="0">
                          <a:effectLst/>
                        </a:rPr>
                        <a:t>(2-207(2)</a:t>
                      </a:r>
                      <a:r>
                        <a:rPr lang="en-US" sz="1600" baseline="0" dirty="0">
                          <a:effectLst/>
                        </a:rPr>
                        <a:t> (“California” rule, implied by </a:t>
                      </a:r>
                      <a:r>
                        <a:rPr lang="en-US" sz="1600" baseline="0" dirty="0" err="1">
                          <a:effectLst/>
                        </a:rPr>
                        <a:t>Cmt</a:t>
                      </a:r>
                      <a:r>
                        <a:rPr lang="en-US" sz="1600" baseline="0" dirty="0">
                          <a:effectLst/>
                        </a:rPr>
                        <a:t>. 3)).</a:t>
                      </a:r>
                      <a:endParaRPr lang="en-US" sz="1600" dirty="0">
                        <a:effectLst/>
                        <a:latin typeface="Times New Roman"/>
                        <a:ea typeface="Times New Roman"/>
                      </a:endParaRPr>
                    </a:p>
                  </a:txBody>
                  <a:tcPr marL="68580" marR="68580" marT="0" marB="0"/>
                </a:tc>
                <a:tc>
                  <a:txBody>
                    <a:bodyPr/>
                    <a:lstStyle/>
                    <a:p>
                      <a:endParaRPr lang="en-US" sz="1600" dirty="0"/>
                    </a:p>
                  </a:txBody>
                  <a:tcPr marT="45707" marB="45707"/>
                </a:tc>
                <a:extLst>
                  <a:ext uri="{0D108BD9-81ED-4DB2-BD59-A6C34878D82A}">
                    <a16:rowId xmlns:a16="http://schemas.microsoft.com/office/drawing/2014/main" val="10005"/>
                  </a:ext>
                </a:extLst>
              </a:tr>
            </a:tbl>
          </a:graphicData>
        </a:graphic>
      </p:graphicFrame>
      <p:sp>
        <p:nvSpPr>
          <p:cNvPr id="16416" name="Title 1"/>
          <p:cNvSpPr>
            <a:spLocks noGrp="1"/>
          </p:cNvSpPr>
          <p:nvPr>
            <p:ph type="ctrTitle"/>
          </p:nvPr>
        </p:nvSpPr>
        <p:spPr>
          <a:xfrm>
            <a:off x="685800" y="228600"/>
            <a:ext cx="7848600" cy="533400"/>
          </a:xfrm>
        </p:spPr>
        <p:txBody>
          <a:bodyPr/>
          <a:lstStyle/>
          <a:p>
            <a:pPr algn="l"/>
            <a:r>
              <a:rPr lang="en-US" altLang="en-US" sz="2400" dirty="0" err="1"/>
              <a:t>Dorton</a:t>
            </a:r>
            <a:r>
              <a:rPr lang="en-US" altLang="en-US" sz="2400" dirty="0"/>
              <a:t> v. Collins &amp; Aikman Corp. – District Ct.</a:t>
            </a:r>
          </a:p>
        </p:txBody>
      </p:sp>
    </p:spTree>
    <p:extLst>
      <p:ext uri="{BB962C8B-B14F-4D97-AF65-F5344CB8AC3E}">
        <p14:creationId xmlns:p14="http://schemas.microsoft.com/office/powerpoint/2010/main" val="2243802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208115609"/>
              </p:ext>
            </p:extLst>
          </p:nvPr>
        </p:nvGraphicFramePr>
        <p:xfrm>
          <a:off x="685800" y="914400"/>
          <a:ext cx="7848601" cy="5542169"/>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1905001">
                  <a:extLst>
                    <a:ext uri="{9D8B030D-6E8A-4147-A177-3AD203B41FA5}">
                      <a16:colId xmlns:a16="http://schemas.microsoft.com/office/drawing/2014/main" val="20002"/>
                    </a:ext>
                  </a:extLst>
                </a:gridCol>
              </a:tblGrid>
              <a:tr h="487648">
                <a:tc>
                  <a:txBody>
                    <a:bodyPr/>
                    <a:lstStyle/>
                    <a:p>
                      <a:pPr marL="0" marR="0" algn="ctr">
                        <a:spcBef>
                          <a:spcPts val="0"/>
                        </a:spcBef>
                        <a:spcAft>
                          <a:spcPts val="0"/>
                        </a:spcAft>
                      </a:pPr>
                      <a:r>
                        <a:rPr lang="en-US" sz="1600" dirty="0">
                          <a:effectLst/>
                          <a:latin typeface="+mn-lt"/>
                          <a:ea typeface="+mn-ea"/>
                        </a:rPr>
                        <a:t>Order</a:t>
                      </a:r>
                      <a:endParaRPr lang="en-US" sz="1600" dirty="0">
                        <a:effectLst/>
                        <a:latin typeface="+mn-lt"/>
                        <a:ea typeface="Times New Roman"/>
                      </a:endParaRPr>
                    </a:p>
                  </a:txBody>
                  <a:tcPr marL="68580" marR="68580" marT="0" marB="0"/>
                </a:tc>
                <a:tc>
                  <a:txBody>
                    <a:bodyPr/>
                    <a:lstStyle/>
                    <a:p>
                      <a:pPr marL="0" marR="0" algn="ctr">
                        <a:spcBef>
                          <a:spcPts val="0"/>
                        </a:spcBef>
                        <a:spcAft>
                          <a:spcPts val="0"/>
                        </a:spcAft>
                      </a:pPr>
                      <a:r>
                        <a:rPr lang="en-US" sz="1600" dirty="0">
                          <a:effectLst/>
                          <a:latin typeface="+mn-lt"/>
                          <a:ea typeface="Times New Roman"/>
                        </a:rPr>
                        <a:t>Acknowledgement “subject to”  arbitration clause</a:t>
                      </a:r>
                    </a:p>
                  </a:txBody>
                  <a:tcPr marL="68580" marR="68580" marT="0" marB="0"/>
                </a:tc>
                <a:tc>
                  <a:txBody>
                    <a:bodyPr/>
                    <a:lstStyle/>
                    <a:p>
                      <a:pPr marL="0" marR="0" algn="ctr">
                        <a:spcBef>
                          <a:spcPts val="0"/>
                        </a:spcBef>
                        <a:spcAft>
                          <a:spcPts val="0"/>
                        </a:spcAft>
                      </a:pPr>
                      <a:r>
                        <a:rPr lang="en-US" sz="1600" dirty="0">
                          <a:effectLst/>
                          <a:latin typeface="+mn-lt"/>
                          <a:ea typeface="Times New Roman"/>
                        </a:rPr>
                        <a:t>Delivery</a:t>
                      </a:r>
                    </a:p>
                  </a:txBody>
                  <a:tcPr marL="68580" marR="68580" marT="0" marB="0"/>
                </a:tc>
                <a:extLst>
                  <a:ext uri="{0D108BD9-81ED-4DB2-BD59-A6C34878D82A}">
                    <a16:rowId xmlns:a16="http://schemas.microsoft.com/office/drawing/2014/main" val="10000"/>
                  </a:ext>
                </a:extLst>
              </a:tr>
              <a:tr h="555895">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459">
                <a:tc>
                  <a:txBody>
                    <a:bodyPr/>
                    <a:lstStyle/>
                    <a:p>
                      <a:pPr marL="0" marR="0">
                        <a:spcBef>
                          <a:spcPts val="0"/>
                        </a:spcBef>
                        <a:spcAft>
                          <a:spcPts val="0"/>
                        </a:spcAft>
                      </a:pPr>
                      <a:r>
                        <a:rPr lang="en-US" sz="1600" b="0" dirty="0">
                          <a:effectLst/>
                        </a:rPr>
                        <a:t>Offer</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Rejection and counter-offer if (2-207(1)):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dirty="0">
                          <a:effectLst/>
                        </a:rPr>
                        <a:t>Expressly conditional on assent to additional or different terms</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Trigger for 2-207(3)</a:t>
                      </a:r>
                      <a:endParaRPr lang="en-US" sz="1600" dirty="0">
                        <a:effectLst/>
                        <a:latin typeface="Times New Roman"/>
                        <a:ea typeface="Times New Roman"/>
                      </a:endParaRPr>
                    </a:p>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2"/>
                  </a:ext>
                </a:extLst>
              </a:tr>
              <a:tr h="1950593">
                <a:tc>
                  <a:txBody>
                    <a:bodyPr/>
                    <a:lstStyle/>
                    <a:p>
                      <a:pPr marL="0" marR="0">
                        <a:spcBef>
                          <a:spcPts val="0"/>
                        </a:spcBef>
                        <a:spcAft>
                          <a:spcPts val="0"/>
                        </a:spcAft>
                      </a:pPr>
                      <a:r>
                        <a:rPr lang="en-US" sz="1600" b="1" dirty="0">
                          <a:effectLst/>
                        </a:rPr>
                        <a:t>Offer</a:t>
                      </a:r>
                    </a:p>
                    <a:p>
                      <a:pPr marL="0" marR="0">
                        <a:spcBef>
                          <a:spcPts val="0"/>
                        </a:spcBef>
                        <a:spcAft>
                          <a:spcPts val="0"/>
                        </a:spcAft>
                      </a:pPr>
                      <a:r>
                        <a:rPr lang="en-US" sz="1600" b="1" dirty="0">
                          <a:effectLst/>
                        </a:rPr>
                        <a:t> </a:t>
                      </a:r>
                      <a:endParaRPr lang="en-US" sz="1600" b="1"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Acceptance </a:t>
                      </a:r>
                      <a:r>
                        <a:rPr lang="en-US" sz="1600" dirty="0">
                          <a:effectLst/>
                        </a:rPr>
                        <a:t>(2-207(1)) and proposal </a:t>
                      </a:r>
                      <a:r>
                        <a:rPr lang="en-US" sz="1600" b="1" dirty="0">
                          <a:effectLst/>
                        </a:rPr>
                        <a:t>whose terms are not incorporated </a:t>
                      </a:r>
                      <a:r>
                        <a:rPr lang="en-US" sz="1600" dirty="0">
                          <a:effectLst/>
                        </a:rPr>
                        <a:t>(2-207(2))</a:t>
                      </a:r>
                      <a:r>
                        <a:rPr lang="en-US" sz="1600" b="1" baseline="0" dirty="0">
                          <a:effectLst/>
                        </a:rPr>
                        <a:t> if</a:t>
                      </a:r>
                      <a:r>
                        <a:rPr lang="en-US" sz="1600" dirty="0">
                          <a:effectLst/>
                        </a:rPr>
                        <a:t>:</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b="1"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5895">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that knocks out different terms</a:t>
                      </a:r>
                      <a:r>
                        <a:rPr lang="en-US" sz="1600"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07" marB="45707"/>
                </a:tc>
                <a:extLst>
                  <a:ext uri="{0D108BD9-81ED-4DB2-BD59-A6C34878D82A}">
                    <a16:rowId xmlns:a16="http://schemas.microsoft.com/office/drawing/2014/main" val="10004"/>
                  </a:ext>
                </a:extLst>
              </a:tr>
              <a:tr h="731472">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b="1" dirty="0">
                          <a:effectLst/>
                        </a:rPr>
                        <a:t>Acceptance (2-207(1)) and proposal whose terms are incorporated into</a:t>
                      </a:r>
                      <a:r>
                        <a:rPr lang="en-US" sz="1600" b="1" baseline="0" dirty="0">
                          <a:effectLst/>
                        </a:rPr>
                        <a:t> contract </a:t>
                      </a:r>
                      <a:r>
                        <a:rPr lang="en-US" sz="1600" dirty="0">
                          <a:effectLst/>
                        </a:rPr>
                        <a:t>(2-207(2)</a:t>
                      </a:r>
                      <a:r>
                        <a:rPr lang="en-US" sz="1600" baseline="0" dirty="0">
                          <a:effectLst/>
                        </a:rPr>
                        <a:t> (“California” rule, implied in </a:t>
                      </a:r>
                      <a:r>
                        <a:rPr lang="en-US" sz="1600" baseline="0" dirty="0" err="1">
                          <a:effectLst/>
                        </a:rPr>
                        <a:t>Cmt</a:t>
                      </a:r>
                      <a:r>
                        <a:rPr lang="en-US" sz="1600" baseline="0" dirty="0">
                          <a:effectLst/>
                        </a:rPr>
                        <a:t>. 3)).</a:t>
                      </a:r>
                      <a:endParaRPr lang="en-US" sz="1600" dirty="0">
                        <a:effectLst/>
                        <a:latin typeface="Times New Roman"/>
                        <a:ea typeface="Times New Roman"/>
                      </a:endParaRPr>
                    </a:p>
                  </a:txBody>
                  <a:tcPr marL="68580" marR="68580" marT="0" marB="0"/>
                </a:tc>
                <a:tc>
                  <a:txBody>
                    <a:bodyPr/>
                    <a:lstStyle/>
                    <a:p>
                      <a:endParaRPr lang="en-US" sz="1600" dirty="0"/>
                    </a:p>
                  </a:txBody>
                  <a:tcPr marT="45707" marB="45707"/>
                </a:tc>
                <a:extLst>
                  <a:ext uri="{0D108BD9-81ED-4DB2-BD59-A6C34878D82A}">
                    <a16:rowId xmlns:a16="http://schemas.microsoft.com/office/drawing/2014/main" val="10005"/>
                  </a:ext>
                </a:extLst>
              </a:tr>
            </a:tbl>
          </a:graphicData>
        </a:graphic>
      </p:graphicFrame>
      <p:sp>
        <p:nvSpPr>
          <p:cNvPr id="16416" name="Title 1"/>
          <p:cNvSpPr>
            <a:spLocks noGrp="1"/>
          </p:cNvSpPr>
          <p:nvPr>
            <p:ph type="ctrTitle"/>
          </p:nvPr>
        </p:nvSpPr>
        <p:spPr>
          <a:xfrm>
            <a:off x="685800" y="228600"/>
            <a:ext cx="7848600" cy="533400"/>
          </a:xfrm>
        </p:spPr>
        <p:txBody>
          <a:bodyPr/>
          <a:lstStyle/>
          <a:p>
            <a:pPr algn="l"/>
            <a:r>
              <a:rPr lang="en-US" altLang="en-US" sz="2400" dirty="0" err="1"/>
              <a:t>Dorton</a:t>
            </a:r>
            <a:r>
              <a:rPr lang="en-US" altLang="en-US" sz="2400" dirty="0"/>
              <a:t> v. Collins &amp; Aikman Corp. – 6</a:t>
            </a:r>
            <a:r>
              <a:rPr lang="en-US" altLang="en-US" sz="2400" baseline="30000" dirty="0"/>
              <a:t>th</a:t>
            </a:r>
            <a:r>
              <a:rPr lang="en-US" altLang="en-US" sz="2400" dirty="0"/>
              <a:t> Cir.</a:t>
            </a:r>
          </a:p>
        </p:txBody>
      </p:sp>
    </p:spTree>
    <p:extLst>
      <p:ext uri="{BB962C8B-B14F-4D97-AF65-F5344CB8AC3E}">
        <p14:creationId xmlns:p14="http://schemas.microsoft.com/office/powerpoint/2010/main" val="431580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986112974"/>
              </p:ext>
            </p:extLst>
          </p:nvPr>
        </p:nvGraphicFramePr>
        <p:xfrm>
          <a:off x="685800" y="914400"/>
          <a:ext cx="7848601" cy="4457550"/>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362201">
                  <a:extLst>
                    <a:ext uri="{9D8B030D-6E8A-4147-A177-3AD203B41FA5}">
                      <a16:colId xmlns:a16="http://schemas.microsoft.com/office/drawing/2014/main" val="20002"/>
                    </a:ext>
                  </a:extLst>
                </a:gridCol>
              </a:tblGrid>
              <a:tr h="556110">
                <a:tc>
                  <a:txBody>
                    <a:bodyPr/>
                    <a:lstStyle/>
                    <a:p>
                      <a:pPr marL="0" marR="0" algn="ctr" rtl="0" eaLnBrk="1" latinLnBrk="0" hangingPunct="1">
                        <a:spcBef>
                          <a:spcPts val="0"/>
                        </a:spcBef>
                        <a:spcAft>
                          <a:spcPts val="0"/>
                        </a:spcAft>
                      </a:pPr>
                      <a:r>
                        <a:rPr kumimoji="0" lang="en-US" sz="1600" b="1" kern="1200" dirty="0">
                          <a:solidFill>
                            <a:schemeClr val="lt1"/>
                          </a:solidFill>
                          <a:effectLst/>
                          <a:latin typeface="+mn-lt"/>
                          <a:ea typeface="+mn-ea"/>
                          <a:cs typeface="+mn-cs"/>
                        </a:rPr>
                        <a:t>Order</a:t>
                      </a:r>
                    </a:p>
                  </a:txBody>
                  <a:tcPr marL="68580" marR="68580" marT="0" marB="0"/>
                </a:tc>
                <a:tc>
                  <a:txBody>
                    <a:bodyPr/>
                    <a:lstStyle/>
                    <a:p>
                      <a:pPr marL="0" marR="0" algn="ctr">
                        <a:spcBef>
                          <a:spcPts val="0"/>
                        </a:spcBef>
                        <a:spcAft>
                          <a:spcPts val="0"/>
                        </a:spcAft>
                      </a:pPr>
                      <a:r>
                        <a:rPr kumimoji="0" lang="en-US" sz="1600" b="1" kern="1200" dirty="0">
                          <a:solidFill>
                            <a:schemeClr val="lt1"/>
                          </a:solidFill>
                          <a:effectLst/>
                          <a:latin typeface="+mn-lt"/>
                          <a:ea typeface="+mn-ea"/>
                          <a:cs typeface="+mn-cs"/>
                        </a:rPr>
                        <a:t>Acknowledgement “subject</a:t>
                      </a:r>
                      <a:r>
                        <a:rPr kumimoji="0" lang="en-US" sz="1600" b="1" kern="1200" baseline="0" dirty="0">
                          <a:solidFill>
                            <a:schemeClr val="lt1"/>
                          </a:solidFill>
                          <a:effectLst/>
                          <a:latin typeface="+mn-lt"/>
                          <a:ea typeface="+mn-ea"/>
                          <a:cs typeface="+mn-cs"/>
                        </a:rPr>
                        <a:t> to” arbitration clause</a:t>
                      </a:r>
                      <a:endParaRPr kumimoji="0" lang="en-US" sz="1600" b="1" kern="1200" dirty="0">
                        <a:solidFill>
                          <a:schemeClr val="lt1"/>
                        </a:solidFill>
                        <a:effectLst/>
                        <a:latin typeface="+mn-lt"/>
                        <a:ea typeface="+mn-ea"/>
                        <a:cs typeface="+mn-cs"/>
                      </a:endParaRPr>
                    </a:p>
                  </a:txBody>
                  <a:tcPr marL="68580" marR="68580" marT="0" marB="0"/>
                </a:tc>
                <a:tc>
                  <a:txBody>
                    <a:bodyPr/>
                    <a:lstStyle/>
                    <a:p>
                      <a:pPr marL="0" marR="0" algn="ctr">
                        <a:spcBef>
                          <a:spcPts val="0"/>
                        </a:spcBef>
                        <a:spcAft>
                          <a:spcPts val="0"/>
                        </a:spcAft>
                      </a:pPr>
                      <a:r>
                        <a:rPr kumimoji="0" lang="en-US" sz="1600" b="1" kern="1200" dirty="0">
                          <a:solidFill>
                            <a:schemeClr val="lt1"/>
                          </a:solidFill>
                          <a:effectLst/>
                          <a:latin typeface="+mn-lt"/>
                          <a:ea typeface="+mn-ea"/>
                          <a:cs typeface="+mn-cs"/>
                        </a:rPr>
                        <a:t>Delivery</a:t>
                      </a:r>
                    </a:p>
                  </a:txBody>
                  <a:tcPr marL="68580" marR="68580" marT="0" marB="0"/>
                </a:tc>
                <a:extLst>
                  <a:ext uri="{0D108BD9-81ED-4DB2-BD59-A6C34878D82A}">
                    <a16:rowId xmlns:a16="http://schemas.microsoft.com/office/drawing/2014/main" val="10000"/>
                  </a:ext>
                </a:extLst>
              </a:tr>
              <a:tr h="586890">
                <a:tc>
                  <a:txBody>
                    <a:bodyPr/>
                    <a:lstStyle/>
                    <a:p>
                      <a:pPr marL="0" marR="0">
                        <a:spcBef>
                          <a:spcPts val="0"/>
                        </a:spcBef>
                        <a:spcAft>
                          <a:spcPts val="0"/>
                        </a:spcAft>
                      </a:pPr>
                      <a:r>
                        <a:rPr kumimoji="0" lang="en-US" sz="1600" kern="1200" dirty="0">
                          <a:solidFill>
                            <a:schemeClr val="dk1"/>
                          </a:solidFill>
                          <a:effectLst/>
                          <a:latin typeface="+mn-lt"/>
                          <a:ea typeface="+mn-ea"/>
                          <a:cs typeface="+mn-cs"/>
                        </a:rPr>
                        <a:t>Oral</a:t>
                      </a:r>
                      <a:r>
                        <a:rPr kumimoji="0" lang="en-US" sz="1600" kern="1200" baseline="0" dirty="0">
                          <a:solidFill>
                            <a:schemeClr val="dk1"/>
                          </a:solidFill>
                          <a:effectLst/>
                          <a:latin typeface="+mn-lt"/>
                          <a:ea typeface="+mn-ea"/>
                          <a:cs typeface="+mn-cs"/>
                        </a:rPr>
                        <a:t> agreement</a:t>
                      </a:r>
                      <a:r>
                        <a:rPr kumimoji="0" lang="en-US" sz="1600" kern="1200" dirty="0">
                          <a:solidFill>
                            <a:schemeClr val="dk1"/>
                          </a:solidFill>
                          <a:effectLst/>
                          <a:latin typeface="+mn-lt"/>
                          <a:ea typeface="+mn-ea"/>
                          <a:cs typeface="+mn-cs"/>
                        </a:rPr>
                        <a: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Document other than a confirmation whose terms</a:t>
                      </a:r>
                      <a:r>
                        <a:rPr lang="en-US" sz="1600" baseline="0" dirty="0">
                          <a:effectLst/>
                        </a:rPr>
                        <a:t> are not incorporated</a:t>
                      </a:r>
                      <a:r>
                        <a:rPr lang="en-US" sz="1600" dirty="0">
                          <a:effectLst/>
                        </a:rPr>
                        <a:t>.</a:t>
                      </a:r>
                      <a:endParaRPr lang="en-US" sz="1600" dirty="0">
                        <a:effectLst/>
                        <a:latin typeface="Times New Roman"/>
                        <a:ea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effectLst/>
                      </a:endParaRPr>
                    </a:p>
                  </a:txBody>
                  <a:tcPr marL="68580" marR="68580" marT="0" marB="0"/>
                </a:tc>
                <a:extLst>
                  <a:ext uri="{0D108BD9-81ED-4DB2-BD59-A6C34878D82A}">
                    <a16:rowId xmlns:a16="http://schemas.microsoft.com/office/drawing/2014/main" val="10001"/>
                  </a:ext>
                </a:extLst>
              </a:tr>
              <a:tr h="19509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b="1" kern="1200" dirty="0">
                          <a:solidFill>
                            <a:schemeClr val="dk1"/>
                          </a:solidFill>
                          <a:effectLst/>
                          <a:latin typeface="+mn-lt"/>
                          <a:ea typeface="+mn-ea"/>
                          <a:cs typeface="+mn-cs"/>
                        </a:rPr>
                        <a:t>Oral</a:t>
                      </a:r>
                      <a:r>
                        <a:rPr kumimoji="0" lang="en-US" sz="1600" b="1" kern="1200" baseline="0" dirty="0">
                          <a:solidFill>
                            <a:schemeClr val="dk1"/>
                          </a:solidFill>
                          <a:effectLst/>
                          <a:latin typeface="+mn-lt"/>
                          <a:ea typeface="+mn-ea"/>
                          <a:cs typeface="+mn-cs"/>
                        </a:rPr>
                        <a:t> agreement</a:t>
                      </a:r>
                      <a:r>
                        <a:rPr kumimoji="0" lang="en-US" sz="1600" b="1" kern="1200" dirty="0">
                          <a:solidFill>
                            <a:schemeClr val="dk1"/>
                          </a:solidFill>
                          <a:effectLst/>
                          <a:latin typeface="+mn-lt"/>
                          <a:ea typeface="+mn-ea"/>
                          <a:cs typeface="+mn-cs"/>
                        </a:rPr>
                        <a:t>*</a:t>
                      </a:r>
                    </a:p>
                    <a:p>
                      <a:pPr marL="0" marR="0">
                        <a:spcBef>
                          <a:spcPts val="0"/>
                        </a:spcBef>
                        <a:spcAft>
                          <a:spcPts val="0"/>
                        </a:spcAft>
                      </a:pPr>
                      <a:endParaRPr kumimoji="0" lang="en-US" sz="1600" kern="1200" dirty="0">
                        <a:solidFill>
                          <a:schemeClr val="dk1"/>
                        </a:solidFill>
                        <a:effectLst/>
                        <a:latin typeface="+mn-lt"/>
                        <a:ea typeface="+mn-ea"/>
                        <a:cs typeface="+mn-cs"/>
                      </a:endParaRPr>
                    </a:p>
                    <a:p>
                      <a:pPr marL="0" marR="0">
                        <a:spcBef>
                          <a:spcPts val="0"/>
                        </a:spcBef>
                        <a:spcAft>
                          <a:spcPts val="0"/>
                        </a:spcAft>
                      </a:pPr>
                      <a:r>
                        <a:rPr kumimoji="0" lang="en-US" sz="1600" kern="1200" dirty="0">
                          <a:solidFill>
                            <a:schemeClr val="dk1"/>
                          </a:solidFill>
                          <a:effectLst/>
                          <a:latin typeface="+mn-lt"/>
                          <a:ea typeface="+mn-ea"/>
                          <a:cs typeface="+mn-cs"/>
                        </a:rPr>
                        <a:t> </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Proposal whose terms are not incorporated (2-207(2)) if:</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b="1"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a:t>
                      </a:r>
                      <a:r>
                        <a:rPr kumimoji="0" lang="en-US" sz="1600" b="0" i="0" u="none" strike="noStrike" kern="1200" cap="none" spc="0" normalizeH="0" baseline="0" noProof="0" dirty="0">
                          <a:ln>
                            <a:noFill/>
                          </a:ln>
                          <a:solidFill>
                            <a:prstClr val="black"/>
                          </a:solidFill>
                          <a:effectLst/>
                          <a:uLnTx/>
                          <a:uFillTx/>
                          <a:latin typeface="+mn-lt"/>
                          <a:ea typeface="+mn-ea"/>
                          <a:cs typeface="+mn-cs"/>
                        </a:rPr>
                        <a:t>(including in a conflicting confirmation, as per </a:t>
                      </a:r>
                      <a:r>
                        <a:rPr kumimoji="0" lang="en-US" sz="1600" b="0" i="0" u="none" strike="noStrike" kern="1200" cap="none" spc="0" normalizeH="0" baseline="0" noProof="0" dirty="0" err="1">
                          <a:ln>
                            <a:noFill/>
                          </a:ln>
                          <a:solidFill>
                            <a:prstClr val="black"/>
                          </a:solidFill>
                          <a:effectLst/>
                          <a:uLnTx/>
                          <a:uFillTx/>
                          <a:latin typeface="+mn-lt"/>
                          <a:ea typeface="+mn-ea"/>
                          <a:cs typeface="+mn-cs"/>
                        </a:rPr>
                        <a:t>Cmt</a:t>
                      </a:r>
                      <a:r>
                        <a:rPr kumimoji="0" lang="en-US" sz="1600" b="0" i="0" u="none" strike="noStrike" kern="1200" cap="none" spc="0" normalizeH="0" baseline="0" noProof="0" dirty="0">
                          <a:ln>
                            <a:noFill/>
                          </a:ln>
                          <a:solidFill>
                            <a:prstClr val="black"/>
                          </a:solidFill>
                          <a:effectLst/>
                          <a:uLnTx/>
                          <a:uFillTx/>
                          <a:latin typeface="+mn-lt"/>
                          <a:ea typeface="+mn-ea"/>
                          <a:cs typeface="+mn-cs"/>
                        </a:rPr>
                        <a:t> 6)</a:t>
                      </a:r>
                      <a:r>
                        <a:rPr lang="en-US" sz="1600" dirty="0">
                          <a:effectLst/>
                        </a:rPr>
                        <a:t>; 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2"/>
                  </a:ext>
                </a:extLst>
              </a:tr>
              <a:tr h="62889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600" b="1" kern="1200" dirty="0">
                          <a:solidFill>
                            <a:schemeClr val="dk1"/>
                          </a:solidFill>
                          <a:effectLst/>
                          <a:latin typeface="+mn-lt"/>
                          <a:ea typeface="+mn-ea"/>
                          <a:cs typeface="+mn-cs"/>
                        </a:rPr>
                        <a:t>Oral</a:t>
                      </a:r>
                      <a:r>
                        <a:rPr kumimoji="0" lang="en-US" sz="1600" b="1" kern="1200" baseline="0" dirty="0">
                          <a:solidFill>
                            <a:schemeClr val="dk1"/>
                          </a:solidFill>
                          <a:effectLst/>
                          <a:latin typeface="+mn-lt"/>
                          <a:ea typeface="+mn-ea"/>
                          <a:cs typeface="+mn-cs"/>
                        </a:rPr>
                        <a:t> agreement</a:t>
                      </a:r>
                      <a:r>
                        <a:rPr kumimoji="0" lang="en-US" sz="1600" b="1" kern="1200" dirty="0">
                          <a:solidFill>
                            <a:schemeClr val="dk1"/>
                          </a:solidFill>
                          <a:effectLst/>
                          <a:latin typeface="+mn-lt"/>
                          <a:ea typeface="+mn-ea"/>
                          <a:cs typeface="+mn-cs"/>
                        </a:rPr>
                        <a:t>*</a:t>
                      </a:r>
                    </a:p>
                    <a:p>
                      <a:pPr marL="0" marR="0">
                        <a:spcBef>
                          <a:spcPts val="0"/>
                        </a:spcBef>
                        <a:spcAft>
                          <a:spcPts val="0"/>
                        </a:spcAft>
                      </a:pPr>
                      <a:endParaRPr kumimoji="0" lang="en-US" sz="1600" kern="1200" dirty="0">
                        <a:solidFill>
                          <a:schemeClr val="dk1"/>
                        </a:solidFill>
                        <a:effectLst/>
                        <a:latin typeface="+mn-lt"/>
                        <a:ea typeface="+mn-ea"/>
                        <a:cs typeface="+mn-cs"/>
                      </a:endParaRPr>
                    </a:p>
                  </a:txBody>
                  <a:tcPr marL="68580" marR="68580" marT="0" marB="0"/>
                </a:tc>
                <a:tc>
                  <a:txBody>
                    <a:bodyPr/>
                    <a:lstStyle/>
                    <a:p>
                      <a:pPr marL="0" marR="0">
                        <a:spcBef>
                          <a:spcPts val="0"/>
                        </a:spcBef>
                        <a:spcAft>
                          <a:spcPts val="0"/>
                        </a:spcAft>
                      </a:pPr>
                      <a:r>
                        <a:rPr lang="en-US" sz="1600" b="1" dirty="0">
                          <a:effectLst/>
                        </a:rPr>
                        <a:t>Proposal whose terms are incorporated into</a:t>
                      </a:r>
                      <a:r>
                        <a:rPr lang="en-US" sz="1600" b="1" baseline="0" dirty="0">
                          <a:effectLst/>
                        </a:rPr>
                        <a:t> contract </a:t>
                      </a:r>
                      <a:r>
                        <a:rPr lang="en-US" sz="1600" b="0" dirty="0">
                          <a:effectLst/>
                        </a:rPr>
                        <a:t>(2-207(2)</a:t>
                      </a:r>
                      <a:r>
                        <a:rPr lang="en-US" sz="1600" b="0" baseline="0" dirty="0">
                          <a:effectLst/>
                        </a:rPr>
                        <a:t> (“California” rule, implied in </a:t>
                      </a:r>
                      <a:r>
                        <a:rPr lang="en-US" sz="1600" b="0" baseline="0" dirty="0" err="1">
                          <a:effectLst/>
                        </a:rPr>
                        <a:t>Cmt</a:t>
                      </a:r>
                      <a:r>
                        <a:rPr lang="en-US" sz="1600" b="0" baseline="0" dirty="0">
                          <a:effectLst/>
                        </a:rPr>
                        <a:t> 3)).</a:t>
                      </a:r>
                      <a:endParaRPr lang="en-US" sz="1600" b="0" dirty="0">
                        <a:effectLst/>
                        <a:latin typeface="Times New Roman"/>
                        <a:ea typeface="Times New Roman"/>
                      </a:endParaRPr>
                    </a:p>
                  </a:txBody>
                  <a:tcPr marL="68580" marR="68580" marT="0" marB="0"/>
                </a:tc>
                <a:tc>
                  <a:txBody>
                    <a:bodyPr/>
                    <a:lstStyle/>
                    <a:p>
                      <a:endParaRPr lang="en-US" sz="1600" dirty="0"/>
                    </a:p>
                  </a:txBody>
                  <a:tcPr marT="45725" marB="45725"/>
                </a:tc>
                <a:extLst>
                  <a:ext uri="{0D108BD9-81ED-4DB2-BD59-A6C34878D82A}">
                    <a16:rowId xmlns:a16="http://schemas.microsoft.com/office/drawing/2014/main" val="10003"/>
                  </a:ext>
                </a:extLst>
              </a:tr>
            </a:tbl>
          </a:graphicData>
        </a:graphic>
      </p:graphicFrame>
      <p:sp>
        <p:nvSpPr>
          <p:cNvPr id="15392" name="Title 1"/>
          <p:cNvSpPr>
            <a:spLocks noGrp="1"/>
          </p:cNvSpPr>
          <p:nvPr>
            <p:ph type="ctrTitle" idx="4294967295"/>
          </p:nvPr>
        </p:nvSpPr>
        <p:spPr>
          <a:xfrm>
            <a:off x="685800" y="228600"/>
            <a:ext cx="7848600" cy="533400"/>
          </a:xfrm>
        </p:spPr>
        <p:txBody>
          <a:bodyPr/>
          <a:lstStyle/>
          <a:p>
            <a:pPr algn="l"/>
            <a:r>
              <a:rPr lang="en-US" altLang="en-US" sz="2400" dirty="0" err="1"/>
              <a:t>Dorton</a:t>
            </a:r>
            <a:r>
              <a:rPr lang="en-US" altLang="en-US" sz="2400" dirty="0"/>
              <a:t> v. Collins &amp; Aikman Corp. – 6</a:t>
            </a:r>
            <a:r>
              <a:rPr lang="en-US" altLang="en-US" sz="2400" baseline="30000" dirty="0"/>
              <a:t>th</a:t>
            </a:r>
            <a:r>
              <a:rPr lang="en-US" altLang="en-US" sz="2400" dirty="0"/>
              <a:t> Cir. (cont.)</a:t>
            </a:r>
          </a:p>
        </p:txBody>
      </p:sp>
      <p:sp>
        <p:nvSpPr>
          <p:cNvPr id="4" name="TextBox 1"/>
          <p:cNvSpPr txBox="1">
            <a:spLocks noChangeArrowheads="1"/>
          </p:cNvSpPr>
          <p:nvPr/>
        </p:nvSpPr>
        <p:spPr bwMode="auto">
          <a:xfrm>
            <a:off x="685800" y="5638800"/>
            <a:ext cx="7543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1600" dirty="0">
                <a:solidFill>
                  <a:prstClr val="black"/>
                </a:solidFill>
              </a:rPr>
              <a:t>* Subject to writing requirement, which might be satisfied by the confirmation, and interpreted in light of commercial context.</a:t>
            </a:r>
          </a:p>
        </p:txBody>
      </p:sp>
    </p:spTree>
    <p:extLst>
      <p:ext uri="{BB962C8B-B14F-4D97-AF65-F5344CB8AC3E}">
        <p14:creationId xmlns:p14="http://schemas.microsoft.com/office/powerpoint/2010/main" val="1348452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009679920"/>
              </p:ext>
            </p:extLst>
          </p:nvPr>
        </p:nvGraphicFramePr>
        <p:xfrm>
          <a:off x="685800" y="914400"/>
          <a:ext cx="7848601" cy="5542169"/>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362201">
                  <a:extLst>
                    <a:ext uri="{9D8B030D-6E8A-4147-A177-3AD203B41FA5}">
                      <a16:colId xmlns:a16="http://schemas.microsoft.com/office/drawing/2014/main" val="20002"/>
                    </a:ext>
                  </a:extLst>
                </a:gridCol>
              </a:tblGrid>
              <a:tr h="487648">
                <a:tc>
                  <a:txBody>
                    <a:bodyPr/>
                    <a:lstStyle/>
                    <a:p>
                      <a:pPr marL="0" marR="0" algn="ctr">
                        <a:spcBef>
                          <a:spcPts val="0"/>
                        </a:spcBef>
                        <a:spcAft>
                          <a:spcPts val="0"/>
                        </a:spcAft>
                      </a:pPr>
                      <a:r>
                        <a:rPr lang="en-US" sz="1600" dirty="0">
                          <a:effectLst/>
                          <a:latin typeface="+mn-lt"/>
                          <a:ea typeface="+mn-ea"/>
                        </a:rPr>
                        <a:t>Purchase Order</a:t>
                      </a:r>
                      <a:endParaRPr lang="en-US" sz="1600" dirty="0">
                        <a:effectLst/>
                        <a:latin typeface="+mn-lt"/>
                        <a:ea typeface="Times New Roman"/>
                      </a:endParaRPr>
                    </a:p>
                  </a:txBody>
                  <a:tcPr marL="68580" marR="68580" marT="0" marB="0"/>
                </a:tc>
                <a:tc>
                  <a:txBody>
                    <a:bodyPr/>
                    <a:lstStyle/>
                    <a:p>
                      <a:pPr marL="0" marR="0" algn="ctr">
                        <a:spcBef>
                          <a:spcPts val="0"/>
                        </a:spcBef>
                        <a:spcAft>
                          <a:spcPts val="0"/>
                        </a:spcAft>
                      </a:pPr>
                      <a:r>
                        <a:rPr lang="en-US" sz="1600" dirty="0">
                          <a:effectLst/>
                          <a:latin typeface="+mn-lt"/>
                          <a:ea typeface="Times New Roman"/>
                        </a:rPr>
                        <a:t>Acceptance</a:t>
                      </a:r>
                      <a:r>
                        <a:rPr lang="en-US" sz="1600" baseline="0" dirty="0">
                          <a:effectLst/>
                          <a:latin typeface="+mn-lt"/>
                          <a:ea typeface="Times New Roman"/>
                        </a:rPr>
                        <a:t>  “expressly conditional on Buyer’s assent to” arbitration clause</a:t>
                      </a:r>
                      <a:endParaRPr lang="en-US" sz="1600" dirty="0">
                        <a:effectLst/>
                        <a:latin typeface="+mn-lt"/>
                        <a:ea typeface="Times New Roman"/>
                      </a:endParaRPr>
                    </a:p>
                  </a:txBody>
                  <a:tcPr marL="68580" marR="68580" marT="0" marB="0"/>
                </a:tc>
                <a:tc>
                  <a:txBody>
                    <a:bodyPr/>
                    <a:lstStyle/>
                    <a:p>
                      <a:pPr marL="0" marR="0" algn="ctr">
                        <a:spcBef>
                          <a:spcPts val="0"/>
                        </a:spcBef>
                        <a:spcAft>
                          <a:spcPts val="0"/>
                        </a:spcAft>
                      </a:pPr>
                      <a:r>
                        <a:rPr lang="en-US" sz="1600" dirty="0">
                          <a:effectLst/>
                          <a:latin typeface="+mn-lt"/>
                          <a:ea typeface="Times New Roman"/>
                        </a:rPr>
                        <a:t>Delivery and payment</a:t>
                      </a:r>
                    </a:p>
                  </a:txBody>
                  <a:tcPr marL="68580" marR="68580" marT="0" marB="0"/>
                </a:tc>
                <a:extLst>
                  <a:ext uri="{0D108BD9-81ED-4DB2-BD59-A6C34878D82A}">
                    <a16:rowId xmlns:a16="http://schemas.microsoft.com/office/drawing/2014/main" val="10000"/>
                  </a:ext>
                </a:extLst>
              </a:tr>
              <a:tr h="555895">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459">
                <a:tc>
                  <a:txBody>
                    <a:bodyPr/>
                    <a:lstStyle/>
                    <a:p>
                      <a:pPr marL="0" marR="0">
                        <a:spcBef>
                          <a:spcPts val="0"/>
                        </a:spcBef>
                        <a:spcAft>
                          <a:spcPts val="0"/>
                        </a:spcAft>
                      </a:pPr>
                      <a:r>
                        <a:rPr lang="en-US" sz="1600" b="1" dirty="0">
                          <a:effectLst/>
                        </a:rPr>
                        <a:t>Offer</a:t>
                      </a:r>
                      <a:endParaRPr lang="en-US" sz="1600" b="1"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Rejection and counter-offer if</a:t>
                      </a:r>
                      <a:r>
                        <a:rPr lang="en-US" sz="1600" b="1" baseline="0" dirty="0">
                          <a:effectLst/>
                        </a:rPr>
                        <a:t> </a:t>
                      </a:r>
                      <a:r>
                        <a:rPr lang="en-US" sz="1600" dirty="0">
                          <a:effectLst/>
                        </a:rPr>
                        <a:t>(2-207(1)):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b="1" dirty="0">
                          <a:effectLst/>
                        </a:rPr>
                        <a:t>Expressly conditional on assent to additional or different terms</a:t>
                      </a:r>
                      <a:endParaRPr lang="en-US" sz="1600" b="1"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Trigger for 2-207(3)</a:t>
                      </a:r>
                      <a:endParaRPr lang="en-US" sz="1600" dirty="0">
                        <a:effectLst/>
                        <a:latin typeface="Times New Roman"/>
                        <a:ea typeface="Times New Roman"/>
                      </a:endParaRPr>
                    </a:p>
                    <a:p>
                      <a:pPr marL="0" marR="0">
                        <a:spcBef>
                          <a:spcPts val="0"/>
                        </a:spcBef>
                        <a:spcAft>
                          <a:spcPts val="0"/>
                        </a:spcAft>
                      </a:pPr>
                      <a:r>
                        <a:rPr lang="en-US" sz="1600" b="0" dirty="0">
                          <a:effectLst/>
                        </a:rPr>
                        <a:t>Acceptance?</a:t>
                      </a:r>
                    </a:p>
                  </a:txBody>
                  <a:tcPr marL="68580" marR="68580" marT="0" marB="0"/>
                </a:tc>
                <a:extLst>
                  <a:ext uri="{0D108BD9-81ED-4DB2-BD59-A6C34878D82A}">
                    <a16:rowId xmlns:a16="http://schemas.microsoft.com/office/drawing/2014/main" val="10002"/>
                  </a:ext>
                </a:extLst>
              </a:tr>
              <a:tr h="1950593">
                <a:tc>
                  <a:txBody>
                    <a:bodyPr/>
                    <a:lstStyle/>
                    <a:p>
                      <a:pPr marL="0" marR="0">
                        <a:spcBef>
                          <a:spcPts val="0"/>
                        </a:spcBef>
                        <a:spcAft>
                          <a:spcPts val="0"/>
                        </a:spcAft>
                      </a:pPr>
                      <a:r>
                        <a:rPr lang="en-US" sz="1600" b="0" dirty="0">
                          <a:effectLst/>
                        </a:rPr>
                        <a:t>Offer</a:t>
                      </a:r>
                    </a:p>
                    <a:p>
                      <a:pPr marL="0" marR="0">
                        <a:spcBef>
                          <a:spcPts val="0"/>
                        </a:spcBef>
                        <a:spcAft>
                          <a:spcPts val="0"/>
                        </a:spcAft>
                      </a:pPr>
                      <a:r>
                        <a:rPr lang="en-US" sz="1600" b="0" dirty="0">
                          <a:effectLst/>
                        </a:rPr>
                        <a:t> </a:t>
                      </a:r>
                      <a:endParaRPr lang="en-US" sz="1600" b="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Acceptance (2-207(1)) and proposal whose terms are not incorporated (2-207(2))</a:t>
                      </a:r>
                      <a:r>
                        <a:rPr lang="en-US" sz="1600" b="0" baseline="0" dirty="0">
                          <a:effectLst/>
                        </a:rPr>
                        <a:t> if</a:t>
                      </a:r>
                      <a:r>
                        <a:rPr lang="en-US" sz="1600" b="0" dirty="0">
                          <a:effectLst/>
                        </a:rPr>
                        <a:t>:</a:t>
                      </a:r>
                    </a:p>
                    <a:p>
                      <a:pPr marL="342900" marR="0" lvl="0" indent="-342900">
                        <a:spcBef>
                          <a:spcPts val="0"/>
                        </a:spcBef>
                        <a:spcAft>
                          <a:spcPts val="0"/>
                        </a:spcAft>
                        <a:buFont typeface="Symbol"/>
                        <a:buChar char=""/>
                        <a:tabLst>
                          <a:tab pos="228600" algn="l"/>
                        </a:tabLst>
                      </a:pPr>
                      <a:r>
                        <a:rPr lang="en-US" sz="1600" b="0" dirty="0">
                          <a:effectLst/>
                        </a:rPr>
                        <a:t>Contract is not between merchants</a:t>
                      </a:r>
                    </a:p>
                    <a:p>
                      <a:pPr marL="342900" marR="0" lvl="0" indent="-342900">
                        <a:spcBef>
                          <a:spcPts val="0"/>
                        </a:spcBef>
                        <a:spcAft>
                          <a:spcPts val="0"/>
                        </a:spcAft>
                        <a:buFont typeface="Symbol"/>
                        <a:buChar char=""/>
                        <a:tabLst>
                          <a:tab pos="228600" algn="l"/>
                        </a:tabLst>
                      </a:pPr>
                      <a:r>
                        <a:rPr lang="en-US" sz="1600" b="0" dirty="0">
                          <a:effectLst/>
                        </a:rPr>
                        <a:t>Offer expressly limits acceptance</a:t>
                      </a:r>
                    </a:p>
                    <a:p>
                      <a:pPr marL="342900" marR="0" lvl="0" indent="-342900">
                        <a:spcBef>
                          <a:spcPts val="0"/>
                        </a:spcBef>
                        <a:spcAft>
                          <a:spcPts val="0"/>
                        </a:spcAft>
                        <a:buFont typeface="Symbol"/>
                        <a:buChar char=""/>
                        <a:tabLst>
                          <a:tab pos="228600" algn="l"/>
                        </a:tabLst>
                      </a:pPr>
                      <a:r>
                        <a:rPr lang="en-US" sz="1600" b="0" dirty="0">
                          <a:effectLst/>
                        </a:rPr>
                        <a:t>They materially alter contract</a:t>
                      </a:r>
                    </a:p>
                    <a:p>
                      <a:pPr marL="342900" marR="0" lvl="0" indent="-342900">
                        <a:spcBef>
                          <a:spcPts val="0"/>
                        </a:spcBef>
                        <a:spcAft>
                          <a:spcPts val="0"/>
                        </a:spcAft>
                        <a:buFont typeface="Symbol"/>
                        <a:buChar char=""/>
                        <a:tabLst>
                          <a:tab pos="228600" algn="l"/>
                        </a:tabLst>
                      </a:pPr>
                      <a:r>
                        <a:rPr lang="en-US" sz="1600" b="0" dirty="0">
                          <a:effectLst/>
                        </a:rPr>
                        <a:t>Notification of objection is given; or</a:t>
                      </a:r>
                    </a:p>
                    <a:p>
                      <a:pPr marL="342900" marR="0" lvl="0" indent="-342900">
                        <a:spcBef>
                          <a:spcPts val="0"/>
                        </a:spcBef>
                        <a:spcAft>
                          <a:spcPts val="0"/>
                        </a:spcAft>
                        <a:buFont typeface="Symbol"/>
                        <a:buChar char=""/>
                        <a:tabLst>
                          <a:tab pos="228600" algn="l"/>
                        </a:tabLst>
                      </a:pPr>
                      <a:r>
                        <a:rPr lang="en-US" sz="1600" b="0" dirty="0">
                          <a:effectLst/>
                        </a:rPr>
                        <a:t>Terms are different (minority</a:t>
                      </a:r>
                      <a:r>
                        <a:rPr lang="en-US" sz="1600" b="0" baseline="0" dirty="0">
                          <a:effectLst/>
                        </a:rPr>
                        <a:t> rule, consistent with statutory text)</a:t>
                      </a:r>
                      <a:endParaRPr lang="en-US" sz="1600" b="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5895">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that knocks out different terms</a:t>
                      </a:r>
                      <a:r>
                        <a:rPr lang="en-US" sz="1600"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07" marB="45707"/>
                </a:tc>
                <a:extLst>
                  <a:ext uri="{0D108BD9-81ED-4DB2-BD59-A6C34878D82A}">
                    <a16:rowId xmlns:a16="http://schemas.microsoft.com/office/drawing/2014/main" val="10004"/>
                  </a:ext>
                </a:extLst>
              </a:tr>
              <a:tr h="731472">
                <a:tc>
                  <a:txBody>
                    <a:bodyPr/>
                    <a:lstStyle/>
                    <a:p>
                      <a:pPr marL="0" marR="0">
                        <a:spcBef>
                          <a:spcPts val="0"/>
                        </a:spcBef>
                        <a:spcAft>
                          <a:spcPts val="0"/>
                        </a:spcAft>
                      </a:pPr>
                      <a:r>
                        <a:rPr lang="en-US" sz="1600" b="0" dirty="0">
                          <a:effectLst/>
                        </a:rPr>
                        <a:t>Offer</a:t>
                      </a:r>
                      <a:endParaRPr lang="en-US" sz="1600" b="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b="0" dirty="0">
                          <a:effectLst/>
                        </a:rPr>
                        <a:t>Acceptance (2-207(1)) and proposal whose terms are incorporated into</a:t>
                      </a:r>
                      <a:r>
                        <a:rPr lang="en-US" sz="1600" b="0" baseline="0" dirty="0">
                          <a:effectLst/>
                        </a:rPr>
                        <a:t> contract </a:t>
                      </a:r>
                      <a:r>
                        <a:rPr lang="en-US" sz="1600" b="0" dirty="0">
                          <a:effectLst/>
                        </a:rPr>
                        <a:t>(2-207(2)</a:t>
                      </a:r>
                      <a:r>
                        <a:rPr lang="en-US" sz="1600" b="0" baseline="0" dirty="0">
                          <a:effectLst/>
                        </a:rPr>
                        <a:t> (“California” rule, implied in </a:t>
                      </a:r>
                      <a:r>
                        <a:rPr lang="en-US" sz="1600" b="0" baseline="0" dirty="0" err="1">
                          <a:effectLst/>
                        </a:rPr>
                        <a:t>Cmt</a:t>
                      </a:r>
                      <a:r>
                        <a:rPr lang="en-US" sz="1600" b="0" baseline="0" dirty="0">
                          <a:effectLst/>
                        </a:rPr>
                        <a:t>. 3)).</a:t>
                      </a:r>
                      <a:endParaRPr lang="en-US" sz="1600" b="0" dirty="0">
                        <a:effectLst/>
                        <a:latin typeface="Times New Roman"/>
                        <a:ea typeface="Times New Roman"/>
                      </a:endParaRPr>
                    </a:p>
                  </a:txBody>
                  <a:tcPr marL="68580" marR="68580" marT="0" marB="0"/>
                </a:tc>
                <a:tc>
                  <a:txBody>
                    <a:bodyPr/>
                    <a:lstStyle/>
                    <a:p>
                      <a:endParaRPr lang="en-US" sz="1600" dirty="0"/>
                    </a:p>
                  </a:txBody>
                  <a:tcPr marT="45707" marB="45707"/>
                </a:tc>
                <a:extLst>
                  <a:ext uri="{0D108BD9-81ED-4DB2-BD59-A6C34878D82A}">
                    <a16:rowId xmlns:a16="http://schemas.microsoft.com/office/drawing/2014/main" val="10005"/>
                  </a:ext>
                </a:extLst>
              </a:tr>
            </a:tbl>
          </a:graphicData>
        </a:graphic>
      </p:graphicFrame>
      <p:sp>
        <p:nvSpPr>
          <p:cNvPr id="16416" name="Title 1"/>
          <p:cNvSpPr>
            <a:spLocks noGrp="1"/>
          </p:cNvSpPr>
          <p:nvPr>
            <p:ph type="ctrTitle"/>
          </p:nvPr>
        </p:nvSpPr>
        <p:spPr>
          <a:xfrm>
            <a:off x="685800" y="228600"/>
            <a:ext cx="7848600" cy="533400"/>
          </a:xfrm>
        </p:spPr>
        <p:txBody>
          <a:bodyPr>
            <a:normAutofit fontScale="90000"/>
          </a:bodyPr>
          <a:lstStyle/>
          <a:p>
            <a:pPr algn="l"/>
            <a:r>
              <a:rPr lang="en-US" altLang="en-US" sz="2400" dirty="0"/>
              <a:t>C. </a:t>
            </a:r>
            <a:r>
              <a:rPr lang="en-US" altLang="en-US" sz="2400" dirty="0" err="1"/>
              <a:t>Itoh</a:t>
            </a:r>
            <a:r>
              <a:rPr lang="en-US" altLang="en-US" sz="2400" dirty="0"/>
              <a:t> &amp; Co. (America) Inc. v. Jordan Int’l Co. (281)</a:t>
            </a:r>
          </a:p>
        </p:txBody>
      </p:sp>
    </p:spTree>
    <p:extLst>
      <p:ext uri="{BB962C8B-B14F-4D97-AF65-F5344CB8AC3E}">
        <p14:creationId xmlns:p14="http://schemas.microsoft.com/office/powerpoint/2010/main" val="3287042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solidFill>
                  <a:schemeClr val="tx1"/>
                </a:solidFill>
              </a:rPr>
              <a:t>Bayway</a:t>
            </a:r>
            <a:r>
              <a:rPr lang="en-US" sz="2400" dirty="0">
                <a:solidFill>
                  <a:schemeClr val="tx1"/>
                </a:solidFill>
              </a:rPr>
              <a:t> Refining v. Oxygenated Marketing &amp; Trading (285)</a:t>
            </a:r>
          </a:p>
        </p:txBody>
      </p:sp>
      <p:sp>
        <p:nvSpPr>
          <p:cNvPr id="3" name="Content Placeholder 2"/>
          <p:cNvSpPr>
            <a:spLocks noGrp="1"/>
          </p:cNvSpPr>
          <p:nvPr>
            <p:ph sz="quarter" idx="1"/>
          </p:nvPr>
        </p:nvSpPr>
        <p:spPr/>
        <p:txBody>
          <a:bodyPr>
            <a:normAutofit/>
          </a:bodyPr>
          <a:lstStyle/>
          <a:p>
            <a:pPr lvl="0"/>
            <a:r>
              <a:rPr lang="en-US" dirty="0"/>
              <a:t>“A material alteration is one which would result in surprise or hardship if incorporated without express awareness by the other party” (2-207 </a:t>
            </a:r>
            <a:r>
              <a:rPr lang="en-US" dirty="0" err="1"/>
              <a:t>Cmt</a:t>
            </a:r>
            <a:r>
              <a:rPr lang="en-US" dirty="0"/>
              <a:t> 4).</a:t>
            </a:r>
          </a:p>
          <a:p>
            <a:pPr lvl="1"/>
            <a:r>
              <a:rPr lang="en-US" dirty="0"/>
              <a:t>See examples in Comments 4 and 5. Note relevance of usage of trade, custom, trade practice.</a:t>
            </a:r>
          </a:p>
          <a:p>
            <a:pPr marL="0" indent="0">
              <a:buNone/>
            </a:pPr>
            <a:endParaRPr lang="en-US" dirty="0"/>
          </a:p>
          <a:p>
            <a:r>
              <a:rPr lang="en-US" dirty="0"/>
              <a:t>Who bears the burden of establishing that a term would be a material alteration?</a:t>
            </a:r>
          </a:p>
          <a:p>
            <a:r>
              <a:rPr lang="en-US" dirty="0"/>
              <a:t>Why was the Tax Clause not a material alteration?</a:t>
            </a:r>
          </a:p>
          <a:p>
            <a:r>
              <a:rPr lang="en-US" dirty="0"/>
              <a:t>Is an arbitration clause necessarily a material alteration?</a:t>
            </a:r>
          </a:p>
          <a:p>
            <a:endParaRPr lang="en-US" dirty="0"/>
          </a:p>
        </p:txBody>
      </p:sp>
    </p:spTree>
    <p:extLst>
      <p:ext uri="{BB962C8B-B14F-4D97-AF65-F5344CB8AC3E}">
        <p14:creationId xmlns:p14="http://schemas.microsoft.com/office/powerpoint/2010/main" val="3870293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095197599"/>
              </p:ext>
            </p:extLst>
          </p:nvPr>
        </p:nvGraphicFramePr>
        <p:xfrm>
          <a:off x="685800" y="914400"/>
          <a:ext cx="7848601" cy="5543550"/>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2209801">
                  <a:extLst>
                    <a:ext uri="{9D8B030D-6E8A-4147-A177-3AD203B41FA5}">
                      <a16:colId xmlns:a16="http://schemas.microsoft.com/office/drawing/2014/main" val="20002"/>
                    </a:ext>
                  </a:extLst>
                </a:gridCol>
              </a:tblGrid>
              <a:tr h="487744">
                <a:tc>
                  <a:txBody>
                    <a:bodyPr/>
                    <a:lstStyle/>
                    <a:p>
                      <a:pPr marL="0" marR="0" algn="ctr">
                        <a:spcBef>
                          <a:spcPts val="0"/>
                        </a:spcBef>
                        <a:spcAft>
                          <a:spcPts val="0"/>
                        </a:spcAft>
                      </a:pPr>
                      <a:r>
                        <a:rPr lang="en-US" sz="1600" dirty="0">
                          <a:effectLst/>
                          <a:latin typeface="Gill Sans MT" pitchFamily="34" charset="0"/>
                          <a:ea typeface="Times New Roman"/>
                        </a:rPr>
                        <a:t>Offer with</a:t>
                      </a:r>
                      <a:r>
                        <a:rPr lang="en-US" sz="1600" baseline="0" dirty="0">
                          <a:effectLst/>
                          <a:latin typeface="Gill Sans MT" pitchFamily="34" charset="0"/>
                          <a:ea typeface="Times New Roman"/>
                        </a:rPr>
                        <a:t> 90 day warranty</a:t>
                      </a:r>
                      <a:endParaRPr lang="en-US" sz="1600" dirty="0">
                        <a:effectLst/>
                        <a:latin typeface="Gill Sans MT" pitchFamily="34" charset="0"/>
                        <a:ea typeface="Times New Roman"/>
                      </a:endParaRPr>
                    </a:p>
                  </a:txBody>
                  <a:tcPr marL="68580" marR="68580" marT="0" marB="0"/>
                </a:tc>
                <a:tc>
                  <a:txBody>
                    <a:bodyPr/>
                    <a:lstStyle/>
                    <a:p>
                      <a:pPr marL="0" marR="0" algn="ctr">
                        <a:spcBef>
                          <a:spcPts val="0"/>
                        </a:spcBef>
                        <a:spcAft>
                          <a:spcPts val="0"/>
                        </a:spcAft>
                      </a:pPr>
                      <a:r>
                        <a:rPr lang="en-US" sz="1600" dirty="0">
                          <a:effectLst/>
                          <a:latin typeface="Gill Sans MT" pitchFamily="34" charset="0"/>
                          <a:ea typeface="Times New Roman"/>
                        </a:rPr>
                        <a:t>Invoice</a:t>
                      </a:r>
                      <a:r>
                        <a:rPr lang="en-US" sz="1600" baseline="0" dirty="0">
                          <a:effectLst/>
                          <a:latin typeface="Gill Sans MT" pitchFamily="34" charset="0"/>
                          <a:ea typeface="Times New Roman"/>
                        </a:rPr>
                        <a:t> </a:t>
                      </a:r>
                      <a:r>
                        <a:rPr lang="en-US" sz="1600" dirty="0">
                          <a:effectLst/>
                          <a:latin typeface="Gill Sans MT" pitchFamily="34" charset="0"/>
                          <a:ea typeface="Times New Roman"/>
                        </a:rPr>
                        <a:t>with unlimited warranty</a:t>
                      </a:r>
                    </a:p>
                  </a:txBody>
                  <a:tcPr marL="68580" marR="68580" marT="0" marB="0"/>
                </a:tc>
                <a:tc>
                  <a:txBody>
                    <a:bodyPr/>
                    <a:lstStyle/>
                    <a:p>
                      <a:pPr marL="0" marR="0" algn="ctr">
                        <a:spcBef>
                          <a:spcPts val="0"/>
                        </a:spcBef>
                        <a:spcAft>
                          <a:spcPts val="0"/>
                        </a:spcAft>
                      </a:pPr>
                      <a:r>
                        <a:rPr lang="en-US" sz="1600" dirty="0">
                          <a:effectLst/>
                          <a:latin typeface="Gill Sans MT" pitchFamily="34" charset="0"/>
                          <a:ea typeface="Times New Roman"/>
                        </a:rPr>
                        <a:t>Delivery</a:t>
                      </a:r>
                    </a:p>
                  </a:txBody>
                  <a:tcPr marL="68580" marR="68580" marT="0" marB="0"/>
                </a:tc>
                <a:extLst>
                  <a:ext uri="{0D108BD9-81ED-4DB2-BD59-A6C34878D82A}">
                    <a16:rowId xmlns:a16="http://schemas.microsoft.com/office/drawing/2014/main" val="10000"/>
                  </a:ext>
                </a:extLst>
              </a:tr>
              <a:tr h="556122">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973">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Rejection or</a:t>
                      </a:r>
                      <a:r>
                        <a:rPr lang="en-US" sz="1600" baseline="0" dirty="0">
                          <a:effectLst/>
                        </a:rPr>
                        <a:t> </a:t>
                      </a:r>
                      <a:r>
                        <a:rPr lang="en-US" sz="1600" dirty="0">
                          <a:effectLst/>
                        </a:rPr>
                        <a:t>counter-offer if</a:t>
                      </a:r>
                      <a:r>
                        <a:rPr lang="en-US" sz="1600" baseline="0" dirty="0">
                          <a:effectLst/>
                        </a:rPr>
                        <a:t> </a:t>
                      </a:r>
                      <a:r>
                        <a:rPr lang="en-US" sz="1600" dirty="0">
                          <a:effectLst/>
                        </a:rPr>
                        <a:t>(2-207(1)):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dirty="0">
                          <a:effectLst/>
                        </a:rPr>
                        <a:t>Expressly conditional on assent to additional or different terms</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Trigger for 2-207(3)</a:t>
                      </a:r>
                      <a:endParaRPr lang="en-US" sz="1600" dirty="0">
                        <a:effectLst/>
                        <a:latin typeface="Times New Roman"/>
                        <a:ea typeface="Times New Roman"/>
                      </a:endParaRPr>
                    </a:p>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2"/>
                  </a:ext>
                </a:extLst>
              </a:tr>
              <a:tr h="1950974">
                <a:tc>
                  <a:txBody>
                    <a:bodyPr/>
                    <a:lstStyle/>
                    <a:p>
                      <a:pPr marL="0" marR="0">
                        <a:spcBef>
                          <a:spcPts val="0"/>
                        </a:spcBef>
                        <a:spcAft>
                          <a:spcPts val="0"/>
                        </a:spcAft>
                      </a:pPr>
                      <a:r>
                        <a:rPr lang="en-US" sz="1600" dirty="0">
                          <a:effectLst/>
                        </a:rPr>
                        <a:t>Offer</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Acceptance (2-207(1)) and proposal whose terms are not incorporated (2-207(2)) if:</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6122">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that knocks out different terms</a:t>
                      </a:r>
                      <a:r>
                        <a:rPr lang="en-US" sz="1600"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26" marB="45726"/>
                </a:tc>
                <a:extLst>
                  <a:ext uri="{0D108BD9-81ED-4DB2-BD59-A6C34878D82A}">
                    <a16:rowId xmlns:a16="http://schemas.microsoft.com/office/drawing/2014/main" val="10004"/>
                  </a:ext>
                </a:extLst>
              </a:tr>
              <a:tr h="731615">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(2-207(1)) and proposal whose terms are incorporated into</a:t>
                      </a:r>
                      <a:r>
                        <a:rPr lang="en-US" sz="1600" baseline="0" dirty="0">
                          <a:effectLst/>
                        </a:rPr>
                        <a:t> contract </a:t>
                      </a:r>
                      <a:r>
                        <a:rPr lang="en-US" sz="1600" dirty="0">
                          <a:effectLst/>
                        </a:rPr>
                        <a:t>(2-207(2)</a:t>
                      </a:r>
                      <a:r>
                        <a:rPr lang="en-US" sz="1600" baseline="0" dirty="0">
                          <a:effectLst/>
                        </a:rPr>
                        <a:t> (“California” rule, implied in </a:t>
                      </a:r>
                      <a:r>
                        <a:rPr lang="en-US" sz="1600" baseline="0" dirty="0" err="1">
                          <a:effectLst/>
                        </a:rPr>
                        <a:t>Cmt</a:t>
                      </a:r>
                      <a:r>
                        <a:rPr lang="en-US" sz="1600" baseline="0" dirty="0">
                          <a:effectLst/>
                        </a:rPr>
                        <a:t>. 3)).</a:t>
                      </a:r>
                      <a:endParaRPr lang="en-US" sz="1600" dirty="0">
                        <a:effectLst/>
                        <a:latin typeface="Times New Roman"/>
                        <a:ea typeface="Times New Roman"/>
                      </a:endParaRPr>
                    </a:p>
                  </a:txBody>
                  <a:tcPr marL="68580" marR="68580" marT="0" marB="0"/>
                </a:tc>
                <a:tc>
                  <a:txBody>
                    <a:bodyPr/>
                    <a:lstStyle/>
                    <a:p>
                      <a:endParaRPr lang="en-US" sz="1600" dirty="0"/>
                    </a:p>
                  </a:txBody>
                  <a:tcPr marT="45726" marB="45726"/>
                </a:tc>
                <a:extLst>
                  <a:ext uri="{0D108BD9-81ED-4DB2-BD59-A6C34878D82A}">
                    <a16:rowId xmlns:a16="http://schemas.microsoft.com/office/drawing/2014/main" val="10005"/>
                  </a:ext>
                </a:extLst>
              </a:tr>
            </a:tbl>
          </a:graphicData>
        </a:graphic>
      </p:graphicFrame>
      <p:sp>
        <p:nvSpPr>
          <p:cNvPr id="17440" name="Title 1"/>
          <p:cNvSpPr>
            <a:spLocks noGrp="1"/>
          </p:cNvSpPr>
          <p:nvPr>
            <p:ph type="ctrTitle"/>
          </p:nvPr>
        </p:nvSpPr>
        <p:spPr>
          <a:xfrm>
            <a:off x="685800" y="228600"/>
            <a:ext cx="7848600" cy="533400"/>
          </a:xfrm>
        </p:spPr>
        <p:txBody>
          <a:bodyPr/>
          <a:lstStyle/>
          <a:p>
            <a:pPr algn="l"/>
            <a:r>
              <a:rPr lang="en-US" altLang="en-US" sz="2400" dirty="0"/>
              <a:t>Northrop Corp. v. </a:t>
            </a:r>
            <a:r>
              <a:rPr lang="en-US" altLang="en-US" sz="2400" dirty="0" err="1"/>
              <a:t>Litronic</a:t>
            </a:r>
            <a:r>
              <a:rPr lang="en-US" altLang="en-US" sz="2400" dirty="0"/>
              <a:t> Industries (290)</a:t>
            </a:r>
          </a:p>
        </p:txBody>
      </p:sp>
    </p:spTree>
    <p:extLst>
      <p:ext uri="{BB962C8B-B14F-4D97-AF65-F5344CB8AC3E}">
        <p14:creationId xmlns:p14="http://schemas.microsoft.com/office/powerpoint/2010/main" val="2735361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94895733"/>
              </p:ext>
            </p:extLst>
          </p:nvPr>
        </p:nvGraphicFramePr>
        <p:xfrm>
          <a:off x="685800" y="914400"/>
          <a:ext cx="7848601" cy="5543550"/>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2209801">
                  <a:extLst>
                    <a:ext uri="{9D8B030D-6E8A-4147-A177-3AD203B41FA5}">
                      <a16:colId xmlns:a16="http://schemas.microsoft.com/office/drawing/2014/main" val="20002"/>
                    </a:ext>
                  </a:extLst>
                </a:gridCol>
              </a:tblGrid>
              <a:tr h="487744">
                <a:tc>
                  <a:txBody>
                    <a:bodyPr/>
                    <a:lstStyle/>
                    <a:p>
                      <a:pPr marL="0" marR="0" algn="ctr">
                        <a:spcBef>
                          <a:spcPts val="0"/>
                        </a:spcBef>
                        <a:spcAft>
                          <a:spcPts val="0"/>
                        </a:spcAft>
                      </a:pPr>
                      <a:r>
                        <a:rPr lang="en-US" sz="1600" dirty="0">
                          <a:effectLst/>
                          <a:latin typeface="Gill Sans MT" pitchFamily="34" charset="0"/>
                          <a:ea typeface="Times New Roman"/>
                        </a:rPr>
                        <a:t>Offer with</a:t>
                      </a:r>
                      <a:r>
                        <a:rPr lang="en-US" sz="1600" baseline="0" dirty="0">
                          <a:effectLst/>
                          <a:latin typeface="Gill Sans MT" pitchFamily="34" charset="0"/>
                          <a:ea typeface="Times New Roman"/>
                        </a:rPr>
                        <a:t> 90 day warranty</a:t>
                      </a:r>
                      <a:endParaRPr lang="en-US" sz="1600" dirty="0">
                        <a:effectLst/>
                        <a:latin typeface="Gill Sans MT" pitchFamily="34" charset="0"/>
                        <a:ea typeface="Times New Roman"/>
                      </a:endParaRPr>
                    </a:p>
                  </a:txBody>
                  <a:tcPr marL="68580" marR="68580" marT="0" marB="0"/>
                </a:tc>
                <a:tc>
                  <a:txBody>
                    <a:bodyPr/>
                    <a:lstStyle/>
                    <a:p>
                      <a:pPr marL="0" marR="0" algn="ctr">
                        <a:spcBef>
                          <a:spcPts val="0"/>
                        </a:spcBef>
                        <a:spcAft>
                          <a:spcPts val="0"/>
                        </a:spcAft>
                      </a:pPr>
                      <a:r>
                        <a:rPr lang="en-US" sz="1600" dirty="0">
                          <a:effectLst/>
                          <a:latin typeface="Gill Sans MT" pitchFamily="34" charset="0"/>
                          <a:ea typeface="Times New Roman"/>
                        </a:rPr>
                        <a:t>Invoice</a:t>
                      </a:r>
                      <a:r>
                        <a:rPr lang="en-US" sz="1600" baseline="0" dirty="0">
                          <a:effectLst/>
                          <a:latin typeface="Gill Sans MT" pitchFamily="34" charset="0"/>
                          <a:ea typeface="Times New Roman"/>
                        </a:rPr>
                        <a:t> </a:t>
                      </a:r>
                      <a:r>
                        <a:rPr lang="en-US" sz="1600" dirty="0">
                          <a:effectLst/>
                          <a:latin typeface="Gill Sans MT" pitchFamily="34" charset="0"/>
                          <a:ea typeface="Times New Roman"/>
                        </a:rPr>
                        <a:t>with unlimited warranty</a:t>
                      </a:r>
                    </a:p>
                  </a:txBody>
                  <a:tcPr marL="68580" marR="68580" marT="0" marB="0"/>
                </a:tc>
                <a:tc>
                  <a:txBody>
                    <a:bodyPr/>
                    <a:lstStyle/>
                    <a:p>
                      <a:pPr marL="0" marR="0" algn="ctr">
                        <a:spcBef>
                          <a:spcPts val="0"/>
                        </a:spcBef>
                        <a:spcAft>
                          <a:spcPts val="0"/>
                        </a:spcAft>
                      </a:pPr>
                      <a:r>
                        <a:rPr lang="en-US" sz="1600" dirty="0">
                          <a:effectLst/>
                          <a:latin typeface="Gill Sans MT" pitchFamily="34" charset="0"/>
                          <a:ea typeface="Times New Roman"/>
                        </a:rPr>
                        <a:t>Delivery</a:t>
                      </a:r>
                    </a:p>
                  </a:txBody>
                  <a:tcPr marL="68580" marR="68580" marT="0" marB="0"/>
                </a:tc>
                <a:extLst>
                  <a:ext uri="{0D108BD9-81ED-4DB2-BD59-A6C34878D82A}">
                    <a16:rowId xmlns:a16="http://schemas.microsoft.com/office/drawing/2014/main" val="10000"/>
                  </a:ext>
                </a:extLst>
              </a:tr>
              <a:tr h="556122">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973">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Rejection or</a:t>
                      </a:r>
                      <a:r>
                        <a:rPr lang="en-US" sz="1600" baseline="0" dirty="0">
                          <a:effectLst/>
                        </a:rPr>
                        <a:t> </a:t>
                      </a:r>
                      <a:r>
                        <a:rPr lang="en-US" sz="1600" dirty="0">
                          <a:effectLst/>
                        </a:rPr>
                        <a:t>counter-offer if</a:t>
                      </a:r>
                      <a:r>
                        <a:rPr lang="en-US" sz="1600" baseline="0" dirty="0">
                          <a:effectLst/>
                        </a:rPr>
                        <a:t> </a:t>
                      </a:r>
                      <a:r>
                        <a:rPr lang="en-US" sz="1600" dirty="0">
                          <a:effectLst/>
                        </a:rPr>
                        <a:t>(2-207(1)):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dirty="0">
                          <a:effectLst/>
                        </a:rPr>
                        <a:t>Expressly conditional on assent to additional or different terms</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Trigger for 2-207(3)</a:t>
                      </a:r>
                      <a:endParaRPr lang="en-US" sz="1600" dirty="0">
                        <a:effectLst/>
                        <a:latin typeface="Times New Roman"/>
                        <a:ea typeface="Times New Roman"/>
                      </a:endParaRPr>
                    </a:p>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2"/>
                  </a:ext>
                </a:extLst>
              </a:tr>
              <a:tr h="1950974">
                <a:tc>
                  <a:txBody>
                    <a:bodyPr/>
                    <a:lstStyle/>
                    <a:p>
                      <a:pPr marL="0" marR="0">
                        <a:spcBef>
                          <a:spcPts val="0"/>
                        </a:spcBef>
                        <a:spcAft>
                          <a:spcPts val="0"/>
                        </a:spcAft>
                      </a:pPr>
                      <a:r>
                        <a:rPr lang="en-US" sz="1600" dirty="0">
                          <a:effectLst/>
                        </a:rPr>
                        <a:t>Offer</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Acceptance (2-207(1)) and proposal whose terms are not incorporated (2-207(2)) if:</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6122">
                <a:tc>
                  <a:txBody>
                    <a:bodyPr/>
                    <a:lstStyle/>
                    <a:p>
                      <a:pPr marL="0" marR="0">
                        <a:spcBef>
                          <a:spcPts val="0"/>
                        </a:spcBef>
                        <a:spcAft>
                          <a:spcPts val="0"/>
                        </a:spcAft>
                      </a:pPr>
                      <a:r>
                        <a:rPr lang="en-US" sz="1600" b="1" dirty="0">
                          <a:effectLst/>
                        </a:rPr>
                        <a:t>Offer</a:t>
                      </a:r>
                      <a:endParaRPr lang="en-US" sz="1600" b="1"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b="1" dirty="0">
                          <a:effectLst/>
                        </a:rPr>
                        <a:t>Acceptance that knocks out different terms</a:t>
                      </a:r>
                      <a:r>
                        <a:rPr lang="en-US" sz="1600" b="1"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26" marB="45726"/>
                </a:tc>
                <a:extLst>
                  <a:ext uri="{0D108BD9-81ED-4DB2-BD59-A6C34878D82A}">
                    <a16:rowId xmlns:a16="http://schemas.microsoft.com/office/drawing/2014/main" val="10004"/>
                  </a:ext>
                </a:extLst>
              </a:tr>
              <a:tr h="731615">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(2-207(1)) and proposal whose terms are incorporated into</a:t>
                      </a:r>
                      <a:r>
                        <a:rPr lang="en-US" sz="1600" baseline="0" dirty="0">
                          <a:effectLst/>
                        </a:rPr>
                        <a:t> contract </a:t>
                      </a:r>
                      <a:r>
                        <a:rPr lang="en-US" sz="1600" dirty="0">
                          <a:effectLst/>
                        </a:rPr>
                        <a:t>(2-207(2)</a:t>
                      </a:r>
                      <a:r>
                        <a:rPr lang="en-US" sz="1600" baseline="0" dirty="0">
                          <a:effectLst/>
                        </a:rPr>
                        <a:t> (“California” rule, implied in </a:t>
                      </a:r>
                      <a:r>
                        <a:rPr lang="en-US" sz="1600" baseline="0" dirty="0" err="1">
                          <a:effectLst/>
                        </a:rPr>
                        <a:t>Cmt</a:t>
                      </a:r>
                      <a:r>
                        <a:rPr lang="en-US" sz="1600" baseline="0" dirty="0">
                          <a:effectLst/>
                        </a:rPr>
                        <a:t>. 3))</a:t>
                      </a:r>
                      <a:r>
                        <a:rPr lang="en-US" sz="1600" dirty="0">
                          <a:effectLst/>
                        </a:rPr>
                        <a:t>.</a:t>
                      </a:r>
                      <a:endParaRPr lang="en-US" sz="1600" dirty="0">
                        <a:effectLst/>
                        <a:latin typeface="Times New Roman"/>
                        <a:ea typeface="Times New Roman"/>
                      </a:endParaRPr>
                    </a:p>
                  </a:txBody>
                  <a:tcPr marL="68580" marR="68580" marT="0" marB="0"/>
                </a:tc>
                <a:tc>
                  <a:txBody>
                    <a:bodyPr/>
                    <a:lstStyle/>
                    <a:p>
                      <a:endParaRPr lang="en-US" sz="1600" dirty="0"/>
                    </a:p>
                  </a:txBody>
                  <a:tcPr marT="45726" marB="45726"/>
                </a:tc>
                <a:extLst>
                  <a:ext uri="{0D108BD9-81ED-4DB2-BD59-A6C34878D82A}">
                    <a16:rowId xmlns:a16="http://schemas.microsoft.com/office/drawing/2014/main" val="10005"/>
                  </a:ext>
                </a:extLst>
              </a:tr>
            </a:tbl>
          </a:graphicData>
        </a:graphic>
      </p:graphicFrame>
      <p:sp>
        <p:nvSpPr>
          <p:cNvPr id="17440" name="Title 1"/>
          <p:cNvSpPr>
            <a:spLocks noGrp="1"/>
          </p:cNvSpPr>
          <p:nvPr>
            <p:ph type="ctrTitle"/>
          </p:nvPr>
        </p:nvSpPr>
        <p:spPr>
          <a:xfrm>
            <a:off x="685800" y="228600"/>
            <a:ext cx="7848600" cy="533400"/>
          </a:xfrm>
        </p:spPr>
        <p:txBody>
          <a:bodyPr/>
          <a:lstStyle/>
          <a:p>
            <a:pPr algn="l"/>
            <a:r>
              <a:rPr lang="en-US" altLang="en-US" sz="2400" dirty="0"/>
              <a:t>Northrop Corp. v. </a:t>
            </a:r>
            <a:r>
              <a:rPr lang="en-US" altLang="en-US" sz="2400" dirty="0" err="1"/>
              <a:t>Litronic</a:t>
            </a:r>
            <a:r>
              <a:rPr lang="en-US" altLang="en-US" sz="2400" dirty="0"/>
              <a:t> Industries – 7</a:t>
            </a:r>
            <a:r>
              <a:rPr lang="en-US" altLang="en-US" sz="2400" baseline="30000" dirty="0"/>
              <a:t>th</a:t>
            </a:r>
            <a:r>
              <a:rPr lang="en-US" altLang="en-US" sz="2400" dirty="0"/>
              <a:t> Cir.</a:t>
            </a:r>
          </a:p>
        </p:txBody>
      </p:sp>
    </p:spTree>
    <p:extLst>
      <p:ext uri="{BB962C8B-B14F-4D97-AF65-F5344CB8AC3E}">
        <p14:creationId xmlns:p14="http://schemas.microsoft.com/office/powerpoint/2010/main" val="571797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Misplaced Strategies (293)</a:t>
            </a:r>
          </a:p>
        </p:txBody>
      </p:sp>
      <p:sp>
        <p:nvSpPr>
          <p:cNvPr id="3" name="Content Placeholder 2"/>
          <p:cNvSpPr>
            <a:spLocks noGrp="1"/>
          </p:cNvSpPr>
          <p:nvPr>
            <p:ph sz="quarter" idx="1"/>
          </p:nvPr>
        </p:nvSpPr>
        <p:spPr/>
        <p:txBody>
          <a:bodyPr>
            <a:normAutofit lnSpcReduction="10000"/>
          </a:bodyPr>
          <a:lstStyle/>
          <a:p>
            <a:pPr marL="0" indent="0">
              <a:buNone/>
            </a:pPr>
            <a:r>
              <a:rPr lang="en-US" sz="2400" dirty="0"/>
              <a:t>Buyer’s [plaintiff] purchase order (with arbitration clause):</a:t>
            </a:r>
          </a:p>
          <a:p>
            <a:r>
              <a:rPr lang="en-US" sz="2400" dirty="0"/>
              <a:t>“This purchase order represents the entire agreement between both parties, not withstanding any Seller's order form, whether sent before or after the sending of this purchase order, and this document cannot be modified except in writing and signed by an authorized representative of the buyer.”</a:t>
            </a:r>
          </a:p>
          <a:p>
            <a:pPr marL="0" indent="0">
              <a:buNone/>
            </a:pPr>
            <a:endParaRPr lang="en-US" sz="2400" dirty="0"/>
          </a:p>
          <a:p>
            <a:pPr marL="0" indent="0">
              <a:buNone/>
            </a:pPr>
            <a:r>
              <a:rPr lang="en-US" sz="2400" dirty="0"/>
              <a:t>Seller’s invoice (silent on arbitration):</a:t>
            </a:r>
          </a:p>
          <a:p>
            <a:r>
              <a:rPr lang="en-US" sz="2400" dirty="0"/>
              <a:t>“This document is not an Expression of Acceptance or a Confirmation document as contemplated in Section 2–207 of the Uniform Commercial Code. The acceptance of any order entered by [Buyer] is expressly conditioned on [Buyer’s] assent to any additional or conflicting terms contained herein.”</a:t>
            </a:r>
          </a:p>
        </p:txBody>
      </p:sp>
    </p:spTree>
    <p:extLst>
      <p:ext uri="{BB962C8B-B14F-4D97-AF65-F5344CB8AC3E}">
        <p14:creationId xmlns:p14="http://schemas.microsoft.com/office/powerpoint/2010/main" val="989370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623630903"/>
              </p:ext>
            </p:extLst>
          </p:nvPr>
        </p:nvGraphicFramePr>
        <p:xfrm>
          <a:off x="685800" y="914400"/>
          <a:ext cx="7848601" cy="5611812"/>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362201">
                  <a:extLst>
                    <a:ext uri="{9D8B030D-6E8A-4147-A177-3AD203B41FA5}">
                      <a16:colId xmlns:a16="http://schemas.microsoft.com/office/drawing/2014/main" val="20002"/>
                    </a:ext>
                  </a:extLst>
                </a:gridCol>
              </a:tblGrid>
              <a:tr h="556110">
                <a:tc>
                  <a:txBody>
                    <a:bodyPr/>
                    <a:lstStyle/>
                    <a:p>
                      <a:pPr marL="0" marR="0" algn="ctr">
                        <a:spcBef>
                          <a:spcPts val="0"/>
                        </a:spcBef>
                        <a:spcAft>
                          <a:spcPts val="0"/>
                        </a:spcAft>
                      </a:pPr>
                      <a:r>
                        <a:rPr lang="en-US" sz="1600" dirty="0">
                          <a:effectLst/>
                        </a:rPr>
                        <a:t>Form 1</a:t>
                      </a:r>
                      <a:endParaRPr lang="en-US" sz="1600" dirty="0">
                        <a:effectLst/>
                        <a:latin typeface="Times New Roman"/>
                        <a:ea typeface="Times New Roman"/>
                      </a:endParaRPr>
                    </a:p>
                  </a:txBody>
                  <a:tcPr marL="68580" marR="68580" marT="0" marB="0"/>
                </a:tc>
                <a:tc>
                  <a:txBody>
                    <a:bodyPr/>
                    <a:lstStyle/>
                    <a:p>
                      <a:pPr marL="0" marR="0" algn="ctr">
                        <a:spcBef>
                          <a:spcPts val="0"/>
                        </a:spcBef>
                        <a:spcAft>
                          <a:spcPts val="0"/>
                        </a:spcAft>
                      </a:pPr>
                      <a:r>
                        <a:rPr lang="en-US" sz="1600" dirty="0">
                          <a:effectLst/>
                        </a:rPr>
                        <a:t>Form 2</a:t>
                      </a:r>
                      <a:endParaRPr lang="en-US" sz="1600" dirty="0">
                        <a:effectLst/>
                        <a:latin typeface="Times New Roman"/>
                        <a:ea typeface="Times New Roman"/>
                      </a:endParaRPr>
                    </a:p>
                  </a:txBody>
                  <a:tcPr marL="68580" marR="68580" marT="0" marB="0"/>
                </a:tc>
                <a:tc>
                  <a:txBody>
                    <a:bodyPr/>
                    <a:lstStyle/>
                    <a:p>
                      <a:pPr marL="0" marR="0" algn="ctr">
                        <a:spcBef>
                          <a:spcPts val="0"/>
                        </a:spcBef>
                        <a:spcAft>
                          <a:spcPts val="0"/>
                        </a:spcAft>
                      </a:pPr>
                      <a:r>
                        <a:rPr lang="en-US" sz="1600" dirty="0">
                          <a:effectLst/>
                        </a:rPr>
                        <a:t>Conduct/Performance</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r h="556110">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948">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Rejection and counter-offer if (2-207(1)):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solidFill>
                            <a:schemeClr val="tx1"/>
                          </a:solidFill>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dirty="0">
                          <a:effectLst/>
                        </a:rPr>
                        <a:t>Expressly conditional on assent to additional or different terms</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p>
                      <a:pPr marL="0" marR="0">
                        <a:spcBef>
                          <a:spcPts val="0"/>
                        </a:spcBef>
                        <a:spcAft>
                          <a:spcPts val="0"/>
                        </a:spcAft>
                      </a:pPr>
                      <a:r>
                        <a:rPr lang="en-US" sz="1600" dirty="0">
                          <a:effectLst/>
                        </a:rPr>
                        <a:t>Trigger for 2-207(3)?</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2"/>
                  </a:ext>
                </a:extLst>
              </a:tr>
              <a:tr h="1950934">
                <a:tc>
                  <a:txBody>
                    <a:bodyPr/>
                    <a:lstStyle/>
                    <a:p>
                      <a:pPr marL="0" marR="0">
                        <a:spcBef>
                          <a:spcPts val="0"/>
                        </a:spcBef>
                        <a:spcAft>
                          <a:spcPts val="0"/>
                        </a:spcAft>
                      </a:pPr>
                      <a:r>
                        <a:rPr lang="en-US" sz="1600" dirty="0">
                          <a:effectLst/>
                        </a:rPr>
                        <a:t>Offer*</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Acceptance (2-207(1)) and proposal whose terms are not incorporated (2-207(2)) if:</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solidFill>
                            <a:srgbClr val="FF0000"/>
                          </a:solidFill>
                          <a:effectLst/>
                        </a:rPr>
                        <a:t>Offer expressly limits acceptance</a:t>
                      </a:r>
                    </a:p>
                    <a:p>
                      <a:pPr marL="342900" marR="0" lvl="0" indent="-342900">
                        <a:spcBef>
                          <a:spcPts val="0"/>
                        </a:spcBef>
                        <a:spcAft>
                          <a:spcPts val="0"/>
                        </a:spcAft>
                        <a:buFont typeface="Symbol"/>
                        <a:buChar char=""/>
                        <a:tabLst>
                          <a:tab pos="228600" algn="l"/>
                        </a:tabLst>
                      </a:pPr>
                      <a:r>
                        <a:rPr lang="en-US" sz="1600" dirty="0">
                          <a:effectLst/>
                        </a:rPr>
                        <a:t>They materially alter contract</a:t>
                      </a:r>
                    </a:p>
                    <a:p>
                      <a:pPr marL="342900" marR="0" lvl="0" indent="-342900">
                        <a:spcBef>
                          <a:spcPts val="0"/>
                        </a:spcBef>
                        <a:spcAft>
                          <a:spcPts val="0"/>
                        </a:spcAft>
                        <a:buFont typeface="Symbol"/>
                        <a:buChar char=""/>
                        <a:tabLst>
                          <a:tab pos="228600" algn="l"/>
                        </a:tabLst>
                      </a:pPr>
                      <a:r>
                        <a:rPr lang="en-US" sz="1600" dirty="0">
                          <a:solidFill>
                            <a:srgbClr val="FF0000"/>
                          </a:solidFill>
                          <a:effectLst/>
                        </a:rPr>
                        <a:t>Notification of objection is given; </a:t>
                      </a:r>
                      <a:r>
                        <a:rPr lang="en-US" sz="1600" dirty="0">
                          <a:effectLst/>
                        </a:rPr>
                        <a:t>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6110">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that knocks out different terms</a:t>
                      </a:r>
                      <a:r>
                        <a:rPr lang="en-US" sz="1600"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25" marB="45725"/>
                </a:tc>
                <a:extLst>
                  <a:ext uri="{0D108BD9-81ED-4DB2-BD59-A6C34878D82A}">
                    <a16:rowId xmlns:a16="http://schemas.microsoft.com/office/drawing/2014/main" val="10004"/>
                  </a:ext>
                </a:extLst>
              </a:tr>
              <a:tr h="731600">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(2-207(1)) and proposal whose terms are incorporated into</a:t>
                      </a:r>
                      <a:r>
                        <a:rPr lang="en-US" sz="1600" baseline="0" dirty="0">
                          <a:effectLst/>
                        </a:rPr>
                        <a:t> contract </a:t>
                      </a:r>
                      <a:r>
                        <a:rPr lang="en-US" sz="1600" dirty="0">
                          <a:effectLst/>
                        </a:rPr>
                        <a:t>(2-207(2)</a:t>
                      </a:r>
                      <a:r>
                        <a:rPr lang="en-US" sz="1600" baseline="0" dirty="0">
                          <a:effectLst/>
                        </a:rPr>
                        <a:t> (“California” rule, implied in </a:t>
                      </a:r>
                      <a:r>
                        <a:rPr lang="en-US" sz="1600" baseline="0" dirty="0" err="1">
                          <a:effectLst/>
                        </a:rPr>
                        <a:t>Cmt</a:t>
                      </a:r>
                      <a:r>
                        <a:rPr lang="en-US" sz="1600" baseline="0" dirty="0">
                          <a:effectLst/>
                        </a:rPr>
                        <a:t>. 3)).</a:t>
                      </a:r>
                      <a:endParaRPr lang="en-US" sz="1600" dirty="0">
                        <a:effectLst/>
                        <a:latin typeface="Times New Roman"/>
                        <a:ea typeface="Times New Roman"/>
                      </a:endParaRPr>
                    </a:p>
                  </a:txBody>
                  <a:tcPr marL="68580" marR="68580" marT="0" marB="0"/>
                </a:tc>
                <a:tc>
                  <a:txBody>
                    <a:bodyPr/>
                    <a:lstStyle/>
                    <a:p>
                      <a:endParaRPr lang="en-US" sz="1600" dirty="0"/>
                    </a:p>
                  </a:txBody>
                  <a:tcPr marT="45725" marB="45725"/>
                </a:tc>
                <a:extLst>
                  <a:ext uri="{0D108BD9-81ED-4DB2-BD59-A6C34878D82A}">
                    <a16:rowId xmlns:a16="http://schemas.microsoft.com/office/drawing/2014/main" val="10005"/>
                  </a:ext>
                </a:extLst>
              </a:tr>
            </a:tbl>
          </a:graphicData>
        </a:graphic>
      </p:graphicFrame>
      <p:sp>
        <p:nvSpPr>
          <p:cNvPr id="18464" name="Title 1"/>
          <p:cNvSpPr>
            <a:spLocks noGrp="1"/>
          </p:cNvSpPr>
          <p:nvPr>
            <p:ph type="ctrTitle"/>
          </p:nvPr>
        </p:nvSpPr>
        <p:spPr>
          <a:xfrm>
            <a:off x="685800" y="228600"/>
            <a:ext cx="7848600" cy="533400"/>
          </a:xfrm>
        </p:spPr>
        <p:txBody>
          <a:bodyPr/>
          <a:lstStyle/>
          <a:p>
            <a:pPr algn="l"/>
            <a:r>
              <a:rPr lang="en-US" altLang="en-US" sz="2400" dirty="0" err="1"/>
              <a:t>Offeror’s</a:t>
            </a:r>
            <a:r>
              <a:rPr lang="en-US" altLang="en-US" sz="2400" dirty="0"/>
              <a:t> strategies</a:t>
            </a:r>
          </a:p>
        </p:txBody>
      </p:sp>
    </p:spTree>
    <p:extLst>
      <p:ext uri="{BB962C8B-B14F-4D97-AF65-F5344CB8AC3E}">
        <p14:creationId xmlns:p14="http://schemas.microsoft.com/office/powerpoint/2010/main" val="2714571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610749378"/>
              </p:ext>
            </p:extLst>
          </p:nvPr>
        </p:nvGraphicFramePr>
        <p:xfrm>
          <a:off x="685800" y="914400"/>
          <a:ext cx="7848601" cy="5611812"/>
        </p:xfrm>
        <a:graphic>
          <a:graphicData uri="http://schemas.openxmlformats.org/drawingml/2006/table">
            <a:tbl>
              <a:tblPr firstRow="1" bandRow="1">
                <a:tableStyleId>{073A0DAA-6AF3-43AB-8588-CEC1D06C72B9}</a:tableStyleId>
              </a:tblPr>
              <a:tblGrid>
                <a:gridCol w="1600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2362201">
                  <a:extLst>
                    <a:ext uri="{9D8B030D-6E8A-4147-A177-3AD203B41FA5}">
                      <a16:colId xmlns:a16="http://schemas.microsoft.com/office/drawing/2014/main" val="20002"/>
                    </a:ext>
                  </a:extLst>
                </a:gridCol>
              </a:tblGrid>
              <a:tr h="556110">
                <a:tc>
                  <a:txBody>
                    <a:bodyPr/>
                    <a:lstStyle/>
                    <a:p>
                      <a:pPr marL="0" marR="0" algn="ctr">
                        <a:spcBef>
                          <a:spcPts val="0"/>
                        </a:spcBef>
                        <a:spcAft>
                          <a:spcPts val="0"/>
                        </a:spcAft>
                      </a:pPr>
                      <a:r>
                        <a:rPr lang="en-US" sz="1600" dirty="0">
                          <a:effectLst/>
                        </a:rPr>
                        <a:t>Form 1</a:t>
                      </a:r>
                      <a:endParaRPr lang="en-US" sz="1600" dirty="0">
                        <a:effectLst/>
                        <a:latin typeface="Times New Roman"/>
                        <a:ea typeface="Times New Roman"/>
                      </a:endParaRPr>
                    </a:p>
                  </a:txBody>
                  <a:tcPr marL="68580" marR="68580" marT="0" marB="0"/>
                </a:tc>
                <a:tc>
                  <a:txBody>
                    <a:bodyPr/>
                    <a:lstStyle/>
                    <a:p>
                      <a:pPr marL="0" marR="0" algn="ctr">
                        <a:spcBef>
                          <a:spcPts val="0"/>
                        </a:spcBef>
                        <a:spcAft>
                          <a:spcPts val="0"/>
                        </a:spcAft>
                      </a:pPr>
                      <a:r>
                        <a:rPr lang="en-US" sz="1600" dirty="0">
                          <a:effectLst/>
                        </a:rPr>
                        <a:t>Form 2</a:t>
                      </a:r>
                      <a:endParaRPr lang="en-US" sz="1600" dirty="0">
                        <a:effectLst/>
                        <a:latin typeface="Times New Roman"/>
                        <a:ea typeface="Times New Roman"/>
                      </a:endParaRPr>
                    </a:p>
                  </a:txBody>
                  <a:tcPr marL="68580" marR="68580" marT="0" marB="0"/>
                </a:tc>
                <a:tc>
                  <a:txBody>
                    <a:bodyPr/>
                    <a:lstStyle/>
                    <a:p>
                      <a:pPr marL="0" marR="0" algn="ctr">
                        <a:spcBef>
                          <a:spcPts val="0"/>
                        </a:spcBef>
                        <a:spcAft>
                          <a:spcPts val="0"/>
                        </a:spcAft>
                      </a:pPr>
                      <a:r>
                        <a:rPr lang="en-US" sz="1600" dirty="0">
                          <a:effectLst/>
                        </a:rPr>
                        <a:t>Conduct/Performance</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0"/>
                  </a:ext>
                </a:extLst>
              </a:tr>
              <a:tr h="556110">
                <a:tc>
                  <a:txBody>
                    <a:bodyPr/>
                    <a:lstStyle/>
                    <a:p>
                      <a:pPr marL="0" marR="0">
                        <a:spcBef>
                          <a:spcPts val="0"/>
                        </a:spcBef>
                        <a:spcAft>
                          <a:spcPts val="0"/>
                        </a:spcAft>
                      </a:pPr>
                      <a:r>
                        <a:rPr lang="en-US" sz="1600" dirty="0">
                          <a:effectLst/>
                        </a:rPr>
                        <a:t>Invitation to treat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txBody>
                  <a:tcPr marL="68580" marR="68580" marT="0" marB="0"/>
                </a:tc>
                <a:extLst>
                  <a:ext uri="{0D108BD9-81ED-4DB2-BD59-A6C34878D82A}">
                    <a16:rowId xmlns:a16="http://schemas.microsoft.com/office/drawing/2014/main" val="10001"/>
                  </a:ext>
                </a:extLst>
              </a:tr>
              <a:tr h="1260948">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Rejection and counter-offer </a:t>
                      </a:r>
                      <a:r>
                        <a:rPr lang="en-US" sz="1600" baseline="0" dirty="0">
                          <a:effectLst/>
                        </a:rPr>
                        <a:t>if </a:t>
                      </a:r>
                      <a:r>
                        <a:rPr lang="en-US" sz="1600" dirty="0">
                          <a:effectLst/>
                        </a:rPr>
                        <a:t>(2-207(1)):</a:t>
                      </a:r>
                      <a:endParaRPr lang="en-US" sz="1600" dirty="0">
                        <a:effectLst/>
                        <a:latin typeface="Times New Roman"/>
                        <a:ea typeface="Times New Roman"/>
                      </a:endParaRPr>
                    </a:p>
                    <a:p>
                      <a:pPr marL="342900" marR="0" lvl="0" indent="-342900">
                        <a:spcBef>
                          <a:spcPts val="0"/>
                        </a:spcBef>
                        <a:spcAft>
                          <a:spcPts val="0"/>
                        </a:spcAft>
                        <a:buFont typeface="Symbol"/>
                        <a:buChar char=""/>
                      </a:pPr>
                      <a:r>
                        <a:rPr lang="en-US" sz="1600" dirty="0">
                          <a:effectLst/>
                        </a:rPr>
                        <a:t>Not a definite expression of acceptance</a:t>
                      </a:r>
                    </a:p>
                    <a:p>
                      <a:pPr marL="342900" marR="0" lvl="0" indent="-342900">
                        <a:spcBef>
                          <a:spcPts val="0"/>
                        </a:spcBef>
                        <a:spcAft>
                          <a:spcPts val="0"/>
                        </a:spcAft>
                        <a:buFont typeface="Symbol"/>
                        <a:buChar char=""/>
                      </a:pPr>
                      <a:r>
                        <a:rPr lang="en-US" sz="1600" dirty="0">
                          <a:effectLst/>
                        </a:rPr>
                        <a:t>Not seasonable; or</a:t>
                      </a:r>
                    </a:p>
                    <a:p>
                      <a:pPr marL="342900" marR="0" lvl="0" indent="-342900">
                        <a:spcBef>
                          <a:spcPts val="0"/>
                        </a:spcBef>
                        <a:spcAft>
                          <a:spcPts val="0"/>
                        </a:spcAft>
                        <a:buFont typeface="Symbol"/>
                        <a:buChar char=""/>
                      </a:pPr>
                      <a:r>
                        <a:rPr lang="en-US" sz="1600" dirty="0">
                          <a:solidFill>
                            <a:srgbClr val="FF0000"/>
                          </a:solidFill>
                          <a:effectLst/>
                        </a:rPr>
                        <a:t>Expressly conditional on assent to additional or different terms</a:t>
                      </a:r>
                      <a:endParaRPr lang="en-US" sz="1600" dirty="0">
                        <a:solidFill>
                          <a:srgbClr val="FF0000"/>
                        </a:solidFill>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a:t>
                      </a:r>
                    </a:p>
                    <a:p>
                      <a:pPr marL="0" marR="0">
                        <a:spcBef>
                          <a:spcPts val="0"/>
                        </a:spcBef>
                        <a:spcAft>
                          <a:spcPts val="0"/>
                        </a:spcAft>
                      </a:pPr>
                      <a:r>
                        <a:rPr lang="en-US" sz="1600" dirty="0">
                          <a:effectLst/>
                        </a:rPr>
                        <a:t>Trigger for 2-207(3)?</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2"/>
                  </a:ext>
                </a:extLst>
              </a:tr>
              <a:tr h="1950934">
                <a:tc>
                  <a:txBody>
                    <a:bodyPr/>
                    <a:lstStyle/>
                    <a:p>
                      <a:pPr marL="0" marR="0">
                        <a:spcBef>
                          <a:spcPts val="0"/>
                        </a:spcBef>
                        <a:spcAft>
                          <a:spcPts val="0"/>
                        </a:spcAft>
                      </a:pPr>
                      <a:r>
                        <a:rPr lang="en-US" sz="1600" dirty="0">
                          <a:effectLst/>
                        </a:rPr>
                        <a:t>Offer</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Acceptance (2-207(1)) and proposal whose terms are not incorporated (2-207(2))</a:t>
                      </a:r>
                      <a:r>
                        <a:rPr lang="en-US" sz="1600" baseline="0" dirty="0">
                          <a:effectLst/>
                        </a:rPr>
                        <a:t> if</a:t>
                      </a:r>
                      <a:r>
                        <a:rPr lang="en-US" sz="1600" dirty="0">
                          <a:effectLst/>
                        </a:rPr>
                        <a:t>:</a:t>
                      </a:r>
                    </a:p>
                    <a:p>
                      <a:pPr marL="342900" marR="0" lvl="0" indent="-342900">
                        <a:spcBef>
                          <a:spcPts val="0"/>
                        </a:spcBef>
                        <a:spcAft>
                          <a:spcPts val="0"/>
                        </a:spcAft>
                        <a:buFont typeface="Symbol"/>
                        <a:buChar char=""/>
                        <a:tabLst>
                          <a:tab pos="228600" algn="l"/>
                        </a:tabLst>
                      </a:pPr>
                      <a:r>
                        <a:rPr lang="en-US" sz="1600" dirty="0">
                          <a:effectLst/>
                        </a:rPr>
                        <a:t>Contract is not between merchants</a:t>
                      </a:r>
                    </a:p>
                    <a:p>
                      <a:pPr marL="342900" marR="0" lvl="0" indent="-342900">
                        <a:spcBef>
                          <a:spcPts val="0"/>
                        </a:spcBef>
                        <a:spcAft>
                          <a:spcPts val="0"/>
                        </a:spcAft>
                        <a:buFont typeface="Symbol"/>
                        <a:buChar char=""/>
                        <a:tabLst>
                          <a:tab pos="228600" algn="l"/>
                        </a:tabLst>
                      </a:pPr>
                      <a:r>
                        <a:rPr lang="en-US" sz="1600" dirty="0">
                          <a:effectLst/>
                        </a:rPr>
                        <a:t>Offer expressly limits acceptance</a:t>
                      </a:r>
                    </a:p>
                    <a:p>
                      <a:pPr marL="342900" marR="0" lvl="0" indent="-342900">
                        <a:spcBef>
                          <a:spcPts val="0"/>
                        </a:spcBef>
                        <a:spcAft>
                          <a:spcPts val="0"/>
                        </a:spcAft>
                        <a:buFont typeface="Symbol"/>
                        <a:buChar char=""/>
                        <a:tabLst>
                          <a:tab pos="228600" algn="l"/>
                        </a:tabLst>
                      </a:pPr>
                      <a:r>
                        <a:rPr lang="en-US" sz="1600" dirty="0">
                          <a:effectLst/>
                        </a:rPr>
                        <a:t>They materially alter contract</a:t>
                      </a:r>
                    </a:p>
                    <a:p>
                      <a:pPr marL="342900" marR="0" lvl="0" indent="-342900">
                        <a:spcBef>
                          <a:spcPts val="0"/>
                        </a:spcBef>
                        <a:spcAft>
                          <a:spcPts val="0"/>
                        </a:spcAft>
                        <a:buFont typeface="Symbol"/>
                        <a:buChar char=""/>
                        <a:tabLst>
                          <a:tab pos="228600" algn="l"/>
                        </a:tabLst>
                      </a:pPr>
                      <a:r>
                        <a:rPr lang="en-US" sz="1600" dirty="0">
                          <a:effectLst/>
                        </a:rPr>
                        <a:t>Notification of objection is given; or</a:t>
                      </a:r>
                    </a:p>
                    <a:p>
                      <a:pPr marL="342900" marR="0" lvl="0" indent="-342900">
                        <a:spcBef>
                          <a:spcPts val="0"/>
                        </a:spcBef>
                        <a:spcAft>
                          <a:spcPts val="0"/>
                        </a:spcAft>
                        <a:buFont typeface="Symbol"/>
                        <a:buChar char=""/>
                        <a:tabLst>
                          <a:tab pos="228600" algn="l"/>
                        </a:tabLst>
                      </a:pPr>
                      <a:r>
                        <a:rPr lang="en-US" sz="1600" dirty="0">
                          <a:effectLst/>
                        </a:rPr>
                        <a:t>Terms are different (minority</a:t>
                      </a:r>
                      <a:r>
                        <a:rPr lang="en-US" sz="1600" baseline="0" dirty="0">
                          <a:effectLst/>
                        </a:rPr>
                        <a:t> rule, consistent with statutory text)</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 </a:t>
                      </a:r>
                    </a:p>
                    <a:p>
                      <a:pPr marL="0" marR="0">
                        <a:spcBef>
                          <a:spcPts val="0"/>
                        </a:spcBef>
                        <a:spcAft>
                          <a:spcPts val="0"/>
                        </a:spcAft>
                      </a:pPr>
                      <a:r>
                        <a:rPr lang="en-US" sz="1600" dirty="0">
                          <a:effectLst/>
                        </a:rPr>
                        <a:t> </a:t>
                      </a:r>
                      <a:endParaRPr lang="en-US" sz="1600" dirty="0">
                        <a:effectLst/>
                        <a:latin typeface="Times New Roman"/>
                        <a:ea typeface="Times New Roman"/>
                      </a:endParaRPr>
                    </a:p>
                  </a:txBody>
                  <a:tcPr marL="68580" marR="68580" marT="0" marB="0"/>
                </a:tc>
                <a:extLst>
                  <a:ext uri="{0D108BD9-81ED-4DB2-BD59-A6C34878D82A}">
                    <a16:rowId xmlns:a16="http://schemas.microsoft.com/office/drawing/2014/main" val="10003"/>
                  </a:ext>
                </a:extLst>
              </a:tr>
              <a:tr h="556110">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effectLst/>
                        </a:rPr>
                        <a:t>Acceptance that knocks out different terms</a:t>
                      </a:r>
                      <a:r>
                        <a:rPr lang="en-US" sz="1600" baseline="0" dirty="0">
                          <a:effectLst/>
                        </a:rPr>
                        <a:t> </a:t>
                      </a:r>
                      <a:r>
                        <a:rPr lang="en-US" sz="1600" dirty="0">
                          <a:effectLst/>
                        </a:rPr>
                        <a:t>(majority “knockout” rule).</a:t>
                      </a:r>
                      <a:endParaRPr lang="en-US" sz="1600" dirty="0">
                        <a:effectLst/>
                        <a:latin typeface="Times New Roman"/>
                        <a:ea typeface="Times New Roman"/>
                      </a:endParaRPr>
                    </a:p>
                  </a:txBody>
                  <a:tcPr marL="68580" marR="68580" marT="0" marB="0"/>
                </a:tc>
                <a:tc>
                  <a:txBody>
                    <a:bodyPr/>
                    <a:lstStyle/>
                    <a:p>
                      <a:endParaRPr lang="en-US" sz="1600" dirty="0"/>
                    </a:p>
                  </a:txBody>
                  <a:tcPr marT="45725" marB="45725"/>
                </a:tc>
                <a:extLst>
                  <a:ext uri="{0D108BD9-81ED-4DB2-BD59-A6C34878D82A}">
                    <a16:rowId xmlns:a16="http://schemas.microsoft.com/office/drawing/2014/main" val="10004"/>
                  </a:ext>
                </a:extLst>
              </a:tr>
              <a:tr h="731600">
                <a:tc>
                  <a:txBody>
                    <a:bodyPr/>
                    <a:lstStyle/>
                    <a:p>
                      <a:pPr marL="0" marR="0">
                        <a:spcBef>
                          <a:spcPts val="0"/>
                        </a:spcBef>
                        <a:spcAft>
                          <a:spcPts val="0"/>
                        </a:spcAft>
                      </a:pPr>
                      <a:r>
                        <a:rPr lang="en-US" sz="1600" dirty="0">
                          <a:effectLst/>
                        </a:rPr>
                        <a:t>Offer</a:t>
                      </a:r>
                      <a:endParaRPr lang="en-US" sz="1600" dirty="0">
                        <a:effectLst/>
                        <a:latin typeface="Times New Roman"/>
                        <a:ea typeface="Times New Roman"/>
                      </a:endParaRPr>
                    </a:p>
                  </a:txBody>
                  <a:tcPr marL="68580" marR="68580" marT="0" marB="0"/>
                </a:tc>
                <a:tc>
                  <a:txBody>
                    <a:bodyPr/>
                    <a:lstStyle/>
                    <a:p>
                      <a:pPr marL="0" marR="0">
                        <a:spcBef>
                          <a:spcPts val="0"/>
                        </a:spcBef>
                        <a:spcAft>
                          <a:spcPts val="0"/>
                        </a:spcAft>
                      </a:pPr>
                      <a:r>
                        <a:rPr lang="en-US" sz="1600" dirty="0">
                          <a:solidFill>
                            <a:srgbClr val="FF0000"/>
                          </a:solidFill>
                          <a:effectLst/>
                        </a:rPr>
                        <a:t>Acceptance (2-207(1)) and proposal whose terms are incorporated into</a:t>
                      </a:r>
                      <a:r>
                        <a:rPr lang="en-US" sz="1600" baseline="0" dirty="0">
                          <a:solidFill>
                            <a:srgbClr val="FF0000"/>
                          </a:solidFill>
                          <a:effectLst/>
                        </a:rPr>
                        <a:t> contract </a:t>
                      </a:r>
                      <a:r>
                        <a:rPr lang="en-US" sz="1600" dirty="0">
                          <a:solidFill>
                            <a:srgbClr val="FF0000"/>
                          </a:solidFill>
                          <a:effectLst/>
                        </a:rPr>
                        <a:t>(2-207(2) (“California</a:t>
                      </a:r>
                      <a:r>
                        <a:rPr lang="en-US" sz="1600" baseline="0" dirty="0">
                          <a:solidFill>
                            <a:srgbClr val="FF0000"/>
                          </a:solidFill>
                          <a:effectLst/>
                        </a:rPr>
                        <a:t>” rule, implied in </a:t>
                      </a:r>
                      <a:r>
                        <a:rPr lang="en-US" sz="1600" baseline="0" dirty="0" err="1">
                          <a:solidFill>
                            <a:srgbClr val="FF0000"/>
                          </a:solidFill>
                          <a:effectLst/>
                        </a:rPr>
                        <a:t>Cmt</a:t>
                      </a:r>
                      <a:r>
                        <a:rPr lang="en-US" sz="1600" baseline="0" dirty="0">
                          <a:solidFill>
                            <a:srgbClr val="FF0000"/>
                          </a:solidFill>
                          <a:effectLst/>
                        </a:rPr>
                        <a:t>. 3))</a:t>
                      </a:r>
                      <a:r>
                        <a:rPr lang="en-US" sz="1600" dirty="0">
                          <a:solidFill>
                            <a:srgbClr val="FF0000"/>
                          </a:solidFill>
                          <a:effectLst/>
                        </a:rPr>
                        <a:t>.</a:t>
                      </a:r>
                      <a:endParaRPr lang="en-US" sz="1600" dirty="0">
                        <a:solidFill>
                          <a:srgbClr val="FF0000"/>
                        </a:solidFill>
                        <a:effectLst/>
                        <a:latin typeface="Times New Roman"/>
                        <a:ea typeface="Times New Roman"/>
                      </a:endParaRPr>
                    </a:p>
                  </a:txBody>
                  <a:tcPr marL="68580" marR="68580" marT="0" marB="0"/>
                </a:tc>
                <a:tc>
                  <a:txBody>
                    <a:bodyPr/>
                    <a:lstStyle/>
                    <a:p>
                      <a:endParaRPr lang="en-US" sz="1600" dirty="0"/>
                    </a:p>
                  </a:txBody>
                  <a:tcPr marT="45725" marB="45725"/>
                </a:tc>
                <a:extLst>
                  <a:ext uri="{0D108BD9-81ED-4DB2-BD59-A6C34878D82A}">
                    <a16:rowId xmlns:a16="http://schemas.microsoft.com/office/drawing/2014/main" val="10005"/>
                  </a:ext>
                </a:extLst>
              </a:tr>
            </a:tbl>
          </a:graphicData>
        </a:graphic>
      </p:graphicFrame>
      <p:sp>
        <p:nvSpPr>
          <p:cNvPr id="19488" name="Title 1"/>
          <p:cNvSpPr>
            <a:spLocks noGrp="1"/>
          </p:cNvSpPr>
          <p:nvPr>
            <p:ph type="ctrTitle"/>
          </p:nvPr>
        </p:nvSpPr>
        <p:spPr>
          <a:xfrm>
            <a:off x="685800" y="228600"/>
            <a:ext cx="7848600" cy="533400"/>
          </a:xfrm>
        </p:spPr>
        <p:txBody>
          <a:bodyPr/>
          <a:lstStyle/>
          <a:p>
            <a:pPr algn="l"/>
            <a:r>
              <a:rPr lang="en-US" altLang="en-US" sz="2400" dirty="0" err="1"/>
              <a:t>Offeree’s</a:t>
            </a:r>
            <a:r>
              <a:rPr lang="en-US" altLang="en-US" sz="2400" dirty="0"/>
              <a:t> strategies</a:t>
            </a:r>
          </a:p>
        </p:txBody>
      </p:sp>
    </p:spTree>
    <p:extLst>
      <p:ext uri="{BB962C8B-B14F-4D97-AF65-F5344CB8AC3E}">
        <p14:creationId xmlns:p14="http://schemas.microsoft.com/office/powerpoint/2010/main" val="983515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a:t>Policy considerations</a:t>
            </a:r>
          </a:p>
        </p:txBody>
      </p:sp>
      <p:sp>
        <p:nvSpPr>
          <p:cNvPr id="3" name="Content Placeholder 2"/>
          <p:cNvSpPr>
            <a:spLocks noGrp="1"/>
          </p:cNvSpPr>
          <p:nvPr>
            <p:ph sz="quarter" idx="1"/>
          </p:nvPr>
        </p:nvSpPr>
        <p:spPr>
          <a:xfrm>
            <a:off x="457200" y="1219200"/>
            <a:ext cx="8229600" cy="4937125"/>
          </a:xfrm>
        </p:spPr>
        <p:txBody>
          <a:bodyPr>
            <a:normAutofit lnSpcReduction="10000"/>
          </a:bodyPr>
          <a:lstStyle/>
          <a:p>
            <a:pPr marL="0" indent="0">
              <a:buFont typeface="Wingdings 3" pitchFamily="18" charset="2"/>
              <a:buNone/>
              <a:defRPr/>
            </a:pPr>
            <a:r>
              <a:rPr lang="en-US" dirty="0"/>
              <a:t>Rules can be evaluated in terms of:</a:t>
            </a:r>
          </a:p>
          <a:p>
            <a:pPr>
              <a:defRPr/>
            </a:pPr>
            <a:r>
              <a:rPr lang="en-US" dirty="0"/>
              <a:t>Respect for intention of parties</a:t>
            </a:r>
          </a:p>
          <a:p>
            <a:pPr>
              <a:defRPr/>
            </a:pPr>
            <a:r>
              <a:rPr lang="en-US" dirty="0"/>
              <a:t>Fairness</a:t>
            </a:r>
          </a:p>
          <a:p>
            <a:pPr>
              <a:defRPr/>
            </a:pPr>
            <a:r>
              <a:rPr lang="en-US" dirty="0"/>
              <a:t>Certainty</a:t>
            </a:r>
          </a:p>
          <a:p>
            <a:pPr>
              <a:defRPr/>
            </a:pPr>
            <a:r>
              <a:rPr lang="en-US" dirty="0"/>
              <a:t>Litigation costs</a:t>
            </a:r>
          </a:p>
          <a:p>
            <a:pPr>
              <a:defRPr/>
            </a:pPr>
            <a:r>
              <a:rPr lang="en-US" dirty="0"/>
              <a:t>Drafting costs </a:t>
            </a:r>
          </a:p>
          <a:p>
            <a:pPr marL="0" indent="0">
              <a:buNone/>
              <a:defRPr/>
            </a:pPr>
            <a:endParaRPr lang="en-US" dirty="0"/>
          </a:p>
          <a:p>
            <a:pPr marL="0" indent="0">
              <a:buNone/>
              <a:defRPr/>
            </a:pPr>
            <a:r>
              <a:rPr lang="en-US" dirty="0"/>
              <a:t>Have to consider how rules affect incentives to:</a:t>
            </a:r>
          </a:p>
          <a:p>
            <a:pPr>
              <a:defRPr/>
            </a:pPr>
            <a:r>
              <a:rPr lang="en-US" dirty="0"/>
              <a:t>negotiate master agreements</a:t>
            </a:r>
          </a:p>
          <a:p>
            <a:pPr>
              <a:defRPr/>
            </a:pPr>
            <a:r>
              <a:rPr lang="en-US" dirty="0"/>
              <a:t>draft clear, reasonable forms</a:t>
            </a:r>
          </a:p>
          <a:p>
            <a:pPr>
              <a:defRPr/>
            </a:pPr>
            <a:r>
              <a:rPr lang="en-US" dirty="0"/>
              <a:t>litigate</a:t>
            </a:r>
          </a:p>
          <a:p>
            <a:pPr>
              <a:defRPr/>
            </a:pPr>
            <a:endParaRPr lang="en-US" dirty="0"/>
          </a:p>
        </p:txBody>
      </p:sp>
    </p:spTree>
    <p:extLst>
      <p:ext uri="{BB962C8B-B14F-4D97-AF65-F5344CB8AC3E}">
        <p14:creationId xmlns:p14="http://schemas.microsoft.com/office/powerpoint/2010/main" val="25382128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6192</TotalTime>
  <Words>3016</Words>
  <Application>Microsoft Office PowerPoint</Application>
  <PresentationFormat>On-screen Show (4:3)</PresentationFormat>
  <Paragraphs>395</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Bookman Old Style</vt:lpstr>
      <vt:lpstr>Calibri</vt:lpstr>
      <vt:lpstr>Gill Sans MT</vt:lpstr>
      <vt:lpstr>Symbol</vt:lpstr>
      <vt:lpstr>Times New Roman</vt:lpstr>
      <vt:lpstr>Wingdings</vt:lpstr>
      <vt:lpstr>Wingdings 3</vt:lpstr>
      <vt:lpstr>Origin</vt:lpstr>
      <vt:lpstr>Class 8: Firm offers and formation under Article 2 </vt:lpstr>
      <vt:lpstr>Key questions</vt:lpstr>
      <vt:lpstr>Topics</vt:lpstr>
      <vt:lpstr>Firm offers</vt:lpstr>
      <vt:lpstr>Limits on the power of revocation</vt:lpstr>
      <vt:lpstr>Problem: The Move to Maine (252)</vt:lpstr>
      <vt:lpstr>Notification of acceptance by performance</vt:lpstr>
      <vt:lpstr>PowerPoint Presentation</vt:lpstr>
      <vt:lpstr>Carlill v. Carbolic Smoke Ball (228)</vt:lpstr>
      <vt:lpstr>Drennan v. Star Paving (253)</vt:lpstr>
      <vt:lpstr>Battle of the forms</vt:lpstr>
      <vt:lpstr>Battle of the forms at common law</vt:lpstr>
      <vt:lpstr>UCC § 2-204 – Formation in general</vt:lpstr>
      <vt:lpstr>UCC § 2-207 – Formation rules</vt:lpstr>
      <vt:lpstr>UCC § 2-207 – Interpretation rules</vt:lpstr>
      <vt:lpstr>Battle of the forms under UCC § 2-207</vt:lpstr>
      <vt:lpstr>Confirmations under UCC § 2-207</vt:lpstr>
      <vt:lpstr>Dorton v. Collins &amp; Aikman Corp. (276)</vt:lpstr>
      <vt:lpstr>Dorton v. Collins &amp; Aikman Corp.</vt:lpstr>
      <vt:lpstr>Dorton v. Collins &amp; Aikman Corp. – District Ct.</vt:lpstr>
      <vt:lpstr>Dorton v. Collins &amp; Aikman Corp. – 6th Cir.</vt:lpstr>
      <vt:lpstr>Dorton v. Collins &amp; Aikman Corp. – 6th Cir. (cont.)</vt:lpstr>
      <vt:lpstr>C. Itoh &amp; Co. (America) Inc. v. Jordan Int’l Co. (281)</vt:lpstr>
      <vt:lpstr>Bayway Refining v. Oxygenated Marketing &amp; Trading (285)</vt:lpstr>
      <vt:lpstr>Northrop Corp. v. Litronic Industries (290)</vt:lpstr>
      <vt:lpstr>Northrop Corp. v. Litronic Industries – 7th Cir.</vt:lpstr>
      <vt:lpstr>Problem: Misplaced Strategies (293)</vt:lpstr>
      <vt:lpstr>Offeror’s strategies</vt:lpstr>
      <vt:lpstr>Offeree’s strategies</vt:lpstr>
      <vt:lpstr>Policy considerations</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8: Battle of the forms and UCC 2-207</dc:title>
  <dc:creator>Davis, Kevin</dc:creator>
  <cp:lastModifiedBy>Davis, Kevin</cp:lastModifiedBy>
  <cp:revision>60</cp:revision>
  <dcterms:created xsi:type="dcterms:W3CDTF">2014-09-24T13:48:45Z</dcterms:created>
  <dcterms:modified xsi:type="dcterms:W3CDTF">2026-09-17T14:43:09Z</dcterms:modified>
</cp:coreProperties>
</file>