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316" r:id="rId2"/>
    <p:sldId id="324" r:id="rId3"/>
    <p:sldId id="325" r:id="rId4"/>
    <p:sldId id="326" r:id="rId5"/>
    <p:sldId id="313" r:id="rId6"/>
    <p:sldId id="327" r:id="rId7"/>
    <p:sldId id="328" r:id="rId8"/>
    <p:sldId id="329" r:id="rId9"/>
    <p:sldId id="347" r:id="rId10"/>
    <p:sldId id="349" r:id="rId11"/>
    <p:sldId id="346" r:id="rId12"/>
    <p:sldId id="348" r:id="rId13"/>
    <p:sldId id="350" r:id="rId14"/>
    <p:sldId id="323" r:id="rId15"/>
    <p:sldId id="317" r:id="rId16"/>
    <p:sldId id="351" r:id="rId17"/>
    <p:sldId id="319" r:id="rId18"/>
    <p:sldId id="318" r:id="rId19"/>
    <p:sldId id="320" r:id="rId20"/>
    <p:sldId id="321" r:id="rId21"/>
    <p:sldId id="322" r:id="rId22"/>
    <p:sldId id="276" r:id="rId23"/>
    <p:sldId id="271" r:id="rId24"/>
    <p:sldId id="298" r:id="rId25"/>
    <p:sldId id="299" r:id="rId26"/>
    <p:sldId id="272" r:id="rId27"/>
    <p:sldId id="274" r:id="rId28"/>
    <p:sldId id="279" r:id="rId29"/>
    <p:sldId id="354" r:id="rId30"/>
    <p:sldId id="280" r:id="rId31"/>
    <p:sldId id="300" r:id="rId32"/>
    <p:sldId id="311" r:id="rId33"/>
    <p:sldId id="312" r:id="rId34"/>
    <p:sldId id="268" r:id="rId35"/>
    <p:sldId id="302" r:id="rId36"/>
    <p:sldId id="315" r:id="rId37"/>
    <p:sldId id="314" r:id="rId3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660"/>
  </p:normalViewPr>
  <p:slideViewPr>
    <p:cSldViewPr>
      <p:cViewPr varScale="1">
        <p:scale>
          <a:sx n="105" d="100"/>
          <a:sy n="105" d="100"/>
        </p:scale>
        <p:origin x="1854"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21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AA9FCBCB-E145-4327-9CC2-81ECF2246EFE}" type="datetimeFigureOut">
              <a:rPr lang="en-US" smtClean="0"/>
              <a:t>10/7/2026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90050697-F92D-475F-A610-1AB78E76FCA3}" type="slidenum">
              <a:rPr lang="en-US" smtClean="0"/>
              <a:t>‹#›</a:t>
            </a:fld>
            <a:endParaRPr lang="en-US"/>
          </a:p>
        </p:txBody>
      </p:sp>
    </p:spTree>
    <p:extLst>
      <p:ext uri="{BB962C8B-B14F-4D97-AF65-F5344CB8AC3E}">
        <p14:creationId xmlns:p14="http://schemas.microsoft.com/office/powerpoint/2010/main" val="14475631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45376B3E-879B-4F40-A040-0B93E2BA2D12}" type="datetimeFigureOut">
              <a:rPr lang="en-US" smtClean="0"/>
              <a:t>10/7/2026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D3CE44F4-8BF1-4F36-9D69-1099FBD950D8}" type="slidenum">
              <a:rPr lang="en-US" smtClean="0"/>
              <a:t>‹#›</a:t>
            </a:fld>
            <a:endParaRPr lang="en-US"/>
          </a:p>
        </p:txBody>
      </p:sp>
    </p:spTree>
    <p:extLst>
      <p:ext uri="{BB962C8B-B14F-4D97-AF65-F5344CB8AC3E}">
        <p14:creationId xmlns:p14="http://schemas.microsoft.com/office/powerpoint/2010/main" val="21827291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22</a:t>
            </a:fld>
            <a:endParaRPr lang="en-US"/>
          </a:p>
        </p:txBody>
      </p:sp>
    </p:spTree>
    <p:extLst>
      <p:ext uri="{BB962C8B-B14F-4D97-AF65-F5344CB8AC3E}">
        <p14:creationId xmlns:p14="http://schemas.microsoft.com/office/powerpoint/2010/main" val="1260242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23</a:t>
            </a:fld>
            <a:endParaRPr lang="en-US"/>
          </a:p>
        </p:txBody>
      </p:sp>
    </p:spTree>
    <p:extLst>
      <p:ext uri="{BB962C8B-B14F-4D97-AF65-F5344CB8AC3E}">
        <p14:creationId xmlns:p14="http://schemas.microsoft.com/office/powerpoint/2010/main" val="382734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40EB6E-0B65-434D-9A2B-D8A813FC6E0C}" type="slidenum">
              <a:rPr lang="en-US" smtClean="0"/>
              <a:t>24</a:t>
            </a:fld>
            <a:endParaRPr lang="en-US"/>
          </a:p>
        </p:txBody>
      </p:sp>
    </p:spTree>
    <p:extLst>
      <p:ext uri="{BB962C8B-B14F-4D97-AF65-F5344CB8AC3E}">
        <p14:creationId xmlns:p14="http://schemas.microsoft.com/office/powerpoint/2010/main" val="2483699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40EB6E-0B65-434D-9A2B-D8A813FC6E0C}" type="slidenum">
              <a:rPr lang="en-US" smtClean="0"/>
              <a:t>25</a:t>
            </a:fld>
            <a:endParaRPr lang="en-US"/>
          </a:p>
        </p:txBody>
      </p:sp>
    </p:spTree>
    <p:extLst>
      <p:ext uri="{BB962C8B-B14F-4D97-AF65-F5344CB8AC3E}">
        <p14:creationId xmlns:p14="http://schemas.microsoft.com/office/powerpoint/2010/main" val="2483699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26</a:t>
            </a:fld>
            <a:endParaRPr lang="en-US"/>
          </a:p>
        </p:txBody>
      </p:sp>
    </p:spTree>
    <p:extLst>
      <p:ext uri="{BB962C8B-B14F-4D97-AF65-F5344CB8AC3E}">
        <p14:creationId xmlns:p14="http://schemas.microsoft.com/office/powerpoint/2010/main" val="3588025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27</a:t>
            </a:fld>
            <a:endParaRPr lang="en-US"/>
          </a:p>
        </p:txBody>
      </p:sp>
    </p:spTree>
    <p:extLst>
      <p:ext uri="{BB962C8B-B14F-4D97-AF65-F5344CB8AC3E}">
        <p14:creationId xmlns:p14="http://schemas.microsoft.com/office/powerpoint/2010/main" val="663532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28</a:t>
            </a:fld>
            <a:endParaRPr lang="en-US"/>
          </a:p>
        </p:txBody>
      </p:sp>
    </p:spTree>
    <p:extLst>
      <p:ext uri="{BB962C8B-B14F-4D97-AF65-F5344CB8AC3E}">
        <p14:creationId xmlns:p14="http://schemas.microsoft.com/office/powerpoint/2010/main" val="3706780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29</a:t>
            </a:fld>
            <a:endParaRPr lang="en-US"/>
          </a:p>
        </p:txBody>
      </p:sp>
    </p:spTree>
    <p:extLst>
      <p:ext uri="{BB962C8B-B14F-4D97-AF65-F5344CB8AC3E}">
        <p14:creationId xmlns:p14="http://schemas.microsoft.com/office/powerpoint/2010/main" val="3327558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CE44F4-8BF1-4F36-9D69-1099FBD950D8}" type="slidenum">
              <a:rPr lang="en-US" smtClean="0"/>
              <a:t>30</a:t>
            </a:fld>
            <a:endParaRPr lang="en-US"/>
          </a:p>
        </p:txBody>
      </p:sp>
    </p:spTree>
    <p:extLst>
      <p:ext uri="{BB962C8B-B14F-4D97-AF65-F5344CB8AC3E}">
        <p14:creationId xmlns:p14="http://schemas.microsoft.com/office/powerpoint/2010/main" val="1759230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DF4609-CA04-45DA-9D79-91F28D54A449}" type="datetime1">
              <a:rPr lang="en-US" smtClean="0"/>
              <a:t>10/7/2026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D11C8C-AD2D-4838-BC00-75B178F1002F}" type="datetime1">
              <a:rPr lang="en-US" smtClean="0"/>
              <a:t>10/7/2026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FB5AB7-15D9-4633-A966-FD8955D7B2E6}" type="datetime1">
              <a:rPr lang="en-US" smtClean="0"/>
              <a:t>10/7/2026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A0B4C0-DBBA-4AD8-9FC2-FBA76E37C4EA}" type="datetime1">
              <a:rPr lang="en-US" smtClean="0"/>
              <a:t>10/7/2026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503D31-4BC9-4E62-91B7-507FE5B6E64F}" type="datetime1">
              <a:rPr lang="en-US" smtClean="0"/>
              <a:t>10/7/2026</a:t>
            </a:fld>
            <a:endParaRPr lang="en-US"/>
          </a:p>
        </p:txBody>
      </p:sp>
      <p:sp>
        <p:nvSpPr>
          <p:cNvPr id="8" name="Footer Placeholder 7"/>
          <p:cNvSpPr>
            <a:spLocks noGrp="1"/>
          </p:cNvSpPr>
          <p:nvPr>
            <p:ph type="ftr" sz="quarter" idx="11"/>
          </p:nvPr>
        </p:nvSpPr>
        <p:spPr/>
        <p:txBody>
          <a:bodyPr/>
          <a:lstStyle/>
          <a:p>
            <a:r>
              <a:rPr lang="en-US"/>
              <a:t>© Copyright 2026.  Peter M. Shane. All rights reserved. </a:t>
            </a:r>
          </a:p>
        </p:txBody>
      </p:sp>
      <p:sp>
        <p:nvSpPr>
          <p:cNvPr id="9" name="Slide Number Placeholder 8"/>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E60337-81DE-45F5-AFD8-78DA8F396538}" type="datetime1">
              <a:rPr lang="en-US" smtClean="0"/>
              <a:t>10/7/2026</a:t>
            </a:fld>
            <a:endParaRPr lang="en-US"/>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B405B-49FF-4B16-B29A-B576AEAA0843}" type="datetime1">
              <a:rPr lang="en-US" smtClean="0"/>
              <a:t>10/7/2026</a:t>
            </a:fld>
            <a:endParaRPr lang="en-US"/>
          </a:p>
        </p:txBody>
      </p:sp>
      <p:sp>
        <p:nvSpPr>
          <p:cNvPr id="3" name="Footer Placeholder 2"/>
          <p:cNvSpPr>
            <a:spLocks noGrp="1"/>
          </p:cNvSpPr>
          <p:nvPr>
            <p:ph type="ftr" sz="quarter" idx="11"/>
          </p:nvPr>
        </p:nvSpPr>
        <p:spPr/>
        <p:txBody>
          <a:bodyPr/>
          <a:lstStyle/>
          <a:p>
            <a:r>
              <a:rPr lang="en-US"/>
              <a:t>© Copyright 2026.  Peter M. Shane. All rights reserved. </a:t>
            </a:r>
          </a:p>
        </p:txBody>
      </p:sp>
      <p:sp>
        <p:nvSpPr>
          <p:cNvPr id="4" name="Slide Number Placeholder 3"/>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B25EA1-8934-4B57-B140-E87EEAA71840}" type="datetime1">
              <a:rPr lang="en-US" smtClean="0"/>
              <a:t>10/7/2026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918855-8696-474F-8E72-FFC9A06F0B96}" type="datetime1">
              <a:rPr lang="en-US" smtClean="0"/>
              <a:t>10/7/2026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397AA1-4F02-4723-92B3-A7B063D34B37}" type="datetime1">
              <a:rPr lang="en-US" smtClean="0"/>
              <a:t>10/7/2026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D69F5A-897E-4247-9533-1B476F9318B1}" type="datetime1">
              <a:rPr lang="en-US" smtClean="0"/>
              <a:t>10/7/2026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4DBFBA8A-A64E-4688-B417-D8D3C306269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4FE611-A404-4353-829E-10C78658B014}" type="datetime1">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Copyright 2026.  Peter M. Shane. All rights reserved.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FBA8A-A64E-4688-B417-D8D3C306269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law.cornell.edu/uscode/text/5/3349b" TargetMode="External"/><Relationship Id="rId2" Type="http://schemas.openxmlformats.org/officeDocument/2006/relationships/hyperlink" Target="https://www.law.cornell.edu/uscode/text/5/3345"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federalregister.gov/documents/2025/07/23/2025-13925/creating-schedule-g-in-the-excepted-service" TargetMode="External"/><Relationship Id="rId2" Type="http://schemas.openxmlformats.org/officeDocument/2006/relationships/hyperlink" Target="https://www.federalregister.gov/documents/2025/01/31/2025-02095/restoring-accountability-to-policy-influencing-positions-within-the-federal-workfor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AF72-46EB-D6D0-AF21-F95D3F2A5F32}"/>
              </a:ext>
            </a:extLst>
          </p:cNvPr>
          <p:cNvSpPr>
            <a:spLocks noGrp="1"/>
          </p:cNvSpPr>
          <p:nvPr>
            <p:ph type="title"/>
          </p:nvPr>
        </p:nvSpPr>
        <p:spPr/>
        <p:txBody>
          <a:bodyPr/>
          <a:lstStyle/>
          <a:p>
            <a:r>
              <a:rPr lang="en-US" dirty="0"/>
              <a:t>Recap of Class 11</a:t>
            </a:r>
          </a:p>
        </p:txBody>
      </p:sp>
      <p:sp>
        <p:nvSpPr>
          <p:cNvPr id="3" name="Content Placeholder 2">
            <a:extLst>
              <a:ext uri="{FF2B5EF4-FFF2-40B4-BE49-F238E27FC236}">
                <a16:creationId xmlns:a16="http://schemas.microsoft.com/office/drawing/2014/main" id="{55CC2B45-844F-85A4-FA74-ACB71487C8D9}"/>
              </a:ext>
            </a:extLst>
          </p:cNvPr>
          <p:cNvSpPr>
            <a:spLocks noGrp="1"/>
          </p:cNvSpPr>
          <p:nvPr>
            <p:ph idx="1"/>
          </p:nvPr>
        </p:nvSpPr>
        <p:spPr/>
        <p:txBody>
          <a:bodyPr>
            <a:normAutofit/>
          </a:bodyPr>
          <a:lstStyle/>
          <a:p>
            <a:r>
              <a:rPr lang="en-US" i="1" dirty="0"/>
              <a:t>Morrison</a:t>
            </a:r>
            <a:r>
              <a:rPr lang="en-US" dirty="0"/>
              <a:t> reaffirmed </a:t>
            </a:r>
            <a:r>
              <a:rPr lang="en-US" i="1" dirty="0"/>
              <a:t>Humphrey’s Executor, </a:t>
            </a:r>
            <a:r>
              <a:rPr lang="en-US" dirty="0"/>
              <a:t>with somewhat opaque opinion</a:t>
            </a:r>
          </a:p>
          <a:p>
            <a:pPr lvl="1"/>
            <a:r>
              <a:rPr lang="en-US" dirty="0"/>
              <a:t>Broad view of interbranch appointments</a:t>
            </a:r>
          </a:p>
          <a:p>
            <a:r>
              <a:rPr lang="en-US" dirty="0"/>
              <a:t>Roberts Court sliced away at </a:t>
            </a:r>
            <a:r>
              <a:rPr lang="en-US" i="1" dirty="0"/>
              <a:t>HE</a:t>
            </a:r>
            <a:r>
              <a:rPr lang="en-US" dirty="0"/>
              <a:t> and </a:t>
            </a:r>
            <a:r>
              <a:rPr lang="en-US" i="1" dirty="0"/>
              <a:t>Morrison</a:t>
            </a:r>
          </a:p>
          <a:p>
            <a:pPr lvl="1"/>
            <a:r>
              <a:rPr lang="en-US" i="1" dirty="0"/>
              <a:t>Free Enterprise Fund</a:t>
            </a:r>
            <a:r>
              <a:rPr lang="en-US" dirty="0"/>
              <a:t>: No double-layered tenure protection</a:t>
            </a:r>
          </a:p>
          <a:p>
            <a:pPr lvl="1"/>
            <a:r>
              <a:rPr lang="en-US" i="1" dirty="0"/>
              <a:t>Seila Law</a:t>
            </a:r>
            <a:r>
              <a:rPr lang="en-US" dirty="0"/>
              <a:t>; </a:t>
            </a:r>
            <a:r>
              <a:rPr lang="en-US" i="1" dirty="0"/>
              <a:t>Collins</a:t>
            </a:r>
            <a:r>
              <a:rPr lang="en-US" dirty="0"/>
              <a:t>: POTUS has plenary removal authority over directors of senior-headed agencies</a:t>
            </a:r>
          </a:p>
        </p:txBody>
      </p:sp>
      <p:sp>
        <p:nvSpPr>
          <p:cNvPr id="4" name="Footer Placeholder 3">
            <a:extLst>
              <a:ext uri="{FF2B5EF4-FFF2-40B4-BE49-F238E27FC236}">
                <a16:creationId xmlns:a16="http://schemas.microsoft.com/office/drawing/2014/main" id="{027E1FE5-E1E0-0E9C-4D48-A0C605074EA6}"/>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05DE91C-07A3-E1CD-DF71-97D0A156ADB8}"/>
              </a:ext>
            </a:extLst>
          </p:cNvPr>
          <p:cNvSpPr>
            <a:spLocks noGrp="1"/>
          </p:cNvSpPr>
          <p:nvPr>
            <p:ph type="sldNum" sz="quarter" idx="12"/>
          </p:nvPr>
        </p:nvSpPr>
        <p:spPr/>
        <p:txBody>
          <a:bodyPr/>
          <a:lstStyle/>
          <a:p>
            <a:fld id="{4DBFBA8A-A64E-4688-B417-D8D3C3062699}" type="slidenum">
              <a:rPr lang="en-US" smtClean="0"/>
              <a:pPr/>
              <a:t>1</a:t>
            </a:fld>
            <a:endParaRPr lang="en-US"/>
          </a:p>
        </p:txBody>
      </p:sp>
    </p:spTree>
    <p:extLst>
      <p:ext uri="{BB962C8B-B14F-4D97-AF65-F5344CB8AC3E}">
        <p14:creationId xmlns:p14="http://schemas.microsoft.com/office/powerpoint/2010/main" val="3310868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EE7E5-AF3B-0E43-E744-4464577B2BBA}"/>
              </a:ext>
            </a:extLst>
          </p:cNvPr>
          <p:cNvSpPr>
            <a:spLocks noGrp="1"/>
          </p:cNvSpPr>
          <p:nvPr>
            <p:ph type="title"/>
          </p:nvPr>
        </p:nvSpPr>
        <p:spPr/>
        <p:txBody>
          <a:bodyPr/>
          <a:lstStyle/>
          <a:p>
            <a:r>
              <a:rPr lang="en-US" i="1" dirty="0"/>
              <a:t>Trump v. Wilcox </a:t>
            </a:r>
            <a:r>
              <a:rPr lang="en-US" dirty="0"/>
              <a:t>(2025)</a:t>
            </a:r>
            <a:endParaRPr lang="en-US" i="1" dirty="0"/>
          </a:p>
        </p:txBody>
      </p:sp>
      <p:sp>
        <p:nvSpPr>
          <p:cNvPr id="3" name="Content Placeholder 2">
            <a:extLst>
              <a:ext uri="{FF2B5EF4-FFF2-40B4-BE49-F238E27FC236}">
                <a16:creationId xmlns:a16="http://schemas.microsoft.com/office/drawing/2014/main" id="{55333BA7-F3F5-22A3-7018-E964E5444A03}"/>
              </a:ext>
            </a:extLst>
          </p:cNvPr>
          <p:cNvSpPr>
            <a:spLocks noGrp="1"/>
          </p:cNvSpPr>
          <p:nvPr>
            <p:ph idx="1"/>
          </p:nvPr>
        </p:nvSpPr>
        <p:spPr/>
        <p:txBody>
          <a:bodyPr>
            <a:normAutofit fontScale="92500" lnSpcReduction="10000"/>
          </a:bodyPr>
          <a:lstStyle/>
          <a:p>
            <a:r>
              <a:rPr lang="en-US" dirty="0"/>
              <a:t>Trump fired MSPB chair Cathy Harris and NLRB member Gwynne Wilcox</a:t>
            </a:r>
          </a:p>
          <a:p>
            <a:r>
              <a:rPr lang="en-US" dirty="0"/>
              <a:t>D.C. District Court found both unlawful; restored to office</a:t>
            </a:r>
          </a:p>
          <a:p>
            <a:r>
              <a:rPr lang="en-US" dirty="0"/>
              <a:t>D.C. Cir. Declined to stay lower court order; SCOTUS stayed, but aware of concern over Fed: ““The Federal Reserve is a uniquely structured, quasi-private entity that follows in the distinct historical tradition of the First and Second Banks of the United States.”</a:t>
            </a:r>
          </a:p>
          <a:p>
            <a:endParaRPr lang="en-US" dirty="0"/>
          </a:p>
        </p:txBody>
      </p:sp>
      <p:sp>
        <p:nvSpPr>
          <p:cNvPr id="4" name="Footer Placeholder 3">
            <a:extLst>
              <a:ext uri="{FF2B5EF4-FFF2-40B4-BE49-F238E27FC236}">
                <a16:creationId xmlns:a16="http://schemas.microsoft.com/office/drawing/2014/main" id="{0226801F-F48D-D6A0-5748-11FF29BD886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414AFD3-4087-4D6F-5B77-9CF864BE1DFA}"/>
              </a:ext>
            </a:extLst>
          </p:cNvPr>
          <p:cNvSpPr>
            <a:spLocks noGrp="1"/>
          </p:cNvSpPr>
          <p:nvPr>
            <p:ph type="sldNum" sz="quarter" idx="12"/>
          </p:nvPr>
        </p:nvSpPr>
        <p:spPr/>
        <p:txBody>
          <a:bodyPr/>
          <a:lstStyle/>
          <a:p>
            <a:fld id="{4DBFBA8A-A64E-4688-B417-D8D3C3062699}" type="slidenum">
              <a:rPr lang="en-US" smtClean="0"/>
              <a:pPr/>
              <a:t>2</a:t>
            </a:fld>
            <a:endParaRPr lang="en-US"/>
          </a:p>
        </p:txBody>
      </p:sp>
    </p:spTree>
    <p:extLst>
      <p:ext uri="{BB962C8B-B14F-4D97-AF65-F5344CB8AC3E}">
        <p14:creationId xmlns:p14="http://schemas.microsoft.com/office/powerpoint/2010/main" val="823667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428C-0F14-BA43-00E4-E350068C9F93}"/>
              </a:ext>
            </a:extLst>
          </p:cNvPr>
          <p:cNvSpPr>
            <a:spLocks noGrp="1"/>
          </p:cNvSpPr>
          <p:nvPr>
            <p:ph type="title"/>
          </p:nvPr>
        </p:nvSpPr>
        <p:spPr/>
        <p:txBody>
          <a:bodyPr/>
          <a:lstStyle/>
          <a:p>
            <a:r>
              <a:rPr lang="en-US" i="1" dirty="0"/>
              <a:t>Trump v. Slaughter </a:t>
            </a:r>
            <a:r>
              <a:rPr lang="en-US" dirty="0"/>
              <a:t>(2026)</a:t>
            </a:r>
          </a:p>
        </p:txBody>
      </p:sp>
      <p:sp>
        <p:nvSpPr>
          <p:cNvPr id="3" name="Content Placeholder 2">
            <a:extLst>
              <a:ext uri="{FF2B5EF4-FFF2-40B4-BE49-F238E27FC236}">
                <a16:creationId xmlns:a16="http://schemas.microsoft.com/office/drawing/2014/main" id="{BF551645-9478-9361-3BFF-E324840F03A8}"/>
              </a:ext>
            </a:extLst>
          </p:cNvPr>
          <p:cNvSpPr>
            <a:spLocks noGrp="1"/>
          </p:cNvSpPr>
          <p:nvPr>
            <p:ph idx="1"/>
          </p:nvPr>
        </p:nvSpPr>
        <p:spPr/>
        <p:txBody>
          <a:bodyPr/>
          <a:lstStyle/>
          <a:p>
            <a:r>
              <a:rPr lang="en-US" dirty="0"/>
              <a:t>Again rests on </a:t>
            </a:r>
            <a:r>
              <a:rPr lang="en-US" i="1" dirty="0"/>
              <a:t>Myers</a:t>
            </a:r>
          </a:p>
          <a:p>
            <a:r>
              <a:rPr lang="en-US" dirty="0"/>
              <a:t>FTC at the start of Trump II</a:t>
            </a:r>
          </a:p>
          <a:p>
            <a:pPr lvl="1"/>
            <a:r>
              <a:rPr lang="en-US" dirty="0"/>
              <a:t>3 D’s including chair, who resigns</a:t>
            </a:r>
          </a:p>
          <a:p>
            <a:pPr lvl="1"/>
            <a:r>
              <a:rPr lang="en-US" dirty="0"/>
              <a:t>POTUS makes an R chair and fires the other 2 Ds</a:t>
            </a:r>
          </a:p>
          <a:p>
            <a:r>
              <a:rPr lang="en-US" dirty="0"/>
              <a:t>Lower courts followed </a:t>
            </a:r>
            <a:r>
              <a:rPr lang="en-US" i="1" dirty="0"/>
              <a:t>Humphrey’s Executor</a:t>
            </a:r>
          </a:p>
        </p:txBody>
      </p:sp>
      <p:sp>
        <p:nvSpPr>
          <p:cNvPr id="4" name="Footer Placeholder 3">
            <a:extLst>
              <a:ext uri="{FF2B5EF4-FFF2-40B4-BE49-F238E27FC236}">
                <a16:creationId xmlns:a16="http://schemas.microsoft.com/office/drawing/2014/main" id="{D493A8F5-54CB-08AC-C1FD-117688C87347}"/>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DB77517F-D5DC-7FC8-F861-6E5FDFD1A0A2}"/>
              </a:ext>
            </a:extLst>
          </p:cNvPr>
          <p:cNvSpPr>
            <a:spLocks noGrp="1"/>
          </p:cNvSpPr>
          <p:nvPr>
            <p:ph type="sldNum" sz="quarter" idx="12"/>
          </p:nvPr>
        </p:nvSpPr>
        <p:spPr/>
        <p:txBody>
          <a:bodyPr/>
          <a:lstStyle/>
          <a:p>
            <a:fld id="{19243C18-CE1F-4D3B-ABA9-FEC66CF84D9A}" type="slidenum">
              <a:rPr lang="en-US" smtClean="0"/>
              <a:pPr/>
              <a:t>3</a:t>
            </a:fld>
            <a:endParaRPr lang="en-US"/>
          </a:p>
        </p:txBody>
      </p:sp>
    </p:spTree>
    <p:extLst>
      <p:ext uri="{BB962C8B-B14F-4D97-AF65-F5344CB8AC3E}">
        <p14:creationId xmlns:p14="http://schemas.microsoft.com/office/powerpoint/2010/main" val="237305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2C69-0FCB-A876-43D7-CB3B94216575}"/>
              </a:ext>
            </a:extLst>
          </p:cNvPr>
          <p:cNvSpPr>
            <a:spLocks noGrp="1"/>
          </p:cNvSpPr>
          <p:nvPr>
            <p:ph type="title"/>
          </p:nvPr>
        </p:nvSpPr>
        <p:spPr/>
        <p:txBody>
          <a:bodyPr/>
          <a:lstStyle/>
          <a:p>
            <a:r>
              <a:rPr lang="en-US" dirty="0"/>
              <a:t>Structure of Roberts Argument</a:t>
            </a:r>
          </a:p>
        </p:txBody>
      </p:sp>
      <p:sp>
        <p:nvSpPr>
          <p:cNvPr id="3" name="Content Placeholder 2">
            <a:extLst>
              <a:ext uri="{FF2B5EF4-FFF2-40B4-BE49-F238E27FC236}">
                <a16:creationId xmlns:a16="http://schemas.microsoft.com/office/drawing/2014/main" id="{51B8C05A-B140-E852-6FD5-FBCF2A1ADFEF}"/>
              </a:ext>
            </a:extLst>
          </p:cNvPr>
          <p:cNvSpPr>
            <a:spLocks noGrp="1"/>
          </p:cNvSpPr>
          <p:nvPr>
            <p:ph idx="1"/>
          </p:nvPr>
        </p:nvSpPr>
        <p:spPr/>
        <p:txBody>
          <a:bodyPr/>
          <a:lstStyle/>
          <a:p>
            <a:r>
              <a:rPr lang="en-US" sz="2800" dirty="0"/>
              <a:t>Framers chose </a:t>
            </a:r>
            <a:r>
              <a:rPr lang="en-US" sz="2800" dirty="0" err="1"/>
              <a:t>unitariness</a:t>
            </a:r>
            <a:r>
              <a:rPr lang="en-US" sz="2800" dirty="0"/>
              <a:t> in the presidency as essential to checking the legislature</a:t>
            </a:r>
          </a:p>
          <a:p>
            <a:r>
              <a:rPr lang="en-US" sz="2800" dirty="0"/>
              <a:t>Inferior officers were intended to function in subordination to the president</a:t>
            </a:r>
          </a:p>
          <a:p>
            <a:pPr lvl="1"/>
            <a:r>
              <a:rPr lang="en-US" sz="2400" dirty="0"/>
              <a:t>Inherent in “executive power” (18)</a:t>
            </a:r>
          </a:p>
          <a:p>
            <a:pPr lvl="1"/>
            <a:r>
              <a:rPr lang="en-US" sz="2400" dirty="0"/>
              <a:t>A necessary corollary of constitutional design</a:t>
            </a:r>
          </a:p>
          <a:p>
            <a:r>
              <a:rPr lang="en-US" sz="2800" dirty="0"/>
              <a:t>Reaffirmed in Decision of 1789</a:t>
            </a:r>
          </a:p>
          <a:p>
            <a:r>
              <a:rPr lang="en-US" sz="2800" dirty="0"/>
              <a:t>Actions of subsequent presidents affirmed this understanding</a:t>
            </a:r>
          </a:p>
        </p:txBody>
      </p:sp>
      <p:sp>
        <p:nvSpPr>
          <p:cNvPr id="4" name="Footer Placeholder 3">
            <a:extLst>
              <a:ext uri="{FF2B5EF4-FFF2-40B4-BE49-F238E27FC236}">
                <a16:creationId xmlns:a16="http://schemas.microsoft.com/office/drawing/2014/main" id="{F46AB025-D5E8-02CF-4338-BF4F693CA303}"/>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73FFACC-81D9-8B18-336A-3FA36B3FCDEF}"/>
              </a:ext>
            </a:extLst>
          </p:cNvPr>
          <p:cNvSpPr>
            <a:spLocks noGrp="1"/>
          </p:cNvSpPr>
          <p:nvPr>
            <p:ph type="sldNum" sz="quarter" idx="12"/>
          </p:nvPr>
        </p:nvSpPr>
        <p:spPr/>
        <p:txBody>
          <a:bodyPr/>
          <a:lstStyle/>
          <a:p>
            <a:fld id="{19243C18-CE1F-4D3B-ABA9-FEC66CF84D9A}" type="slidenum">
              <a:rPr lang="en-US" smtClean="0"/>
              <a:pPr/>
              <a:t>4</a:t>
            </a:fld>
            <a:endParaRPr lang="en-US"/>
          </a:p>
        </p:txBody>
      </p:sp>
    </p:spTree>
    <p:extLst>
      <p:ext uri="{BB962C8B-B14F-4D97-AF65-F5344CB8AC3E}">
        <p14:creationId xmlns:p14="http://schemas.microsoft.com/office/powerpoint/2010/main" val="4263958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2C69-0FCB-A876-43D7-CB3B94216575}"/>
              </a:ext>
            </a:extLst>
          </p:cNvPr>
          <p:cNvSpPr>
            <a:spLocks noGrp="1"/>
          </p:cNvSpPr>
          <p:nvPr>
            <p:ph type="title"/>
          </p:nvPr>
        </p:nvSpPr>
        <p:spPr/>
        <p:txBody>
          <a:bodyPr/>
          <a:lstStyle/>
          <a:p>
            <a:r>
              <a:rPr lang="en-US" sz="4000" dirty="0"/>
              <a:t>Structure of Roberts Argument (2)</a:t>
            </a:r>
          </a:p>
        </p:txBody>
      </p:sp>
      <p:sp>
        <p:nvSpPr>
          <p:cNvPr id="3" name="Content Placeholder 2">
            <a:extLst>
              <a:ext uri="{FF2B5EF4-FFF2-40B4-BE49-F238E27FC236}">
                <a16:creationId xmlns:a16="http://schemas.microsoft.com/office/drawing/2014/main" id="{51B8C05A-B140-E852-6FD5-FBCF2A1ADFEF}"/>
              </a:ext>
            </a:extLst>
          </p:cNvPr>
          <p:cNvSpPr>
            <a:spLocks noGrp="1"/>
          </p:cNvSpPr>
          <p:nvPr>
            <p:ph idx="1"/>
          </p:nvPr>
        </p:nvSpPr>
        <p:spPr/>
        <p:txBody>
          <a:bodyPr>
            <a:normAutofit fontScale="92500"/>
          </a:bodyPr>
          <a:lstStyle/>
          <a:p>
            <a:pPr>
              <a:spcBef>
                <a:spcPts val="0"/>
              </a:spcBef>
            </a:pPr>
            <a:r>
              <a:rPr lang="en-US" sz="2800" i="1" dirty="0"/>
              <a:t>Myers</a:t>
            </a:r>
            <a:r>
              <a:rPr lang="en-US" sz="2800" dirty="0"/>
              <a:t> affirmed presidential at-will removal power</a:t>
            </a:r>
          </a:p>
          <a:p>
            <a:pPr lvl="1">
              <a:spcBef>
                <a:spcPts val="0"/>
              </a:spcBef>
            </a:pPr>
            <a:r>
              <a:rPr lang="en-US" sz="2000" dirty="0"/>
              <a:t>Emphasizes novelty of the independent commission form</a:t>
            </a:r>
          </a:p>
          <a:p>
            <a:pPr>
              <a:spcBef>
                <a:spcPts val="0"/>
              </a:spcBef>
            </a:pPr>
            <a:r>
              <a:rPr lang="en-US" sz="2800" i="1" dirty="0"/>
              <a:t>Humphrey’s Executor</a:t>
            </a:r>
            <a:r>
              <a:rPr lang="en-US" sz="2800" dirty="0"/>
              <a:t> based on “fictional” view of the FTC</a:t>
            </a:r>
          </a:p>
          <a:p>
            <a:pPr lvl="1">
              <a:spcBef>
                <a:spcPts val="0"/>
              </a:spcBef>
            </a:pPr>
            <a:r>
              <a:rPr lang="en-US" sz="2000" dirty="0"/>
              <a:t>Quasi-categories not rooted in separation of powers</a:t>
            </a:r>
          </a:p>
          <a:p>
            <a:pPr lvl="1">
              <a:spcBef>
                <a:spcPts val="0"/>
              </a:spcBef>
            </a:pPr>
            <a:r>
              <a:rPr lang="en-US" sz="2000" dirty="0"/>
              <a:t>Rule was still POTUS must control executive power, and that’s what FTC wields</a:t>
            </a:r>
          </a:p>
          <a:p>
            <a:pPr>
              <a:spcBef>
                <a:spcPts val="0"/>
              </a:spcBef>
            </a:pPr>
            <a:r>
              <a:rPr lang="en-US" sz="2800" dirty="0"/>
              <a:t>Most important reliance interest = interests of American people in preservation of liberty</a:t>
            </a:r>
          </a:p>
          <a:p>
            <a:pPr>
              <a:spcBef>
                <a:spcPts val="0"/>
              </a:spcBef>
            </a:pPr>
            <a:r>
              <a:rPr lang="en-US" sz="2800" dirty="0"/>
              <a:t>Does not determine the constitutionality of Article I courts</a:t>
            </a:r>
          </a:p>
          <a:p>
            <a:pPr>
              <a:spcBef>
                <a:spcPts val="0"/>
              </a:spcBef>
            </a:pPr>
            <a:r>
              <a:rPr lang="en-US" sz="2800" dirty="0"/>
              <a:t>Rejects dissent’s historical arguments</a:t>
            </a:r>
          </a:p>
          <a:p>
            <a:pPr>
              <a:spcBef>
                <a:spcPts val="0"/>
              </a:spcBef>
            </a:pPr>
            <a:r>
              <a:rPr lang="en-US" sz="2800" dirty="0"/>
              <a:t>Rejects stare decisis</a:t>
            </a:r>
            <a:endParaRPr lang="en-US" dirty="0"/>
          </a:p>
          <a:p>
            <a:endParaRPr lang="en-US" sz="2400" dirty="0"/>
          </a:p>
        </p:txBody>
      </p:sp>
      <p:sp>
        <p:nvSpPr>
          <p:cNvPr id="4" name="Footer Placeholder 3">
            <a:extLst>
              <a:ext uri="{FF2B5EF4-FFF2-40B4-BE49-F238E27FC236}">
                <a16:creationId xmlns:a16="http://schemas.microsoft.com/office/drawing/2014/main" id="{F46AB025-D5E8-02CF-4338-BF4F693CA303}"/>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73FFACC-81D9-8B18-336A-3FA36B3FCDEF}"/>
              </a:ext>
            </a:extLst>
          </p:cNvPr>
          <p:cNvSpPr>
            <a:spLocks noGrp="1"/>
          </p:cNvSpPr>
          <p:nvPr>
            <p:ph type="sldNum" sz="quarter" idx="12"/>
          </p:nvPr>
        </p:nvSpPr>
        <p:spPr/>
        <p:txBody>
          <a:bodyPr/>
          <a:lstStyle/>
          <a:p>
            <a:fld id="{19243C18-CE1F-4D3B-ABA9-FEC66CF84D9A}" type="slidenum">
              <a:rPr lang="en-US" smtClean="0"/>
              <a:pPr/>
              <a:t>5</a:t>
            </a:fld>
            <a:endParaRPr lang="en-US" dirty="0"/>
          </a:p>
        </p:txBody>
      </p:sp>
    </p:spTree>
    <p:extLst>
      <p:ext uri="{BB962C8B-B14F-4D97-AF65-F5344CB8AC3E}">
        <p14:creationId xmlns:p14="http://schemas.microsoft.com/office/powerpoint/2010/main" val="116220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68FA-2191-C7EA-5D0C-1CC84E3AC53A}"/>
              </a:ext>
            </a:extLst>
          </p:cNvPr>
          <p:cNvSpPr>
            <a:spLocks noGrp="1"/>
          </p:cNvSpPr>
          <p:nvPr>
            <p:ph type="title"/>
          </p:nvPr>
        </p:nvSpPr>
        <p:spPr/>
        <p:txBody>
          <a:bodyPr/>
          <a:lstStyle/>
          <a:p>
            <a:r>
              <a:rPr lang="en-US" dirty="0"/>
              <a:t>Gorsuch Concurrence</a:t>
            </a:r>
          </a:p>
        </p:txBody>
      </p:sp>
      <p:sp>
        <p:nvSpPr>
          <p:cNvPr id="3" name="Content Placeholder 2">
            <a:extLst>
              <a:ext uri="{FF2B5EF4-FFF2-40B4-BE49-F238E27FC236}">
                <a16:creationId xmlns:a16="http://schemas.microsoft.com/office/drawing/2014/main" id="{D36198B8-0A88-E86B-528C-A0AFD050FB7B}"/>
              </a:ext>
            </a:extLst>
          </p:cNvPr>
          <p:cNvSpPr>
            <a:spLocks noGrp="1"/>
          </p:cNvSpPr>
          <p:nvPr>
            <p:ph idx="1"/>
          </p:nvPr>
        </p:nvSpPr>
        <p:spPr>
          <a:xfrm>
            <a:off x="457200" y="1417638"/>
            <a:ext cx="8229600" cy="4525963"/>
          </a:xfrm>
        </p:spPr>
        <p:txBody>
          <a:bodyPr/>
          <a:lstStyle/>
          <a:p>
            <a:r>
              <a:rPr lang="en-US" dirty="0"/>
              <a:t>Independent agencies exercise executive, legislative, and judicial powers</a:t>
            </a:r>
          </a:p>
          <a:p>
            <a:r>
              <a:rPr lang="en-US" i="1" dirty="0"/>
              <a:t>Slaughter </a:t>
            </a:r>
            <a:r>
              <a:rPr lang="en-US" dirty="0"/>
              <a:t>empowers the President to control the full breadth of their powers</a:t>
            </a:r>
          </a:p>
          <a:p>
            <a:r>
              <a:rPr lang="en-US" dirty="0"/>
              <a:t>Court has allowed agencies to operate with “hardly any statutory guidance”</a:t>
            </a:r>
          </a:p>
          <a:p>
            <a:r>
              <a:rPr lang="en-US" dirty="0"/>
              <a:t>Agrees with “chain of dependence” theory of administrative legitimacy</a:t>
            </a:r>
          </a:p>
        </p:txBody>
      </p:sp>
      <p:sp>
        <p:nvSpPr>
          <p:cNvPr id="4" name="Footer Placeholder 3">
            <a:extLst>
              <a:ext uri="{FF2B5EF4-FFF2-40B4-BE49-F238E27FC236}">
                <a16:creationId xmlns:a16="http://schemas.microsoft.com/office/drawing/2014/main" id="{BA495D82-7ACC-7A5F-8D67-A82E435C652E}"/>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2293F79D-F956-5CB3-5566-45828052C4E2}"/>
              </a:ext>
            </a:extLst>
          </p:cNvPr>
          <p:cNvSpPr>
            <a:spLocks noGrp="1"/>
          </p:cNvSpPr>
          <p:nvPr>
            <p:ph type="sldNum" sz="quarter" idx="12"/>
          </p:nvPr>
        </p:nvSpPr>
        <p:spPr/>
        <p:txBody>
          <a:bodyPr/>
          <a:lstStyle/>
          <a:p>
            <a:fld id="{19243C18-CE1F-4D3B-ABA9-FEC66CF84D9A}" type="slidenum">
              <a:rPr lang="en-US" smtClean="0"/>
              <a:pPr/>
              <a:t>6</a:t>
            </a:fld>
            <a:endParaRPr lang="en-US"/>
          </a:p>
        </p:txBody>
      </p:sp>
    </p:spTree>
    <p:extLst>
      <p:ext uri="{BB962C8B-B14F-4D97-AF65-F5344CB8AC3E}">
        <p14:creationId xmlns:p14="http://schemas.microsoft.com/office/powerpoint/2010/main" val="38963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68FA-2191-C7EA-5D0C-1CC84E3AC53A}"/>
              </a:ext>
            </a:extLst>
          </p:cNvPr>
          <p:cNvSpPr>
            <a:spLocks noGrp="1"/>
          </p:cNvSpPr>
          <p:nvPr>
            <p:ph type="title"/>
          </p:nvPr>
        </p:nvSpPr>
        <p:spPr/>
        <p:txBody>
          <a:bodyPr/>
          <a:lstStyle/>
          <a:p>
            <a:r>
              <a:rPr lang="en-US" dirty="0"/>
              <a:t>Gorsuch Concurrence (2)</a:t>
            </a:r>
          </a:p>
        </p:txBody>
      </p:sp>
      <p:sp>
        <p:nvSpPr>
          <p:cNvPr id="3" name="Content Placeholder 2">
            <a:extLst>
              <a:ext uri="{FF2B5EF4-FFF2-40B4-BE49-F238E27FC236}">
                <a16:creationId xmlns:a16="http://schemas.microsoft.com/office/drawing/2014/main" id="{D36198B8-0A88-E86B-528C-A0AFD050FB7B}"/>
              </a:ext>
            </a:extLst>
          </p:cNvPr>
          <p:cNvSpPr>
            <a:spLocks noGrp="1"/>
          </p:cNvSpPr>
          <p:nvPr>
            <p:ph idx="1"/>
          </p:nvPr>
        </p:nvSpPr>
        <p:spPr>
          <a:xfrm>
            <a:off x="457200" y="1417638"/>
            <a:ext cx="8229600" cy="4525963"/>
          </a:xfrm>
        </p:spPr>
        <p:txBody>
          <a:bodyPr/>
          <a:lstStyle/>
          <a:p>
            <a:pPr>
              <a:spcBef>
                <a:spcPts val="0"/>
              </a:spcBef>
            </a:pPr>
            <a:r>
              <a:rPr lang="en-US" sz="2800" dirty="0"/>
              <a:t>Presidential power may be more than sum of its parts</a:t>
            </a:r>
          </a:p>
          <a:p>
            <a:pPr>
              <a:spcBef>
                <a:spcPts val="0"/>
              </a:spcBef>
            </a:pPr>
            <a:r>
              <a:rPr lang="en-US" sz="2800" dirty="0"/>
              <a:t>Presidents may weaken the independence of the civil service: “[W]</a:t>
            </a:r>
            <a:r>
              <a:rPr lang="en-US" sz="2800" dirty="0" err="1"/>
              <a:t>hile</a:t>
            </a:r>
            <a:r>
              <a:rPr lang="en-US" sz="2800" dirty="0"/>
              <a:t> electoral accountability is a good thing, it cannot be the only thing.”</a:t>
            </a:r>
          </a:p>
          <a:p>
            <a:pPr lvl="1">
              <a:spcBef>
                <a:spcPts val="0"/>
              </a:spcBef>
            </a:pPr>
            <a:r>
              <a:rPr lang="en-US" dirty="0"/>
              <a:t>Suggested response: Firmer separation of powers</a:t>
            </a:r>
          </a:p>
          <a:p>
            <a:pPr lvl="1">
              <a:spcBef>
                <a:spcPts val="0"/>
              </a:spcBef>
            </a:pPr>
            <a:r>
              <a:rPr lang="en-US" dirty="0"/>
              <a:t>Court will have to take tougher stance because presidents will veto narrowing of their powers</a:t>
            </a:r>
            <a:endParaRPr lang="en-US" sz="3200" dirty="0"/>
          </a:p>
        </p:txBody>
      </p:sp>
      <p:sp>
        <p:nvSpPr>
          <p:cNvPr id="4" name="Footer Placeholder 3">
            <a:extLst>
              <a:ext uri="{FF2B5EF4-FFF2-40B4-BE49-F238E27FC236}">
                <a16:creationId xmlns:a16="http://schemas.microsoft.com/office/drawing/2014/main" id="{BA495D82-7ACC-7A5F-8D67-A82E435C652E}"/>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2293F79D-F956-5CB3-5566-45828052C4E2}"/>
              </a:ext>
            </a:extLst>
          </p:cNvPr>
          <p:cNvSpPr>
            <a:spLocks noGrp="1"/>
          </p:cNvSpPr>
          <p:nvPr>
            <p:ph type="sldNum" sz="quarter" idx="12"/>
          </p:nvPr>
        </p:nvSpPr>
        <p:spPr/>
        <p:txBody>
          <a:bodyPr/>
          <a:lstStyle/>
          <a:p>
            <a:fld id="{19243C18-CE1F-4D3B-ABA9-FEC66CF84D9A}" type="slidenum">
              <a:rPr lang="en-US" smtClean="0"/>
              <a:pPr/>
              <a:t>7</a:t>
            </a:fld>
            <a:endParaRPr lang="en-US"/>
          </a:p>
        </p:txBody>
      </p:sp>
    </p:spTree>
    <p:extLst>
      <p:ext uri="{BB962C8B-B14F-4D97-AF65-F5344CB8AC3E}">
        <p14:creationId xmlns:p14="http://schemas.microsoft.com/office/powerpoint/2010/main" val="3893822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4DD0A-9E74-FA30-4785-BC32681BA7E5}"/>
              </a:ext>
            </a:extLst>
          </p:cNvPr>
          <p:cNvSpPr>
            <a:spLocks noGrp="1"/>
          </p:cNvSpPr>
          <p:nvPr>
            <p:ph type="title"/>
          </p:nvPr>
        </p:nvSpPr>
        <p:spPr/>
        <p:txBody>
          <a:bodyPr/>
          <a:lstStyle/>
          <a:p>
            <a:r>
              <a:rPr lang="en-US" dirty="0"/>
              <a:t>Sotomayor Dissent</a:t>
            </a:r>
          </a:p>
        </p:txBody>
      </p:sp>
      <p:sp>
        <p:nvSpPr>
          <p:cNvPr id="3" name="Content Placeholder 2">
            <a:extLst>
              <a:ext uri="{FF2B5EF4-FFF2-40B4-BE49-F238E27FC236}">
                <a16:creationId xmlns:a16="http://schemas.microsoft.com/office/drawing/2014/main" id="{2232593E-46D3-887D-D315-379664458A1F}"/>
              </a:ext>
            </a:extLst>
          </p:cNvPr>
          <p:cNvSpPr>
            <a:spLocks noGrp="1"/>
          </p:cNvSpPr>
          <p:nvPr>
            <p:ph idx="1"/>
          </p:nvPr>
        </p:nvSpPr>
        <p:spPr/>
        <p:txBody>
          <a:bodyPr/>
          <a:lstStyle/>
          <a:p>
            <a:r>
              <a:rPr lang="en-US" sz="2400" dirty="0"/>
              <a:t>Congress has for centuries insisted on “independence” of some agencies, e.g., Revolutionary War Debt Commission</a:t>
            </a:r>
          </a:p>
          <a:p>
            <a:pPr lvl="1"/>
            <a:r>
              <a:rPr lang="en-US" sz="2000" dirty="0"/>
              <a:t>First and Second Banks of the United States</a:t>
            </a:r>
          </a:p>
          <a:p>
            <a:pPr lvl="1"/>
            <a:r>
              <a:rPr lang="en-US" sz="2000" dirty="0"/>
              <a:t>Comptroller of the Currency</a:t>
            </a:r>
          </a:p>
          <a:p>
            <a:pPr lvl="1"/>
            <a:r>
              <a:rPr lang="en-US" sz="2000" dirty="0"/>
              <a:t>Tenure of Office Act</a:t>
            </a:r>
          </a:p>
          <a:p>
            <a:pPr lvl="1"/>
            <a:r>
              <a:rPr lang="en-US" sz="2000" dirty="0"/>
              <a:t>ICC, FTC, Federal Reserve</a:t>
            </a:r>
          </a:p>
          <a:p>
            <a:r>
              <a:rPr lang="en-US" sz="2400" i="1" dirty="0"/>
              <a:t>Humphrey’s Executor </a:t>
            </a:r>
            <a:r>
              <a:rPr lang="en-US" sz="2400" dirty="0"/>
              <a:t>stable for 90 years, rested on strong precedent</a:t>
            </a:r>
          </a:p>
          <a:p>
            <a:pPr lvl="1"/>
            <a:r>
              <a:rPr lang="en-US" sz="2000" dirty="0"/>
              <a:t>Reaffirmed in </a:t>
            </a:r>
            <a:r>
              <a:rPr lang="en-US" sz="2000" i="1" dirty="0"/>
              <a:t>Wiener</a:t>
            </a:r>
            <a:r>
              <a:rPr lang="en-US" sz="2000" dirty="0"/>
              <a:t> and </a:t>
            </a:r>
            <a:r>
              <a:rPr lang="en-US" sz="2000" i="1" dirty="0"/>
              <a:t>Morrison v. Olson</a:t>
            </a:r>
          </a:p>
          <a:p>
            <a:pPr lvl="1"/>
            <a:r>
              <a:rPr lang="en-US" sz="2000" dirty="0"/>
              <a:t>Implicitly upheld in </a:t>
            </a:r>
            <a:r>
              <a:rPr lang="en-US" sz="2000" i="1" dirty="0"/>
              <a:t>Seila Law</a:t>
            </a:r>
          </a:p>
        </p:txBody>
      </p:sp>
      <p:sp>
        <p:nvSpPr>
          <p:cNvPr id="4" name="Footer Placeholder 3">
            <a:extLst>
              <a:ext uri="{FF2B5EF4-FFF2-40B4-BE49-F238E27FC236}">
                <a16:creationId xmlns:a16="http://schemas.microsoft.com/office/drawing/2014/main" id="{07EB709B-6067-2D27-4B6A-4A2EC7460591}"/>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2713287-82A2-0C0D-4F86-7B1A19A77BBC}"/>
              </a:ext>
            </a:extLst>
          </p:cNvPr>
          <p:cNvSpPr>
            <a:spLocks noGrp="1"/>
          </p:cNvSpPr>
          <p:nvPr>
            <p:ph type="sldNum" sz="quarter" idx="12"/>
          </p:nvPr>
        </p:nvSpPr>
        <p:spPr/>
        <p:txBody>
          <a:bodyPr/>
          <a:lstStyle/>
          <a:p>
            <a:fld id="{19243C18-CE1F-4D3B-ABA9-FEC66CF84D9A}" type="slidenum">
              <a:rPr lang="en-US" smtClean="0"/>
              <a:pPr/>
              <a:t>8</a:t>
            </a:fld>
            <a:endParaRPr lang="en-US"/>
          </a:p>
        </p:txBody>
      </p:sp>
    </p:spTree>
    <p:extLst>
      <p:ext uri="{BB962C8B-B14F-4D97-AF65-F5344CB8AC3E}">
        <p14:creationId xmlns:p14="http://schemas.microsoft.com/office/powerpoint/2010/main" val="2404429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B85DA-456B-67B3-EBA6-232356CED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FA021-F3CF-90DB-C3E3-E906798B6A76}"/>
              </a:ext>
            </a:extLst>
          </p:cNvPr>
          <p:cNvSpPr>
            <a:spLocks noGrp="1"/>
          </p:cNvSpPr>
          <p:nvPr>
            <p:ph type="title"/>
          </p:nvPr>
        </p:nvSpPr>
        <p:spPr/>
        <p:txBody>
          <a:bodyPr/>
          <a:lstStyle/>
          <a:p>
            <a:r>
              <a:rPr lang="en-US" dirty="0"/>
              <a:t>Sotomayor Dissent - 2</a:t>
            </a:r>
          </a:p>
        </p:txBody>
      </p:sp>
      <p:sp>
        <p:nvSpPr>
          <p:cNvPr id="3" name="Content Placeholder 2">
            <a:extLst>
              <a:ext uri="{FF2B5EF4-FFF2-40B4-BE49-F238E27FC236}">
                <a16:creationId xmlns:a16="http://schemas.microsoft.com/office/drawing/2014/main" id="{F99D3AEE-2ED8-0A8E-6BE3-009475FFA699}"/>
              </a:ext>
            </a:extLst>
          </p:cNvPr>
          <p:cNvSpPr>
            <a:spLocks noGrp="1"/>
          </p:cNvSpPr>
          <p:nvPr>
            <p:ph idx="1"/>
          </p:nvPr>
        </p:nvSpPr>
        <p:spPr/>
        <p:txBody>
          <a:bodyPr/>
          <a:lstStyle/>
          <a:p>
            <a:r>
              <a:rPr lang="en-US" dirty="0"/>
              <a:t>Court overstepping its role</a:t>
            </a:r>
          </a:p>
          <a:p>
            <a:r>
              <a:rPr lang="en-US" dirty="0"/>
              <a:t>Independent agencies created with presidential approval since Lincoln</a:t>
            </a:r>
          </a:p>
          <a:p>
            <a:r>
              <a:rPr lang="en-US" dirty="0"/>
              <a:t>Removability not mentioned in text or even discussed in convention</a:t>
            </a:r>
          </a:p>
          <a:p>
            <a:r>
              <a:rPr lang="en-US" dirty="0"/>
              <a:t>Decision of 1789 remained controversial among leading legal thinkers of 19</a:t>
            </a:r>
            <a:r>
              <a:rPr lang="en-US" baseline="30000" dirty="0"/>
              <a:t>th</a:t>
            </a:r>
            <a:r>
              <a:rPr lang="en-US" dirty="0"/>
              <a:t> C., including Story, Daniel Webster</a:t>
            </a:r>
          </a:p>
          <a:p>
            <a:pPr marL="0" indent="0">
              <a:buNone/>
            </a:pPr>
            <a:endParaRPr lang="en-US" dirty="0"/>
          </a:p>
        </p:txBody>
      </p:sp>
      <p:sp>
        <p:nvSpPr>
          <p:cNvPr id="4" name="Footer Placeholder 3">
            <a:extLst>
              <a:ext uri="{FF2B5EF4-FFF2-40B4-BE49-F238E27FC236}">
                <a16:creationId xmlns:a16="http://schemas.microsoft.com/office/drawing/2014/main" id="{33BC5A88-A265-5240-E577-910A15AD94EC}"/>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45FCD96F-1864-F511-D18E-640D8004EB33}"/>
              </a:ext>
            </a:extLst>
          </p:cNvPr>
          <p:cNvSpPr>
            <a:spLocks noGrp="1"/>
          </p:cNvSpPr>
          <p:nvPr>
            <p:ph type="sldNum" sz="quarter" idx="12"/>
          </p:nvPr>
        </p:nvSpPr>
        <p:spPr/>
        <p:txBody>
          <a:bodyPr/>
          <a:lstStyle/>
          <a:p>
            <a:fld id="{19243C18-CE1F-4D3B-ABA9-FEC66CF84D9A}" type="slidenum">
              <a:rPr lang="en-US" smtClean="0"/>
              <a:pPr/>
              <a:t>9</a:t>
            </a:fld>
            <a:endParaRPr lang="en-US"/>
          </a:p>
        </p:txBody>
      </p:sp>
    </p:spTree>
    <p:extLst>
      <p:ext uri="{BB962C8B-B14F-4D97-AF65-F5344CB8AC3E}">
        <p14:creationId xmlns:p14="http://schemas.microsoft.com/office/powerpoint/2010/main" val="2330970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31DB5-4071-4DEC-7CC6-863899129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D59A6-1B96-7D0C-2D5E-6596DBA9A6AB}"/>
              </a:ext>
            </a:extLst>
          </p:cNvPr>
          <p:cNvSpPr>
            <a:spLocks noGrp="1"/>
          </p:cNvSpPr>
          <p:nvPr>
            <p:ph type="title"/>
          </p:nvPr>
        </p:nvSpPr>
        <p:spPr/>
        <p:txBody>
          <a:bodyPr/>
          <a:lstStyle/>
          <a:p>
            <a:r>
              <a:rPr lang="en-US" dirty="0"/>
              <a:t>Sotomayor Dissent - 3</a:t>
            </a:r>
          </a:p>
        </p:txBody>
      </p:sp>
      <p:sp>
        <p:nvSpPr>
          <p:cNvPr id="3" name="Content Placeholder 2">
            <a:extLst>
              <a:ext uri="{FF2B5EF4-FFF2-40B4-BE49-F238E27FC236}">
                <a16:creationId xmlns:a16="http://schemas.microsoft.com/office/drawing/2014/main" id="{9E5D118D-9B00-466C-B7B0-13D91520A5E9}"/>
              </a:ext>
            </a:extLst>
          </p:cNvPr>
          <p:cNvSpPr>
            <a:spLocks noGrp="1"/>
          </p:cNvSpPr>
          <p:nvPr>
            <p:ph idx="1"/>
          </p:nvPr>
        </p:nvSpPr>
        <p:spPr/>
        <p:txBody>
          <a:bodyPr/>
          <a:lstStyle/>
          <a:p>
            <a:pPr>
              <a:spcBef>
                <a:spcPts val="600"/>
              </a:spcBef>
            </a:pPr>
            <a:r>
              <a:rPr lang="en-US" sz="2800" dirty="0"/>
              <a:t>Independent agencies already subject to significant presidential influence, but offer some protection against exercise of arbitrary power</a:t>
            </a:r>
          </a:p>
          <a:p>
            <a:pPr>
              <a:spcBef>
                <a:spcPts val="600"/>
              </a:spcBef>
            </a:pPr>
            <a:r>
              <a:rPr lang="en-US" sz="2800" dirty="0"/>
              <a:t>Congress relied on </a:t>
            </a:r>
            <a:r>
              <a:rPr lang="en-US" sz="2800" i="1" dirty="0"/>
              <a:t>Humphrey’s</a:t>
            </a:r>
            <a:r>
              <a:rPr lang="en-US" sz="2800" dirty="0"/>
              <a:t> in creating many agencies—Court’s trivialization of congressional reliance unjustified</a:t>
            </a:r>
          </a:p>
          <a:p>
            <a:pPr>
              <a:spcBef>
                <a:spcPts val="600"/>
              </a:spcBef>
            </a:pPr>
            <a:r>
              <a:rPr lang="en-US" sz="2800" i="1" dirty="0"/>
              <a:t>Humphrey’s </a:t>
            </a:r>
            <a:r>
              <a:rPr lang="en-US" sz="2800" dirty="0"/>
              <a:t>rule easy to apply before Roberts Court started attacking it</a:t>
            </a:r>
          </a:p>
          <a:p>
            <a:pPr lvl="1">
              <a:spcBef>
                <a:spcPts val="600"/>
              </a:spcBef>
            </a:pPr>
            <a:r>
              <a:rPr lang="en-US" dirty="0"/>
              <a:t>Nothing puzzling about “quasi” categories</a:t>
            </a:r>
            <a:endParaRPr lang="en-US" sz="3200" dirty="0"/>
          </a:p>
        </p:txBody>
      </p:sp>
      <p:sp>
        <p:nvSpPr>
          <p:cNvPr id="4" name="Footer Placeholder 3">
            <a:extLst>
              <a:ext uri="{FF2B5EF4-FFF2-40B4-BE49-F238E27FC236}">
                <a16:creationId xmlns:a16="http://schemas.microsoft.com/office/drawing/2014/main" id="{CF538582-A1FE-FC12-42F8-7C1FCB5E37E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DAC834CB-90D5-AB18-C484-0B026CCC6758}"/>
              </a:ext>
            </a:extLst>
          </p:cNvPr>
          <p:cNvSpPr>
            <a:spLocks noGrp="1"/>
          </p:cNvSpPr>
          <p:nvPr>
            <p:ph type="sldNum" sz="quarter" idx="12"/>
          </p:nvPr>
        </p:nvSpPr>
        <p:spPr/>
        <p:txBody>
          <a:bodyPr/>
          <a:lstStyle/>
          <a:p>
            <a:fld id="{19243C18-CE1F-4D3B-ABA9-FEC66CF84D9A}" type="slidenum">
              <a:rPr lang="en-US" smtClean="0"/>
              <a:pPr/>
              <a:t>10</a:t>
            </a:fld>
            <a:endParaRPr lang="en-US"/>
          </a:p>
        </p:txBody>
      </p:sp>
    </p:spTree>
    <p:extLst>
      <p:ext uri="{BB962C8B-B14F-4D97-AF65-F5344CB8AC3E}">
        <p14:creationId xmlns:p14="http://schemas.microsoft.com/office/powerpoint/2010/main" val="316452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F6BA-FB4B-485C-D6F0-8B1CD80EB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1B4C4-CE1C-58A8-8410-AD6158121DF4}"/>
              </a:ext>
            </a:extLst>
          </p:cNvPr>
          <p:cNvSpPr>
            <a:spLocks noGrp="1"/>
          </p:cNvSpPr>
          <p:nvPr>
            <p:ph type="title"/>
          </p:nvPr>
        </p:nvSpPr>
        <p:spPr/>
        <p:txBody>
          <a:bodyPr/>
          <a:lstStyle/>
          <a:p>
            <a:r>
              <a:rPr lang="en-US" dirty="0"/>
              <a:t>Anti-Removability Originalists</a:t>
            </a:r>
          </a:p>
        </p:txBody>
      </p:sp>
      <p:sp>
        <p:nvSpPr>
          <p:cNvPr id="3" name="Content Placeholder 2">
            <a:extLst>
              <a:ext uri="{FF2B5EF4-FFF2-40B4-BE49-F238E27FC236}">
                <a16:creationId xmlns:a16="http://schemas.microsoft.com/office/drawing/2014/main" id="{48A9ED21-1E7B-09A8-FEE5-C37B9BB54219}"/>
              </a:ext>
            </a:extLst>
          </p:cNvPr>
          <p:cNvSpPr>
            <a:spLocks noGrp="1"/>
          </p:cNvSpPr>
          <p:nvPr>
            <p:ph idx="1"/>
          </p:nvPr>
        </p:nvSpPr>
        <p:spPr/>
        <p:txBody>
          <a:bodyPr/>
          <a:lstStyle/>
          <a:p>
            <a:pPr>
              <a:spcBef>
                <a:spcPts val="600"/>
              </a:spcBef>
            </a:pPr>
            <a:r>
              <a:rPr lang="en-US" dirty="0"/>
              <a:t>Julian Mortenson: Article II “executive power” did not include removal power; royal prerogative powers not intended to be covered</a:t>
            </a:r>
          </a:p>
          <a:p>
            <a:pPr>
              <a:spcBef>
                <a:spcPts val="600"/>
              </a:spcBef>
            </a:pPr>
            <a:r>
              <a:rPr lang="en-US" dirty="0"/>
              <a:t>Matthew Steilen, Christine Chabot: Crown powers not intended to be model for presidency</a:t>
            </a:r>
          </a:p>
          <a:p>
            <a:pPr>
              <a:spcBef>
                <a:spcPts val="600"/>
              </a:spcBef>
            </a:pPr>
            <a:r>
              <a:rPr lang="en-US" dirty="0"/>
              <a:t>Jed Shugerman: Decision of 1789 inconclusive</a:t>
            </a:r>
          </a:p>
        </p:txBody>
      </p:sp>
      <p:sp>
        <p:nvSpPr>
          <p:cNvPr id="4" name="Footer Placeholder 3">
            <a:extLst>
              <a:ext uri="{FF2B5EF4-FFF2-40B4-BE49-F238E27FC236}">
                <a16:creationId xmlns:a16="http://schemas.microsoft.com/office/drawing/2014/main" id="{B1157714-BACC-9D26-AFAD-CAFF41F1A8CF}"/>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1A4F6CD-608C-CF3B-B71C-4E941B6BB56B}"/>
              </a:ext>
            </a:extLst>
          </p:cNvPr>
          <p:cNvSpPr>
            <a:spLocks noGrp="1"/>
          </p:cNvSpPr>
          <p:nvPr>
            <p:ph type="sldNum" sz="quarter" idx="12"/>
          </p:nvPr>
        </p:nvSpPr>
        <p:spPr/>
        <p:txBody>
          <a:bodyPr/>
          <a:lstStyle/>
          <a:p>
            <a:fld id="{19243C18-CE1F-4D3B-ABA9-FEC66CF84D9A}" type="slidenum">
              <a:rPr lang="en-US" smtClean="0"/>
              <a:pPr/>
              <a:t>11</a:t>
            </a:fld>
            <a:endParaRPr lang="en-US"/>
          </a:p>
        </p:txBody>
      </p:sp>
    </p:spTree>
    <p:extLst>
      <p:ext uri="{BB962C8B-B14F-4D97-AF65-F5344CB8AC3E}">
        <p14:creationId xmlns:p14="http://schemas.microsoft.com/office/powerpoint/2010/main" val="261208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FBBFD-3191-573C-2DA8-8E901213C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A2113-0550-F5D4-618A-47F9EA639FF8}"/>
              </a:ext>
            </a:extLst>
          </p:cNvPr>
          <p:cNvSpPr>
            <a:spLocks noGrp="1"/>
          </p:cNvSpPr>
          <p:nvPr>
            <p:ph type="title"/>
          </p:nvPr>
        </p:nvSpPr>
        <p:spPr/>
        <p:txBody>
          <a:bodyPr/>
          <a:lstStyle/>
          <a:p>
            <a:r>
              <a:rPr lang="en-US" sz="4000" dirty="0"/>
              <a:t>Anti-Removability Originalists - 2</a:t>
            </a:r>
          </a:p>
        </p:txBody>
      </p:sp>
      <p:sp>
        <p:nvSpPr>
          <p:cNvPr id="3" name="Content Placeholder 2">
            <a:extLst>
              <a:ext uri="{FF2B5EF4-FFF2-40B4-BE49-F238E27FC236}">
                <a16:creationId xmlns:a16="http://schemas.microsoft.com/office/drawing/2014/main" id="{BDA89B32-B50C-8CDE-A455-F8A4688CA5C0}"/>
              </a:ext>
            </a:extLst>
          </p:cNvPr>
          <p:cNvSpPr>
            <a:spLocks noGrp="1"/>
          </p:cNvSpPr>
          <p:nvPr>
            <p:ph idx="1"/>
          </p:nvPr>
        </p:nvSpPr>
        <p:spPr/>
        <p:txBody>
          <a:bodyPr/>
          <a:lstStyle/>
          <a:p>
            <a:r>
              <a:rPr lang="en-US" dirty="0"/>
              <a:t>Jed Shugerman:</a:t>
            </a:r>
          </a:p>
          <a:p>
            <a:pPr lvl="1"/>
            <a:r>
              <a:rPr lang="en-US" dirty="0"/>
              <a:t>“Take Care” Clause not a grant of power</a:t>
            </a:r>
          </a:p>
          <a:p>
            <a:pPr lvl="1"/>
            <a:r>
              <a:rPr lang="en-US" dirty="0"/>
              <a:t>“Vesting” does not imply indefeasibility</a:t>
            </a:r>
          </a:p>
          <a:p>
            <a:r>
              <a:rPr lang="en-US" dirty="0"/>
              <a:t>Nathaniel Donahue and Noah Rosenblum: “quasi-judicial” and “quasi-legislative” = categories of power long recognized historically</a:t>
            </a:r>
          </a:p>
          <a:p>
            <a:pPr lvl="1"/>
            <a:endParaRPr lang="en-US" dirty="0"/>
          </a:p>
        </p:txBody>
      </p:sp>
      <p:sp>
        <p:nvSpPr>
          <p:cNvPr id="4" name="Footer Placeholder 3">
            <a:extLst>
              <a:ext uri="{FF2B5EF4-FFF2-40B4-BE49-F238E27FC236}">
                <a16:creationId xmlns:a16="http://schemas.microsoft.com/office/drawing/2014/main" id="{B163A6E1-54F7-389E-CE0E-EA748112375F}"/>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0550FDE0-E572-21D6-4FEF-772689CD02AE}"/>
              </a:ext>
            </a:extLst>
          </p:cNvPr>
          <p:cNvSpPr>
            <a:spLocks noGrp="1"/>
          </p:cNvSpPr>
          <p:nvPr>
            <p:ph type="sldNum" sz="quarter" idx="12"/>
          </p:nvPr>
        </p:nvSpPr>
        <p:spPr/>
        <p:txBody>
          <a:bodyPr/>
          <a:lstStyle/>
          <a:p>
            <a:fld id="{19243C18-CE1F-4D3B-ABA9-FEC66CF84D9A}" type="slidenum">
              <a:rPr lang="en-US" smtClean="0"/>
              <a:pPr/>
              <a:t>12</a:t>
            </a:fld>
            <a:endParaRPr lang="en-US"/>
          </a:p>
        </p:txBody>
      </p:sp>
    </p:spTree>
    <p:extLst>
      <p:ext uri="{BB962C8B-B14F-4D97-AF65-F5344CB8AC3E}">
        <p14:creationId xmlns:p14="http://schemas.microsoft.com/office/powerpoint/2010/main" val="136254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4A8F0-6C3A-F15F-030D-E262569E6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E8A76-6D19-B0A6-DF6C-DBC441FDA1EC}"/>
              </a:ext>
            </a:extLst>
          </p:cNvPr>
          <p:cNvSpPr>
            <a:spLocks noGrp="1"/>
          </p:cNvSpPr>
          <p:nvPr>
            <p:ph type="title"/>
          </p:nvPr>
        </p:nvSpPr>
        <p:spPr/>
        <p:txBody>
          <a:bodyPr/>
          <a:lstStyle/>
          <a:p>
            <a:r>
              <a:rPr lang="en-US" sz="4000" dirty="0"/>
              <a:t>Anti-Removability Originalists - 3</a:t>
            </a:r>
          </a:p>
        </p:txBody>
      </p:sp>
      <p:sp>
        <p:nvSpPr>
          <p:cNvPr id="3" name="Content Placeholder 2">
            <a:extLst>
              <a:ext uri="{FF2B5EF4-FFF2-40B4-BE49-F238E27FC236}">
                <a16:creationId xmlns:a16="http://schemas.microsoft.com/office/drawing/2014/main" id="{9011AC6E-2A36-8680-375F-1EDADE57DB3E}"/>
              </a:ext>
            </a:extLst>
          </p:cNvPr>
          <p:cNvSpPr>
            <a:spLocks noGrp="1"/>
          </p:cNvSpPr>
          <p:nvPr>
            <p:ph idx="1"/>
          </p:nvPr>
        </p:nvSpPr>
        <p:spPr/>
        <p:txBody>
          <a:bodyPr/>
          <a:lstStyle/>
          <a:p>
            <a:r>
              <a:rPr lang="en-US" sz="2800" dirty="0"/>
              <a:t>Caleb Nelson</a:t>
            </a:r>
          </a:p>
          <a:p>
            <a:pPr lvl="1"/>
            <a:r>
              <a:rPr lang="en-US" sz="2400" dirty="0"/>
              <a:t>When officers are duly appointed pursuant to the Appointments Clause, the Constitution requires the President to “Commission” them—which, in the case of executive officers, entails either conferring executive power on them or attesting to the executive power that their appointments confer. </a:t>
            </a:r>
          </a:p>
          <a:p>
            <a:pPr lvl="1"/>
            <a:r>
              <a:rPr lang="en-US" sz="2400" dirty="0"/>
              <a:t>As one member of Congress argued in 1789, we should not gravitate toward interpretations of the Constitution that “</a:t>
            </a:r>
            <a:r>
              <a:rPr lang="en-US" sz="2400" dirty="0" err="1"/>
              <a:t>legaliz</a:t>
            </a:r>
            <a:r>
              <a:rPr lang="en-US" sz="2400" dirty="0"/>
              <a:t>[e] the full exertion of a tyrannical disposition.”</a:t>
            </a:r>
          </a:p>
          <a:p>
            <a:pPr lvl="1"/>
            <a:endParaRPr lang="en-US" dirty="0"/>
          </a:p>
        </p:txBody>
      </p:sp>
      <p:sp>
        <p:nvSpPr>
          <p:cNvPr id="4" name="Footer Placeholder 3">
            <a:extLst>
              <a:ext uri="{FF2B5EF4-FFF2-40B4-BE49-F238E27FC236}">
                <a16:creationId xmlns:a16="http://schemas.microsoft.com/office/drawing/2014/main" id="{5EFD4F7A-8253-62B2-9080-4F95D1298DBF}"/>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03DB47DD-8F4B-365E-2C7B-071047E66EA4}"/>
              </a:ext>
            </a:extLst>
          </p:cNvPr>
          <p:cNvSpPr>
            <a:spLocks noGrp="1"/>
          </p:cNvSpPr>
          <p:nvPr>
            <p:ph type="sldNum" sz="quarter" idx="12"/>
          </p:nvPr>
        </p:nvSpPr>
        <p:spPr/>
        <p:txBody>
          <a:bodyPr/>
          <a:lstStyle/>
          <a:p>
            <a:fld id="{19243C18-CE1F-4D3B-ABA9-FEC66CF84D9A}" type="slidenum">
              <a:rPr lang="en-US" smtClean="0"/>
              <a:pPr/>
              <a:t>13</a:t>
            </a:fld>
            <a:endParaRPr lang="en-US" dirty="0"/>
          </a:p>
        </p:txBody>
      </p:sp>
    </p:spTree>
    <p:extLst>
      <p:ext uri="{BB962C8B-B14F-4D97-AF65-F5344CB8AC3E}">
        <p14:creationId xmlns:p14="http://schemas.microsoft.com/office/powerpoint/2010/main" val="2820184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C3E1A-3161-1946-D2B8-681DFA77BCBC}"/>
              </a:ext>
            </a:extLst>
          </p:cNvPr>
          <p:cNvSpPr>
            <a:spLocks noGrp="1"/>
          </p:cNvSpPr>
          <p:nvPr>
            <p:ph type="title"/>
          </p:nvPr>
        </p:nvSpPr>
        <p:spPr/>
        <p:txBody>
          <a:bodyPr>
            <a:normAutofit fontScale="90000"/>
          </a:bodyPr>
          <a:lstStyle/>
          <a:p>
            <a:r>
              <a:rPr lang="en-US" sz="4000" dirty="0"/>
              <a:t>History and </a:t>
            </a:r>
            <a:br>
              <a:rPr lang="en-US" sz="4000" dirty="0"/>
            </a:br>
            <a:r>
              <a:rPr lang="en-US" sz="4000" dirty="0"/>
              <a:t>Separation of Powers Adjudication</a:t>
            </a:r>
            <a:endParaRPr lang="en-US" dirty="0"/>
          </a:p>
        </p:txBody>
      </p:sp>
      <p:sp>
        <p:nvSpPr>
          <p:cNvPr id="3" name="Content Placeholder 2">
            <a:extLst>
              <a:ext uri="{FF2B5EF4-FFF2-40B4-BE49-F238E27FC236}">
                <a16:creationId xmlns:a16="http://schemas.microsoft.com/office/drawing/2014/main" id="{CBABCCE3-6D02-7755-82AD-074BB2F27FCF}"/>
              </a:ext>
            </a:extLst>
          </p:cNvPr>
          <p:cNvSpPr>
            <a:spLocks noGrp="1"/>
          </p:cNvSpPr>
          <p:nvPr>
            <p:ph idx="1"/>
          </p:nvPr>
        </p:nvSpPr>
        <p:spPr/>
        <p:txBody>
          <a:bodyPr/>
          <a:lstStyle/>
          <a:p>
            <a:r>
              <a:rPr lang="en-US" dirty="0"/>
              <a:t>Was SCOTUS overconfident in its history (and what if this is a chronic problem with historical interpretation)?</a:t>
            </a:r>
          </a:p>
          <a:p>
            <a:r>
              <a:rPr lang="en-US" dirty="0"/>
              <a:t>When, if ever, should Court treat contests over scope of executive power as political questions?</a:t>
            </a:r>
          </a:p>
        </p:txBody>
      </p:sp>
      <p:sp>
        <p:nvSpPr>
          <p:cNvPr id="4" name="Footer Placeholder 3">
            <a:extLst>
              <a:ext uri="{FF2B5EF4-FFF2-40B4-BE49-F238E27FC236}">
                <a16:creationId xmlns:a16="http://schemas.microsoft.com/office/drawing/2014/main" id="{786FC892-57AD-2E07-4F18-BD516EA071F3}"/>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A9797006-9733-A6AC-9871-36C4286DC8C6}"/>
              </a:ext>
            </a:extLst>
          </p:cNvPr>
          <p:cNvSpPr>
            <a:spLocks noGrp="1"/>
          </p:cNvSpPr>
          <p:nvPr>
            <p:ph type="sldNum" sz="quarter" idx="12"/>
          </p:nvPr>
        </p:nvSpPr>
        <p:spPr/>
        <p:txBody>
          <a:bodyPr/>
          <a:lstStyle/>
          <a:p>
            <a:fld id="{19243C18-CE1F-4D3B-ABA9-FEC66CF84D9A}" type="slidenum">
              <a:rPr lang="en-US" smtClean="0"/>
              <a:pPr/>
              <a:t>14</a:t>
            </a:fld>
            <a:endParaRPr lang="en-US"/>
          </a:p>
        </p:txBody>
      </p:sp>
    </p:spTree>
    <p:extLst>
      <p:ext uri="{BB962C8B-B14F-4D97-AF65-F5344CB8AC3E}">
        <p14:creationId xmlns:p14="http://schemas.microsoft.com/office/powerpoint/2010/main" val="3442601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475B-1AE1-4195-7AAE-A79078117F13}"/>
              </a:ext>
            </a:extLst>
          </p:cNvPr>
          <p:cNvSpPr>
            <a:spLocks noGrp="1"/>
          </p:cNvSpPr>
          <p:nvPr>
            <p:ph type="title"/>
          </p:nvPr>
        </p:nvSpPr>
        <p:spPr/>
        <p:txBody>
          <a:bodyPr>
            <a:normAutofit fontScale="90000"/>
          </a:bodyPr>
          <a:lstStyle/>
          <a:p>
            <a:r>
              <a:rPr lang="en-US" sz="4000" dirty="0"/>
              <a:t>Future of the Fed:</a:t>
            </a:r>
            <a:br>
              <a:rPr lang="en-US" sz="4000" dirty="0"/>
            </a:br>
            <a:r>
              <a:rPr lang="en-US" sz="4000" i="1" dirty="0"/>
              <a:t>Trump v. Cook</a:t>
            </a:r>
          </a:p>
        </p:txBody>
      </p:sp>
      <p:sp>
        <p:nvSpPr>
          <p:cNvPr id="3" name="Content Placeholder 2">
            <a:extLst>
              <a:ext uri="{FF2B5EF4-FFF2-40B4-BE49-F238E27FC236}">
                <a16:creationId xmlns:a16="http://schemas.microsoft.com/office/drawing/2014/main" id="{50FF7F7D-112C-8962-2E20-9BF84FCC08D5}"/>
              </a:ext>
            </a:extLst>
          </p:cNvPr>
          <p:cNvSpPr>
            <a:spLocks noGrp="1"/>
          </p:cNvSpPr>
          <p:nvPr>
            <p:ph idx="1"/>
          </p:nvPr>
        </p:nvSpPr>
        <p:spPr/>
        <p:txBody>
          <a:bodyPr/>
          <a:lstStyle/>
          <a:p>
            <a:pPr>
              <a:spcBef>
                <a:spcPts val="0"/>
              </a:spcBef>
            </a:pPr>
            <a:r>
              <a:rPr lang="en-US" i="1" dirty="0"/>
              <a:t>Wilcox</a:t>
            </a:r>
            <a:r>
              <a:rPr lang="en-US" dirty="0"/>
              <a:t> hinted Court wouldn’t back at-will removal for Fed Board of Governors</a:t>
            </a:r>
          </a:p>
          <a:p>
            <a:pPr>
              <a:spcBef>
                <a:spcPts val="0"/>
              </a:spcBef>
            </a:pPr>
            <a:r>
              <a:rPr lang="en-US" dirty="0"/>
              <a:t>Trump purports to fire Dr. Cook “for cause”</a:t>
            </a:r>
          </a:p>
          <a:p>
            <a:pPr>
              <a:spcBef>
                <a:spcPts val="0"/>
              </a:spcBef>
            </a:pPr>
            <a:r>
              <a:rPr lang="en-US" dirty="0"/>
              <a:t>Only issue before the Court is whether to stay order below in her favor</a:t>
            </a:r>
          </a:p>
          <a:p>
            <a:pPr>
              <a:spcBef>
                <a:spcPts val="0"/>
              </a:spcBef>
            </a:pPr>
            <a:r>
              <a:rPr lang="en-US" dirty="0"/>
              <a:t>Holdings: </a:t>
            </a:r>
          </a:p>
          <a:p>
            <a:pPr lvl="1">
              <a:spcBef>
                <a:spcPts val="0"/>
              </a:spcBef>
            </a:pPr>
            <a:r>
              <a:rPr lang="en-US" dirty="0"/>
              <a:t>judicially reviewable</a:t>
            </a:r>
          </a:p>
          <a:p>
            <a:pPr lvl="1">
              <a:spcBef>
                <a:spcPts val="0"/>
              </a:spcBef>
            </a:pPr>
            <a:r>
              <a:rPr lang="en-US" dirty="0"/>
              <a:t>Cook was entitled to at least a rudimentary hearing before being dismissed </a:t>
            </a:r>
          </a:p>
        </p:txBody>
      </p:sp>
      <p:sp>
        <p:nvSpPr>
          <p:cNvPr id="4" name="Footer Placeholder 3">
            <a:extLst>
              <a:ext uri="{FF2B5EF4-FFF2-40B4-BE49-F238E27FC236}">
                <a16:creationId xmlns:a16="http://schemas.microsoft.com/office/drawing/2014/main" id="{AE4C96CD-3229-3222-E0E2-AB5B5F54CE5A}"/>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DAF48B60-C3A0-A4F3-76D4-AA20A66B100C}"/>
              </a:ext>
            </a:extLst>
          </p:cNvPr>
          <p:cNvSpPr>
            <a:spLocks noGrp="1"/>
          </p:cNvSpPr>
          <p:nvPr>
            <p:ph type="sldNum" sz="quarter" idx="12"/>
          </p:nvPr>
        </p:nvSpPr>
        <p:spPr/>
        <p:txBody>
          <a:bodyPr/>
          <a:lstStyle/>
          <a:p>
            <a:fld id="{19243C18-CE1F-4D3B-ABA9-FEC66CF84D9A}" type="slidenum">
              <a:rPr lang="en-US" smtClean="0"/>
              <a:pPr/>
              <a:t>15</a:t>
            </a:fld>
            <a:endParaRPr lang="en-US"/>
          </a:p>
        </p:txBody>
      </p:sp>
    </p:spTree>
    <p:extLst>
      <p:ext uri="{BB962C8B-B14F-4D97-AF65-F5344CB8AC3E}">
        <p14:creationId xmlns:p14="http://schemas.microsoft.com/office/powerpoint/2010/main" val="2762248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9B72-2D6C-B7CF-FE17-7AF7D93DE3B7}"/>
              </a:ext>
            </a:extLst>
          </p:cNvPr>
          <p:cNvSpPr>
            <a:spLocks noGrp="1"/>
          </p:cNvSpPr>
          <p:nvPr>
            <p:ph type="title"/>
          </p:nvPr>
        </p:nvSpPr>
        <p:spPr/>
        <p:txBody>
          <a:bodyPr/>
          <a:lstStyle/>
          <a:p>
            <a:r>
              <a:rPr lang="en-US" i="1" dirty="0"/>
              <a:t>Slaughter</a:t>
            </a:r>
            <a:r>
              <a:rPr lang="en-US" dirty="0"/>
              <a:t> v. </a:t>
            </a:r>
            <a:r>
              <a:rPr lang="en-US" i="1" dirty="0"/>
              <a:t>Cook</a:t>
            </a:r>
          </a:p>
        </p:txBody>
      </p:sp>
      <p:sp>
        <p:nvSpPr>
          <p:cNvPr id="3" name="Content Placeholder 2">
            <a:extLst>
              <a:ext uri="{FF2B5EF4-FFF2-40B4-BE49-F238E27FC236}">
                <a16:creationId xmlns:a16="http://schemas.microsoft.com/office/drawing/2014/main" id="{A20A7F21-CAC7-1F6D-3B14-603779D42520}"/>
              </a:ext>
            </a:extLst>
          </p:cNvPr>
          <p:cNvSpPr>
            <a:spLocks noGrp="1"/>
          </p:cNvSpPr>
          <p:nvPr>
            <p:ph idx="1"/>
          </p:nvPr>
        </p:nvSpPr>
        <p:spPr/>
        <p:txBody>
          <a:bodyPr/>
          <a:lstStyle/>
          <a:p>
            <a:r>
              <a:rPr lang="en-US" dirty="0"/>
              <a:t>“What matters is that the Federal Reserve remains ‘consistent with the principles that underpin’ the First and Second Banks—namely, that monetary policy should not be subject to political interference. In our view, the Federal Reserve maintains the ‘balance struck by the founding generation’ under ‘modern circumstances.’”</a:t>
            </a:r>
          </a:p>
        </p:txBody>
      </p:sp>
      <p:sp>
        <p:nvSpPr>
          <p:cNvPr id="4" name="Footer Placeholder 3">
            <a:extLst>
              <a:ext uri="{FF2B5EF4-FFF2-40B4-BE49-F238E27FC236}">
                <a16:creationId xmlns:a16="http://schemas.microsoft.com/office/drawing/2014/main" id="{F43ED30C-73FF-2BE1-E1C6-A88538654159}"/>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E5F3DE4D-86DA-E7BC-18D3-94F7D41ADB79}"/>
              </a:ext>
            </a:extLst>
          </p:cNvPr>
          <p:cNvSpPr>
            <a:spLocks noGrp="1"/>
          </p:cNvSpPr>
          <p:nvPr>
            <p:ph type="sldNum" sz="quarter" idx="12"/>
          </p:nvPr>
        </p:nvSpPr>
        <p:spPr/>
        <p:txBody>
          <a:bodyPr/>
          <a:lstStyle/>
          <a:p>
            <a:fld id="{19243C18-CE1F-4D3B-ABA9-FEC66CF84D9A}" type="slidenum">
              <a:rPr lang="en-US" smtClean="0"/>
              <a:pPr/>
              <a:t>16</a:t>
            </a:fld>
            <a:endParaRPr lang="en-US"/>
          </a:p>
        </p:txBody>
      </p:sp>
    </p:spTree>
    <p:extLst>
      <p:ext uri="{BB962C8B-B14F-4D97-AF65-F5344CB8AC3E}">
        <p14:creationId xmlns:p14="http://schemas.microsoft.com/office/powerpoint/2010/main" val="3029704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82810-1F4C-530E-5830-8BA30CA2420C}"/>
              </a:ext>
            </a:extLst>
          </p:cNvPr>
          <p:cNvSpPr>
            <a:spLocks noGrp="1"/>
          </p:cNvSpPr>
          <p:nvPr>
            <p:ph type="title"/>
          </p:nvPr>
        </p:nvSpPr>
        <p:spPr/>
        <p:txBody>
          <a:bodyPr/>
          <a:lstStyle/>
          <a:p>
            <a:r>
              <a:rPr lang="en-US" dirty="0"/>
              <a:t>Other Historical Traditions</a:t>
            </a:r>
          </a:p>
        </p:txBody>
      </p:sp>
      <p:sp>
        <p:nvSpPr>
          <p:cNvPr id="3" name="Content Placeholder 2">
            <a:extLst>
              <a:ext uri="{FF2B5EF4-FFF2-40B4-BE49-F238E27FC236}">
                <a16:creationId xmlns:a16="http://schemas.microsoft.com/office/drawing/2014/main" id="{303B8CF8-14DD-4CCA-0798-3748D4E8B591}"/>
              </a:ext>
            </a:extLst>
          </p:cNvPr>
          <p:cNvSpPr>
            <a:spLocks noGrp="1"/>
          </p:cNvSpPr>
          <p:nvPr>
            <p:ph idx="1"/>
          </p:nvPr>
        </p:nvSpPr>
        <p:spPr/>
        <p:txBody>
          <a:bodyPr/>
          <a:lstStyle/>
          <a:p>
            <a:pPr>
              <a:spcBef>
                <a:spcPts val="0"/>
              </a:spcBef>
            </a:pPr>
            <a:r>
              <a:rPr lang="en-US" sz="2800" dirty="0"/>
              <a:t>If Founders’ awareness of the importance of independence for monetary policy justifies agency independence, what about contexts they could not have anticipated?</a:t>
            </a:r>
          </a:p>
          <a:p>
            <a:pPr lvl="1">
              <a:spcBef>
                <a:spcPts val="0"/>
              </a:spcBef>
            </a:pPr>
            <a:r>
              <a:rPr lang="en-US" sz="2400" dirty="0"/>
              <a:t>Regulation of electronic/digital communications?</a:t>
            </a:r>
          </a:p>
          <a:p>
            <a:pPr lvl="1">
              <a:spcBef>
                <a:spcPts val="0"/>
              </a:spcBef>
            </a:pPr>
            <a:r>
              <a:rPr lang="en-US" sz="2400" dirty="0"/>
              <a:t>Regulation of atomic energy?</a:t>
            </a:r>
          </a:p>
          <a:p>
            <a:pPr lvl="1">
              <a:spcBef>
                <a:spcPts val="0"/>
              </a:spcBef>
            </a:pPr>
            <a:r>
              <a:rPr lang="en-US" sz="2400" dirty="0"/>
              <a:t>Regulation of carcinogens? Vaccines? (Invented in 1796!)</a:t>
            </a:r>
          </a:p>
          <a:p>
            <a:pPr>
              <a:spcBef>
                <a:spcPts val="0"/>
              </a:spcBef>
            </a:pPr>
            <a:r>
              <a:rPr lang="en-US" sz="2800" dirty="0"/>
              <a:t>Do earlier agencies called independent amount to relevant precedent without statutory limits on removability?</a:t>
            </a:r>
            <a:endParaRPr lang="en-US" dirty="0"/>
          </a:p>
        </p:txBody>
      </p:sp>
      <p:sp>
        <p:nvSpPr>
          <p:cNvPr id="4" name="Footer Placeholder 3">
            <a:extLst>
              <a:ext uri="{FF2B5EF4-FFF2-40B4-BE49-F238E27FC236}">
                <a16:creationId xmlns:a16="http://schemas.microsoft.com/office/drawing/2014/main" id="{CFD53CAA-3C6C-FB43-89EB-4E01B297C602}"/>
              </a:ext>
            </a:extLst>
          </p:cNvPr>
          <p:cNvSpPr>
            <a:spLocks noGrp="1"/>
          </p:cNvSpPr>
          <p:nvPr>
            <p:ph type="ftr" sz="quarter" idx="11"/>
          </p:nvPr>
        </p:nvSpPr>
        <p:spPr/>
        <p:txBody>
          <a:bodyPr/>
          <a:lstStyle/>
          <a:p>
            <a:r>
              <a:rPr lang="en-US" dirty="0"/>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6F778CE0-8DDC-785D-C514-9093C369EECE}"/>
              </a:ext>
            </a:extLst>
          </p:cNvPr>
          <p:cNvSpPr>
            <a:spLocks noGrp="1"/>
          </p:cNvSpPr>
          <p:nvPr>
            <p:ph type="sldNum" sz="quarter" idx="12"/>
          </p:nvPr>
        </p:nvSpPr>
        <p:spPr/>
        <p:txBody>
          <a:bodyPr/>
          <a:lstStyle/>
          <a:p>
            <a:fld id="{19243C18-CE1F-4D3B-ABA9-FEC66CF84D9A}" type="slidenum">
              <a:rPr lang="en-US" smtClean="0"/>
              <a:pPr/>
              <a:t>17</a:t>
            </a:fld>
            <a:endParaRPr lang="en-US"/>
          </a:p>
        </p:txBody>
      </p:sp>
    </p:spTree>
    <p:extLst>
      <p:ext uri="{BB962C8B-B14F-4D97-AF65-F5344CB8AC3E}">
        <p14:creationId xmlns:p14="http://schemas.microsoft.com/office/powerpoint/2010/main" val="3350017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E94D3-0DF5-6954-9DE6-813E78E2EFA7}"/>
              </a:ext>
            </a:extLst>
          </p:cNvPr>
          <p:cNvSpPr>
            <a:spLocks noGrp="1"/>
          </p:cNvSpPr>
          <p:nvPr>
            <p:ph type="title"/>
          </p:nvPr>
        </p:nvSpPr>
        <p:spPr/>
        <p:txBody>
          <a:bodyPr/>
          <a:lstStyle/>
          <a:p>
            <a:r>
              <a:rPr lang="en-US" sz="4000" dirty="0"/>
              <a:t>Single- v. Multi-Headed Agencies</a:t>
            </a:r>
          </a:p>
        </p:txBody>
      </p:sp>
      <p:sp>
        <p:nvSpPr>
          <p:cNvPr id="3" name="Content Placeholder 2">
            <a:extLst>
              <a:ext uri="{FF2B5EF4-FFF2-40B4-BE49-F238E27FC236}">
                <a16:creationId xmlns:a16="http://schemas.microsoft.com/office/drawing/2014/main" id="{13C88211-B6CC-1700-A159-96E712942BAC}"/>
              </a:ext>
            </a:extLst>
          </p:cNvPr>
          <p:cNvSpPr>
            <a:spLocks noGrp="1"/>
          </p:cNvSpPr>
          <p:nvPr>
            <p:ph idx="1"/>
          </p:nvPr>
        </p:nvSpPr>
        <p:spPr/>
        <p:txBody>
          <a:bodyPr>
            <a:normAutofit lnSpcReduction="10000"/>
          </a:bodyPr>
          <a:lstStyle/>
          <a:p>
            <a:pPr>
              <a:spcBef>
                <a:spcPts val="0"/>
              </a:spcBef>
            </a:pPr>
            <a:r>
              <a:rPr lang="en-US" sz="2400" i="1" dirty="0"/>
              <a:t>Judge</a:t>
            </a:r>
            <a:r>
              <a:rPr lang="en-US" sz="2400" dirty="0"/>
              <a:t> Kavanaugh: Multimember structures </a:t>
            </a:r>
            <a:r>
              <a:rPr lang="en-US" sz="2800" dirty="0"/>
              <a:t>h</a:t>
            </a:r>
            <a:r>
              <a:rPr lang="en-US" sz="2400" dirty="0"/>
              <a:t>elp prevent arbitrary decisions, abuses of power</a:t>
            </a:r>
            <a:endParaRPr lang="en-US" sz="2000" dirty="0"/>
          </a:p>
          <a:p>
            <a:pPr marL="914400" lvl="1" indent="-457200">
              <a:spcBef>
                <a:spcPts val="0"/>
              </a:spcBef>
              <a:buFont typeface="+mj-lt"/>
              <a:buAutoNum type="arabicPeriod"/>
            </a:pPr>
            <a:r>
              <a:rPr lang="en-US" sz="2400" dirty="0"/>
              <a:t>No single commissioner or board member possesses authority to do much of anything</a:t>
            </a:r>
          </a:p>
          <a:p>
            <a:pPr marL="914400" lvl="1" indent="-457200">
              <a:spcBef>
                <a:spcPts val="0"/>
              </a:spcBef>
              <a:buFont typeface="+mj-lt"/>
              <a:buAutoNum type="arabicPeriod"/>
            </a:pPr>
            <a:r>
              <a:rPr lang="en-US" sz="2400" dirty="0"/>
              <a:t>Commissioners accountable to each other and need a majority to act</a:t>
            </a:r>
          </a:p>
          <a:p>
            <a:pPr marL="914400" lvl="1" indent="-457200">
              <a:spcBef>
                <a:spcPts val="0"/>
              </a:spcBef>
              <a:buFont typeface="+mj-lt"/>
              <a:buAutoNum type="arabicPeriod"/>
            </a:pPr>
            <a:r>
              <a:rPr lang="en-US" sz="2400" dirty="0"/>
              <a:t>More deliberative: diverse perspectives and different points of view means issues explored more fully</a:t>
            </a:r>
          </a:p>
          <a:p>
            <a:pPr marL="914400" lvl="1" indent="-457200">
              <a:spcBef>
                <a:spcPts val="0"/>
              </a:spcBef>
              <a:buFont typeface="+mj-lt"/>
              <a:buAutoNum type="arabicPeriod"/>
            </a:pPr>
            <a:r>
              <a:rPr lang="en-US" sz="2400" dirty="0"/>
              <a:t>multi-member structure resists extremes</a:t>
            </a:r>
          </a:p>
          <a:p>
            <a:pPr marL="914400" lvl="1" indent="-457200">
              <a:spcBef>
                <a:spcPts val="0"/>
              </a:spcBef>
              <a:buFont typeface="+mj-lt"/>
              <a:buAutoNum type="arabicPeriod"/>
            </a:pPr>
            <a:r>
              <a:rPr lang="en-US" sz="2400" dirty="0"/>
              <a:t>Provides “a built-in monitoring system for interests on both sides” through dissents</a:t>
            </a:r>
          </a:p>
          <a:p>
            <a:pPr marL="914400" lvl="1" indent="-457200">
              <a:spcBef>
                <a:spcPts val="0"/>
              </a:spcBef>
              <a:buFont typeface="+mj-lt"/>
              <a:buAutoNum type="arabicPeriod"/>
            </a:pPr>
            <a:r>
              <a:rPr lang="en-US" sz="2400" dirty="0"/>
              <a:t>Harder to “capture”</a:t>
            </a:r>
          </a:p>
          <a:p>
            <a:pPr marL="457200" lvl="1" indent="0">
              <a:buNone/>
            </a:pPr>
            <a:endParaRPr lang="en-US" dirty="0"/>
          </a:p>
          <a:p>
            <a:endParaRPr lang="en-US" dirty="0"/>
          </a:p>
        </p:txBody>
      </p:sp>
      <p:sp>
        <p:nvSpPr>
          <p:cNvPr id="4" name="Footer Placeholder 3">
            <a:extLst>
              <a:ext uri="{FF2B5EF4-FFF2-40B4-BE49-F238E27FC236}">
                <a16:creationId xmlns:a16="http://schemas.microsoft.com/office/drawing/2014/main" id="{D5A1877A-1B6E-8036-3A0C-886B275B3AE0}"/>
              </a:ext>
            </a:extLst>
          </p:cNvPr>
          <p:cNvSpPr>
            <a:spLocks noGrp="1"/>
          </p:cNvSpPr>
          <p:nvPr>
            <p:ph type="ftr" sz="quarter" idx="11"/>
          </p:nvPr>
        </p:nvSpPr>
        <p:spPr/>
        <p:txBody>
          <a:bodyPr/>
          <a:lstStyle/>
          <a:p>
            <a:r>
              <a:rPr lang="en-US" dirty="0"/>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C5057F78-AC38-C403-EE58-2C5953FE8AB2}"/>
              </a:ext>
            </a:extLst>
          </p:cNvPr>
          <p:cNvSpPr>
            <a:spLocks noGrp="1"/>
          </p:cNvSpPr>
          <p:nvPr>
            <p:ph type="sldNum" sz="quarter" idx="12"/>
          </p:nvPr>
        </p:nvSpPr>
        <p:spPr/>
        <p:txBody>
          <a:bodyPr/>
          <a:lstStyle/>
          <a:p>
            <a:fld id="{19243C18-CE1F-4D3B-ABA9-FEC66CF84D9A}" type="slidenum">
              <a:rPr lang="en-US" smtClean="0"/>
              <a:pPr/>
              <a:t>18</a:t>
            </a:fld>
            <a:endParaRPr lang="en-US" dirty="0"/>
          </a:p>
        </p:txBody>
      </p:sp>
    </p:spTree>
    <p:extLst>
      <p:ext uri="{BB962C8B-B14F-4D97-AF65-F5344CB8AC3E}">
        <p14:creationId xmlns:p14="http://schemas.microsoft.com/office/powerpoint/2010/main" val="3540369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C5E5-7AAF-7838-6C3B-56FA88F774C0}"/>
              </a:ext>
            </a:extLst>
          </p:cNvPr>
          <p:cNvSpPr>
            <a:spLocks noGrp="1"/>
          </p:cNvSpPr>
          <p:nvPr>
            <p:ph type="title"/>
          </p:nvPr>
        </p:nvSpPr>
        <p:spPr/>
        <p:txBody>
          <a:bodyPr/>
          <a:lstStyle/>
          <a:p>
            <a:r>
              <a:rPr lang="en-US" dirty="0"/>
              <a:t>Administrative Adjudication?</a:t>
            </a:r>
          </a:p>
        </p:txBody>
      </p:sp>
      <p:sp>
        <p:nvSpPr>
          <p:cNvPr id="3" name="Content Placeholder 2">
            <a:extLst>
              <a:ext uri="{FF2B5EF4-FFF2-40B4-BE49-F238E27FC236}">
                <a16:creationId xmlns:a16="http://schemas.microsoft.com/office/drawing/2014/main" id="{1CFA607F-18C4-DC56-7561-F3DA425DB718}"/>
              </a:ext>
            </a:extLst>
          </p:cNvPr>
          <p:cNvSpPr>
            <a:spLocks noGrp="1"/>
          </p:cNvSpPr>
          <p:nvPr>
            <p:ph idx="1"/>
          </p:nvPr>
        </p:nvSpPr>
        <p:spPr/>
        <p:txBody>
          <a:bodyPr/>
          <a:lstStyle/>
          <a:p>
            <a:r>
              <a:rPr lang="en-US" sz="2800" dirty="0"/>
              <a:t>Majority says” opinion is not intended to “determine the fate of officials not before” the Court, including the judges of the Article I Tax Court and Court of Federal Claims.”</a:t>
            </a:r>
          </a:p>
          <a:p>
            <a:r>
              <a:rPr lang="en-US" sz="2800" dirty="0"/>
              <a:t>Yet: “When an agency ‘executes’ a congressional mandate against private parties, it exercises executive power—no ifs, ands, or </a:t>
            </a:r>
            <a:r>
              <a:rPr lang="en-US" sz="2800" dirty="0" err="1"/>
              <a:t>quasis</a:t>
            </a:r>
            <a:r>
              <a:rPr lang="en-US" sz="2800" dirty="0"/>
              <a:t> about it.” </a:t>
            </a:r>
          </a:p>
          <a:p>
            <a:r>
              <a:rPr lang="en-US" sz="2800" dirty="0"/>
              <a:t>Is Taft’s solution adequate? Estreicher’s?</a:t>
            </a:r>
            <a:endParaRPr lang="en-US" dirty="0"/>
          </a:p>
        </p:txBody>
      </p:sp>
      <p:sp>
        <p:nvSpPr>
          <p:cNvPr id="4" name="Footer Placeholder 3">
            <a:extLst>
              <a:ext uri="{FF2B5EF4-FFF2-40B4-BE49-F238E27FC236}">
                <a16:creationId xmlns:a16="http://schemas.microsoft.com/office/drawing/2014/main" id="{20267209-D318-D06B-C847-971A69E3DB14}"/>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F131DAA5-F9CA-45DE-8EDE-57469875279B}"/>
              </a:ext>
            </a:extLst>
          </p:cNvPr>
          <p:cNvSpPr>
            <a:spLocks noGrp="1"/>
          </p:cNvSpPr>
          <p:nvPr>
            <p:ph type="sldNum" sz="quarter" idx="12"/>
          </p:nvPr>
        </p:nvSpPr>
        <p:spPr/>
        <p:txBody>
          <a:bodyPr/>
          <a:lstStyle/>
          <a:p>
            <a:fld id="{19243C18-CE1F-4D3B-ABA9-FEC66CF84D9A}" type="slidenum">
              <a:rPr lang="en-US" smtClean="0"/>
              <a:pPr/>
              <a:t>19</a:t>
            </a:fld>
            <a:endParaRPr lang="en-US"/>
          </a:p>
        </p:txBody>
      </p:sp>
    </p:spTree>
    <p:extLst>
      <p:ext uri="{BB962C8B-B14F-4D97-AF65-F5344CB8AC3E}">
        <p14:creationId xmlns:p14="http://schemas.microsoft.com/office/powerpoint/2010/main" val="3322146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85D1-A128-113E-9434-FC692BA634DD}"/>
              </a:ext>
            </a:extLst>
          </p:cNvPr>
          <p:cNvSpPr>
            <a:spLocks noGrp="1"/>
          </p:cNvSpPr>
          <p:nvPr>
            <p:ph type="title"/>
          </p:nvPr>
        </p:nvSpPr>
        <p:spPr/>
        <p:txBody>
          <a:bodyPr/>
          <a:lstStyle/>
          <a:p>
            <a:r>
              <a:rPr lang="en-US" dirty="0"/>
              <a:t>Implications for Civil Service</a:t>
            </a:r>
          </a:p>
        </p:txBody>
      </p:sp>
      <p:sp>
        <p:nvSpPr>
          <p:cNvPr id="3" name="Content Placeholder 2">
            <a:extLst>
              <a:ext uri="{FF2B5EF4-FFF2-40B4-BE49-F238E27FC236}">
                <a16:creationId xmlns:a16="http://schemas.microsoft.com/office/drawing/2014/main" id="{27D25847-0909-1C3F-C960-003A754CE309}"/>
              </a:ext>
            </a:extLst>
          </p:cNvPr>
          <p:cNvSpPr>
            <a:spLocks noGrp="1"/>
          </p:cNvSpPr>
          <p:nvPr>
            <p:ph idx="1"/>
          </p:nvPr>
        </p:nvSpPr>
        <p:spPr/>
        <p:txBody>
          <a:bodyPr/>
          <a:lstStyle/>
          <a:p>
            <a:r>
              <a:rPr lang="en-US" sz="2800" dirty="0"/>
              <a:t>Roberts Court has acknowledged </a:t>
            </a:r>
            <a:r>
              <a:rPr lang="en-US" sz="2800" i="1" dirty="0"/>
              <a:t>Perkins</a:t>
            </a:r>
            <a:r>
              <a:rPr lang="en-US" sz="2800" dirty="0"/>
              <a:t> as a (still) live precedent but has also characterized it as protecting only “inferior officers with limited duties and no policymaking or administrative authority.”</a:t>
            </a:r>
          </a:p>
          <a:p>
            <a:r>
              <a:rPr lang="en-US" sz="2800" dirty="0"/>
              <a:t>Perkins was a naval cadet engineer</a:t>
            </a:r>
          </a:p>
          <a:p>
            <a:r>
              <a:rPr lang="en-US" sz="2800" dirty="0"/>
              <a:t>Would </a:t>
            </a:r>
            <a:r>
              <a:rPr lang="en-US" sz="2800" i="1" dirty="0"/>
              <a:t>Perkins</a:t>
            </a:r>
            <a:r>
              <a:rPr lang="en-US" sz="2800" dirty="0"/>
              <a:t> protect an agency economist, statistician, epidemiologist, or other professional, whose advice may influence the making of policy</a:t>
            </a:r>
            <a:endParaRPr lang="en-US" dirty="0"/>
          </a:p>
        </p:txBody>
      </p:sp>
      <p:sp>
        <p:nvSpPr>
          <p:cNvPr id="4" name="Footer Placeholder 3">
            <a:extLst>
              <a:ext uri="{FF2B5EF4-FFF2-40B4-BE49-F238E27FC236}">
                <a16:creationId xmlns:a16="http://schemas.microsoft.com/office/drawing/2014/main" id="{1EC0A28C-181D-8D78-DBD4-EA0AACF80063}"/>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722300CC-A24D-5043-59F2-ABB1A62DD87D}"/>
              </a:ext>
            </a:extLst>
          </p:cNvPr>
          <p:cNvSpPr>
            <a:spLocks noGrp="1"/>
          </p:cNvSpPr>
          <p:nvPr>
            <p:ph type="sldNum" sz="quarter" idx="12"/>
          </p:nvPr>
        </p:nvSpPr>
        <p:spPr/>
        <p:txBody>
          <a:bodyPr/>
          <a:lstStyle/>
          <a:p>
            <a:fld id="{19243C18-CE1F-4D3B-ABA9-FEC66CF84D9A}" type="slidenum">
              <a:rPr lang="en-US" smtClean="0"/>
              <a:pPr/>
              <a:t>20</a:t>
            </a:fld>
            <a:endParaRPr lang="en-US"/>
          </a:p>
        </p:txBody>
      </p:sp>
    </p:spTree>
    <p:extLst>
      <p:ext uri="{BB962C8B-B14F-4D97-AF65-F5344CB8AC3E}">
        <p14:creationId xmlns:p14="http://schemas.microsoft.com/office/powerpoint/2010/main" val="334175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C889-BBDA-8B73-E51D-BAE26126EE37}"/>
              </a:ext>
            </a:extLst>
          </p:cNvPr>
          <p:cNvSpPr>
            <a:spLocks noGrp="1"/>
          </p:cNvSpPr>
          <p:nvPr>
            <p:ph type="title"/>
          </p:nvPr>
        </p:nvSpPr>
        <p:spPr/>
        <p:txBody>
          <a:bodyPr/>
          <a:lstStyle/>
          <a:p>
            <a:r>
              <a:rPr lang="en-US" dirty="0"/>
              <a:t>Kneecapping Agencies?</a:t>
            </a:r>
          </a:p>
        </p:txBody>
      </p:sp>
      <p:sp>
        <p:nvSpPr>
          <p:cNvPr id="3" name="Content Placeholder 2">
            <a:extLst>
              <a:ext uri="{FF2B5EF4-FFF2-40B4-BE49-F238E27FC236}">
                <a16:creationId xmlns:a16="http://schemas.microsoft.com/office/drawing/2014/main" id="{958FAD40-E069-9ADD-0D16-1CBBBEE91EE6}"/>
              </a:ext>
            </a:extLst>
          </p:cNvPr>
          <p:cNvSpPr>
            <a:spLocks noGrp="1"/>
          </p:cNvSpPr>
          <p:nvPr>
            <p:ph idx="1"/>
          </p:nvPr>
        </p:nvSpPr>
        <p:spPr/>
        <p:txBody>
          <a:bodyPr/>
          <a:lstStyle/>
          <a:p>
            <a:pPr>
              <a:spcBef>
                <a:spcPts val="0"/>
              </a:spcBef>
            </a:pPr>
            <a:r>
              <a:rPr lang="en-US" sz="2800" dirty="0"/>
              <a:t>Should there be remedies—and what would they be—to prevent presidents from using removal power to:</a:t>
            </a:r>
          </a:p>
          <a:p>
            <a:pPr lvl="1">
              <a:spcBef>
                <a:spcPts val="0"/>
              </a:spcBef>
            </a:pPr>
            <a:r>
              <a:rPr lang="en-US" sz="2400" dirty="0"/>
              <a:t>Eliminate bipartisanship?</a:t>
            </a:r>
          </a:p>
          <a:p>
            <a:pPr lvl="1">
              <a:spcBef>
                <a:spcPts val="0"/>
              </a:spcBef>
            </a:pPr>
            <a:r>
              <a:rPr lang="en-US" sz="2400" dirty="0"/>
              <a:t>Render agencies “inquorate?”</a:t>
            </a:r>
          </a:p>
          <a:p>
            <a:pPr>
              <a:spcBef>
                <a:spcPts val="0"/>
              </a:spcBef>
            </a:pPr>
            <a:r>
              <a:rPr lang="en-US" sz="2800" dirty="0"/>
              <a:t>Possibilities??</a:t>
            </a:r>
          </a:p>
          <a:p>
            <a:pPr lvl="1">
              <a:spcBef>
                <a:spcPts val="0"/>
              </a:spcBef>
            </a:pPr>
            <a:r>
              <a:rPr lang="en-US" sz="2400" dirty="0"/>
              <a:t>Allow courts to bar removals that leave agencies </a:t>
            </a:r>
            <a:r>
              <a:rPr lang="en-US" sz="2400" dirty="0" err="1"/>
              <a:t>uni</a:t>
            </a:r>
            <a:r>
              <a:rPr lang="en-US" sz="2400" dirty="0"/>
              <a:t>-partisan?</a:t>
            </a:r>
          </a:p>
          <a:p>
            <a:pPr lvl="1">
              <a:spcBef>
                <a:spcPts val="0"/>
              </a:spcBef>
            </a:pPr>
            <a:r>
              <a:rPr lang="en-US" sz="2400" dirty="0"/>
              <a:t>Allow parties relying on agency action to go to court without agency action where prevented from lack of quorum?</a:t>
            </a:r>
          </a:p>
        </p:txBody>
      </p:sp>
      <p:sp>
        <p:nvSpPr>
          <p:cNvPr id="4" name="Footer Placeholder 3">
            <a:extLst>
              <a:ext uri="{FF2B5EF4-FFF2-40B4-BE49-F238E27FC236}">
                <a16:creationId xmlns:a16="http://schemas.microsoft.com/office/drawing/2014/main" id="{AD84C51E-1847-0B5D-21B1-2075060D5917}"/>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0509C579-3176-3EC6-DAD0-F86722CCEC6C}"/>
              </a:ext>
            </a:extLst>
          </p:cNvPr>
          <p:cNvSpPr>
            <a:spLocks noGrp="1"/>
          </p:cNvSpPr>
          <p:nvPr>
            <p:ph type="sldNum" sz="quarter" idx="12"/>
          </p:nvPr>
        </p:nvSpPr>
        <p:spPr/>
        <p:txBody>
          <a:bodyPr/>
          <a:lstStyle/>
          <a:p>
            <a:fld id="{19243C18-CE1F-4D3B-ABA9-FEC66CF84D9A}" type="slidenum">
              <a:rPr lang="en-US" smtClean="0"/>
              <a:pPr/>
              <a:t>21</a:t>
            </a:fld>
            <a:endParaRPr lang="en-US"/>
          </a:p>
        </p:txBody>
      </p:sp>
    </p:spTree>
    <p:extLst>
      <p:ext uri="{BB962C8B-B14F-4D97-AF65-F5344CB8AC3E}">
        <p14:creationId xmlns:p14="http://schemas.microsoft.com/office/powerpoint/2010/main" val="3010454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Textualism v. Pragmatism:  </a:t>
            </a:r>
            <a:br>
              <a:rPr lang="en-US" dirty="0"/>
            </a:br>
            <a:r>
              <a:rPr lang="en-US" dirty="0"/>
              <a:t>Recess Appointments</a:t>
            </a:r>
          </a:p>
        </p:txBody>
      </p:sp>
      <p:sp>
        <p:nvSpPr>
          <p:cNvPr id="3" name="Content Placeholder 2"/>
          <p:cNvSpPr>
            <a:spLocks noGrp="1"/>
          </p:cNvSpPr>
          <p:nvPr>
            <p:ph idx="1"/>
          </p:nvPr>
        </p:nvSpPr>
        <p:spPr/>
        <p:txBody>
          <a:bodyPr/>
          <a:lstStyle/>
          <a:p>
            <a:endParaRPr lang="en-US" dirty="0"/>
          </a:p>
        </p:txBody>
      </p:sp>
      <p:pic>
        <p:nvPicPr>
          <p:cNvPr id="2050" name="Picture 2" descr="Logo: National Labor Relations Boar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981200"/>
            <a:ext cx="3581400" cy="3581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22</a:t>
            </a:fld>
            <a:endParaRPr lang="en-US"/>
          </a:p>
        </p:txBody>
      </p:sp>
    </p:spTree>
    <p:extLst>
      <p:ext uri="{BB962C8B-B14F-4D97-AF65-F5344CB8AC3E}">
        <p14:creationId xmlns:p14="http://schemas.microsoft.com/office/powerpoint/2010/main" val="1821156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Text at Issue</a:t>
            </a:r>
          </a:p>
        </p:txBody>
      </p:sp>
      <p:sp>
        <p:nvSpPr>
          <p:cNvPr id="6" name="Content Placeholder 5"/>
          <p:cNvSpPr>
            <a:spLocks noGrp="1"/>
          </p:cNvSpPr>
          <p:nvPr>
            <p:ph idx="1"/>
          </p:nvPr>
        </p:nvSpPr>
        <p:spPr/>
        <p:txBody>
          <a:bodyPr>
            <a:normAutofit/>
          </a:bodyPr>
          <a:lstStyle/>
          <a:p>
            <a:pPr marL="0" indent="0">
              <a:buNone/>
            </a:pPr>
            <a:r>
              <a:rPr lang="en-US" sz="4000" dirty="0"/>
              <a:t>“The President shall have power to fill up all vacancies that may happen during the recess of the Senate, by granting commissions which shall expire at the end of their next session.”</a:t>
            </a:r>
          </a:p>
          <a:p>
            <a:pPr marL="0" indent="0">
              <a:buNone/>
            </a:pPr>
            <a:r>
              <a:rPr lang="en-US" sz="4000" dirty="0"/>
              <a:t>U.S. </a:t>
            </a:r>
            <a:r>
              <a:rPr lang="en-US" sz="4000" cap="small" dirty="0"/>
              <a:t>Const</a:t>
            </a:r>
            <a:r>
              <a:rPr lang="en-US" sz="4000" dirty="0"/>
              <a:t>., Art. II, § 2, ¶ 3.</a:t>
            </a:r>
          </a:p>
        </p:txBody>
      </p:sp>
      <p:sp>
        <p:nvSpPr>
          <p:cNvPr id="2" name="Footer Placeholder 1"/>
          <p:cNvSpPr>
            <a:spLocks noGrp="1"/>
          </p:cNvSpPr>
          <p:nvPr>
            <p:ph type="ftr" sz="quarter" idx="11"/>
          </p:nvPr>
        </p:nvSpPr>
        <p:spPr/>
        <p:txBody>
          <a:bodyPr/>
          <a:lstStyle/>
          <a:p>
            <a:r>
              <a:rPr lang="en-US"/>
              <a:t>© Copyright 2026.  Peter M. Shane. All rights reserved. </a:t>
            </a:r>
          </a:p>
        </p:txBody>
      </p:sp>
      <p:sp>
        <p:nvSpPr>
          <p:cNvPr id="3" name="Slide Number Placeholder 2"/>
          <p:cNvSpPr>
            <a:spLocks noGrp="1"/>
          </p:cNvSpPr>
          <p:nvPr>
            <p:ph type="sldNum" sz="quarter" idx="12"/>
          </p:nvPr>
        </p:nvSpPr>
        <p:spPr/>
        <p:txBody>
          <a:bodyPr/>
          <a:lstStyle/>
          <a:p>
            <a:fld id="{4DBFBA8A-A64E-4688-B417-D8D3C3062699}" type="slidenum">
              <a:rPr lang="en-US" smtClean="0"/>
              <a:pPr/>
              <a:t>23</a:t>
            </a:fld>
            <a:endParaRPr lang="en-US"/>
          </a:p>
        </p:txBody>
      </p:sp>
    </p:spTree>
    <p:extLst>
      <p:ext uri="{BB962C8B-B14F-4D97-AF65-F5344CB8AC3E}">
        <p14:creationId xmlns:p14="http://schemas.microsoft.com/office/powerpoint/2010/main" val="281953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Congressional Calendar</a:t>
            </a:r>
          </a:p>
        </p:txBody>
      </p:sp>
      <p:sp>
        <p:nvSpPr>
          <p:cNvPr id="3" name="Content Placeholder 2"/>
          <p:cNvSpPr>
            <a:spLocks noGrp="1"/>
          </p:cNvSpPr>
          <p:nvPr>
            <p:ph idx="1"/>
          </p:nvPr>
        </p:nvSpPr>
        <p:spPr/>
        <p:txBody>
          <a:bodyPr/>
          <a:lstStyle/>
          <a:p>
            <a:pPr marL="0" indent="0">
              <a:buNone/>
            </a:pPr>
            <a:r>
              <a:rPr lang="en-US" dirty="0"/>
              <a:t>A “Congress” Usually Has Two “Sessions”:</a:t>
            </a:r>
          </a:p>
          <a:p>
            <a:pPr marL="0" indent="0">
              <a:buNone/>
            </a:pPr>
            <a:r>
              <a:rPr lang="en-US" dirty="0"/>
              <a:t>1st Sess.:  Call to order (1/3). . . (take a vacation [</a:t>
            </a:r>
            <a:r>
              <a:rPr lang="en-US" dirty="0" err="1"/>
              <a:t>intrasession</a:t>
            </a:r>
            <a:r>
              <a:rPr lang="en-US" dirty="0"/>
              <a:t> recess]) . . .Adjourn the session (sine die) - [Intersession recess] – </a:t>
            </a:r>
          </a:p>
          <a:p>
            <a:pPr marL="0" indent="0">
              <a:buNone/>
            </a:pPr>
            <a:r>
              <a:rPr lang="en-US" dirty="0"/>
              <a:t>2nd Sess.: Call to order (1/3) . . .(take a vacation [</a:t>
            </a:r>
            <a:r>
              <a:rPr lang="en-US" dirty="0" err="1"/>
              <a:t>intrasession</a:t>
            </a:r>
            <a:r>
              <a:rPr lang="en-US" dirty="0"/>
              <a:t> recess]). . .Adjourn </a:t>
            </a:r>
            <a:r>
              <a:rPr lang="en-US"/>
              <a:t>the Congress </a:t>
            </a:r>
            <a:r>
              <a:rPr lang="en-US" dirty="0"/>
              <a:t>(sine die)</a:t>
            </a:r>
          </a:p>
          <a:p>
            <a:endParaRPr lang="en-US" dirty="0"/>
          </a:p>
        </p:txBody>
      </p:sp>
      <p:sp>
        <p:nvSpPr>
          <p:cNvPr id="4" name="Footer Placeholder 3"/>
          <p:cNvSpPr>
            <a:spLocks noGrp="1"/>
          </p:cNvSpPr>
          <p:nvPr>
            <p:ph type="ftr" sz="quarter" idx="11"/>
          </p:nvPr>
        </p:nvSpPr>
        <p:spPr/>
        <p:txBody>
          <a:bodyPr/>
          <a:lstStyle/>
          <a:p>
            <a:r>
              <a:rPr lang="en-US" sz="1400"/>
              <a:t>© Copyright 2026.  Peter M. Shane. All rights reserved. </a:t>
            </a:r>
            <a:endParaRPr lang="en-US" sz="1400" dirty="0"/>
          </a:p>
        </p:txBody>
      </p:sp>
      <p:sp>
        <p:nvSpPr>
          <p:cNvPr id="5" name="Slide Number Placeholder 4"/>
          <p:cNvSpPr>
            <a:spLocks noGrp="1"/>
          </p:cNvSpPr>
          <p:nvPr>
            <p:ph type="sldNum" sz="quarter" idx="12"/>
          </p:nvPr>
        </p:nvSpPr>
        <p:spPr/>
        <p:txBody>
          <a:bodyPr/>
          <a:lstStyle/>
          <a:p>
            <a:fld id="{4DBFBA8A-A64E-4688-B417-D8D3C3062699}" type="slidenum">
              <a:rPr lang="en-US" smtClean="0"/>
              <a:pPr/>
              <a:t>24</a:t>
            </a:fld>
            <a:endParaRPr lang="en-US"/>
          </a:p>
        </p:txBody>
      </p:sp>
    </p:spTree>
    <p:extLst>
      <p:ext uri="{BB962C8B-B14F-4D97-AF65-F5344CB8AC3E}">
        <p14:creationId xmlns:p14="http://schemas.microsoft.com/office/powerpoint/2010/main" val="2137128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Compare It To An Academic Calendar</a:t>
            </a:r>
            <a:br>
              <a:rPr lang="en-US" dirty="0"/>
            </a:br>
            <a:r>
              <a:rPr lang="en-US" dirty="0"/>
              <a:t>For a Two-Year MBA Program</a:t>
            </a:r>
          </a:p>
        </p:txBody>
      </p:sp>
      <p:sp>
        <p:nvSpPr>
          <p:cNvPr id="3" name="Content Placeholder 2"/>
          <p:cNvSpPr>
            <a:spLocks noGrp="1"/>
          </p:cNvSpPr>
          <p:nvPr>
            <p:ph idx="1"/>
          </p:nvPr>
        </p:nvSpPr>
        <p:spPr/>
        <p:txBody>
          <a:bodyPr>
            <a:normAutofit lnSpcReduction="10000"/>
          </a:bodyPr>
          <a:lstStyle/>
          <a:p>
            <a:pPr marL="0" indent="0">
              <a:buNone/>
            </a:pPr>
            <a:r>
              <a:rPr lang="en-US" dirty="0"/>
              <a:t>The Degree Program Has Two “Academic Years”:</a:t>
            </a:r>
          </a:p>
          <a:p>
            <a:pPr marL="0" indent="0">
              <a:buNone/>
            </a:pPr>
            <a:r>
              <a:rPr lang="en-US" dirty="0"/>
              <a:t>1st Year.  Classes start. . . (take a mid-semester break [winter/spring breaks = intra-session recesses]) . . .Adjourn for summer vacation [Intersession recess] – </a:t>
            </a:r>
          </a:p>
          <a:p>
            <a:pPr marL="0" indent="0">
              <a:buNone/>
            </a:pPr>
            <a:r>
              <a:rPr lang="en-US" dirty="0"/>
              <a:t>2nd Year. Classes start. . . (take a mid-semester break [winter/spring breaks = intra-session recesses]) . . .Graduation [Adjourn the whole program] – </a:t>
            </a:r>
          </a:p>
          <a:p>
            <a:endParaRPr lang="en-US" dirty="0"/>
          </a:p>
        </p:txBody>
      </p:sp>
      <p:sp>
        <p:nvSpPr>
          <p:cNvPr id="4" name="Footer Placeholder 3"/>
          <p:cNvSpPr>
            <a:spLocks noGrp="1"/>
          </p:cNvSpPr>
          <p:nvPr>
            <p:ph type="ftr" sz="quarter" idx="11"/>
          </p:nvPr>
        </p:nvSpPr>
        <p:spPr/>
        <p:txBody>
          <a:bodyPr/>
          <a:lstStyle/>
          <a:p>
            <a:r>
              <a:rPr lang="en-US" sz="1400"/>
              <a:t>© Copyright 2026.  Peter M. Shane. All rights reserved. </a:t>
            </a:r>
            <a:endParaRPr lang="en-US" sz="1400" dirty="0"/>
          </a:p>
        </p:txBody>
      </p:sp>
      <p:sp>
        <p:nvSpPr>
          <p:cNvPr id="5" name="Slide Number Placeholder 4"/>
          <p:cNvSpPr>
            <a:spLocks noGrp="1"/>
          </p:cNvSpPr>
          <p:nvPr>
            <p:ph type="sldNum" sz="quarter" idx="12"/>
          </p:nvPr>
        </p:nvSpPr>
        <p:spPr/>
        <p:txBody>
          <a:bodyPr/>
          <a:lstStyle/>
          <a:p>
            <a:fld id="{4DBFBA8A-A64E-4688-B417-D8D3C3062699}" type="slidenum">
              <a:rPr lang="en-US" smtClean="0"/>
              <a:pPr/>
              <a:t>25</a:t>
            </a:fld>
            <a:endParaRPr lang="en-US"/>
          </a:p>
        </p:txBody>
      </p:sp>
    </p:spTree>
    <p:extLst>
      <p:ext uri="{BB962C8B-B14F-4D97-AF65-F5344CB8AC3E}">
        <p14:creationId xmlns:p14="http://schemas.microsoft.com/office/powerpoint/2010/main" val="2117930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Disputed Appointments</a:t>
            </a:r>
          </a:p>
        </p:txBody>
      </p:sp>
      <p:sp>
        <p:nvSpPr>
          <p:cNvPr id="3" name="Content Placeholder 2"/>
          <p:cNvSpPr>
            <a:spLocks noGrp="1"/>
          </p:cNvSpPr>
          <p:nvPr>
            <p:ph idx="1"/>
          </p:nvPr>
        </p:nvSpPr>
        <p:spPr/>
        <p:txBody>
          <a:bodyPr>
            <a:noAutofit/>
          </a:bodyPr>
          <a:lstStyle/>
          <a:p>
            <a:pPr marL="0" indent="0">
              <a:buNone/>
            </a:pPr>
            <a:r>
              <a:rPr lang="en-US" sz="2800" dirty="0"/>
              <a:t>Four Recess Appointments on January 4, 2012</a:t>
            </a:r>
          </a:p>
          <a:p>
            <a:r>
              <a:rPr lang="en-US" sz="2800" dirty="0"/>
              <a:t>Richard </a:t>
            </a:r>
            <a:r>
              <a:rPr lang="en-US" sz="2800" dirty="0" err="1"/>
              <a:t>Cordray</a:t>
            </a:r>
            <a:r>
              <a:rPr lang="en-US" sz="2800" dirty="0"/>
              <a:t>, to head the Consumer Financial Protection Bureau – nominated July 18, 2011</a:t>
            </a:r>
          </a:p>
          <a:p>
            <a:r>
              <a:rPr lang="en-US" sz="2800" dirty="0"/>
              <a:t>For the National Labor Relations Board</a:t>
            </a:r>
          </a:p>
          <a:p>
            <a:pPr lvl="1"/>
            <a:r>
              <a:rPr lang="en-US" sz="2400" dirty="0"/>
              <a:t>Terrence F. Flynn – nominated January 5, 2011</a:t>
            </a:r>
          </a:p>
          <a:p>
            <a:pPr lvl="1"/>
            <a:r>
              <a:rPr lang="en-US" sz="2400" dirty="0"/>
              <a:t>Sharon Block – nominated December 14, 2011</a:t>
            </a:r>
          </a:p>
          <a:p>
            <a:pPr lvl="1"/>
            <a:r>
              <a:rPr lang="en-US" sz="2400" dirty="0"/>
              <a:t>Richard F. Griffin Jr. – nominated December 14, 2011</a:t>
            </a:r>
          </a:p>
          <a:p>
            <a:r>
              <a:rPr lang="en-US" sz="2800" dirty="0"/>
              <a:t>Background:  Craig Becker nominated to NLRB on 7/9/09; recess appointment, 3/28/10; resubmitted, 1/26/2011; withdrawn, 12/14/2011.</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26</a:t>
            </a:fld>
            <a:endParaRPr lang="en-US"/>
          </a:p>
        </p:txBody>
      </p:sp>
    </p:spTree>
    <p:extLst>
      <p:ext uri="{BB962C8B-B14F-4D97-AF65-F5344CB8AC3E}">
        <p14:creationId xmlns:p14="http://schemas.microsoft.com/office/powerpoint/2010/main" val="3979959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Procedural Context</a:t>
            </a:r>
          </a:p>
        </p:txBody>
      </p:sp>
      <p:sp>
        <p:nvSpPr>
          <p:cNvPr id="3" name="Content Placeholder 2"/>
          <p:cNvSpPr>
            <a:spLocks noGrp="1"/>
          </p:cNvSpPr>
          <p:nvPr>
            <p:ph idx="1"/>
          </p:nvPr>
        </p:nvSpPr>
        <p:spPr/>
        <p:txBody>
          <a:bodyPr>
            <a:normAutofit fontScale="62500" lnSpcReduction="20000"/>
          </a:bodyPr>
          <a:lstStyle/>
          <a:p>
            <a:r>
              <a:rPr lang="en-US" dirty="0"/>
              <a:t>Because GOP House disagreed to adjournment of the Senate, it adopted the following order:</a:t>
            </a:r>
          </a:p>
          <a:p>
            <a:endParaRPr lang="en-US" dirty="0"/>
          </a:p>
          <a:p>
            <a:pPr marL="0" indent="0">
              <a:buNone/>
            </a:pPr>
            <a:r>
              <a:rPr lang="en-US" sz="2600" dirty="0"/>
              <a:t>Mr. WYDEN. Madam President, I ask unanimous consent that when the Senate completes its business today, it adjourn and </a:t>
            </a:r>
            <a:r>
              <a:rPr lang="en-US" sz="2600" dirty="0">
                <a:solidFill>
                  <a:srgbClr val="FF0000"/>
                </a:solidFill>
              </a:rPr>
              <a:t>convene for pro forma sessions only, with no business conducted </a:t>
            </a:r>
            <a:r>
              <a:rPr lang="en-US" sz="2600" dirty="0"/>
              <a:t>on the following dates and times, and that following each pro forma session the Senate adjourn until the following pro forma session: Tuesday, December 20, at 11 a.m.; Friday, December 23, at 9:30 a.m.; Tuesday, December 27, at 12 p.m.; Friday, December 30, at 11 a.m.; and that the second session of the 112</a:t>
            </a:r>
            <a:r>
              <a:rPr lang="en-US" sz="2600" baseline="30000" dirty="0"/>
              <a:t>th</a:t>
            </a:r>
            <a:r>
              <a:rPr lang="en-US" sz="2600" dirty="0"/>
              <a:t> Congress convene on Tuesday, January 3, at 12 p.m. for </a:t>
            </a:r>
            <a:r>
              <a:rPr lang="en-US" sz="2600" dirty="0">
                <a:solidFill>
                  <a:srgbClr val="FF0000"/>
                </a:solidFill>
              </a:rPr>
              <a:t>a pro forma session only, with no business conducted</a:t>
            </a:r>
            <a:r>
              <a:rPr lang="en-US" sz="2600" dirty="0"/>
              <a:t>, and that following the pro forma session the Senate adjourn and convene for </a:t>
            </a:r>
            <a:r>
              <a:rPr lang="en-US" sz="2600" dirty="0">
                <a:solidFill>
                  <a:srgbClr val="FF0000"/>
                </a:solidFill>
              </a:rPr>
              <a:t>pro forma sessions only, with no business conducted </a:t>
            </a:r>
            <a:r>
              <a:rPr lang="en-US" sz="2600" dirty="0"/>
              <a:t>on the following dates and times, and that following each pro forma session the Senate adjourn until the following pro forma session: Friday, January 6, at 11 a.m.; Tuesday, January 10, at 11 a.m.; Friday, January 13, at 12 p.m.; Tuesday, January 17, at 10:15 a.m.; Friday, January 20, at 2 p.m.; and that the Senate adjourn on Friday, January 20, until 2 p.m. on Monday, January 23 . . .</a:t>
            </a:r>
          </a:p>
          <a:p>
            <a:endParaRPr lang="en-US" dirty="0"/>
          </a:p>
          <a:p>
            <a:pPr marL="0" indent="0">
              <a:buNone/>
            </a:pPr>
            <a:r>
              <a:rPr lang="en-US" dirty="0"/>
              <a:t>157 Cong. Rec. S8783 (Dec. 17, 2011).</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27</a:t>
            </a:fld>
            <a:endParaRPr lang="en-US"/>
          </a:p>
        </p:txBody>
      </p:sp>
    </p:spTree>
    <p:extLst>
      <p:ext uri="{BB962C8B-B14F-4D97-AF65-F5344CB8AC3E}">
        <p14:creationId xmlns:p14="http://schemas.microsoft.com/office/powerpoint/2010/main" val="3049892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in </a:t>
            </a:r>
            <a:r>
              <a:rPr lang="en-US" i="1" dirty="0"/>
              <a:t>NLRB v. Noel Canning</a:t>
            </a:r>
          </a:p>
        </p:txBody>
      </p:sp>
      <p:sp>
        <p:nvSpPr>
          <p:cNvPr id="3" name="Content Placeholder 2"/>
          <p:cNvSpPr>
            <a:spLocks noGrp="1"/>
          </p:cNvSpPr>
          <p:nvPr>
            <p:ph idx="1"/>
          </p:nvPr>
        </p:nvSpPr>
        <p:spPr/>
        <p:txBody>
          <a:bodyPr>
            <a:normAutofit fontScale="92500" lnSpcReduction="10000"/>
          </a:bodyPr>
          <a:lstStyle/>
          <a:p>
            <a:r>
              <a:rPr lang="en-US" dirty="0"/>
              <a:t>The Intrasession Recess Issue:  May President exercise his RAP during, instead of between, sessions of the Senate?</a:t>
            </a:r>
          </a:p>
          <a:p>
            <a:r>
              <a:rPr lang="en-US" dirty="0"/>
              <a:t>The “Happens” Issue: May President use recess appointments power (RAP) to fill vacancies that did not first arise during the recess?</a:t>
            </a:r>
          </a:p>
          <a:p>
            <a:r>
              <a:rPr lang="en-US" dirty="0"/>
              <a:t>The Pro Forma Sessions Issue:  If President may exercise his RAP during sessions of the Senate, did pro forma sessions create 3-day periods of adjournment that don’t count as recesses?</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28</a:t>
            </a:fld>
            <a:endParaRPr lang="en-US"/>
          </a:p>
        </p:txBody>
      </p:sp>
    </p:spTree>
    <p:extLst>
      <p:ext uri="{BB962C8B-B14F-4D97-AF65-F5344CB8AC3E}">
        <p14:creationId xmlns:p14="http://schemas.microsoft.com/office/powerpoint/2010/main" val="1223485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in </a:t>
            </a:r>
            <a:r>
              <a:rPr lang="en-US" i="1" dirty="0"/>
              <a:t>NLRB v. Noel Canning</a:t>
            </a:r>
          </a:p>
        </p:txBody>
      </p:sp>
      <p:sp>
        <p:nvSpPr>
          <p:cNvPr id="3" name="Content Placeholder 2"/>
          <p:cNvSpPr>
            <a:spLocks noGrp="1"/>
          </p:cNvSpPr>
          <p:nvPr>
            <p:ph idx="1"/>
          </p:nvPr>
        </p:nvSpPr>
        <p:spPr/>
        <p:txBody>
          <a:bodyPr>
            <a:normAutofit fontScale="92500" lnSpcReduction="10000"/>
          </a:bodyPr>
          <a:lstStyle/>
          <a:p>
            <a:r>
              <a:rPr lang="en-US" dirty="0"/>
              <a:t>The Intrasession Recess Issue:  May President exercise his RAP during, instead of between, sessions of the Senate? </a:t>
            </a:r>
            <a:r>
              <a:rPr lang="en-US" b="1" dirty="0"/>
              <a:t>YES</a:t>
            </a:r>
          </a:p>
          <a:p>
            <a:r>
              <a:rPr lang="en-US" dirty="0"/>
              <a:t>The “Happens” Issue: May President use recess appointments power (RAP) to fill vacancies that did not first arise during the recess? </a:t>
            </a:r>
            <a:r>
              <a:rPr lang="en-US" b="1" dirty="0"/>
              <a:t>YES</a:t>
            </a:r>
          </a:p>
          <a:p>
            <a:r>
              <a:rPr lang="en-US" dirty="0"/>
              <a:t>The Pro Forma Sessions Issue:  If President may exercise his RAP during sessions of the Senate, did pro forma sessions create 3-day periods of adjournment that don’t count as recesses? </a:t>
            </a:r>
            <a:r>
              <a:rPr lang="en-US" b="1" dirty="0"/>
              <a:t>YES</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29</a:t>
            </a:fld>
            <a:endParaRPr lang="en-US"/>
          </a:p>
        </p:txBody>
      </p:sp>
    </p:spTree>
    <p:extLst>
      <p:ext uri="{BB962C8B-B14F-4D97-AF65-F5344CB8AC3E}">
        <p14:creationId xmlns:p14="http://schemas.microsoft.com/office/powerpoint/2010/main" val="204387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Institutional Practice</a:t>
            </a:r>
          </a:p>
        </p:txBody>
      </p:sp>
      <p:sp>
        <p:nvSpPr>
          <p:cNvPr id="3" name="Content Placeholder 2"/>
          <p:cNvSpPr>
            <a:spLocks noGrp="1"/>
          </p:cNvSpPr>
          <p:nvPr>
            <p:ph idx="1"/>
          </p:nvPr>
        </p:nvSpPr>
        <p:spPr/>
        <p:txBody>
          <a:bodyPr>
            <a:normAutofit lnSpcReduction="10000"/>
          </a:bodyPr>
          <a:lstStyle/>
          <a:p>
            <a:r>
              <a:rPr lang="en-US" dirty="0"/>
              <a:t>RAP used no matter when vacancy occurs since Madison </a:t>
            </a:r>
          </a:p>
          <a:p>
            <a:r>
              <a:rPr lang="en-US" dirty="0"/>
              <a:t>RAP used for intrasession appointments at least since 1920s </a:t>
            </a:r>
          </a:p>
          <a:p>
            <a:r>
              <a:rPr lang="en-US" dirty="0"/>
              <a:t>“Pay Act” allows recess appointees to be paid no matter when vacancy arose </a:t>
            </a:r>
          </a:p>
          <a:p>
            <a:r>
              <a:rPr lang="en-US" dirty="0"/>
              <a:t>Presidents have treated 10 days as enough adjournment time to permit appointment </a:t>
            </a:r>
          </a:p>
          <a:p>
            <a:r>
              <a:rPr lang="en-US" dirty="0"/>
              <a:t>Pro forma session routine started in 2005</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4DBFBA8A-A64E-4688-B417-D8D3C3062699}" type="slidenum">
              <a:rPr lang="en-US" smtClean="0"/>
              <a:pPr/>
              <a:t>30</a:t>
            </a:fld>
            <a:endParaRPr lang="en-US"/>
          </a:p>
        </p:txBody>
      </p:sp>
    </p:spTree>
    <p:extLst>
      <p:ext uri="{BB962C8B-B14F-4D97-AF65-F5344CB8AC3E}">
        <p14:creationId xmlns:p14="http://schemas.microsoft.com/office/powerpoint/2010/main" val="3362165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F6DE-18AE-3F28-E571-9A040A876FC0}"/>
              </a:ext>
            </a:extLst>
          </p:cNvPr>
          <p:cNvSpPr>
            <a:spLocks noGrp="1"/>
          </p:cNvSpPr>
          <p:nvPr>
            <p:ph type="title"/>
          </p:nvPr>
        </p:nvSpPr>
        <p:spPr/>
        <p:txBody>
          <a:bodyPr>
            <a:normAutofit fontScale="90000"/>
          </a:bodyPr>
          <a:lstStyle/>
          <a:p>
            <a:r>
              <a:rPr lang="en-US" dirty="0"/>
              <a:t>Federal Vacancies Reform Act,</a:t>
            </a:r>
            <a:br>
              <a:rPr lang="en-US" dirty="0"/>
            </a:br>
            <a:r>
              <a:rPr lang="en-US" dirty="0"/>
              <a:t>5 U.S.C. § 3345</a:t>
            </a:r>
          </a:p>
        </p:txBody>
      </p:sp>
      <p:sp>
        <p:nvSpPr>
          <p:cNvPr id="3" name="Content Placeholder 2">
            <a:extLst>
              <a:ext uri="{FF2B5EF4-FFF2-40B4-BE49-F238E27FC236}">
                <a16:creationId xmlns:a16="http://schemas.microsoft.com/office/drawing/2014/main" id="{9350B418-01D3-9F4B-B224-A596FC6F719F}"/>
              </a:ext>
            </a:extLst>
          </p:cNvPr>
          <p:cNvSpPr>
            <a:spLocks noGrp="1"/>
          </p:cNvSpPr>
          <p:nvPr>
            <p:ph idx="1"/>
          </p:nvPr>
        </p:nvSpPr>
        <p:spPr/>
        <p:txBody>
          <a:bodyPr>
            <a:normAutofit fontScale="92500"/>
          </a:bodyPr>
          <a:lstStyle/>
          <a:p>
            <a:pPr marL="0" indent="0">
              <a:buNone/>
            </a:pPr>
            <a:r>
              <a:rPr lang="en-US" sz="1600" dirty="0"/>
              <a:t>(a) If an officer of an Executive agency (including the Executive Office of the President, and other than the Government Accountability Office) whose appointment to office is required to be made by the President, by and with the advice and consent of the Senate, dies, resigns, or is otherwise unable to perform the functions and duties of the office—</a:t>
            </a:r>
          </a:p>
          <a:p>
            <a:r>
              <a:rPr lang="en-US" sz="1600" dirty="0"/>
              <a:t>(1) the first assistant to the office of such officer shall perform the functions and duties of the office temporarily in an acting capacity subject to the time limitations of section 3346;</a:t>
            </a:r>
          </a:p>
          <a:p>
            <a:r>
              <a:rPr lang="en-US" sz="1600" dirty="0"/>
              <a:t>(2) notwithstanding paragraph (1), the President (and only the President) may direct a person who serves in an office for which appointment is required to be made by the President, by and with the advice and consent of the Senate, to perform the functions and duties of the vacant office temporarily in an acting capacity subject to the time limitations of section 3346; or</a:t>
            </a:r>
          </a:p>
          <a:p>
            <a:r>
              <a:rPr lang="en-US" sz="1600" dirty="0"/>
              <a:t>(3) notwithstanding paragraph (1), the President (and only the President) may direct an officer or employee of such Executive agency to perform the functions and duties of the vacant office temporarily in an acting capacity, subject to the time limitations of section 3346, if—</a:t>
            </a:r>
          </a:p>
          <a:p>
            <a:pPr lvl="1"/>
            <a:r>
              <a:rPr lang="en-US" sz="1500" dirty="0"/>
              <a:t>(A) during the 365-day period preceding the date of death, resignation, or beginning of inability to serve of the applicable officer, the officer or employee served in a position in such agency for not less than 90 days; and</a:t>
            </a:r>
          </a:p>
          <a:p>
            <a:pPr lvl="1"/>
            <a:r>
              <a:rPr lang="en-US" sz="1500" dirty="0"/>
              <a:t>(B) the rate of pay for the position described under subparagraph (A) is equal to or greater than the minimum rate of pay payable for a position at GS–15 of the General Schedule.</a:t>
            </a:r>
          </a:p>
        </p:txBody>
      </p:sp>
      <p:sp>
        <p:nvSpPr>
          <p:cNvPr id="4" name="Footer Placeholder 3">
            <a:extLst>
              <a:ext uri="{FF2B5EF4-FFF2-40B4-BE49-F238E27FC236}">
                <a16:creationId xmlns:a16="http://schemas.microsoft.com/office/drawing/2014/main" id="{2F97DD71-49E4-2429-2B09-888452F0EEEC}"/>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2BEEE53B-0627-5F6F-27C3-C012EF9A8609}"/>
              </a:ext>
            </a:extLst>
          </p:cNvPr>
          <p:cNvSpPr>
            <a:spLocks noGrp="1"/>
          </p:cNvSpPr>
          <p:nvPr>
            <p:ph type="sldNum" sz="quarter" idx="12"/>
          </p:nvPr>
        </p:nvSpPr>
        <p:spPr/>
        <p:txBody>
          <a:bodyPr/>
          <a:lstStyle/>
          <a:p>
            <a:fld id="{4DBFBA8A-A64E-4688-B417-D8D3C3062699}" type="slidenum">
              <a:rPr lang="en-US" smtClean="0"/>
              <a:pPr/>
              <a:t>31</a:t>
            </a:fld>
            <a:endParaRPr lang="en-US"/>
          </a:p>
        </p:txBody>
      </p:sp>
    </p:spTree>
    <p:extLst>
      <p:ext uri="{BB962C8B-B14F-4D97-AF65-F5344CB8AC3E}">
        <p14:creationId xmlns:p14="http://schemas.microsoft.com/office/powerpoint/2010/main" val="312208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6753-A701-1EE5-ACE3-D9AE72DBB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D4B23-5F3D-C80F-CB40-CB056CC88327}"/>
              </a:ext>
            </a:extLst>
          </p:cNvPr>
          <p:cNvSpPr>
            <a:spLocks noGrp="1"/>
          </p:cNvSpPr>
          <p:nvPr>
            <p:ph type="title"/>
          </p:nvPr>
        </p:nvSpPr>
        <p:spPr/>
        <p:txBody>
          <a:bodyPr>
            <a:normAutofit fontScale="90000"/>
          </a:bodyPr>
          <a:lstStyle/>
          <a:p>
            <a:r>
              <a:rPr lang="en-US" dirty="0"/>
              <a:t>Federal Vacancies Reform Act,</a:t>
            </a:r>
            <a:br>
              <a:rPr lang="en-US" dirty="0"/>
            </a:br>
            <a:r>
              <a:rPr lang="en-US" dirty="0"/>
              <a:t>5 U.S.C. § 3349c</a:t>
            </a:r>
          </a:p>
        </p:txBody>
      </p:sp>
      <p:sp>
        <p:nvSpPr>
          <p:cNvPr id="3" name="Content Placeholder 2">
            <a:extLst>
              <a:ext uri="{FF2B5EF4-FFF2-40B4-BE49-F238E27FC236}">
                <a16:creationId xmlns:a16="http://schemas.microsoft.com/office/drawing/2014/main" id="{246DFFBD-506F-B4F7-5963-A9E8A98EFC97}"/>
              </a:ext>
            </a:extLst>
          </p:cNvPr>
          <p:cNvSpPr>
            <a:spLocks noGrp="1"/>
          </p:cNvSpPr>
          <p:nvPr>
            <p:ph idx="1"/>
          </p:nvPr>
        </p:nvSpPr>
        <p:spPr/>
        <p:txBody>
          <a:bodyPr>
            <a:normAutofit fontScale="77500" lnSpcReduction="20000"/>
          </a:bodyPr>
          <a:lstStyle/>
          <a:p>
            <a:pPr marL="0" indent="0">
              <a:buNone/>
            </a:pPr>
            <a:r>
              <a:rPr lang="en-US" dirty="0"/>
              <a:t>Sections </a:t>
            </a:r>
            <a:r>
              <a:rPr lang="en-US" dirty="0">
                <a:hlinkClick r:id="rId2"/>
              </a:rPr>
              <a:t>3345</a:t>
            </a:r>
            <a:r>
              <a:rPr lang="en-US" dirty="0"/>
              <a:t> through </a:t>
            </a:r>
            <a:r>
              <a:rPr lang="en-US" dirty="0">
                <a:hlinkClick r:id="rId3"/>
              </a:rPr>
              <a:t>3349b</a:t>
            </a:r>
            <a:r>
              <a:rPr lang="en-US" dirty="0"/>
              <a:t> shall not apply to—</a:t>
            </a:r>
          </a:p>
          <a:p>
            <a:r>
              <a:rPr lang="en-US" b="1" dirty="0"/>
              <a:t>(1) </a:t>
            </a:r>
            <a:r>
              <a:rPr lang="en-US" dirty="0"/>
              <a:t>any member who is appointed by the President, by and with the advice and consent of the Senate to any board, commission, or similar entity that—</a:t>
            </a:r>
          </a:p>
          <a:p>
            <a:pPr lvl="1"/>
            <a:r>
              <a:rPr lang="en-US" b="1" dirty="0"/>
              <a:t>(A) </a:t>
            </a:r>
            <a:r>
              <a:rPr lang="en-US" dirty="0"/>
              <a:t>is composed of multiple members; and</a:t>
            </a:r>
          </a:p>
          <a:p>
            <a:pPr lvl="1"/>
            <a:r>
              <a:rPr lang="en-US" b="1" dirty="0"/>
              <a:t>(B) </a:t>
            </a:r>
            <a:r>
              <a:rPr lang="en-US" dirty="0"/>
              <a:t>governs an independent establishment or Government corporation;</a:t>
            </a:r>
          </a:p>
          <a:p>
            <a:r>
              <a:rPr lang="en-US" b="1" dirty="0"/>
              <a:t>(2) </a:t>
            </a:r>
            <a:r>
              <a:rPr lang="en-US" dirty="0"/>
              <a:t>any commissioner of the Federal Energy Regulatory Commission;</a:t>
            </a:r>
          </a:p>
          <a:p>
            <a:r>
              <a:rPr lang="en-US" b="1" dirty="0"/>
              <a:t>(3) </a:t>
            </a:r>
            <a:r>
              <a:rPr lang="en-US" dirty="0"/>
              <a:t>any member of the Surface Transportation Board; or</a:t>
            </a:r>
          </a:p>
          <a:p>
            <a:r>
              <a:rPr lang="en-US" b="1" dirty="0"/>
              <a:t>(4) </a:t>
            </a:r>
            <a:r>
              <a:rPr lang="en-US" dirty="0"/>
              <a:t>any judge appointed by the President, by and with the advice and consent of the Senate, to a court constituted under article I of the United States Constitution.</a:t>
            </a:r>
          </a:p>
          <a:p>
            <a:pPr marL="0" indent="0">
              <a:buNone/>
            </a:pPr>
            <a:endParaRPr lang="en-US" dirty="0"/>
          </a:p>
        </p:txBody>
      </p:sp>
      <p:sp>
        <p:nvSpPr>
          <p:cNvPr id="4" name="Footer Placeholder 3">
            <a:extLst>
              <a:ext uri="{FF2B5EF4-FFF2-40B4-BE49-F238E27FC236}">
                <a16:creationId xmlns:a16="http://schemas.microsoft.com/office/drawing/2014/main" id="{9DCBC2F6-43F3-D6AB-5AB2-376D66A8311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2738B2DE-C28C-38F0-61F1-8AFAC385E977}"/>
              </a:ext>
            </a:extLst>
          </p:cNvPr>
          <p:cNvSpPr>
            <a:spLocks noGrp="1"/>
          </p:cNvSpPr>
          <p:nvPr>
            <p:ph type="sldNum" sz="quarter" idx="12"/>
          </p:nvPr>
        </p:nvSpPr>
        <p:spPr/>
        <p:txBody>
          <a:bodyPr/>
          <a:lstStyle/>
          <a:p>
            <a:fld id="{4DBFBA8A-A64E-4688-B417-D8D3C3062699}" type="slidenum">
              <a:rPr lang="en-US" smtClean="0"/>
              <a:pPr/>
              <a:t>32</a:t>
            </a:fld>
            <a:endParaRPr lang="en-US"/>
          </a:p>
        </p:txBody>
      </p:sp>
    </p:spTree>
    <p:extLst>
      <p:ext uri="{BB962C8B-B14F-4D97-AF65-F5344CB8AC3E}">
        <p14:creationId xmlns:p14="http://schemas.microsoft.com/office/powerpoint/2010/main" val="479037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29224-013F-7915-2221-6D4B14A168B7}"/>
              </a:ext>
            </a:extLst>
          </p:cNvPr>
          <p:cNvSpPr>
            <a:spLocks noGrp="1"/>
          </p:cNvSpPr>
          <p:nvPr>
            <p:ph type="title"/>
          </p:nvPr>
        </p:nvSpPr>
        <p:spPr/>
        <p:txBody>
          <a:bodyPr>
            <a:normAutofit fontScale="90000"/>
          </a:bodyPr>
          <a:lstStyle/>
          <a:p>
            <a:r>
              <a:rPr lang="en-US" dirty="0"/>
              <a:t>Unconventional Vacancy Responses </a:t>
            </a:r>
            <a:br>
              <a:rPr lang="en-US" dirty="0"/>
            </a:br>
            <a:r>
              <a:rPr lang="en-US" dirty="0"/>
              <a:t>in Trump I, Biden, Trump II</a:t>
            </a:r>
          </a:p>
        </p:txBody>
      </p:sp>
      <p:sp>
        <p:nvSpPr>
          <p:cNvPr id="3" name="Content Placeholder 2">
            <a:extLst>
              <a:ext uri="{FF2B5EF4-FFF2-40B4-BE49-F238E27FC236}">
                <a16:creationId xmlns:a16="http://schemas.microsoft.com/office/drawing/2014/main" id="{85C6A6E6-2BBF-619B-7C76-7E9AD839EF5F}"/>
              </a:ext>
            </a:extLst>
          </p:cNvPr>
          <p:cNvSpPr>
            <a:spLocks noGrp="1"/>
          </p:cNvSpPr>
          <p:nvPr>
            <p:ph idx="1"/>
          </p:nvPr>
        </p:nvSpPr>
        <p:spPr/>
        <p:txBody>
          <a:bodyPr>
            <a:normAutofit fontScale="92500" lnSpcReduction="10000"/>
          </a:bodyPr>
          <a:lstStyle/>
          <a:p>
            <a:r>
              <a:rPr lang="en-US" dirty="0"/>
              <a:t>Trump I</a:t>
            </a:r>
          </a:p>
          <a:p>
            <a:pPr lvl="1"/>
            <a:r>
              <a:rPr lang="en-US" dirty="0"/>
              <a:t>Appointing a PAS official from outside the agency to be its acting head (CFPB)</a:t>
            </a:r>
          </a:p>
          <a:p>
            <a:pPr lvl="1"/>
            <a:r>
              <a:rPr lang="en-US" dirty="0"/>
              <a:t>Appointing a non-PAS official as Acting AG when not necessary because of timing</a:t>
            </a:r>
          </a:p>
          <a:p>
            <a:r>
              <a:rPr lang="en-US" dirty="0"/>
              <a:t>Biden</a:t>
            </a:r>
          </a:p>
          <a:p>
            <a:pPr lvl="1"/>
            <a:r>
              <a:rPr lang="en-US" dirty="0"/>
              <a:t>With Senate cooperation, used </a:t>
            </a:r>
            <a:r>
              <a:rPr lang="en-US" dirty="0" err="1"/>
              <a:t>DoL</a:t>
            </a:r>
            <a:r>
              <a:rPr lang="en-US" dirty="0"/>
              <a:t> statute to keep Deputy Secretary as Acting indefinitely</a:t>
            </a:r>
          </a:p>
          <a:p>
            <a:r>
              <a:rPr lang="en-US" dirty="0"/>
              <a:t>Trump II</a:t>
            </a:r>
          </a:p>
          <a:p>
            <a:pPr lvl="1"/>
            <a:r>
              <a:rPr lang="en-US" dirty="0"/>
              <a:t>Accelerated use of “multi-hat” acting appointments</a:t>
            </a:r>
          </a:p>
        </p:txBody>
      </p:sp>
      <p:sp>
        <p:nvSpPr>
          <p:cNvPr id="4" name="Footer Placeholder 3">
            <a:extLst>
              <a:ext uri="{FF2B5EF4-FFF2-40B4-BE49-F238E27FC236}">
                <a16:creationId xmlns:a16="http://schemas.microsoft.com/office/drawing/2014/main" id="{D69824F5-9667-5C3B-4E50-01766A996273}"/>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52605FA7-F3F6-8B6C-3ED9-943564272113}"/>
              </a:ext>
            </a:extLst>
          </p:cNvPr>
          <p:cNvSpPr>
            <a:spLocks noGrp="1"/>
          </p:cNvSpPr>
          <p:nvPr>
            <p:ph type="sldNum" sz="quarter" idx="12"/>
          </p:nvPr>
        </p:nvSpPr>
        <p:spPr/>
        <p:txBody>
          <a:bodyPr/>
          <a:lstStyle/>
          <a:p>
            <a:fld id="{4DBFBA8A-A64E-4688-B417-D8D3C3062699}" type="slidenum">
              <a:rPr lang="en-US" smtClean="0"/>
              <a:pPr/>
              <a:t>33</a:t>
            </a:fld>
            <a:endParaRPr lang="en-US"/>
          </a:p>
        </p:txBody>
      </p:sp>
    </p:spTree>
    <p:extLst>
      <p:ext uri="{BB962C8B-B14F-4D97-AF65-F5344CB8AC3E}">
        <p14:creationId xmlns:p14="http://schemas.microsoft.com/office/powerpoint/2010/main" val="2572731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CB587-D7E4-8F4D-A572-1D3CFF53F8D5}"/>
              </a:ext>
            </a:extLst>
          </p:cNvPr>
          <p:cNvSpPr>
            <a:spLocks noGrp="1"/>
          </p:cNvSpPr>
          <p:nvPr>
            <p:ph type="title"/>
          </p:nvPr>
        </p:nvSpPr>
        <p:spPr/>
        <p:txBody>
          <a:bodyPr/>
          <a:lstStyle/>
          <a:p>
            <a:r>
              <a:rPr lang="en-US" dirty="0"/>
              <a:t>Civil Service</a:t>
            </a:r>
          </a:p>
        </p:txBody>
      </p:sp>
      <p:graphicFrame>
        <p:nvGraphicFramePr>
          <p:cNvPr id="4" name="Table 4">
            <a:extLst>
              <a:ext uri="{FF2B5EF4-FFF2-40B4-BE49-F238E27FC236}">
                <a16:creationId xmlns:a16="http://schemas.microsoft.com/office/drawing/2014/main" id="{01CC53EA-0CCC-974A-93B4-B44BFA7E64E0}"/>
              </a:ext>
            </a:extLst>
          </p:cNvPr>
          <p:cNvGraphicFramePr>
            <a:graphicFrameLocks noGrp="1"/>
          </p:cNvGraphicFramePr>
          <p:nvPr>
            <p:ph idx="1"/>
            <p:extLst>
              <p:ext uri="{D42A27DB-BD31-4B8C-83A1-F6EECF244321}">
                <p14:modId xmlns:p14="http://schemas.microsoft.com/office/powerpoint/2010/main" val="2298245010"/>
              </p:ext>
            </p:extLst>
          </p:nvPr>
        </p:nvGraphicFramePr>
        <p:xfrm>
          <a:off x="457200" y="1371600"/>
          <a:ext cx="8229600" cy="4500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498565589"/>
                    </a:ext>
                  </a:extLst>
                </a:gridCol>
                <a:gridCol w="2743200">
                  <a:extLst>
                    <a:ext uri="{9D8B030D-6E8A-4147-A177-3AD203B41FA5}">
                      <a16:colId xmlns:a16="http://schemas.microsoft.com/office/drawing/2014/main" val="30155291"/>
                    </a:ext>
                  </a:extLst>
                </a:gridCol>
                <a:gridCol w="2743200">
                  <a:extLst>
                    <a:ext uri="{9D8B030D-6E8A-4147-A177-3AD203B41FA5}">
                      <a16:colId xmlns:a16="http://schemas.microsoft.com/office/drawing/2014/main" val="1470348789"/>
                    </a:ext>
                  </a:extLst>
                </a:gridCol>
              </a:tblGrid>
              <a:tr h="599440">
                <a:tc>
                  <a:txBody>
                    <a:bodyPr/>
                    <a:lstStyle/>
                    <a:p>
                      <a:pPr algn="ctr"/>
                      <a:r>
                        <a:rPr lang="en-US" sz="1700" baseline="0" dirty="0"/>
                        <a:t>Branch</a:t>
                      </a:r>
                    </a:p>
                  </a:txBody>
                  <a:tcPr/>
                </a:tc>
                <a:tc>
                  <a:txBody>
                    <a:bodyPr/>
                    <a:lstStyle/>
                    <a:p>
                      <a:pPr algn="ctr"/>
                      <a:r>
                        <a:rPr lang="en-US" sz="1700" baseline="0" dirty="0"/>
                        <a:t>Selection/Appointment</a:t>
                      </a:r>
                    </a:p>
                  </a:txBody>
                  <a:tcPr/>
                </a:tc>
                <a:tc>
                  <a:txBody>
                    <a:bodyPr/>
                    <a:lstStyle/>
                    <a:p>
                      <a:pPr algn="ctr"/>
                      <a:r>
                        <a:rPr lang="en-US" sz="1700" baseline="0" dirty="0"/>
                        <a:t>Removal</a:t>
                      </a:r>
                    </a:p>
                  </a:txBody>
                  <a:tcPr/>
                </a:tc>
                <a:extLst>
                  <a:ext uri="{0D108BD9-81ED-4DB2-BD59-A6C34878D82A}">
                    <a16:rowId xmlns:a16="http://schemas.microsoft.com/office/drawing/2014/main" val="1922662870"/>
                  </a:ext>
                </a:extLst>
              </a:tr>
              <a:tr h="370840">
                <a:tc>
                  <a:txBody>
                    <a:bodyPr/>
                    <a:lstStyle/>
                    <a:p>
                      <a:r>
                        <a:rPr lang="en-US" sz="1700" baseline="0" dirty="0"/>
                        <a:t>Competitive - Default</a:t>
                      </a:r>
                    </a:p>
                  </a:txBody>
                  <a:tcPr/>
                </a:tc>
                <a:tc>
                  <a:txBody>
                    <a:bodyPr/>
                    <a:lstStyle/>
                    <a:p>
                      <a:r>
                        <a:rPr lang="en-US" sz="1700" baseline="0" dirty="0"/>
                        <a:t>Competitive examination; may be term-limited or career positions</a:t>
                      </a:r>
                    </a:p>
                  </a:txBody>
                  <a:tcPr/>
                </a:tc>
                <a:tc>
                  <a:txBody>
                    <a:bodyPr/>
                    <a:lstStyle/>
                    <a:p>
                      <a:r>
                        <a:rPr lang="en-US" sz="1700" baseline="0" dirty="0"/>
                        <a:t>Robust notice and hearing requirements</a:t>
                      </a:r>
                    </a:p>
                  </a:txBody>
                  <a:tcPr/>
                </a:tc>
                <a:extLst>
                  <a:ext uri="{0D108BD9-81ED-4DB2-BD59-A6C34878D82A}">
                    <a16:rowId xmlns:a16="http://schemas.microsoft.com/office/drawing/2014/main" val="2242845111"/>
                  </a:ext>
                </a:extLst>
              </a:tr>
              <a:tr h="370840">
                <a:tc>
                  <a:txBody>
                    <a:bodyPr/>
                    <a:lstStyle/>
                    <a:p>
                      <a:r>
                        <a:rPr lang="en-US" sz="1700" baseline="0" dirty="0"/>
                        <a:t>Excepted (About 1/3)</a:t>
                      </a:r>
                    </a:p>
                  </a:txBody>
                  <a:tcPr/>
                </a:tc>
                <a:tc>
                  <a:txBody>
                    <a:bodyPr/>
                    <a:lstStyle/>
                    <a:p>
                      <a:r>
                        <a:rPr lang="en-US" sz="1700" baseline="0" dirty="0"/>
                        <a:t>Policy-making or confidential positions; other positions for which examination impracticable, specific occupational standards met, or hard to recruit</a:t>
                      </a:r>
                    </a:p>
                  </a:txBody>
                  <a:tcPr/>
                </a:tc>
                <a:tc>
                  <a:txBody>
                    <a:bodyPr/>
                    <a:lstStyle/>
                    <a:p>
                      <a:r>
                        <a:rPr lang="en-US" sz="1700" baseline="0" dirty="0"/>
                        <a:t>Robust protections generally apply if “preference eligible,” or past probationary period</a:t>
                      </a:r>
                    </a:p>
                  </a:txBody>
                  <a:tcPr/>
                </a:tc>
                <a:extLst>
                  <a:ext uri="{0D108BD9-81ED-4DB2-BD59-A6C34878D82A}">
                    <a16:rowId xmlns:a16="http://schemas.microsoft.com/office/drawing/2014/main" val="1602426158"/>
                  </a:ext>
                </a:extLst>
              </a:tr>
              <a:tr h="370840">
                <a:tc>
                  <a:txBody>
                    <a:bodyPr/>
                    <a:lstStyle/>
                    <a:p>
                      <a:r>
                        <a:rPr lang="en-US" sz="1700" baseline="0" dirty="0"/>
                        <a:t>Senior Executive Service – career-reserved, or general</a:t>
                      </a:r>
                    </a:p>
                  </a:txBody>
                  <a:tcPr/>
                </a:tc>
                <a:tc>
                  <a:txBody>
                    <a:bodyPr/>
                    <a:lstStyle/>
                    <a:p>
                      <a:r>
                        <a:rPr lang="en-US" sz="1700" baseline="0" dirty="0"/>
                        <a:t>Career: merit-based competitive selection</a:t>
                      </a:r>
                    </a:p>
                    <a:p>
                      <a:r>
                        <a:rPr lang="en-US" sz="1700" baseline="0" dirty="0"/>
                        <a:t>Non-career: limited, non-renewable terms</a:t>
                      </a:r>
                    </a:p>
                  </a:txBody>
                  <a:tcPr/>
                </a:tc>
                <a:tc>
                  <a:txBody>
                    <a:bodyPr/>
                    <a:lstStyle/>
                    <a:p>
                      <a:r>
                        <a:rPr lang="en-US" sz="1700" baseline="0" dirty="0"/>
                        <a:t>Non-career easy to remove; Career get notice and hearing, but transferable upon unsatisfactory performance</a:t>
                      </a:r>
                    </a:p>
                  </a:txBody>
                  <a:tcPr/>
                </a:tc>
                <a:extLst>
                  <a:ext uri="{0D108BD9-81ED-4DB2-BD59-A6C34878D82A}">
                    <a16:rowId xmlns:a16="http://schemas.microsoft.com/office/drawing/2014/main" val="957355425"/>
                  </a:ext>
                </a:extLst>
              </a:tr>
            </a:tbl>
          </a:graphicData>
        </a:graphic>
      </p:graphicFrame>
      <p:sp>
        <p:nvSpPr>
          <p:cNvPr id="5" name="Footer Placeholder 4">
            <a:extLst>
              <a:ext uri="{FF2B5EF4-FFF2-40B4-BE49-F238E27FC236}">
                <a16:creationId xmlns:a16="http://schemas.microsoft.com/office/drawing/2014/main" id="{143649C8-DF08-854C-88D8-BDB9DAD21F92}"/>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28896C25-6115-3546-AB0D-CAD0F29EFF7D}"/>
              </a:ext>
            </a:extLst>
          </p:cNvPr>
          <p:cNvSpPr>
            <a:spLocks noGrp="1"/>
          </p:cNvSpPr>
          <p:nvPr>
            <p:ph type="sldNum" sz="quarter" idx="12"/>
          </p:nvPr>
        </p:nvSpPr>
        <p:spPr/>
        <p:txBody>
          <a:bodyPr/>
          <a:lstStyle/>
          <a:p>
            <a:fld id="{8113A645-D982-4BAE-BB92-E77D21EF3520}" type="slidenum">
              <a:rPr lang="en-US" smtClean="0"/>
              <a:t>34</a:t>
            </a:fld>
            <a:endParaRPr lang="en-US"/>
          </a:p>
        </p:txBody>
      </p:sp>
    </p:spTree>
    <p:extLst>
      <p:ext uri="{BB962C8B-B14F-4D97-AF65-F5344CB8AC3E}">
        <p14:creationId xmlns:p14="http://schemas.microsoft.com/office/powerpoint/2010/main" val="1738773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88FC-A9A8-684B-95A5-9461B34E944B}"/>
              </a:ext>
            </a:extLst>
          </p:cNvPr>
          <p:cNvSpPr>
            <a:spLocks noGrp="1"/>
          </p:cNvSpPr>
          <p:nvPr>
            <p:ph type="title"/>
          </p:nvPr>
        </p:nvSpPr>
        <p:spPr/>
        <p:txBody>
          <a:bodyPr/>
          <a:lstStyle/>
          <a:p>
            <a:r>
              <a:rPr lang="en-US" dirty="0"/>
              <a:t>Trump Schedule F Order</a:t>
            </a:r>
          </a:p>
        </p:txBody>
      </p:sp>
      <p:sp>
        <p:nvSpPr>
          <p:cNvPr id="3" name="Content Placeholder 2">
            <a:extLst>
              <a:ext uri="{FF2B5EF4-FFF2-40B4-BE49-F238E27FC236}">
                <a16:creationId xmlns:a16="http://schemas.microsoft.com/office/drawing/2014/main" id="{A5EE7BA1-0A84-4043-B288-1EB508C08B93}"/>
              </a:ext>
            </a:extLst>
          </p:cNvPr>
          <p:cNvSpPr>
            <a:spLocks noGrp="1"/>
          </p:cNvSpPr>
          <p:nvPr>
            <p:ph idx="1"/>
          </p:nvPr>
        </p:nvSpPr>
        <p:spPr/>
        <p:txBody>
          <a:bodyPr>
            <a:normAutofit fontScale="85000" lnSpcReduction="10000"/>
          </a:bodyPr>
          <a:lstStyle/>
          <a:p>
            <a:r>
              <a:rPr lang="en-US" dirty="0"/>
              <a:t>Would move career service employees in confidential, policy-determining, policy-making, or policy-advocating positions</a:t>
            </a:r>
          </a:p>
          <a:p>
            <a:r>
              <a:rPr lang="en-US" dirty="0"/>
              <a:t>Demands of the job supposedly consistent with more flexibility in selection and greater authority to enforce quality performance</a:t>
            </a:r>
          </a:p>
          <a:p>
            <a:r>
              <a:rPr lang="en-US" dirty="0"/>
              <a:t>Would exempt most excepted service schedules from operation of civil service removal protections</a:t>
            </a:r>
          </a:p>
          <a:p>
            <a:r>
              <a:rPr lang="en-US" dirty="0"/>
              <a:t>Revoked by Biden Order on 1/22/2021</a:t>
            </a:r>
          </a:p>
          <a:p>
            <a:r>
              <a:rPr lang="en-US" dirty="0"/>
              <a:t>Resurrected by Trump Schedule P/C Order on 1/20/25</a:t>
            </a:r>
          </a:p>
          <a:p>
            <a:endParaRPr lang="en-US" dirty="0"/>
          </a:p>
        </p:txBody>
      </p:sp>
      <p:sp>
        <p:nvSpPr>
          <p:cNvPr id="4" name="Footer Placeholder 3">
            <a:extLst>
              <a:ext uri="{FF2B5EF4-FFF2-40B4-BE49-F238E27FC236}">
                <a16:creationId xmlns:a16="http://schemas.microsoft.com/office/drawing/2014/main" id="{4302C9D1-B2A1-AD4B-88E8-E25C1E47F0F3}"/>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C329E879-2D33-B746-A672-2CC79B5174C4}"/>
              </a:ext>
            </a:extLst>
          </p:cNvPr>
          <p:cNvSpPr>
            <a:spLocks noGrp="1"/>
          </p:cNvSpPr>
          <p:nvPr>
            <p:ph type="sldNum" sz="quarter" idx="12"/>
          </p:nvPr>
        </p:nvSpPr>
        <p:spPr/>
        <p:txBody>
          <a:bodyPr/>
          <a:lstStyle/>
          <a:p>
            <a:fld id="{8113A645-D982-4BAE-BB92-E77D21EF3520}" type="slidenum">
              <a:rPr lang="en-US" smtClean="0"/>
              <a:t>35</a:t>
            </a:fld>
            <a:endParaRPr lang="en-US"/>
          </a:p>
        </p:txBody>
      </p:sp>
    </p:spTree>
    <p:extLst>
      <p:ext uri="{BB962C8B-B14F-4D97-AF65-F5344CB8AC3E}">
        <p14:creationId xmlns:p14="http://schemas.microsoft.com/office/powerpoint/2010/main" val="3688890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C0D83-65DD-CC6F-F2CE-CF81B09DF7C9}"/>
              </a:ext>
            </a:extLst>
          </p:cNvPr>
          <p:cNvSpPr>
            <a:spLocks noGrp="1"/>
          </p:cNvSpPr>
          <p:nvPr>
            <p:ph type="title"/>
          </p:nvPr>
        </p:nvSpPr>
        <p:spPr/>
        <p:txBody>
          <a:bodyPr>
            <a:normAutofit fontScale="90000"/>
          </a:bodyPr>
          <a:lstStyle/>
          <a:p>
            <a:r>
              <a:rPr lang="en-US" dirty="0"/>
              <a:t>The Contentious Statutory Text</a:t>
            </a:r>
            <a:br>
              <a:rPr lang="en-US" dirty="0"/>
            </a:br>
            <a:r>
              <a:rPr lang="en-US" dirty="0"/>
              <a:t>5 U.S.C. § 7511</a:t>
            </a:r>
          </a:p>
        </p:txBody>
      </p:sp>
      <p:sp>
        <p:nvSpPr>
          <p:cNvPr id="3" name="Content Placeholder 2">
            <a:extLst>
              <a:ext uri="{FF2B5EF4-FFF2-40B4-BE49-F238E27FC236}">
                <a16:creationId xmlns:a16="http://schemas.microsoft.com/office/drawing/2014/main" id="{196E8CE0-A293-A96E-932C-0455E6A1EE44}"/>
              </a:ext>
            </a:extLst>
          </p:cNvPr>
          <p:cNvSpPr>
            <a:spLocks noGrp="1"/>
          </p:cNvSpPr>
          <p:nvPr>
            <p:ph idx="1"/>
          </p:nvPr>
        </p:nvSpPr>
        <p:spPr/>
        <p:txBody>
          <a:bodyPr>
            <a:normAutofit fontScale="85000" lnSpcReduction="20000"/>
          </a:bodyPr>
          <a:lstStyle/>
          <a:p>
            <a:pPr marL="0" indent="0">
              <a:buNone/>
            </a:pPr>
            <a:r>
              <a:rPr lang="en-US" dirty="0"/>
              <a:t>(b) This subchapter does not apply to an employee—</a:t>
            </a:r>
          </a:p>
          <a:p>
            <a:r>
              <a:rPr lang="en-US" dirty="0"/>
              <a:t>(1) whose appointment is made by and with the advice and consent of the Senate;</a:t>
            </a:r>
          </a:p>
          <a:p>
            <a:r>
              <a:rPr lang="en-US" dirty="0"/>
              <a:t>(2) whose position has been determined to be of a confidential, policy-determining, policy-making or policy-advocating character by—</a:t>
            </a:r>
          </a:p>
          <a:p>
            <a:pPr lvl="1"/>
            <a:r>
              <a:rPr lang="en-US" dirty="0"/>
              <a:t>(A) the President for a position that the President has excepted from the competitive service;</a:t>
            </a:r>
          </a:p>
          <a:p>
            <a:pPr lvl="1"/>
            <a:r>
              <a:rPr lang="en-US" dirty="0"/>
              <a:t>(B) the Office of Personnel Management for a position that the Office has excepted from the competitive service; or</a:t>
            </a:r>
          </a:p>
          <a:p>
            <a:pPr lvl="1"/>
            <a:r>
              <a:rPr lang="en-US" dirty="0"/>
              <a:t>(C) the President or the head of an agency for a position excepted from the competitive service by statute . . </a:t>
            </a:r>
            <a:r>
              <a:rPr lang="en-US"/>
              <a:t>.</a:t>
            </a:r>
            <a:endParaRPr lang="en-US" dirty="0"/>
          </a:p>
        </p:txBody>
      </p:sp>
      <p:sp>
        <p:nvSpPr>
          <p:cNvPr id="4" name="Footer Placeholder 3">
            <a:extLst>
              <a:ext uri="{FF2B5EF4-FFF2-40B4-BE49-F238E27FC236}">
                <a16:creationId xmlns:a16="http://schemas.microsoft.com/office/drawing/2014/main" id="{7A34BA4A-BFA4-8DB5-B92F-CD6551B83186}"/>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D74F0778-DF3B-6834-FA85-A4015D5A3A14}"/>
              </a:ext>
            </a:extLst>
          </p:cNvPr>
          <p:cNvSpPr>
            <a:spLocks noGrp="1"/>
          </p:cNvSpPr>
          <p:nvPr>
            <p:ph type="sldNum" sz="quarter" idx="12"/>
          </p:nvPr>
        </p:nvSpPr>
        <p:spPr/>
        <p:txBody>
          <a:bodyPr/>
          <a:lstStyle/>
          <a:p>
            <a:fld id="{4DBFBA8A-A64E-4688-B417-D8D3C3062699}" type="slidenum">
              <a:rPr lang="en-US" smtClean="0"/>
              <a:pPr/>
              <a:t>36</a:t>
            </a:fld>
            <a:endParaRPr lang="en-US"/>
          </a:p>
        </p:txBody>
      </p:sp>
    </p:spTree>
    <p:extLst>
      <p:ext uri="{BB962C8B-B14F-4D97-AF65-F5344CB8AC3E}">
        <p14:creationId xmlns:p14="http://schemas.microsoft.com/office/powerpoint/2010/main" val="1305754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6E9F-8AEA-2163-1BC4-7713AF28BB5D}"/>
              </a:ext>
            </a:extLst>
          </p:cNvPr>
          <p:cNvSpPr>
            <a:spLocks noGrp="1"/>
          </p:cNvSpPr>
          <p:nvPr>
            <p:ph type="title"/>
          </p:nvPr>
        </p:nvSpPr>
        <p:spPr/>
        <p:txBody>
          <a:bodyPr/>
          <a:lstStyle/>
          <a:p>
            <a:r>
              <a:rPr lang="en-US" dirty="0"/>
              <a:t>Schedules P/C and G</a:t>
            </a:r>
          </a:p>
        </p:txBody>
      </p:sp>
      <p:sp>
        <p:nvSpPr>
          <p:cNvPr id="3" name="Content Placeholder 2">
            <a:extLst>
              <a:ext uri="{FF2B5EF4-FFF2-40B4-BE49-F238E27FC236}">
                <a16:creationId xmlns:a16="http://schemas.microsoft.com/office/drawing/2014/main" id="{F3456B35-F144-3165-8332-460577A3BDC6}"/>
              </a:ext>
            </a:extLst>
          </p:cNvPr>
          <p:cNvSpPr>
            <a:spLocks noGrp="1"/>
          </p:cNvSpPr>
          <p:nvPr>
            <p:ph idx="1"/>
          </p:nvPr>
        </p:nvSpPr>
        <p:spPr/>
        <p:txBody>
          <a:bodyPr/>
          <a:lstStyle/>
          <a:p>
            <a:r>
              <a:rPr lang="en-US" dirty="0"/>
              <a:t>Trump resurrected the Schedule F idea as “Schedule Professional/Career” via Exec. Order </a:t>
            </a:r>
            <a:r>
              <a:rPr lang="en-US" dirty="0">
                <a:hlinkClick r:id="rId2"/>
              </a:rPr>
              <a:t>14171</a:t>
            </a:r>
            <a:r>
              <a:rPr lang="en-US" dirty="0"/>
              <a:t> – implementing rules not yet published as final</a:t>
            </a:r>
          </a:p>
          <a:p>
            <a:r>
              <a:rPr lang="en-US" dirty="0"/>
              <a:t>Exec. Order </a:t>
            </a:r>
            <a:r>
              <a:rPr lang="en-US" dirty="0">
                <a:hlinkClick r:id="rId3"/>
              </a:rPr>
              <a:t>14317</a:t>
            </a:r>
            <a:r>
              <a:rPr lang="en-US" dirty="0"/>
              <a:t> created a Schedule G for noncareer positions of a policy-making or policy-advocating character – basically, Schedule P/C for noncareer positions</a:t>
            </a:r>
          </a:p>
        </p:txBody>
      </p:sp>
      <p:sp>
        <p:nvSpPr>
          <p:cNvPr id="4" name="Footer Placeholder 3">
            <a:extLst>
              <a:ext uri="{FF2B5EF4-FFF2-40B4-BE49-F238E27FC236}">
                <a16:creationId xmlns:a16="http://schemas.microsoft.com/office/drawing/2014/main" id="{6393B368-95A9-0C3F-23A8-58348E9671E7}"/>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AB14540-73D5-72B3-3B84-DBF69CC6B9F4}"/>
              </a:ext>
            </a:extLst>
          </p:cNvPr>
          <p:cNvSpPr>
            <a:spLocks noGrp="1"/>
          </p:cNvSpPr>
          <p:nvPr>
            <p:ph type="sldNum" sz="quarter" idx="12"/>
          </p:nvPr>
        </p:nvSpPr>
        <p:spPr/>
        <p:txBody>
          <a:bodyPr/>
          <a:lstStyle/>
          <a:p>
            <a:fld id="{4DBFBA8A-A64E-4688-B417-D8D3C3062699}" type="slidenum">
              <a:rPr lang="en-US" smtClean="0"/>
              <a:pPr/>
              <a:t>37</a:t>
            </a:fld>
            <a:endParaRPr lang="en-US"/>
          </a:p>
        </p:txBody>
      </p:sp>
    </p:spTree>
    <p:extLst>
      <p:ext uri="{BB962C8B-B14F-4D97-AF65-F5344CB8AC3E}">
        <p14:creationId xmlns:p14="http://schemas.microsoft.com/office/powerpoint/2010/main" val="1346948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6421</TotalTime>
  <Words>3524</Words>
  <Application>Microsoft Office PowerPoint</Application>
  <PresentationFormat>On-screen Show (4:3)</PresentationFormat>
  <Paragraphs>292</Paragraphs>
  <Slides>37</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Recap of Class 11</vt:lpstr>
      <vt:lpstr>Trump v. Wilcox (2025)</vt:lpstr>
      <vt:lpstr>Trump v. Slaughter (2026)</vt:lpstr>
      <vt:lpstr>Structure of Roberts Argument</vt:lpstr>
      <vt:lpstr>Structure of Roberts Argument (2)</vt:lpstr>
      <vt:lpstr>Gorsuch Concurrence</vt:lpstr>
      <vt:lpstr>Gorsuch Concurrence (2)</vt:lpstr>
      <vt:lpstr>Sotomayor Dissent</vt:lpstr>
      <vt:lpstr>Sotomayor Dissent - 2</vt:lpstr>
      <vt:lpstr>Sotomayor Dissent - 3</vt:lpstr>
      <vt:lpstr>Anti-Removability Originalists</vt:lpstr>
      <vt:lpstr>Anti-Removability Originalists - 2</vt:lpstr>
      <vt:lpstr>Anti-Removability Originalists - 3</vt:lpstr>
      <vt:lpstr>History and  Separation of Powers Adjudication</vt:lpstr>
      <vt:lpstr>Future of the Fed: Trump v. Cook</vt:lpstr>
      <vt:lpstr>Slaughter v. Cook</vt:lpstr>
      <vt:lpstr>Other Historical Traditions</vt:lpstr>
      <vt:lpstr>Single- v. Multi-Headed Agencies</vt:lpstr>
      <vt:lpstr>Administrative Adjudication?</vt:lpstr>
      <vt:lpstr>Implications for Civil Service</vt:lpstr>
      <vt:lpstr>Kneecapping Agencies?</vt:lpstr>
      <vt:lpstr>Textualism v. Pragmatism:   Recess Appointments</vt:lpstr>
      <vt:lpstr>The Text at Issue</vt:lpstr>
      <vt:lpstr>The Congressional Calendar</vt:lpstr>
      <vt:lpstr>Compare It To An Academic Calendar For a Two-Year MBA Program</vt:lpstr>
      <vt:lpstr>The Disputed Appointments</vt:lpstr>
      <vt:lpstr>The Procedural Context</vt:lpstr>
      <vt:lpstr>Issues in NLRB v. Noel Canning</vt:lpstr>
      <vt:lpstr>Issues in NLRB v. Noel Canning</vt:lpstr>
      <vt:lpstr>History of Institutional Practice</vt:lpstr>
      <vt:lpstr>Federal Vacancies Reform Act, 5 U.S.C. § 3345</vt:lpstr>
      <vt:lpstr>Federal Vacancies Reform Act, 5 U.S.C. § 3349c</vt:lpstr>
      <vt:lpstr>Unconventional Vacancy Responses  in Trump I, Biden, Trump II</vt:lpstr>
      <vt:lpstr>Civil Service</vt:lpstr>
      <vt:lpstr>Trump Schedule F Order</vt:lpstr>
      <vt:lpstr>The Contentious Statutory Text 5 U.S.C. § 7511</vt:lpstr>
      <vt:lpstr>Schedules P/C and G</vt:lpstr>
    </vt:vector>
  </TitlesOfParts>
  <Company>Harvard Law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Amendment</dc:title>
  <dc:creator>pshane</dc:creator>
  <cp:lastModifiedBy>Shane, Peter</cp:lastModifiedBy>
  <cp:revision>101</cp:revision>
  <cp:lastPrinted>2026-10-07T14:36:14Z</cp:lastPrinted>
  <dcterms:created xsi:type="dcterms:W3CDTF">2012-01-23T17:46:12Z</dcterms:created>
  <dcterms:modified xsi:type="dcterms:W3CDTF">2026-10-07T17:48:09Z</dcterms:modified>
</cp:coreProperties>
</file>