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78" r:id="rId4"/>
    <p:sldId id="259" r:id="rId5"/>
    <p:sldId id="272" r:id="rId6"/>
    <p:sldId id="274" r:id="rId7"/>
    <p:sldId id="270" r:id="rId8"/>
    <p:sldId id="279" r:id="rId9"/>
    <p:sldId id="277"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17" name="Footer Placeholder 16"/>
          <p:cNvSpPr>
            <a:spLocks noGrp="1"/>
          </p:cNvSpPr>
          <p:nvPr>
            <p:ph type="ftr" sz="quarter" idx="11"/>
          </p:nvPr>
        </p:nvSpPr>
        <p:spPr>
          <a:xfrm>
            <a:off x="2898648" y="6355080"/>
            <a:ext cx="3474720" cy="365760"/>
          </a:xfrm>
        </p:spPr>
        <p:txBody>
          <a:bodyPr/>
          <a:lstStyle/>
          <a:p>
            <a:endParaRPr lang="en-US">
              <a:solidFill>
                <a:srgbClr val="464653"/>
              </a:solidFill>
            </a:endParaRPr>
          </a:p>
        </p:txBody>
      </p:sp>
      <p:sp>
        <p:nvSpPr>
          <p:cNvPr id="29" name="Slide Number Placeholder 28"/>
          <p:cNvSpPr>
            <a:spLocks noGrp="1"/>
          </p:cNvSpPr>
          <p:nvPr>
            <p:ph type="sldNum" sz="quarter" idx="12"/>
          </p:nvPr>
        </p:nvSpPr>
        <p:spPr>
          <a:xfrm>
            <a:off x="1216152" y="6355080"/>
            <a:ext cx="1219200" cy="365760"/>
          </a:xfrm>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820019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270966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8B999E3D-45A9-497C-BEB0-B4F0C3D298AF}" type="datetimeFigureOut">
              <a:rPr lang="en-US" smtClean="0">
                <a:solidFill>
                  <a:srgbClr val="DDE9EC"/>
                </a:solidFill>
              </a:rPr>
              <a:pPr/>
              <a:t>9/22/2026</a:t>
            </a:fld>
            <a:endParaRPr lang="en-US">
              <a:solidFill>
                <a:srgbClr val="DDE9EC"/>
              </a:solidFill>
            </a:endParaRPr>
          </a:p>
        </p:txBody>
      </p:sp>
      <p:sp>
        <p:nvSpPr>
          <p:cNvPr id="5" name="Footer Placeholder 4"/>
          <p:cNvSpPr>
            <a:spLocks noGrp="1"/>
          </p:cNvSpPr>
          <p:nvPr>
            <p:ph type="ftr" sz="quarter" idx="11"/>
          </p:nvPr>
        </p:nvSpPr>
        <p:spPr>
          <a:xfrm>
            <a:off x="2898648" y="6355080"/>
            <a:ext cx="3474720" cy="365760"/>
          </a:xfrm>
        </p:spPr>
        <p:txBody>
          <a:bodyPr/>
          <a:lstStyle/>
          <a:p>
            <a:endParaRPr lang="en-US">
              <a:solidFill>
                <a:srgbClr val="DDE9EC"/>
              </a:solidFill>
            </a:endParaRPr>
          </a:p>
        </p:txBody>
      </p:sp>
      <p:sp>
        <p:nvSpPr>
          <p:cNvPr id="6" name="Slide Number Placeholder 5"/>
          <p:cNvSpPr>
            <a:spLocks noGrp="1"/>
          </p:cNvSpPr>
          <p:nvPr>
            <p:ph type="sldNum" sz="quarter" idx="12"/>
          </p:nvPr>
        </p:nvSpPr>
        <p:spPr>
          <a:xfrm>
            <a:off x="1069848" y="6355080"/>
            <a:ext cx="1520952" cy="365760"/>
          </a:xfrm>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424940511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7040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8" name="Footer Placeholder 7"/>
          <p:cNvSpPr>
            <a:spLocks noGrp="1"/>
          </p:cNvSpPr>
          <p:nvPr>
            <p:ph type="ftr" sz="quarter" idx="11"/>
          </p:nvPr>
        </p:nvSpPr>
        <p:spPr/>
        <p:txBody>
          <a:bodyPr/>
          <a:lstStyle/>
          <a:p>
            <a:endParaRPr lang="en-US">
              <a:solidFill>
                <a:srgbClr val="464653"/>
              </a:solidFill>
            </a:endParaRPr>
          </a:p>
        </p:txBody>
      </p:sp>
      <p:sp>
        <p:nvSpPr>
          <p:cNvPr id="9" name="Slide Number Placeholder 8"/>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520619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4" name="Footer Placeholder 3"/>
          <p:cNvSpPr>
            <a:spLocks noGrp="1"/>
          </p:cNvSpPr>
          <p:nvPr>
            <p:ph type="ftr" sz="quarter" idx="11"/>
          </p:nvPr>
        </p:nvSpPr>
        <p:spPr/>
        <p:txBody>
          <a:bodyPr/>
          <a:lstStyle/>
          <a:p>
            <a:endParaRPr lang="en-US">
              <a:solidFill>
                <a:srgbClr val="464653"/>
              </a:solidFill>
            </a:endParaRPr>
          </a:p>
        </p:txBody>
      </p:sp>
      <p:sp>
        <p:nvSpPr>
          <p:cNvPr id="5" name="Slide Number Placeholder 4"/>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290368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3" name="Footer Placeholder 2"/>
          <p:cNvSpPr>
            <a:spLocks noGrp="1"/>
          </p:cNvSpPr>
          <p:nvPr>
            <p:ph type="ftr" sz="quarter" idx="11"/>
          </p:nvPr>
        </p:nvSpPr>
        <p:spPr/>
        <p:txBody>
          <a:bodyPr/>
          <a:lstStyle/>
          <a:p>
            <a:endParaRPr lang="en-US">
              <a:solidFill>
                <a:srgbClr val="464653"/>
              </a:solidFill>
            </a:endParaRPr>
          </a:p>
        </p:txBody>
      </p:sp>
      <p:sp>
        <p:nvSpPr>
          <p:cNvPr id="4" name="Slide Number Placeholder 3"/>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07183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6" name="Footer Placeholder 5"/>
          <p:cNvSpPr>
            <a:spLocks noGrp="1"/>
          </p:cNvSpPr>
          <p:nvPr>
            <p:ph type="ftr" sz="quarter" idx="11"/>
          </p:nvPr>
        </p:nvSpPr>
        <p:spPr/>
        <p:txBody>
          <a:bodyPr/>
          <a:lstStyle/>
          <a:p>
            <a:endParaRPr lang="en-US">
              <a:solidFill>
                <a:srgbClr val="464653"/>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dirty="0">
              <a:solidFill>
                <a:prstClr val="black"/>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089201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999E3D-45A9-497C-BEB0-B4F0C3D298AF}" type="datetimeFigureOut">
              <a:rPr lang="en-US" smtClean="0">
                <a:solidFill>
                  <a:srgbClr val="DDE9EC"/>
                </a:solidFill>
              </a:rPr>
              <a:pPr/>
              <a:t>9/22/2026</a:t>
            </a:fld>
            <a:endParaRPr lang="en-US">
              <a:solidFill>
                <a:srgbClr val="DDE9EC"/>
              </a:solidFill>
            </a:endParaRPr>
          </a:p>
        </p:txBody>
      </p:sp>
      <p:sp>
        <p:nvSpPr>
          <p:cNvPr id="6" name="Footer Placeholder 5"/>
          <p:cNvSpPr>
            <a:spLocks noGrp="1"/>
          </p:cNvSpPr>
          <p:nvPr>
            <p:ph type="ftr" sz="quarter" idx="11"/>
          </p:nvPr>
        </p:nvSpPr>
        <p:spPr/>
        <p:txBody>
          <a:bodyPr/>
          <a:lstStyle/>
          <a:p>
            <a:endParaRPr lang="en-US">
              <a:solidFill>
                <a:srgbClr val="DDE9EC"/>
              </a:solidFill>
            </a:endParaRPr>
          </a:p>
        </p:txBody>
      </p:sp>
      <p:sp>
        <p:nvSpPr>
          <p:cNvPr id="7" name="Slide Number Placeholder 6"/>
          <p:cNvSpPr>
            <a:spLocks noGrp="1"/>
          </p:cNvSpPr>
          <p:nvPr>
            <p:ph type="sldNum" sz="quarter" idx="12"/>
          </p:nvPr>
        </p:nvSpPr>
        <p:spPr/>
        <p:txBody>
          <a:bodyPr/>
          <a:lstStyle/>
          <a:p>
            <a:fld id="{994B729A-5F0B-4B52-BE6D-A579B7D0035B}" type="slidenum">
              <a:rPr lang="en-US" smtClean="0">
                <a:solidFill>
                  <a:srgbClr val="DDE9EC"/>
                </a:solidFill>
              </a:rPr>
              <a:pPr/>
              <a:t>‹#›</a:t>
            </a:fld>
            <a:endParaRPr lang="en-US">
              <a:solidFill>
                <a:srgbClr val="DDE9EC"/>
              </a:solidFill>
            </a:endParaRPr>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white"/>
              </a:solidFill>
            </a:endParaRPr>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58227269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Tree>
    <p:extLst>
      <p:ext uri="{BB962C8B-B14F-4D97-AF65-F5344CB8AC3E}">
        <p14:creationId xmlns:p14="http://schemas.microsoft.com/office/powerpoint/2010/main" val="1711209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5" name="Footer Placeholder 4"/>
          <p:cNvSpPr>
            <a:spLocks noGrp="1"/>
          </p:cNvSpPr>
          <p:nvPr>
            <p:ph type="ftr" sz="quarter" idx="11"/>
          </p:nvPr>
        </p:nvSpPr>
        <p:spPr/>
        <p:txBody>
          <a:bodyPr/>
          <a:lstStyle/>
          <a:p>
            <a:endParaRPr lang="en-US">
              <a:solidFill>
                <a:srgbClr val="464653"/>
              </a:solidFill>
            </a:endParaRPr>
          </a:p>
        </p:txBody>
      </p:sp>
      <p:sp>
        <p:nvSpPr>
          <p:cNvPr id="6" name="Slide Number Placeholder 5"/>
          <p:cNvSpPr>
            <a:spLocks noGrp="1"/>
          </p:cNvSpPr>
          <p:nvPr>
            <p:ph type="sldNum" sz="quarter" idx="12"/>
          </p:nvPr>
        </p:nvSpPr>
        <p:spPr/>
        <p:txBody>
          <a:bodyPr/>
          <a:lstStyle/>
          <a:p>
            <a:fld id="{994B729A-5F0B-4B52-BE6D-A579B7D0035B}" type="slidenum">
              <a:rPr lang="en-US" smtClean="0">
                <a:solidFill>
                  <a:srgbClr val="464653"/>
                </a:solidFill>
              </a:rPr>
              <a:pPr/>
              <a:t>‹#›</a:t>
            </a:fld>
            <a:endParaRPr lang="en-US">
              <a:solidFill>
                <a:srgbClr val="464653"/>
              </a:solidFill>
            </a:endParaRPr>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4135387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0" y="190500"/>
            <a:ext cx="7010400" cy="1527175"/>
          </a:xfrm>
        </p:spPr>
        <p:txBody>
          <a:bodyPr/>
          <a:lstStyle/>
          <a:p>
            <a:r>
              <a:rPr lang="en-US"/>
              <a:t>Click to edit Master title style</a:t>
            </a:r>
          </a:p>
        </p:txBody>
      </p:sp>
      <p:sp>
        <p:nvSpPr>
          <p:cNvPr id="3" name="Table Placeholder 2"/>
          <p:cNvSpPr>
            <a:spLocks noGrp="1"/>
          </p:cNvSpPr>
          <p:nvPr>
            <p:ph type="tbl" idx="1"/>
          </p:nvPr>
        </p:nvSpPr>
        <p:spPr>
          <a:xfrm>
            <a:off x="1524000" y="1905000"/>
            <a:ext cx="7010400" cy="4114800"/>
          </a:xfrm>
        </p:spPr>
        <p:txBody>
          <a:bodyPr>
            <a:normAutofit/>
          </a:bodyPr>
          <a:lstStyle/>
          <a:p>
            <a:pPr lvl="0"/>
            <a:endParaRPr lang="en-US" noProof="0"/>
          </a:p>
        </p:txBody>
      </p:sp>
      <p:sp>
        <p:nvSpPr>
          <p:cNvPr id="4" name="Date Placeholder 13"/>
          <p:cNvSpPr>
            <a:spLocks noGrp="1"/>
          </p:cNvSpPr>
          <p:nvPr>
            <p:ph type="dt" sz="half" idx="10"/>
          </p:nvPr>
        </p:nvSpPr>
        <p:spPr/>
        <p:txBody>
          <a:bodyPr/>
          <a:lstStyle>
            <a:lvl1pPr>
              <a:defRPr/>
            </a:lvl1pPr>
          </a:lstStyle>
          <a:p>
            <a:pPr>
              <a:defRPr/>
            </a:pPr>
            <a:endParaRPr lang="en-US">
              <a:solidFill>
                <a:srgbClr val="464653"/>
              </a:solidFill>
            </a:endParaRPr>
          </a:p>
        </p:txBody>
      </p:sp>
      <p:sp>
        <p:nvSpPr>
          <p:cNvPr id="5" name="Footer Placeholder 2"/>
          <p:cNvSpPr>
            <a:spLocks noGrp="1"/>
          </p:cNvSpPr>
          <p:nvPr>
            <p:ph type="ftr" sz="quarter" idx="11"/>
          </p:nvPr>
        </p:nvSpPr>
        <p:spPr/>
        <p:txBody>
          <a:bodyPr/>
          <a:lstStyle>
            <a:lvl1pPr>
              <a:defRPr/>
            </a:lvl1pPr>
          </a:lstStyle>
          <a:p>
            <a:pPr>
              <a:defRPr/>
            </a:pPr>
            <a:endParaRPr lang="en-US">
              <a:solidFill>
                <a:srgbClr val="464653"/>
              </a:solidFill>
            </a:endParaRPr>
          </a:p>
        </p:txBody>
      </p:sp>
      <p:sp>
        <p:nvSpPr>
          <p:cNvPr id="6" name="Slide Number Placeholder 22"/>
          <p:cNvSpPr>
            <a:spLocks noGrp="1"/>
          </p:cNvSpPr>
          <p:nvPr>
            <p:ph type="sldNum" sz="quarter" idx="12"/>
          </p:nvPr>
        </p:nvSpPr>
        <p:spPr/>
        <p:txBody>
          <a:bodyPr/>
          <a:lstStyle>
            <a:lvl1pPr>
              <a:defRPr/>
            </a:lvl1pPr>
          </a:lstStyle>
          <a:p>
            <a:pPr>
              <a:defRPr/>
            </a:pPr>
            <a:fld id="{DF14308C-09F3-41F1-86D1-785A210D56D2}" type="slidenum">
              <a:rPr lang="en-US">
                <a:solidFill>
                  <a:srgbClr val="464653"/>
                </a:solidFill>
              </a:rPr>
              <a:pPr>
                <a:defRPr/>
              </a:pPr>
              <a:t>‹#›</a:t>
            </a:fld>
            <a:endParaRPr lang="en-US">
              <a:solidFill>
                <a:srgbClr val="464653"/>
              </a:solidFill>
            </a:endParaRPr>
          </a:p>
        </p:txBody>
      </p:sp>
    </p:spTree>
    <p:extLst>
      <p:ext uri="{BB962C8B-B14F-4D97-AF65-F5344CB8AC3E}">
        <p14:creationId xmlns:p14="http://schemas.microsoft.com/office/powerpoint/2010/main" val="120769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8B999E3D-45A9-497C-BEB0-B4F0C3D298AF}" type="datetimeFigureOut">
              <a:rPr lang="en-US" smtClean="0">
                <a:solidFill>
                  <a:srgbClr val="464653"/>
                </a:solidFill>
              </a:rPr>
              <a:pPr/>
              <a:t>9/22/2026</a:t>
            </a:fld>
            <a:endParaRPr lang="en-US">
              <a:solidFill>
                <a:srgbClr val="464653"/>
              </a:solidFill>
            </a:endParaRPr>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solidFill>
                <a:srgbClr val="464653"/>
              </a:solidFill>
            </a:endParaRP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94B729A-5F0B-4B52-BE6D-A579B7D0035B}" type="slidenum">
              <a:rPr lang="en-US" smtClean="0">
                <a:solidFill>
                  <a:srgbClr val="464653"/>
                </a:solidFill>
              </a:rPr>
              <a:pPr/>
              <a:t>‹#›</a:t>
            </a:fld>
            <a:endParaRPr lang="en-US">
              <a:solidFill>
                <a:srgbClr val="464653"/>
              </a:solidFill>
            </a:endParaRP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solidFill>
                <a:prstClr val="white"/>
              </a:solidFill>
            </a:endParaRPr>
          </a:p>
        </p:txBody>
      </p:sp>
    </p:spTree>
    <p:extLst>
      <p:ext uri="{BB962C8B-B14F-4D97-AF65-F5344CB8AC3E}">
        <p14:creationId xmlns:p14="http://schemas.microsoft.com/office/powerpoint/2010/main" val="3447946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3"/>
          <p:cNvSpPr>
            <a:spLocks noGrp="1"/>
          </p:cNvSpPr>
          <p:nvPr>
            <p:ph type="ctrTitle"/>
          </p:nvPr>
        </p:nvSpPr>
        <p:spPr/>
        <p:txBody>
          <a:bodyPr>
            <a:normAutofit fontScale="90000"/>
          </a:bodyPr>
          <a:lstStyle/>
          <a:p>
            <a:pPr eaLnBrk="1" hangingPunct="1"/>
            <a:r>
              <a:rPr lang="en-US" dirty="0"/>
              <a:t>Class 9: Pay now, terms later</a:t>
            </a:r>
            <a:br>
              <a:rPr lang="en-US" dirty="0"/>
            </a:br>
            <a:endParaRPr lang="en-US" dirty="0"/>
          </a:p>
        </p:txBody>
      </p:sp>
      <p:sp>
        <p:nvSpPr>
          <p:cNvPr id="10243" name="Subtitle 4"/>
          <p:cNvSpPr>
            <a:spLocks noGrp="1"/>
          </p:cNvSpPr>
          <p:nvPr>
            <p:ph type="subTitle" idx="1"/>
          </p:nvPr>
        </p:nvSpPr>
        <p:spPr/>
        <p:txBody>
          <a:bodyPr>
            <a:normAutofit/>
          </a:bodyPr>
          <a:lstStyle/>
          <a:p>
            <a:pPr eaLnBrk="1" fontAlgn="auto" hangingPunct="1">
              <a:spcAft>
                <a:spcPts val="0"/>
              </a:spcAft>
              <a:buFont typeface="Wingdings 3"/>
              <a:buNone/>
              <a:defRPr/>
            </a:pPr>
            <a:endParaRPr lang="en-US" dirty="0"/>
          </a:p>
        </p:txBody>
      </p:sp>
    </p:spTree>
    <p:extLst>
      <p:ext uri="{BB962C8B-B14F-4D97-AF65-F5344CB8AC3E}">
        <p14:creationId xmlns:p14="http://schemas.microsoft.com/office/powerpoint/2010/main" val="3221077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t>Topics</a:t>
            </a:r>
          </a:p>
        </p:txBody>
      </p:sp>
      <p:sp>
        <p:nvSpPr>
          <p:cNvPr id="10243" name="Content Placeholder 2"/>
          <p:cNvSpPr>
            <a:spLocks noGrp="1"/>
          </p:cNvSpPr>
          <p:nvPr>
            <p:ph sz="quarter" idx="1"/>
          </p:nvPr>
        </p:nvSpPr>
        <p:spPr>
          <a:xfrm>
            <a:off x="457200" y="1219200"/>
            <a:ext cx="8229600" cy="4937125"/>
          </a:xfrm>
        </p:spPr>
        <p:txBody>
          <a:bodyPr/>
          <a:lstStyle/>
          <a:p>
            <a:pPr eaLnBrk="1" hangingPunct="1"/>
            <a:r>
              <a:rPr lang="en-US" dirty="0"/>
              <a:t>Approaches to incorporation of terms that follow</a:t>
            </a:r>
          </a:p>
          <a:p>
            <a:pPr eaLnBrk="1" hangingPunct="1"/>
            <a:r>
              <a:rPr lang="en-US" dirty="0"/>
              <a:t>Pros and cons of each approach</a:t>
            </a:r>
          </a:p>
          <a:p>
            <a:pPr lvl="1"/>
            <a:r>
              <a:rPr lang="en-US" dirty="0"/>
              <a:t>Do they ensure meaningful assent?</a:t>
            </a:r>
          </a:p>
          <a:p>
            <a:pPr lvl="1"/>
            <a:r>
              <a:rPr lang="en-US" dirty="0"/>
              <a:t>Is meaningful assent essential?</a:t>
            </a:r>
          </a:p>
          <a:p>
            <a:pPr eaLnBrk="1" hangingPunct="1"/>
            <a:r>
              <a:rPr lang="en-US" dirty="0"/>
              <a:t>Results of an empirical study</a:t>
            </a:r>
          </a:p>
        </p:txBody>
      </p:sp>
    </p:spTree>
    <p:extLst>
      <p:ext uri="{BB962C8B-B14F-4D97-AF65-F5344CB8AC3E}">
        <p14:creationId xmlns:p14="http://schemas.microsoft.com/office/powerpoint/2010/main" val="2922478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questions</a:t>
            </a:r>
          </a:p>
        </p:txBody>
      </p:sp>
      <p:sp>
        <p:nvSpPr>
          <p:cNvPr id="5" name="Content Placeholder 4"/>
          <p:cNvSpPr>
            <a:spLocks noGrp="1"/>
          </p:cNvSpPr>
          <p:nvPr>
            <p:ph sz="quarter" idx="1"/>
          </p:nvPr>
        </p:nvSpPr>
        <p:spPr/>
        <p:txBody>
          <a:bodyPr/>
          <a:lstStyle/>
          <a:p>
            <a:r>
              <a:rPr lang="en-US" altLang="en-US" b="1" dirty="0"/>
              <a:t>Is there an enforceable promise?</a:t>
            </a:r>
          </a:p>
          <a:p>
            <a:r>
              <a:rPr lang="en-US" altLang="en-US" b="1" dirty="0"/>
              <a:t>Has it been breached?</a:t>
            </a:r>
          </a:p>
          <a:p>
            <a:r>
              <a:rPr lang="en-US" altLang="en-US" dirty="0"/>
              <a:t>Has performance been excused?</a:t>
            </a:r>
          </a:p>
          <a:p>
            <a:r>
              <a:rPr lang="en-US" altLang="en-US" dirty="0"/>
              <a:t>How should it be enforced?</a:t>
            </a:r>
          </a:p>
        </p:txBody>
      </p:sp>
    </p:spTree>
    <p:extLst>
      <p:ext uri="{BB962C8B-B14F-4D97-AF65-F5344CB8AC3E}">
        <p14:creationId xmlns:p14="http://schemas.microsoft.com/office/powerpoint/2010/main" val="308307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Klocek</a:t>
            </a:r>
            <a:r>
              <a:rPr lang="en-US" dirty="0"/>
              <a:t> v. Gateway (298)</a:t>
            </a:r>
          </a:p>
        </p:txBody>
      </p:sp>
      <p:sp>
        <p:nvSpPr>
          <p:cNvPr id="3" name="Content Placeholder 2"/>
          <p:cNvSpPr>
            <a:spLocks noGrp="1"/>
          </p:cNvSpPr>
          <p:nvPr>
            <p:ph sz="quarter" idx="1"/>
          </p:nvPr>
        </p:nvSpPr>
        <p:spPr/>
        <p:txBody>
          <a:bodyPr>
            <a:normAutofit/>
          </a:bodyPr>
          <a:lstStyle/>
          <a:p>
            <a:r>
              <a:rPr lang="en-US" dirty="0"/>
              <a:t>What were the relevant manifestations of assent?</a:t>
            </a:r>
          </a:p>
          <a:p>
            <a:r>
              <a:rPr lang="en-US" dirty="0"/>
              <a:t>Did 2-207 apply?</a:t>
            </a:r>
          </a:p>
          <a:p>
            <a:r>
              <a:rPr lang="en-US" dirty="0"/>
              <a:t>When was the contract formed?</a:t>
            </a:r>
          </a:p>
          <a:p>
            <a:r>
              <a:rPr lang="en-US" dirty="0"/>
              <a:t>What terms were incorporated?</a:t>
            </a:r>
          </a:p>
          <a:p>
            <a:r>
              <a:rPr lang="en-US" dirty="0"/>
              <a:t>How could Gateway have ensured that its terms were incorporated? Would that have ensured meaningful assent?</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2255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Hill v. Gateway (294)</a:t>
            </a:r>
          </a:p>
        </p:txBody>
      </p:sp>
      <p:sp>
        <p:nvSpPr>
          <p:cNvPr id="3" name="Content Placeholder 2"/>
          <p:cNvSpPr>
            <a:spLocks noGrp="1"/>
          </p:cNvSpPr>
          <p:nvPr>
            <p:ph sz="quarter" idx="1"/>
          </p:nvPr>
        </p:nvSpPr>
        <p:spPr>
          <a:xfrm>
            <a:off x="457200" y="1219200"/>
            <a:ext cx="8382000" cy="5181600"/>
          </a:xfrm>
        </p:spPr>
        <p:txBody>
          <a:bodyPr>
            <a:normAutofit fontScale="92500" lnSpcReduction="10000"/>
          </a:bodyPr>
          <a:lstStyle/>
          <a:p>
            <a:r>
              <a:rPr lang="en-US" sz="2800" dirty="0"/>
              <a:t>Did 2-207 apply?</a:t>
            </a:r>
          </a:p>
          <a:p>
            <a:r>
              <a:rPr lang="en-US" sz="2800" dirty="0"/>
              <a:t>According to Easterbrook, what were the offer and the acceptance? Which terms were incorporated?</a:t>
            </a:r>
          </a:p>
          <a:p>
            <a:r>
              <a:rPr lang="en-US" sz="2800" dirty="0"/>
              <a:t>How does this ruling deviate from </a:t>
            </a:r>
            <a:r>
              <a:rPr lang="en-US" sz="2800" dirty="0" err="1"/>
              <a:t>Klocek</a:t>
            </a:r>
            <a:r>
              <a:rPr lang="en-US" sz="2800" dirty="0"/>
              <a:t>?</a:t>
            </a:r>
          </a:p>
          <a:p>
            <a:r>
              <a:rPr lang="en-US" sz="2800" dirty="0"/>
              <a:t>What if the seller reneges after accepting payment but before shipping?</a:t>
            </a:r>
          </a:p>
          <a:p>
            <a:r>
              <a:rPr lang="en-US" sz="2800" dirty="0"/>
              <a:t>What if the buyer is not initially aware that terms will follow?</a:t>
            </a:r>
          </a:p>
          <a:p>
            <a:r>
              <a:rPr lang="en-US" sz="2800" dirty="0"/>
              <a:t>What if return is costly?</a:t>
            </a:r>
          </a:p>
          <a:p>
            <a:r>
              <a:rPr lang="en-US" sz="2800" dirty="0"/>
              <a:t>How could the buyers have avoided incorporation?</a:t>
            </a:r>
          </a:p>
          <a:p>
            <a:r>
              <a:rPr lang="en-US" sz="2800" dirty="0"/>
              <a:t>Why does Easterbrook favor incorporation of terms that follow?</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2495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normAutofit fontScale="90000"/>
          </a:bodyPr>
          <a:lstStyle/>
          <a:p>
            <a:r>
              <a:rPr lang="en-US" dirty="0"/>
              <a:t>Pros and cons of Easterbrook’s approach</a:t>
            </a:r>
          </a:p>
        </p:txBody>
      </p:sp>
      <p:sp>
        <p:nvSpPr>
          <p:cNvPr id="3" name="Content Placeholder 2"/>
          <p:cNvSpPr>
            <a:spLocks noGrp="1"/>
          </p:cNvSpPr>
          <p:nvPr>
            <p:ph sz="quarter" idx="1"/>
          </p:nvPr>
        </p:nvSpPr>
        <p:spPr>
          <a:xfrm>
            <a:off x="457200" y="1219200"/>
            <a:ext cx="8229600" cy="5257800"/>
          </a:xfrm>
        </p:spPr>
        <p:txBody>
          <a:bodyPr>
            <a:normAutofit/>
          </a:bodyPr>
          <a:lstStyle/>
          <a:p>
            <a:pPr>
              <a:defRPr/>
            </a:pPr>
            <a:r>
              <a:rPr lang="en-US" dirty="0"/>
              <a:t>Pros:</a:t>
            </a:r>
          </a:p>
          <a:p>
            <a:pPr lvl="1">
              <a:defRPr/>
            </a:pPr>
            <a:r>
              <a:rPr lang="en-US" dirty="0"/>
              <a:t>Reduces costs at time of initial transaction</a:t>
            </a:r>
          </a:p>
          <a:p>
            <a:pPr lvl="1">
              <a:defRPr/>
            </a:pPr>
            <a:r>
              <a:rPr lang="en-US" dirty="0"/>
              <a:t>Ousts potentially undesirable default terms (UCC gap-fillers)</a:t>
            </a:r>
          </a:p>
          <a:p>
            <a:pPr marL="0" indent="0">
              <a:buNone/>
              <a:defRPr/>
            </a:pPr>
            <a:endParaRPr lang="en-US" dirty="0"/>
          </a:p>
          <a:p>
            <a:pPr>
              <a:defRPr/>
            </a:pPr>
            <a:r>
              <a:rPr lang="en-US" dirty="0"/>
              <a:t>Cons:</a:t>
            </a:r>
          </a:p>
          <a:p>
            <a:pPr lvl="1">
              <a:defRPr/>
            </a:pPr>
            <a:r>
              <a:rPr lang="en-US" dirty="0"/>
              <a:t>Unclear whether seller is bound before the end of the review period.</a:t>
            </a:r>
          </a:p>
          <a:p>
            <a:pPr lvl="1">
              <a:defRPr/>
            </a:pPr>
            <a:r>
              <a:rPr lang="en-US" dirty="0"/>
              <a:t>Incentive for sellers to withhold objectionable terms hoping that buyers will not see them or will not return the goods. This means that buyers may be bound by terms to which they would not have agreed, which may be objectively unfair or even welfare-reducing.</a:t>
            </a:r>
          </a:p>
          <a:p>
            <a:pPr lvl="1">
              <a:defRPr/>
            </a:pPr>
            <a:endParaRPr lang="en-US" dirty="0"/>
          </a:p>
          <a:p>
            <a:pPr>
              <a:defRPr/>
            </a:pPr>
            <a:endParaRPr lang="en-US" dirty="0"/>
          </a:p>
          <a:p>
            <a:pPr>
              <a:defRPr/>
            </a:pPr>
            <a:endParaRPr lang="en-US" dirty="0"/>
          </a:p>
          <a:p>
            <a:pPr>
              <a:defRPr/>
            </a:pPr>
            <a:endParaRPr lang="en-US" dirty="0"/>
          </a:p>
          <a:p>
            <a:pPr>
              <a:defRPr/>
            </a:pPr>
            <a:endParaRPr lang="en-US" dirty="0"/>
          </a:p>
          <a:p>
            <a:pPr lvl="1">
              <a:defRPr/>
            </a:pPr>
            <a:endParaRPr lang="en-US" dirty="0"/>
          </a:p>
        </p:txBody>
      </p:sp>
    </p:spTree>
    <p:extLst>
      <p:ext uri="{BB962C8B-B14F-4D97-AF65-F5344CB8AC3E}">
        <p14:creationId xmlns:p14="http://schemas.microsoft.com/office/powerpoint/2010/main" val="3780660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empirical study</a:t>
            </a:r>
          </a:p>
        </p:txBody>
      </p:sp>
      <p:sp>
        <p:nvSpPr>
          <p:cNvPr id="3" name="Content Placeholder 2"/>
          <p:cNvSpPr>
            <a:spLocks noGrp="1"/>
          </p:cNvSpPr>
          <p:nvPr>
            <p:ph sz="quarter" idx="1"/>
          </p:nvPr>
        </p:nvSpPr>
        <p:spPr/>
        <p:txBody>
          <a:bodyPr>
            <a:normAutofit/>
          </a:bodyPr>
          <a:lstStyle/>
          <a:p>
            <a:pPr marL="0" indent="0">
              <a:buNone/>
            </a:pPr>
            <a:r>
              <a:rPr lang="en-US" sz="2400" dirty="0"/>
              <a:t>Florencia Marotta-Wurgler, "Are 'Pay Now, Terms Later' Contracts Worse for Buyers? Evidence from Software License Agreements," 38(2) Journal of </a:t>
            </a:r>
            <a:r>
              <a:rPr lang="en-US" sz="2400"/>
              <a:t>Legal Studies </a:t>
            </a:r>
            <a:r>
              <a:rPr lang="en-US" sz="2400" dirty="0"/>
              <a:t>309 (2009):</a:t>
            </a:r>
          </a:p>
          <a:p>
            <a:pPr marL="0" indent="0">
              <a:buNone/>
            </a:pPr>
            <a:endParaRPr lang="en-US" sz="2400" dirty="0"/>
          </a:p>
          <a:p>
            <a:r>
              <a:rPr lang="en-US" dirty="0"/>
              <a:t>Sample of 515 End User License Agreements (EULAs) for software sold online.</a:t>
            </a:r>
          </a:p>
          <a:p>
            <a:r>
              <a:rPr lang="en-US" dirty="0"/>
              <a:t>52% were Pay Now Terms Later (PNTL)</a:t>
            </a:r>
          </a:p>
          <a:p>
            <a:r>
              <a:rPr lang="en-US" dirty="0"/>
              <a:t>Measured whether terms were more or less favorable to buyers than default rules in UCC Article 2.</a:t>
            </a:r>
          </a:p>
          <a:p>
            <a:r>
              <a:rPr lang="en-US" dirty="0"/>
              <a:t>PNTL EULAs were not worse for buyers.  On average, they were slightly better.</a:t>
            </a:r>
          </a:p>
          <a:p>
            <a:endParaRPr lang="en-US" dirty="0"/>
          </a:p>
          <a:p>
            <a:pPr marL="0" indent="0">
              <a:buNone/>
            </a:pPr>
            <a:endParaRPr lang="en-US" sz="1800"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92205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br>
              <a:rPr lang="en-US" dirty="0"/>
            </a:br>
            <a:br>
              <a:rPr lang="en-US" dirty="0"/>
            </a:br>
            <a:r>
              <a:rPr lang="en-US" dirty="0"/>
              <a:t>RLCC</a:t>
            </a:r>
            <a:br>
              <a:rPr lang="en-US" dirty="0"/>
            </a:br>
            <a:r>
              <a:rPr lang="en-US" dirty="0"/>
              <a:t>§ 2.  Adoption of Standard Contract Terms</a:t>
            </a:r>
          </a:p>
        </p:txBody>
      </p:sp>
      <p:sp>
        <p:nvSpPr>
          <p:cNvPr id="3" name="Content Placeholder 2"/>
          <p:cNvSpPr>
            <a:spLocks noGrp="1"/>
          </p:cNvSpPr>
          <p:nvPr>
            <p:ph sz="quarter" idx="1"/>
          </p:nvPr>
        </p:nvSpPr>
        <p:spPr/>
        <p:txBody>
          <a:bodyPr>
            <a:normAutofit/>
          </a:bodyPr>
          <a:lstStyle/>
          <a:p>
            <a:pPr marL="0" indent="0">
              <a:buNone/>
            </a:pPr>
            <a:endParaRPr lang="en-US" dirty="0"/>
          </a:p>
          <a:p>
            <a:pPr marL="0" indent="0">
              <a:buNone/>
            </a:pPr>
            <a:r>
              <a:rPr lang="en-US" dirty="0" err="1"/>
              <a:t>Cmt</a:t>
            </a:r>
            <a:r>
              <a:rPr lang="en-US" dirty="0"/>
              <a:t> 3….This Section does not address the formation of the contract or the assent to nonstandard terms. Once the contract is formed, this Section determines which standard contract terms are adopted…Manifesting assent to the transaction as a whole generally involves adoption of at least some standard contract terms—the core deal terms…Other standard contract terms may then be adopted separately from those that are adopted concurrently with this manifestation of assent.</a:t>
            </a:r>
          </a:p>
        </p:txBody>
      </p:sp>
    </p:spTree>
    <p:extLst>
      <p:ext uri="{BB962C8B-B14F-4D97-AF65-F5344CB8AC3E}">
        <p14:creationId xmlns:p14="http://schemas.microsoft.com/office/powerpoint/2010/main" val="4179327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90600"/>
          </a:xfrm>
        </p:spPr>
        <p:txBody>
          <a:bodyPr>
            <a:normAutofit fontScale="90000"/>
          </a:bodyPr>
          <a:lstStyle/>
          <a:p>
            <a:r>
              <a:rPr lang="en-US" dirty="0"/>
              <a:t>RLCC </a:t>
            </a:r>
            <a:r>
              <a:rPr lang="en-US" dirty="0">
                <a:latin typeface="Calibri" panose="020F0502020204030204" pitchFamily="34" charset="0"/>
                <a:cs typeface="Calibri" panose="020F0502020204030204" pitchFamily="34" charset="0"/>
              </a:rPr>
              <a:t>§ </a:t>
            </a:r>
            <a:r>
              <a:rPr lang="en-US" dirty="0"/>
              <a:t>2 </a:t>
            </a:r>
            <a:br>
              <a:rPr lang="en-US" dirty="0"/>
            </a:br>
            <a:r>
              <a:rPr lang="en-US" dirty="0"/>
              <a:t>Adoption of Standard Contract Terms</a:t>
            </a:r>
          </a:p>
        </p:txBody>
      </p:sp>
      <p:sp>
        <p:nvSpPr>
          <p:cNvPr id="3" name="Content Placeholder 2"/>
          <p:cNvSpPr>
            <a:spLocks noGrp="1"/>
          </p:cNvSpPr>
          <p:nvPr>
            <p:ph sz="quarter" idx="1"/>
          </p:nvPr>
        </p:nvSpPr>
        <p:spPr>
          <a:xfrm>
            <a:off x="457200" y="1219200"/>
            <a:ext cx="8610600" cy="5105400"/>
          </a:xfrm>
        </p:spPr>
        <p:txBody>
          <a:bodyPr>
            <a:noAutofit/>
          </a:bodyPr>
          <a:lstStyle/>
          <a:p>
            <a:pPr marL="0" indent="0">
              <a:buNone/>
            </a:pPr>
            <a:r>
              <a:rPr lang="en-US" sz="2000" dirty="0"/>
              <a:t>(b)</a:t>
            </a:r>
            <a:r>
              <a:rPr lang="en-US" sz="1900" dirty="0"/>
              <a:t> When a standard contract term is available for review only after the consumer manifests assent to the transaction, </a:t>
            </a:r>
            <a:r>
              <a:rPr lang="en-US" sz="1900" b="1" dirty="0"/>
              <a:t>the standard contract term </a:t>
            </a:r>
            <a:r>
              <a:rPr lang="en-US" sz="1900" dirty="0"/>
              <a:t>is adopted as part of the consumer contract if:</a:t>
            </a:r>
          </a:p>
          <a:p>
            <a:pPr marL="0" indent="0">
              <a:buNone/>
            </a:pPr>
            <a:endParaRPr lang="en-US" sz="1000" dirty="0"/>
          </a:p>
          <a:p>
            <a:pPr marL="0" indent="0">
              <a:buNone/>
            </a:pPr>
            <a:r>
              <a:rPr lang="en-US" sz="1900" dirty="0"/>
              <a:t>(1) before manifesting assent to the transaction, the consumer receives a </a:t>
            </a:r>
            <a:r>
              <a:rPr lang="en-US" sz="1900" b="1" dirty="0"/>
              <a:t>reasonable notice </a:t>
            </a:r>
            <a:r>
              <a:rPr lang="en-US" sz="1900" dirty="0"/>
              <a:t>regarding the existence of the standard contract term intended to be provided later and to be part of the consumer contract, informing the consumer about the opportunity to review and terminate the contract, and explaining that the failure to terminate would result in the adoption of the standard contract term;</a:t>
            </a:r>
          </a:p>
          <a:p>
            <a:pPr marL="0" indent="0">
              <a:buNone/>
            </a:pPr>
            <a:endParaRPr lang="en-US" sz="1000" dirty="0"/>
          </a:p>
          <a:p>
            <a:pPr marL="0" indent="0">
              <a:buNone/>
            </a:pPr>
            <a:r>
              <a:rPr lang="en-US" sz="1900" dirty="0"/>
              <a:t>(2) after manifesting assent to the transaction, the consumer receives a </a:t>
            </a:r>
            <a:r>
              <a:rPr lang="en-US" sz="1900" b="1" dirty="0"/>
              <a:t>reasonable opportunity to review </a:t>
            </a:r>
            <a:r>
              <a:rPr lang="en-US" sz="1900" dirty="0"/>
              <a:t>the standard contract term; and</a:t>
            </a:r>
          </a:p>
          <a:p>
            <a:pPr marL="0" indent="0">
              <a:buNone/>
            </a:pPr>
            <a:endParaRPr lang="en-US" sz="1000" dirty="0"/>
          </a:p>
          <a:p>
            <a:pPr marL="0" indent="0">
              <a:buNone/>
            </a:pPr>
            <a:r>
              <a:rPr lang="en-US" sz="1900" dirty="0"/>
              <a:t>(3) after the standard contract term is made available for review, the consumer has a </a:t>
            </a:r>
            <a:r>
              <a:rPr lang="en-US" sz="1900" b="1" dirty="0"/>
              <a:t>reasonable opportunity to terminate </a:t>
            </a:r>
            <a:r>
              <a:rPr lang="en-US" sz="1900" dirty="0"/>
              <a:t>the transaction </a:t>
            </a:r>
            <a:r>
              <a:rPr lang="en-US" sz="1900" b="1" dirty="0"/>
              <a:t>without unreasonable cost, loss of value, or personal burden, </a:t>
            </a:r>
            <a:r>
              <a:rPr lang="en-US" sz="1900" dirty="0"/>
              <a:t>and does not exercise that power.</a:t>
            </a:r>
          </a:p>
        </p:txBody>
      </p:sp>
    </p:spTree>
    <p:extLst>
      <p:ext uri="{BB962C8B-B14F-4D97-AF65-F5344CB8AC3E}">
        <p14:creationId xmlns:p14="http://schemas.microsoft.com/office/powerpoint/2010/main" val="31934746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802</TotalTime>
  <Words>651</Words>
  <Application>Microsoft Office PowerPoint</Application>
  <PresentationFormat>On-screen Show (4:3)</PresentationFormat>
  <Paragraphs>70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Bookman Old Style</vt:lpstr>
      <vt:lpstr>Calibri</vt:lpstr>
      <vt:lpstr>Gill Sans MT</vt:lpstr>
      <vt:lpstr>Wingdings</vt:lpstr>
      <vt:lpstr>Wingdings 3</vt:lpstr>
      <vt:lpstr>Origin</vt:lpstr>
      <vt:lpstr>Class 9: Pay now, terms later </vt:lpstr>
      <vt:lpstr>Topics</vt:lpstr>
      <vt:lpstr>Key questions</vt:lpstr>
      <vt:lpstr>Klocek v. Gateway (298)</vt:lpstr>
      <vt:lpstr>Hill v. Gateway (294)</vt:lpstr>
      <vt:lpstr>Pros and cons of Easterbrook’s approach</vt:lpstr>
      <vt:lpstr>An empirical study</vt:lpstr>
      <vt:lpstr>   RLCC § 2.  Adoption of Standard Contract Terms</vt:lpstr>
      <vt:lpstr>RLCC § 2  Adoption of Standard Contract Terms</vt:lpstr>
    </vt:vector>
  </TitlesOfParts>
  <Company>NYU School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9:Terms that follow</dc:title>
  <dc:creator>Davis, Kevin</dc:creator>
  <cp:lastModifiedBy>Davis, Kevin</cp:lastModifiedBy>
  <cp:revision>47</cp:revision>
  <dcterms:created xsi:type="dcterms:W3CDTF">2014-09-26T14:21:09Z</dcterms:created>
  <dcterms:modified xsi:type="dcterms:W3CDTF">2026-09-22T11:31:46Z</dcterms:modified>
</cp:coreProperties>
</file>