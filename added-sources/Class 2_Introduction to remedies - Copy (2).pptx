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7" r:id="rId2"/>
    <p:sldId id="258" r:id="rId3"/>
    <p:sldId id="259" r:id="rId4"/>
    <p:sldId id="291" r:id="rId5"/>
    <p:sldId id="295" r:id="rId6"/>
    <p:sldId id="267" r:id="rId7"/>
    <p:sldId id="296" r:id="rId8"/>
    <p:sldId id="264" r:id="rId9"/>
    <p:sldId id="289" r:id="rId10"/>
    <p:sldId id="266" r:id="rId11"/>
    <p:sldId id="294" r:id="rId12"/>
    <p:sldId id="290" r:id="rId13"/>
    <p:sldId id="262" r:id="rId14"/>
    <p:sldId id="263" r:id="rId15"/>
    <p:sldId id="292" r:id="rId16"/>
    <p:sldId id="288" r:id="rId17"/>
    <p:sldId id="28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1" autoAdjust="0"/>
    <p:restoredTop sz="96187" autoAdjust="0"/>
  </p:normalViewPr>
  <p:slideViewPr>
    <p:cSldViewPr>
      <p:cViewPr varScale="1">
        <p:scale>
          <a:sx n="111" d="100"/>
          <a:sy n="111" d="100"/>
        </p:scale>
        <p:origin x="1680"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271A45-A23F-477E-B8F2-97CC58D8F939}" type="datetimeFigureOut">
              <a:rPr lang="en-US" smtClean="0"/>
              <a:t>8/27/2026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F0F4FC-959B-4985-8F54-77AAE2198258}" type="slidenum">
              <a:rPr lang="en-US" smtClean="0"/>
              <a:t>‹#›</a:t>
            </a:fld>
            <a:endParaRPr lang="en-US"/>
          </a:p>
        </p:txBody>
      </p:sp>
    </p:spTree>
    <p:extLst>
      <p:ext uri="{BB962C8B-B14F-4D97-AF65-F5344CB8AC3E}">
        <p14:creationId xmlns:p14="http://schemas.microsoft.com/office/powerpoint/2010/main" val="1479956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F0F4FC-959B-4985-8F54-77AAE2198258}" type="slidenum">
              <a:rPr lang="en-US" smtClean="0"/>
              <a:t>5</a:t>
            </a:fld>
            <a:endParaRPr lang="en-US"/>
          </a:p>
        </p:txBody>
      </p:sp>
    </p:spTree>
    <p:extLst>
      <p:ext uri="{BB962C8B-B14F-4D97-AF65-F5344CB8AC3E}">
        <p14:creationId xmlns:p14="http://schemas.microsoft.com/office/powerpoint/2010/main" val="1809115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388376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524033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8/27/2026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49429433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60592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7316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628383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016119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155659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8/27/2026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44946169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370658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3616586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8/27/2026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587836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p:cNvSpPr>
            <a:spLocks noGrp="1"/>
          </p:cNvSpPr>
          <p:nvPr>
            <p:ph type="ctrTitle"/>
          </p:nvPr>
        </p:nvSpPr>
        <p:spPr/>
        <p:txBody>
          <a:bodyPr>
            <a:normAutofit/>
          </a:bodyPr>
          <a:lstStyle/>
          <a:p>
            <a:pPr eaLnBrk="1" hangingPunct="1"/>
            <a:r>
              <a:rPr lang="en-US" dirty="0"/>
              <a:t>Class 2: Introduction to remedies</a:t>
            </a:r>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a:p>
        </p:txBody>
      </p:sp>
    </p:spTree>
    <p:extLst>
      <p:ext uri="{BB962C8B-B14F-4D97-AF65-F5344CB8AC3E}">
        <p14:creationId xmlns:p14="http://schemas.microsoft.com/office/powerpoint/2010/main" val="1970812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sz="quarter" idx="1"/>
          </p:nvPr>
        </p:nvSpPr>
        <p:spPr/>
        <p:txBody>
          <a:bodyPr/>
          <a:lstStyle/>
          <a:p>
            <a:r>
              <a:rPr lang="en-US" dirty="0"/>
              <a:t>Alternative measures of damages</a:t>
            </a:r>
          </a:p>
          <a:p>
            <a:r>
              <a:rPr lang="en-US" dirty="0"/>
              <a:t>The default measure: expectation damages</a:t>
            </a:r>
          </a:p>
          <a:p>
            <a:r>
              <a:rPr lang="en-US" dirty="0"/>
              <a:t>Specific relief</a:t>
            </a:r>
          </a:p>
          <a:p>
            <a:r>
              <a:rPr lang="en-US" dirty="0"/>
              <a:t>Efficient breach</a:t>
            </a:r>
          </a:p>
        </p:txBody>
      </p:sp>
    </p:spTree>
    <p:extLst>
      <p:ext uri="{BB962C8B-B14F-4D97-AF65-F5344CB8AC3E}">
        <p14:creationId xmlns:p14="http://schemas.microsoft.com/office/powerpoint/2010/main" val="449247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Key questions</a:t>
            </a:r>
          </a:p>
        </p:txBody>
      </p:sp>
      <p:sp>
        <p:nvSpPr>
          <p:cNvPr id="6" name="Content Placeholder 5"/>
          <p:cNvSpPr>
            <a:spLocks noGrp="1"/>
          </p:cNvSpPr>
          <p:nvPr>
            <p:ph sz="quarter" idx="1"/>
          </p:nvPr>
        </p:nvSpPr>
        <p:spPr/>
        <p:txBody>
          <a:bodyPr/>
          <a:lstStyle/>
          <a:p>
            <a:r>
              <a:rPr lang="en-US" dirty="0"/>
              <a:t>Is there an enforceable promise?</a:t>
            </a:r>
          </a:p>
          <a:p>
            <a:r>
              <a:rPr lang="en-US" dirty="0"/>
              <a:t>Has it been breached?</a:t>
            </a:r>
          </a:p>
          <a:p>
            <a:r>
              <a:rPr lang="en-US" dirty="0"/>
              <a:t>Has performance been excused?</a:t>
            </a:r>
          </a:p>
          <a:p>
            <a:r>
              <a:rPr lang="en-US" b="1" dirty="0"/>
              <a:t>How should the promise be enforced?</a:t>
            </a:r>
          </a:p>
        </p:txBody>
      </p:sp>
    </p:spTree>
    <p:extLst>
      <p:ext uri="{BB962C8B-B14F-4D97-AF65-F5344CB8AC3E}">
        <p14:creationId xmlns:p14="http://schemas.microsoft.com/office/powerpoint/2010/main" val="2669771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Key questions</a:t>
            </a:r>
          </a:p>
        </p:txBody>
      </p:sp>
      <p:sp>
        <p:nvSpPr>
          <p:cNvPr id="6" name="Content Placeholder 5"/>
          <p:cNvSpPr>
            <a:spLocks noGrp="1"/>
          </p:cNvSpPr>
          <p:nvPr>
            <p:ph sz="quarter" idx="1"/>
          </p:nvPr>
        </p:nvSpPr>
        <p:spPr/>
        <p:txBody>
          <a:bodyPr/>
          <a:lstStyle/>
          <a:p>
            <a:r>
              <a:rPr lang="en-US" dirty="0"/>
              <a:t>Is there an enforceable promise?</a:t>
            </a:r>
          </a:p>
          <a:p>
            <a:r>
              <a:rPr lang="en-US" dirty="0"/>
              <a:t>Has it been breached?</a:t>
            </a:r>
          </a:p>
          <a:p>
            <a:r>
              <a:rPr lang="en-US" dirty="0"/>
              <a:t>Has performance been excused?</a:t>
            </a:r>
          </a:p>
          <a:p>
            <a:r>
              <a:rPr lang="en-US" b="1" dirty="0"/>
              <a:t>How should the promise be enforced?</a:t>
            </a:r>
          </a:p>
          <a:p>
            <a:pPr lvl="1"/>
            <a:r>
              <a:rPr lang="en-US" b="1" dirty="0"/>
              <a:t>Damages? Which measure?</a:t>
            </a:r>
          </a:p>
          <a:p>
            <a:pPr lvl="1"/>
            <a:r>
              <a:rPr lang="en-US" b="1" dirty="0"/>
              <a:t>Specific performance?</a:t>
            </a:r>
          </a:p>
          <a:p>
            <a:pPr lvl="1"/>
            <a:r>
              <a:rPr lang="en-US" b="1" dirty="0"/>
              <a:t>Imprisonment?</a:t>
            </a:r>
          </a:p>
          <a:p>
            <a:endParaRPr lang="en-US" b="1" dirty="0"/>
          </a:p>
        </p:txBody>
      </p:sp>
    </p:spTree>
    <p:extLst>
      <p:ext uri="{BB962C8B-B14F-4D97-AF65-F5344CB8AC3E}">
        <p14:creationId xmlns:p14="http://schemas.microsoft.com/office/powerpoint/2010/main" val="4010145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Possible measures of damages (20)</a:t>
            </a:r>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3086570104"/>
              </p:ext>
            </p:extLst>
          </p:nvPr>
        </p:nvGraphicFramePr>
        <p:xfrm>
          <a:off x="457200" y="1295400"/>
          <a:ext cx="8229600" cy="5054808"/>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1562400">
                <a:tc>
                  <a:txBody>
                    <a:bodyPr/>
                    <a:lstStyle/>
                    <a:p>
                      <a:r>
                        <a:rPr lang="en-US" sz="2400" b="0" dirty="0">
                          <a:solidFill>
                            <a:schemeClr val="tx1"/>
                          </a:solidFill>
                        </a:rPr>
                        <a:t>Restitution</a:t>
                      </a:r>
                    </a:p>
                  </a:txBody>
                  <a:tcPr>
                    <a:noFill/>
                  </a:tcPr>
                </a:tc>
                <a:tc>
                  <a:txBody>
                    <a:bodyPr/>
                    <a:lstStyle/>
                    <a:p>
                      <a:pPr marL="0" marR="0" lvl="0" indent="0" algn="l" defTabSz="914400" rtl="0" eaLnBrk="1" fontAlgn="auto" latinLnBrk="0" hangingPunct="1">
                        <a:lnSpc>
                          <a:spcPct val="110000"/>
                        </a:lnSpc>
                        <a:spcBef>
                          <a:spcPts val="0"/>
                        </a:spcBef>
                        <a:spcAft>
                          <a:spcPts val="0"/>
                        </a:spcAft>
                        <a:buClr>
                          <a:srgbClr val="727CA3"/>
                        </a:buClr>
                        <a:buSzPct val="76000"/>
                        <a:buFont typeface="Wingdings 3"/>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Promisor </a:t>
                      </a:r>
                      <a:r>
                        <a:rPr kumimoji="0" lang="en-US" sz="2400" b="0" i="0" u="none" strike="noStrike" kern="1200" cap="none" spc="0" normalizeH="0" baseline="0" noProof="0" dirty="0">
                          <a:ln>
                            <a:noFill/>
                          </a:ln>
                          <a:solidFill>
                            <a:prstClr val="black"/>
                          </a:solidFill>
                          <a:effectLst/>
                          <a:uLnTx/>
                          <a:uFillTx/>
                          <a:latin typeface="+mn-lt"/>
                          <a:ea typeface="+mn-ea"/>
                          <a:cs typeface="+mn-cs"/>
                          <a:sym typeface="Wingdings" pitchFamily="2" charset="2"/>
                        </a:rPr>
                        <a:t> K never made</a:t>
                      </a:r>
                    </a:p>
                    <a:p>
                      <a:pPr marL="0" marR="0" lvl="0" indent="0" algn="l" defTabSz="914400" rtl="0" eaLnBrk="1" fontAlgn="auto" latinLnBrk="0" hangingPunct="1">
                        <a:lnSpc>
                          <a:spcPct val="110000"/>
                        </a:lnSpc>
                        <a:spcBef>
                          <a:spcPts val="0"/>
                        </a:spcBef>
                        <a:spcAft>
                          <a:spcPts val="0"/>
                        </a:spcAft>
                        <a:buClr>
                          <a:srgbClr val="727CA3"/>
                        </a:buClr>
                        <a:buSzPct val="76000"/>
                        <a:buFont typeface="Wingdings 3"/>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sym typeface="Wingdings" pitchFamily="2" charset="2"/>
                        </a:rPr>
                        <a:t>(to the extent of benefits received from </a:t>
                      </a:r>
                      <a:r>
                        <a:rPr kumimoji="0" lang="en-US" sz="2400" b="0" i="0" u="none" strike="noStrike" kern="1200" cap="none" spc="0" normalizeH="0" baseline="0" noProof="0" dirty="0" err="1">
                          <a:ln>
                            <a:noFill/>
                          </a:ln>
                          <a:solidFill>
                            <a:prstClr val="black"/>
                          </a:solidFill>
                          <a:effectLst/>
                          <a:uLnTx/>
                          <a:uFillTx/>
                          <a:latin typeface="+mn-lt"/>
                          <a:ea typeface="+mn-ea"/>
                          <a:cs typeface="+mn-cs"/>
                          <a:sym typeface="Wingdings" pitchFamily="2" charset="2"/>
                        </a:rPr>
                        <a:t>promisee</a:t>
                      </a:r>
                      <a:r>
                        <a:rPr kumimoji="0" lang="en-US" sz="2400" b="0" i="0" u="none" strike="noStrike" kern="1200" cap="none" spc="0" normalizeH="0" baseline="0" noProof="0" dirty="0">
                          <a:ln>
                            <a:noFill/>
                          </a:ln>
                          <a:solidFill>
                            <a:prstClr val="black"/>
                          </a:solidFill>
                          <a:effectLst/>
                          <a:uLnTx/>
                          <a:uFillTx/>
                          <a:latin typeface="+mn-lt"/>
                          <a:ea typeface="+mn-ea"/>
                          <a:cs typeface="+mn-cs"/>
                          <a:sym typeface="Wingdings" pitchFamily="2" charset="2"/>
                        </a:rPr>
                        <a:t>)</a:t>
                      </a:r>
                      <a:endParaRPr kumimoji="0" lang="en-US" sz="2400" b="0" i="0" u="none" strike="noStrike" kern="1200" cap="none" spc="0" normalizeH="0" baseline="0" noProof="0" dirty="0">
                        <a:ln>
                          <a:noFill/>
                        </a:ln>
                        <a:solidFill>
                          <a:prstClr val="black"/>
                        </a:solidFill>
                        <a:effectLst/>
                        <a:uLnTx/>
                        <a:uFillTx/>
                        <a:latin typeface="+mn-lt"/>
                        <a:ea typeface="+mn-ea"/>
                        <a:cs typeface="+mn-cs"/>
                      </a:endParaRPr>
                    </a:p>
                    <a:p>
                      <a:endParaRPr lang="en-US" sz="2400" dirty="0"/>
                    </a:p>
                  </a:txBody>
                  <a:tcPr>
                    <a:noFill/>
                  </a:tcPr>
                </a:tc>
                <a:extLst>
                  <a:ext uri="{0D108BD9-81ED-4DB2-BD59-A6C34878D82A}">
                    <a16:rowId xmlns:a16="http://schemas.microsoft.com/office/drawing/2014/main" val="10000"/>
                  </a:ext>
                </a:extLst>
              </a:tr>
              <a:tr h="847650">
                <a:tc>
                  <a:txBody>
                    <a:bodyPr/>
                    <a:lstStyle/>
                    <a:p>
                      <a:r>
                        <a:rPr lang="en-US" sz="2400" dirty="0"/>
                        <a:t>Reliance</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Promisee</a:t>
                      </a:r>
                      <a:r>
                        <a:rPr lang="en-US" sz="2400" dirty="0"/>
                        <a:t> </a:t>
                      </a:r>
                      <a:r>
                        <a:rPr lang="en-US" sz="2400" dirty="0">
                          <a:sym typeface="Wingdings" pitchFamily="2" charset="2"/>
                        </a:rPr>
                        <a:t> </a:t>
                      </a:r>
                      <a:r>
                        <a:rPr lang="en-US" sz="2400" dirty="0"/>
                        <a:t>K never made</a:t>
                      </a:r>
                    </a:p>
                    <a:p>
                      <a:endParaRPr lang="en-US" sz="2400" dirty="0"/>
                    </a:p>
                  </a:txBody>
                  <a:tcPr>
                    <a:noFill/>
                  </a:tcPr>
                </a:tc>
                <a:extLst>
                  <a:ext uri="{0D108BD9-81ED-4DB2-BD59-A6C34878D82A}">
                    <a16:rowId xmlns:a16="http://schemas.microsoft.com/office/drawing/2014/main" val="10001"/>
                  </a:ext>
                </a:extLst>
              </a:tr>
              <a:tr h="847650">
                <a:tc>
                  <a:txBody>
                    <a:bodyPr/>
                    <a:lstStyle/>
                    <a:p>
                      <a:r>
                        <a:rPr lang="en-US" sz="2400" dirty="0"/>
                        <a:t>Expectation</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Promisee</a:t>
                      </a:r>
                      <a:r>
                        <a:rPr lang="en-US" sz="2400" dirty="0"/>
                        <a:t> </a:t>
                      </a:r>
                      <a:r>
                        <a:rPr lang="en-US" sz="2400" dirty="0">
                          <a:sym typeface="Wingdings" pitchFamily="2" charset="2"/>
                        </a:rPr>
                        <a:t> K performed</a:t>
                      </a:r>
                    </a:p>
                    <a:p>
                      <a:endParaRPr lang="en-US" sz="2400" dirty="0"/>
                    </a:p>
                  </a:txBody>
                  <a:tcPr>
                    <a:noFill/>
                  </a:tcPr>
                </a:tc>
                <a:extLst>
                  <a:ext uri="{0D108BD9-81ED-4DB2-BD59-A6C34878D82A}">
                    <a16:rowId xmlns:a16="http://schemas.microsoft.com/office/drawing/2014/main" val="10002"/>
                  </a:ext>
                </a:extLst>
              </a:tr>
              <a:tr h="847650">
                <a:tc>
                  <a:txBody>
                    <a:bodyPr/>
                    <a:lstStyle/>
                    <a:p>
                      <a:r>
                        <a:rPr lang="en-US" sz="2400" dirty="0"/>
                        <a:t>Disgorgement</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ym typeface="Wingdings" pitchFamily="2" charset="2"/>
                        </a:rPr>
                        <a:t>Promisor  K performed</a:t>
                      </a:r>
                    </a:p>
                    <a:p>
                      <a:endParaRPr lang="en-US" sz="2400" dirty="0"/>
                    </a:p>
                  </a:txBody>
                  <a:tcPr>
                    <a:noFill/>
                  </a:tcPr>
                </a:tc>
                <a:extLst>
                  <a:ext uri="{0D108BD9-81ED-4DB2-BD59-A6C34878D82A}">
                    <a16:rowId xmlns:a16="http://schemas.microsoft.com/office/drawing/2014/main" val="10003"/>
                  </a:ext>
                </a:extLst>
              </a:tr>
              <a:tr h="847650">
                <a:tc>
                  <a:txBody>
                    <a:bodyPr/>
                    <a:lstStyle/>
                    <a:p>
                      <a:r>
                        <a:rPr lang="en-US" sz="2400" dirty="0"/>
                        <a:t>Punitive</a:t>
                      </a:r>
                    </a:p>
                  </a:txBody>
                  <a:tcPr>
                    <a:noFill/>
                  </a:tcPr>
                </a:tc>
                <a:tc>
                  <a:txBody>
                    <a:bodyPr/>
                    <a:lstStyle/>
                    <a:p>
                      <a:endParaRPr lang="en-US" dirty="0"/>
                    </a:p>
                  </a:txBody>
                  <a:tcP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54456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Sullivan v. O’Connor (13)</a:t>
            </a:r>
          </a:p>
        </p:txBody>
      </p:sp>
      <p:sp>
        <p:nvSpPr>
          <p:cNvPr id="3" name="Content Placeholder 2"/>
          <p:cNvSpPr>
            <a:spLocks noGrp="1"/>
          </p:cNvSpPr>
          <p:nvPr>
            <p:ph sz="quarter" idx="1"/>
          </p:nvPr>
        </p:nvSpPr>
        <p:spPr/>
        <p:txBody>
          <a:bodyPr/>
          <a:lstStyle/>
          <a:p>
            <a:r>
              <a:rPr lang="en-US" dirty="0"/>
              <a:t>What was the basis of the claim?</a:t>
            </a:r>
          </a:p>
          <a:p>
            <a:r>
              <a:rPr lang="en-US" dirty="0"/>
              <a:t>What promise was being enforced? </a:t>
            </a:r>
          </a:p>
          <a:p>
            <a:pPr lvl="1"/>
            <a:r>
              <a:rPr lang="en-US" dirty="0"/>
              <a:t>What are the policy arguments for and against enforcement?</a:t>
            </a:r>
          </a:p>
          <a:p>
            <a:r>
              <a:rPr lang="en-US" dirty="0"/>
              <a:t>Which measure of damages did the court favor? </a:t>
            </a:r>
          </a:p>
          <a:p>
            <a:r>
              <a:rPr lang="en-US" dirty="0"/>
              <a:t>Why?</a:t>
            </a:r>
          </a:p>
          <a:p>
            <a:endParaRPr lang="en-US" dirty="0"/>
          </a:p>
          <a:p>
            <a:pPr marL="0" indent="0">
              <a:buNone/>
            </a:pPr>
            <a:endParaRPr lang="en-US" dirty="0"/>
          </a:p>
        </p:txBody>
      </p:sp>
    </p:spTree>
    <p:extLst>
      <p:ext uri="{BB962C8B-B14F-4D97-AF65-F5344CB8AC3E}">
        <p14:creationId xmlns:p14="http://schemas.microsoft.com/office/powerpoint/2010/main" val="4258368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Sullivan v. O’Connor (13)</a:t>
            </a:r>
          </a:p>
        </p:txBody>
      </p:sp>
      <p:sp>
        <p:nvSpPr>
          <p:cNvPr id="3" name="Content Placeholder 2"/>
          <p:cNvSpPr>
            <a:spLocks noGrp="1"/>
          </p:cNvSpPr>
          <p:nvPr>
            <p:ph sz="quarter" idx="1"/>
          </p:nvPr>
        </p:nvSpPr>
        <p:spPr/>
        <p:txBody>
          <a:bodyPr>
            <a:normAutofit fontScale="92500" lnSpcReduction="20000"/>
          </a:bodyPr>
          <a:lstStyle/>
          <a:p>
            <a:pPr marL="0" indent="0">
              <a:buNone/>
            </a:pPr>
            <a:r>
              <a:rPr lang="en-US" dirty="0"/>
              <a:t>“Considering the uncertainties of medical science and the variations in the physical and psychological conditions of individual patients, doctors can seldom in good faith promise specific results. Therefore it is unlikely that physicians of even average integrity will in fact make such promises. Statements of opinion by the physician with some optimistic coloring are a different thing, and may indeed have therapeutic value. But patients may transform such statements into firm promises in their own minds, especially when they have been disappointed in the event, and testify in that sense to sympathetic juries. If actions for breach of promise can be readily maintained, doctors, so it is said, will be frightened into </a:t>
            </a:r>
            <a:r>
              <a:rPr lang="en-US" dirty="0" err="1"/>
              <a:t>practising</a:t>
            </a:r>
            <a:r>
              <a:rPr lang="en-US" dirty="0"/>
              <a:t> ‘defensive medicine.’ On the other hand, if these actions were outlawed, leaving only the possibility of suits for malpractice, there is fear that the public might be exposed to the enticements of charlatans, and confidence in the profession might ultimately be shaken.”</a:t>
            </a:r>
          </a:p>
        </p:txBody>
      </p:sp>
    </p:spTree>
    <p:extLst>
      <p:ext uri="{BB962C8B-B14F-4D97-AF65-F5344CB8AC3E}">
        <p14:creationId xmlns:p14="http://schemas.microsoft.com/office/powerpoint/2010/main" val="1128482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the Interests (18)</a:t>
            </a:r>
          </a:p>
        </p:txBody>
      </p:sp>
      <p:sp>
        <p:nvSpPr>
          <p:cNvPr id="5" name="TextBox 4"/>
          <p:cNvSpPr txBox="1"/>
          <p:nvPr/>
        </p:nvSpPr>
        <p:spPr>
          <a:xfrm>
            <a:off x="838200" y="1371600"/>
            <a:ext cx="7571014" cy="723275"/>
          </a:xfrm>
          <a:prstGeom prst="rect">
            <a:avLst/>
          </a:prstGeom>
          <a:noFill/>
          <a:ln>
            <a:solidFill>
              <a:schemeClr val="accent1"/>
            </a:solidFill>
          </a:ln>
        </p:spPr>
        <p:txBody>
          <a:bodyPr wrap="square" rtlCol="0">
            <a:spAutoFit/>
          </a:bodyPr>
          <a:lstStyle/>
          <a:p>
            <a:r>
              <a:rPr lang="en-US" dirty="0">
                <a:solidFill>
                  <a:prstClr val="black"/>
                </a:solidFill>
              </a:rPr>
              <a:t>Doctor’s fee: $300         Hospital fee: $100 per op.   Pain: $3000 per op.</a:t>
            </a:r>
          </a:p>
          <a:p>
            <a:pPr>
              <a:spcBef>
                <a:spcPts val="600"/>
              </a:spcBef>
            </a:pPr>
            <a:r>
              <a:rPr lang="en-US" dirty="0">
                <a:solidFill>
                  <a:prstClr val="black"/>
                </a:solidFill>
              </a:rPr>
              <a:t>Promised benefit: $20,000   Disfigurement: $10,000	</a:t>
            </a:r>
          </a:p>
        </p:txBody>
      </p:sp>
    </p:spTree>
    <p:extLst>
      <p:ext uri="{BB962C8B-B14F-4D97-AF65-F5344CB8AC3E}">
        <p14:creationId xmlns:p14="http://schemas.microsoft.com/office/powerpoint/2010/main" val="1316379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the Interests (18)</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526995515"/>
              </p:ext>
            </p:extLst>
          </p:nvPr>
        </p:nvGraphicFramePr>
        <p:xfrm>
          <a:off x="831274" y="2438400"/>
          <a:ext cx="7696198" cy="2246186"/>
        </p:xfrm>
        <a:graphic>
          <a:graphicData uri="http://schemas.openxmlformats.org/drawingml/2006/table">
            <a:tbl>
              <a:tblPr/>
              <a:tblGrid>
                <a:gridCol w="2209799">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2839689">
                  <a:extLst>
                    <a:ext uri="{9D8B030D-6E8A-4147-A177-3AD203B41FA5}">
                      <a16:colId xmlns:a16="http://schemas.microsoft.com/office/drawing/2014/main" val="20002"/>
                    </a:ext>
                  </a:extLst>
                </a:gridCol>
                <a:gridCol w="1579910">
                  <a:extLst>
                    <a:ext uri="{9D8B030D-6E8A-4147-A177-3AD203B41FA5}">
                      <a16:colId xmlns:a16="http://schemas.microsoft.com/office/drawing/2014/main" val="20003"/>
                    </a:ext>
                  </a:extLst>
                </a:gridCol>
              </a:tblGrid>
              <a:tr h="533400">
                <a:tc>
                  <a:txBody>
                    <a:bodyPr/>
                    <a:lstStyle/>
                    <a:p>
                      <a:pPr marL="0" marR="0">
                        <a:lnSpc>
                          <a:spcPct val="115000"/>
                        </a:lnSpc>
                        <a:spcBef>
                          <a:spcPts val="0"/>
                        </a:spcBef>
                        <a:spcAft>
                          <a:spcPts val="0"/>
                        </a:spcAft>
                      </a:pPr>
                      <a:r>
                        <a:rPr lang="en-GB" sz="2000" dirty="0">
                          <a:effectLst/>
                          <a:latin typeface="Times New Roman"/>
                          <a:ea typeface="Calibri"/>
                          <a:cs typeface="Times New Roman"/>
                        </a:rPr>
                        <a:t> </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Total</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33400">
                <a:tc>
                  <a:txBody>
                    <a:bodyPr/>
                    <a:lstStyle/>
                    <a:p>
                      <a:pPr marL="0" marR="0">
                        <a:lnSpc>
                          <a:spcPct val="115000"/>
                        </a:lnSpc>
                        <a:spcBef>
                          <a:spcPts val="0"/>
                        </a:spcBef>
                        <a:spcAft>
                          <a:spcPts val="0"/>
                        </a:spcAft>
                      </a:pPr>
                      <a:r>
                        <a:rPr lang="en-GB" sz="2000" dirty="0">
                          <a:effectLst/>
                          <a:latin typeface="Times New Roman"/>
                          <a:ea typeface="Calibri"/>
                          <a:cs typeface="Times New Roman"/>
                        </a:rPr>
                        <a:t>K never made</a:t>
                      </a:r>
                    </a:p>
                    <a:p>
                      <a:pPr marL="0" marR="0">
                        <a:lnSpc>
                          <a:spcPct val="115000"/>
                        </a:lnSpc>
                        <a:spcBef>
                          <a:spcPts val="0"/>
                        </a:spcBef>
                        <a:spcAft>
                          <a:spcPts val="0"/>
                        </a:spcAft>
                      </a:pPr>
                      <a:r>
                        <a:rPr lang="en-GB" sz="1800" dirty="0">
                          <a:effectLst/>
                          <a:latin typeface="Times New Roman"/>
                          <a:ea typeface="Calibri"/>
                          <a:cs typeface="Times New Roman"/>
                        </a:rPr>
                        <a:t>(no lost</a:t>
                      </a:r>
                      <a:r>
                        <a:rPr lang="en-GB" sz="1800" baseline="0" dirty="0">
                          <a:effectLst/>
                          <a:latin typeface="Times New Roman"/>
                          <a:ea typeface="Calibri"/>
                          <a:cs typeface="Times New Roman"/>
                        </a:rPr>
                        <a:t> opportunity)</a:t>
                      </a:r>
                      <a:endParaRPr lang="en-US" sz="18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a:effectLst/>
                          <a:latin typeface="Times New Roman"/>
                          <a:ea typeface="Calibri"/>
                          <a:cs typeface="Times New Roman"/>
                        </a:rPr>
                        <a:t> $0</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a:effectLst/>
                          <a:latin typeface="Times New Roman"/>
                          <a:ea typeface="Calibri"/>
                          <a:cs typeface="Times New Roman"/>
                        </a:rPr>
                        <a:t>$0</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a:effectLst/>
                          <a:latin typeface="Times New Roman"/>
                          <a:ea typeface="Calibri"/>
                          <a:cs typeface="Times New Roman"/>
                        </a:rPr>
                        <a:t> $0</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33400">
                <a:tc>
                  <a:txBody>
                    <a:bodyPr/>
                    <a:lstStyle/>
                    <a:p>
                      <a:pPr marL="0" marR="0">
                        <a:lnSpc>
                          <a:spcPct val="115000"/>
                        </a:lnSpc>
                        <a:spcBef>
                          <a:spcPts val="0"/>
                        </a:spcBef>
                        <a:spcAft>
                          <a:spcPts val="0"/>
                        </a:spcAft>
                      </a:pPr>
                      <a:r>
                        <a:rPr lang="en-GB" sz="2000" dirty="0">
                          <a:effectLst/>
                          <a:latin typeface="Times New Roman"/>
                          <a:ea typeface="Calibri"/>
                          <a:cs typeface="Times New Roman"/>
                        </a:rPr>
                        <a:t>K performed</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$20,000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$300 - $200 - $6000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a:effectLst/>
                          <a:latin typeface="Times New Roman"/>
                          <a:ea typeface="Calibri"/>
                          <a:cs typeface="Times New Roman"/>
                        </a:rPr>
                        <a:t> $13,500</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33400">
                <a:tc>
                  <a:txBody>
                    <a:bodyPr/>
                    <a:lstStyle/>
                    <a:p>
                      <a:pPr marL="0" marR="0">
                        <a:lnSpc>
                          <a:spcPct val="115000"/>
                        </a:lnSpc>
                        <a:spcBef>
                          <a:spcPts val="0"/>
                        </a:spcBef>
                        <a:spcAft>
                          <a:spcPts val="0"/>
                        </a:spcAft>
                      </a:pPr>
                      <a:r>
                        <a:rPr lang="en-GB" sz="2000">
                          <a:effectLst/>
                          <a:latin typeface="Times New Roman"/>
                          <a:ea typeface="Calibri"/>
                          <a:cs typeface="Times New Roman"/>
                        </a:rPr>
                        <a:t>K breached</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-$10,000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$300 - $300 - $9000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-$19,600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Box 4"/>
          <p:cNvSpPr txBox="1"/>
          <p:nvPr/>
        </p:nvSpPr>
        <p:spPr>
          <a:xfrm>
            <a:off x="678873" y="5181602"/>
            <a:ext cx="2133600" cy="369332"/>
          </a:xfrm>
          <a:prstGeom prst="rect">
            <a:avLst/>
          </a:prstGeom>
          <a:noFill/>
          <a:ln w="3175">
            <a:solidFill>
              <a:schemeClr val="tx1"/>
            </a:solidFill>
          </a:ln>
        </p:spPr>
        <p:txBody>
          <a:bodyPr wrap="square" rtlCol="0">
            <a:spAutoFit/>
          </a:bodyPr>
          <a:lstStyle/>
          <a:p>
            <a:r>
              <a:rPr lang="en-US" dirty="0">
                <a:solidFill>
                  <a:prstClr val="black"/>
                </a:solidFill>
              </a:rPr>
              <a:t>Restitution: $</a:t>
            </a:r>
          </a:p>
        </p:txBody>
      </p:sp>
      <p:sp>
        <p:nvSpPr>
          <p:cNvPr id="6" name="TextBox 5"/>
          <p:cNvSpPr txBox="1"/>
          <p:nvPr/>
        </p:nvSpPr>
        <p:spPr>
          <a:xfrm>
            <a:off x="3498273" y="5192488"/>
            <a:ext cx="2133600" cy="369332"/>
          </a:xfrm>
          <a:prstGeom prst="rect">
            <a:avLst/>
          </a:prstGeom>
          <a:noFill/>
          <a:ln w="3175">
            <a:solidFill>
              <a:schemeClr val="tx1"/>
            </a:solidFill>
          </a:ln>
        </p:spPr>
        <p:txBody>
          <a:bodyPr wrap="square" rtlCol="0">
            <a:spAutoFit/>
          </a:bodyPr>
          <a:lstStyle/>
          <a:p>
            <a:r>
              <a:rPr lang="en-US" dirty="0">
                <a:solidFill>
                  <a:prstClr val="black"/>
                </a:solidFill>
              </a:rPr>
              <a:t>Reliance: $</a:t>
            </a:r>
          </a:p>
        </p:txBody>
      </p:sp>
      <p:sp>
        <p:nvSpPr>
          <p:cNvPr id="7" name="TextBox 6"/>
          <p:cNvSpPr txBox="1"/>
          <p:nvPr/>
        </p:nvSpPr>
        <p:spPr>
          <a:xfrm>
            <a:off x="6089073" y="5181602"/>
            <a:ext cx="2362200" cy="369332"/>
          </a:xfrm>
          <a:prstGeom prst="rect">
            <a:avLst/>
          </a:prstGeom>
          <a:noFill/>
          <a:ln w="3175">
            <a:solidFill>
              <a:schemeClr val="tx1"/>
            </a:solidFill>
          </a:ln>
        </p:spPr>
        <p:txBody>
          <a:bodyPr wrap="square" rtlCol="0">
            <a:spAutoFit/>
          </a:bodyPr>
          <a:lstStyle/>
          <a:p>
            <a:r>
              <a:rPr lang="en-US" dirty="0">
                <a:solidFill>
                  <a:prstClr val="black"/>
                </a:solidFill>
              </a:rPr>
              <a:t>Expectation: $</a:t>
            </a:r>
          </a:p>
        </p:txBody>
      </p:sp>
      <p:sp>
        <p:nvSpPr>
          <p:cNvPr id="12" name="TextBox 11"/>
          <p:cNvSpPr txBox="1"/>
          <p:nvPr/>
        </p:nvSpPr>
        <p:spPr>
          <a:xfrm>
            <a:off x="838200" y="1371600"/>
            <a:ext cx="7571014" cy="723275"/>
          </a:xfrm>
          <a:prstGeom prst="rect">
            <a:avLst/>
          </a:prstGeom>
          <a:noFill/>
          <a:ln>
            <a:solidFill>
              <a:schemeClr val="accent1"/>
            </a:solidFill>
          </a:ln>
        </p:spPr>
        <p:txBody>
          <a:bodyPr wrap="square" rtlCol="0">
            <a:spAutoFit/>
          </a:bodyPr>
          <a:lstStyle/>
          <a:p>
            <a:r>
              <a:rPr lang="en-US" dirty="0">
                <a:solidFill>
                  <a:prstClr val="black"/>
                </a:solidFill>
              </a:rPr>
              <a:t>Doctor’s fee: $300         Hospital fee: $100 per op.   Pain: $3000 per op.</a:t>
            </a:r>
          </a:p>
          <a:p>
            <a:pPr>
              <a:spcBef>
                <a:spcPts val="600"/>
              </a:spcBef>
            </a:pPr>
            <a:r>
              <a:rPr lang="en-US" dirty="0">
                <a:solidFill>
                  <a:prstClr val="black"/>
                </a:solidFill>
              </a:rPr>
              <a:t>Promised benefit: $20,000   Disfigurement: $10,000	</a:t>
            </a:r>
          </a:p>
        </p:txBody>
      </p:sp>
    </p:spTree>
    <p:extLst>
      <p:ext uri="{BB962C8B-B14F-4D97-AF65-F5344CB8AC3E}">
        <p14:creationId xmlns:p14="http://schemas.microsoft.com/office/powerpoint/2010/main" val="876461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Applying the Interests (18) (lost opportunity)</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535924868"/>
              </p:ext>
            </p:extLst>
          </p:nvPr>
        </p:nvGraphicFramePr>
        <p:xfrm>
          <a:off x="870528" y="2379271"/>
          <a:ext cx="7696198" cy="2886901"/>
        </p:xfrm>
        <a:graphic>
          <a:graphicData uri="http://schemas.openxmlformats.org/drawingml/2006/table">
            <a:tbl>
              <a:tblPr/>
              <a:tblGrid>
                <a:gridCol w="2209799">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2839689">
                  <a:extLst>
                    <a:ext uri="{9D8B030D-6E8A-4147-A177-3AD203B41FA5}">
                      <a16:colId xmlns:a16="http://schemas.microsoft.com/office/drawing/2014/main" val="20002"/>
                    </a:ext>
                  </a:extLst>
                </a:gridCol>
                <a:gridCol w="1579910">
                  <a:extLst>
                    <a:ext uri="{9D8B030D-6E8A-4147-A177-3AD203B41FA5}">
                      <a16:colId xmlns:a16="http://schemas.microsoft.com/office/drawing/2014/main" val="20003"/>
                    </a:ext>
                  </a:extLst>
                </a:gridCol>
              </a:tblGrid>
              <a:tr h="533400">
                <a:tc>
                  <a:txBody>
                    <a:bodyPr/>
                    <a:lstStyle/>
                    <a:p>
                      <a:pPr marL="0" marR="0">
                        <a:lnSpc>
                          <a:spcPct val="115000"/>
                        </a:lnSpc>
                        <a:spcBef>
                          <a:spcPts val="0"/>
                        </a:spcBef>
                        <a:spcAft>
                          <a:spcPts val="0"/>
                        </a:spcAft>
                      </a:pPr>
                      <a:r>
                        <a:rPr lang="en-GB" sz="2000" dirty="0">
                          <a:effectLst/>
                          <a:latin typeface="Times New Roman"/>
                          <a:ea typeface="Calibri"/>
                          <a:cs typeface="Times New Roman"/>
                        </a:rPr>
                        <a:t> </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a:effectLst/>
                          <a:latin typeface="Times New Roman"/>
                          <a:ea typeface="Calibri"/>
                          <a:cs typeface="Times New Roman"/>
                        </a:rPr>
                        <a:t>Total</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33400">
                <a:tc>
                  <a:txBody>
                    <a:bodyPr/>
                    <a:lstStyle/>
                    <a:p>
                      <a:pPr marL="0" marR="0">
                        <a:lnSpc>
                          <a:spcPct val="115000"/>
                        </a:lnSpc>
                        <a:spcBef>
                          <a:spcPts val="0"/>
                        </a:spcBef>
                        <a:spcAft>
                          <a:spcPts val="0"/>
                        </a:spcAft>
                      </a:pPr>
                      <a:r>
                        <a:rPr lang="en-GB" sz="2000" dirty="0">
                          <a:effectLst/>
                          <a:latin typeface="Times New Roman"/>
                          <a:ea typeface="Calibri"/>
                          <a:cs typeface="Times New Roman"/>
                        </a:rPr>
                        <a:t>K never made</a:t>
                      </a:r>
                    </a:p>
                    <a:p>
                      <a:pPr marL="0" marR="0">
                        <a:lnSpc>
                          <a:spcPct val="115000"/>
                        </a:lnSpc>
                        <a:spcBef>
                          <a:spcPts val="0"/>
                        </a:spcBef>
                        <a:spcAft>
                          <a:spcPts val="0"/>
                        </a:spcAft>
                      </a:pPr>
                      <a:r>
                        <a:rPr lang="en-GB" sz="1800" dirty="0">
                          <a:effectLst/>
                          <a:latin typeface="Times New Roman"/>
                          <a:ea typeface="Calibri"/>
                          <a:cs typeface="Times New Roman"/>
                        </a:rPr>
                        <a:t>(no lost</a:t>
                      </a:r>
                      <a:r>
                        <a:rPr lang="en-GB" sz="1800" baseline="0" dirty="0">
                          <a:effectLst/>
                          <a:latin typeface="Times New Roman"/>
                          <a:ea typeface="Calibri"/>
                          <a:cs typeface="Times New Roman"/>
                        </a:rPr>
                        <a:t> opportunity)</a:t>
                      </a:r>
                      <a:endParaRPr lang="en-US" sz="18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a:effectLst/>
                          <a:latin typeface="Times New Roman"/>
                          <a:ea typeface="Calibri"/>
                          <a:cs typeface="Times New Roman"/>
                        </a:rPr>
                        <a:t> $0</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a:effectLst/>
                          <a:latin typeface="Times New Roman"/>
                          <a:ea typeface="Calibri"/>
                          <a:cs typeface="Times New Roman"/>
                        </a:rPr>
                        <a:t>$0</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a:effectLst/>
                          <a:latin typeface="Times New Roman"/>
                          <a:ea typeface="Calibri"/>
                          <a:cs typeface="Times New Roman"/>
                        </a:rPr>
                        <a:t> $0</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33400">
                <a:tc>
                  <a:txBody>
                    <a:bodyPr/>
                    <a:lstStyle/>
                    <a:p>
                      <a:pPr marL="0" marR="0">
                        <a:lnSpc>
                          <a:spcPct val="115000"/>
                        </a:lnSpc>
                        <a:spcBef>
                          <a:spcPts val="0"/>
                        </a:spcBef>
                        <a:spcAft>
                          <a:spcPts val="0"/>
                        </a:spcAft>
                      </a:pPr>
                      <a:r>
                        <a:rPr lang="en-US" sz="2000" dirty="0">
                          <a:effectLst/>
                          <a:latin typeface="Times New Roman" pitchFamily="18" charset="0"/>
                          <a:ea typeface="Calibri"/>
                          <a:cs typeface="Times New Roman" pitchFamily="18" charset="0"/>
                        </a:rPr>
                        <a:t>K</a:t>
                      </a:r>
                      <a:r>
                        <a:rPr lang="en-US" sz="2000" baseline="0" dirty="0">
                          <a:effectLst/>
                          <a:latin typeface="Times New Roman" pitchFamily="18" charset="0"/>
                          <a:ea typeface="Calibri"/>
                          <a:cs typeface="Times New Roman" pitchFamily="18" charset="0"/>
                        </a:rPr>
                        <a:t> never made</a:t>
                      </a:r>
                    </a:p>
                    <a:p>
                      <a:pPr marL="0" marR="0">
                        <a:lnSpc>
                          <a:spcPct val="115000"/>
                        </a:lnSpc>
                        <a:spcBef>
                          <a:spcPts val="0"/>
                        </a:spcBef>
                        <a:spcAft>
                          <a:spcPts val="0"/>
                        </a:spcAft>
                      </a:pPr>
                      <a:r>
                        <a:rPr lang="en-US" sz="1800" baseline="0" dirty="0">
                          <a:effectLst/>
                          <a:latin typeface="Times New Roman" pitchFamily="18" charset="0"/>
                          <a:ea typeface="Calibri"/>
                          <a:cs typeface="Times New Roman" pitchFamily="18" charset="0"/>
                        </a:rPr>
                        <a:t>(lost opportunity)</a:t>
                      </a:r>
                      <a:endParaRPr lang="en-US" sz="1800" dirty="0">
                        <a:effectLst/>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$20,000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$300 - $200 - $6000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$13,500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33400">
                <a:tc>
                  <a:txBody>
                    <a:bodyPr/>
                    <a:lstStyle/>
                    <a:p>
                      <a:pPr marL="0" marR="0">
                        <a:lnSpc>
                          <a:spcPct val="115000"/>
                        </a:lnSpc>
                        <a:spcBef>
                          <a:spcPts val="0"/>
                        </a:spcBef>
                        <a:spcAft>
                          <a:spcPts val="0"/>
                        </a:spcAft>
                      </a:pPr>
                      <a:r>
                        <a:rPr lang="en-GB" sz="2000" dirty="0">
                          <a:effectLst/>
                          <a:latin typeface="Times New Roman"/>
                          <a:ea typeface="Calibri"/>
                          <a:cs typeface="Times New Roman"/>
                        </a:rPr>
                        <a:t>K performed</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$20,000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$300 - $200 -</a:t>
                      </a:r>
                      <a:r>
                        <a:rPr lang="en-GB" sz="2000" baseline="0" dirty="0">
                          <a:effectLst/>
                          <a:latin typeface="Times New Roman"/>
                          <a:ea typeface="Calibri"/>
                          <a:cs typeface="Times New Roman"/>
                        </a:rPr>
                        <a:t> </a:t>
                      </a:r>
                      <a:r>
                        <a:rPr lang="en-GB" sz="2000" dirty="0">
                          <a:effectLst/>
                          <a:latin typeface="Times New Roman"/>
                          <a:ea typeface="Calibri"/>
                          <a:cs typeface="Times New Roman"/>
                        </a:rPr>
                        <a:t>$6000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$13,500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33400">
                <a:tc>
                  <a:txBody>
                    <a:bodyPr/>
                    <a:lstStyle/>
                    <a:p>
                      <a:pPr marL="0" marR="0">
                        <a:lnSpc>
                          <a:spcPct val="115000"/>
                        </a:lnSpc>
                        <a:spcBef>
                          <a:spcPts val="0"/>
                        </a:spcBef>
                        <a:spcAft>
                          <a:spcPts val="0"/>
                        </a:spcAft>
                      </a:pPr>
                      <a:r>
                        <a:rPr lang="en-GB" sz="2000">
                          <a:effectLst/>
                          <a:latin typeface="Times New Roman"/>
                          <a:ea typeface="Calibri"/>
                          <a:cs typeface="Times New Roman"/>
                        </a:rPr>
                        <a:t>K breached</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-$10,000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 $300 - $300 - $9000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GB" sz="2000" dirty="0">
                          <a:effectLst/>
                          <a:latin typeface="Times New Roman"/>
                          <a:ea typeface="Calibri"/>
                          <a:cs typeface="Times New Roman"/>
                        </a:rPr>
                        <a:t>-$19,600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Box 4"/>
          <p:cNvSpPr txBox="1"/>
          <p:nvPr/>
        </p:nvSpPr>
        <p:spPr>
          <a:xfrm>
            <a:off x="718127" y="5655873"/>
            <a:ext cx="2133600" cy="369332"/>
          </a:xfrm>
          <a:prstGeom prst="rect">
            <a:avLst/>
          </a:prstGeom>
          <a:noFill/>
          <a:ln w="3175">
            <a:solidFill>
              <a:schemeClr val="tx1"/>
            </a:solidFill>
          </a:ln>
        </p:spPr>
        <p:txBody>
          <a:bodyPr wrap="square" rtlCol="0">
            <a:spAutoFit/>
          </a:bodyPr>
          <a:lstStyle/>
          <a:p>
            <a:r>
              <a:rPr lang="en-US" dirty="0">
                <a:solidFill>
                  <a:prstClr val="black"/>
                </a:solidFill>
              </a:rPr>
              <a:t>Restitution: $</a:t>
            </a:r>
          </a:p>
        </p:txBody>
      </p:sp>
      <p:sp>
        <p:nvSpPr>
          <p:cNvPr id="6" name="TextBox 5"/>
          <p:cNvSpPr txBox="1"/>
          <p:nvPr/>
        </p:nvSpPr>
        <p:spPr>
          <a:xfrm>
            <a:off x="3537527" y="5644988"/>
            <a:ext cx="2133600" cy="369332"/>
          </a:xfrm>
          <a:prstGeom prst="rect">
            <a:avLst/>
          </a:prstGeom>
          <a:noFill/>
          <a:ln w="3175">
            <a:solidFill>
              <a:schemeClr val="tx1"/>
            </a:solidFill>
          </a:ln>
        </p:spPr>
        <p:txBody>
          <a:bodyPr wrap="square" rtlCol="0">
            <a:spAutoFit/>
          </a:bodyPr>
          <a:lstStyle/>
          <a:p>
            <a:r>
              <a:rPr lang="en-US" dirty="0">
                <a:solidFill>
                  <a:prstClr val="black"/>
                </a:solidFill>
              </a:rPr>
              <a:t>Reliance: $</a:t>
            </a:r>
          </a:p>
        </p:txBody>
      </p:sp>
      <p:sp>
        <p:nvSpPr>
          <p:cNvPr id="7" name="TextBox 6"/>
          <p:cNvSpPr txBox="1"/>
          <p:nvPr/>
        </p:nvSpPr>
        <p:spPr>
          <a:xfrm>
            <a:off x="6079341" y="5655873"/>
            <a:ext cx="2362200" cy="369332"/>
          </a:xfrm>
          <a:prstGeom prst="rect">
            <a:avLst/>
          </a:prstGeom>
          <a:noFill/>
          <a:ln w="3175">
            <a:solidFill>
              <a:schemeClr val="tx1"/>
            </a:solidFill>
          </a:ln>
        </p:spPr>
        <p:txBody>
          <a:bodyPr wrap="square" rtlCol="0">
            <a:spAutoFit/>
          </a:bodyPr>
          <a:lstStyle/>
          <a:p>
            <a:r>
              <a:rPr lang="en-US" dirty="0">
                <a:solidFill>
                  <a:prstClr val="black"/>
                </a:solidFill>
              </a:rPr>
              <a:t>Expectation: $</a:t>
            </a:r>
          </a:p>
        </p:txBody>
      </p:sp>
      <p:sp>
        <p:nvSpPr>
          <p:cNvPr id="9" name="TextBox 8"/>
          <p:cNvSpPr txBox="1"/>
          <p:nvPr/>
        </p:nvSpPr>
        <p:spPr>
          <a:xfrm>
            <a:off x="838200" y="1371600"/>
            <a:ext cx="7571014" cy="723275"/>
          </a:xfrm>
          <a:prstGeom prst="rect">
            <a:avLst/>
          </a:prstGeom>
          <a:noFill/>
          <a:ln>
            <a:solidFill>
              <a:schemeClr val="accent1"/>
            </a:solidFill>
          </a:ln>
        </p:spPr>
        <p:txBody>
          <a:bodyPr wrap="square" rtlCol="0">
            <a:spAutoFit/>
          </a:bodyPr>
          <a:lstStyle/>
          <a:p>
            <a:r>
              <a:rPr lang="en-US" dirty="0">
                <a:solidFill>
                  <a:prstClr val="black"/>
                </a:solidFill>
              </a:rPr>
              <a:t>Doctor’s fee: $300         Hospital fee: $100 per op.   Pain: $3000 per op.</a:t>
            </a:r>
          </a:p>
          <a:p>
            <a:pPr>
              <a:spcBef>
                <a:spcPts val="600"/>
              </a:spcBef>
            </a:pPr>
            <a:r>
              <a:rPr lang="en-US" dirty="0">
                <a:solidFill>
                  <a:prstClr val="black"/>
                </a:solidFill>
              </a:rPr>
              <a:t>Promised benefit: $20,000   Disfigurement: $10,000	</a:t>
            </a:r>
          </a:p>
        </p:txBody>
      </p:sp>
    </p:spTree>
    <p:extLst>
      <p:ext uri="{BB962C8B-B14F-4D97-AF65-F5344CB8AC3E}">
        <p14:creationId xmlns:p14="http://schemas.microsoft.com/office/powerpoint/2010/main" val="21636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is specific performance available?</a:t>
            </a:r>
          </a:p>
        </p:txBody>
      </p:sp>
      <p:sp>
        <p:nvSpPr>
          <p:cNvPr id="3" name="Content Placeholder 2"/>
          <p:cNvSpPr>
            <a:spLocks noGrp="1"/>
          </p:cNvSpPr>
          <p:nvPr>
            <p:ph sz="quarter" idx="1"/>
          </p:nvPr>
        </p:nvSpPr>
        <p:spPr/>
        <p:txBody>
          <a:bodyPr>
            <a:normAutofit lnSpcReduction="10000"/>
          </a:bodyPr>
          <a:lstStyle/>
          <a:p>
            <a:pPr marL="0" lvl="0" indent="0">
              <a:buNone/>
            </a:pPr>
            <a:r>
              <a:rPr lang="en-GB" dirty="0"/>
              <a:t>Specific performance is traditionally available when:</a:t>
            </a:r>
          </a:p>
          <a:p>
            <a:pPr lvl="0"/>
            <a:r>
              <a:rPr lang="en-GB" dirty="0"/>
              <a:t>remedy at law is inadequate or, in cases governed by the UCC, “where the goods are unique or in other proper circumstances”</a:t>
            </a:r>
          </a:p>
          <a:p>
            <a:pPr lvl="1"/>
            <a:r>
              <a:rPr lang="en-GB" dirty="0"/>
              <a:t>inadequacy is presumed in contracts for the sale of land</a:t>
            </a:r>
          </a:p>
          <a:p>
            <a:pPr lvl="0"/>
            <a:r>
              <a:rPr lang="en-GB" dirty="0"/>
              <a:t>equitable relief is appropriate, i.e.:</a:t>
            </a:r>
            <a:endParaRPr lang="en-US" dirty="0"/>
          </a:p>
          <a:p>
            <a:pPr lvl="1"/>
            <a:r>
              <a:rPr lang="en-GB" sz="2400" dirty="0"/>
              <a:t>no unclean hands</a:t>
            </a:r>
          </a:p>
          <a:p>
            <a:pPr lvl="1"/>
            <a:r>
              <a:rPr lang="en-GB" sz="2400" dirty="0"/>
              <a:t>contract is not unfair etc.</a:t>
            </a:r>
          </a:p>
          <a:p>
            <a:pPr lvl="1"/>
            <a:r>
              <a:rPr lang="en-GB" sz="2400" dirty="0"/>
              <a:t>no delay (laches) </a:t>
            </a:r>
            <a:endParaRPr lang="en-US" sz="2400" dirty="0"/>
          </a:p>
          <a:p>
            <a:pPr lvl="1"/>
            <a:r>
              <a:rPr lang="en-GB" sz="2400" dirty="0"/>
              <a:t>promisor will receive security for its performance</a:t>
            </a:r>
            <a:endParaRPr lang="en-US" sz="2400" dirty="0"/>
          </a:p>
          <a:p>
            <a:pPr lvl="1"/>
            <a:r>
              <a:rPr lang="en-GB" sz="2400" dirty="0"/>
              <a:t>judicial enforcement will not be impractical</a:t>
            </a:r>
          </a:p>
          <a:p>
            <a:r>
              <a:rPr lang="en-US" dirty="0"/>
              <a:t>contract is not one for personal services</a:t>
            </a:r>
          </a:p>
        </p:txBody>
      </p:sp>
    </p:spTree>
    <p:extLst>
      <p:ext uri="{BB962C8B-B14F-4D97-AF65-F5344CB8AC3E}">
        <p14:creationId xmlns:p14="http://schemas.microsoft.com/office/powerpoint/2010/main" val="2736687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Morris v. Sparrow (27)</a:t>
            </a:r>
          </a:p>
        </p:txBody>
      </p:sp>
      <p:sp>
        <p:nvSpPr>
          <p:cNvPr id="3" name="Content Placeholder 2"/>
          <p:cNvSpPr>
            <a:spLocks noGrp="1"/>
          </p:cNvSpPr>
          <p:nvPr>
            <p:ph sz="quarter" idx="1"/>
          </p:nvPr>
        </p:nvSpPr>
        <p:spPr/>
        <p:txBody>
          <a:bodyPr/>
          <a:lstStyle/>
          <a:p>
            <a:r>
              <a:rPr lang="en-US" dirty="0"/>
              <a:t>Was the contract breached?</a:t>
            </a:r>
          </a:p>
          <a:p>
            <a:r>
              <a:rPr lang="en-US" dirty="0"/>
              <a:t>Was performance excused?</a:t>
            </a:r>
          </a:p>
          <a:p>
            <a:r>
              <a:rPr lang="en-US" dirty="0"/>
              <a:t>Why were damages inadequate?</a:t>
            </a:r>
          </a:p>
          <a:p>
            <a:r>
              <a:rPr lang="en-US" dirty="0"/>
              <a:t>What if Sparrow intended to sell Keno?</a:t>
            </a:r>
          </a:p>
          <a:p>
            <a:r>
              <a:rPr lang="en-US" dirty="0"/>
              <a:t>Would a buyer from Sparrow be awarded specific performance?</a:t>
            </a:r>
          </a:p>
          <a:p>
            <a:r>
              <a:rPr lang="en-US" dirty="0"/>
              <a:t>Would Sparrow have any incentive (after breach but before trial) to buy another roping horse?</a:t>
            </a:r>
          </a:p>
        </p:txBody>
      </p:sp>
    </p:spTree>
    <p:extLst>
      <p:ext uri="{BB962C8B-B14F-4D97-AF65-F5344CB8AC3E}">
        <p14:creationId xmlns:p14="http://schemas.microsoft.com/office/powerpoint/2010/main" val="3174170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 Naval Institute v. Charter Comm. (21)</a:t>
            </a:r>
          </a:p>
        </p:txBody>
      </p:sp>
      <p:sp>
        <p:nvSpPr>
          <p:cNvPr id="3" name="Content Placeholder 2"/>
          <p:cNvSpPr>
            <a:spLocks noGrp="1"/>
          </p:cNvSpPr>
          <p:nvPr>
            <p:ph sz="quarter" idx="1"/>
          </p:nvPr>
        </p:nvSpPr>
        <p:spPr/>
        <p:txBody>
          <a:bodyPr/>
          <a:lstStyle/>
          <a:p>
            <a:r>
              <a:rPr lang="en-US" dirty="0"/>
              <a:t>What is the applicable law?</a:t>
            </a:r>
          </a:p>
          <a:p>
            <a:r>
              <a:rPr lang="en-US" dirty="0"/>
              <a:t>What promise is Naval seeking to enforce?</a:t>
            </a:r>
          </a:p>
          <a:p>
            <a:r>
              <a:rPr lang="en-US" dirty="0"/>
              <a:t>Was it breached?</a:t>
            </a:r>
          </a:p>
          <a:p>
            <a:r>
              <a:rPr lang="en-US" dirty="0"/>
              <a:t>What measure(s) of damages did the trial court award?</a:t>
            </a:r>
          </a:p>
          <a:p>
            <a:r>
              <a:rPr lang="en-US" dirty="0"/>
              <a:t>What measure of damages did the appellate court award?</a:t>
            </a:r>
          </a:p>
          <a:p>
            <a:r>
              <a:rPr lang="en-US" dirty="0"/>
              <a:t>Why was there uncertainty about the amount of damages?</a:t>
            </a:r>
          </a:p>
          <a:p>
            <a:endParaRPr lang="en-US" dirty="0"/>
          </a:p>
          <a:p>
            <a:endParaRPr lang="en-US" dirty="0"/>
          </a:p>
        </p:txBody>
      </p:sp>
    </p:spTree>
    <p:extLst>
      <p:ext uri="{BB962C8B-B14F-4D97-AF65-F5344CB8AC3E}">
        <p14:creationId xmlns:p14="http://schemas.microsoft.com/office/powerpoint/2010/main" val="958816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ormAutofit/>
          </a:bodyPr>
          <a:lstStyle/>
          <a:p>
            <a:r>
              <a:rPr lang="en-US" sz="2900" dirty="0"/>
              <a:t>The economics </a:t>
            </a:r>
            <a:r>
              <a:rPr lang="en-US" sz="2900"/>
              <a:t>of US Naval </a:t>
            </a:r>
            <a:r>
              <a:rPr lang="en-US" sz="2900" dirty="0"/>
              <a:t>Institute</a:t>
            </a:r>
          </a:p>
        </p:txBody>
      </p:sp>
      <p:sp>
        <p:nvSpPr>
          <p:cNvPr id="28675" name="Content Placeholder 2"/>
          <p:cNvSpPr>
            <a:spLocks noGrp="1"/>
          </p:cNvSpPr>
          <p:nvPr>
            <p:ph sz="quarter" idx="1"/>
          </p:nvPr>
        </p:nvSpPr>
        <p:spPr>
          <a:xfrm>
            <a:off x="457200" y="1219200"/>
            <a:ext cx="8229600" cy="4937125"/>
          </a:xfrm>
        </p:spPr>
        <p:txBody>
          <a:bodyPr/>
          <a:lstStyle/>
          <a:p>
            <a:pPr marL="0" indent="0">
              <a:buNone/>
            </a:pPr>
            <a:r>
              <a:rPr lang="en-US" dirty="0"/>
              <a:t>Assume:</a:t>
            </a:r>
          </a:p>
          <a:p>
            <a:r>
              <a:rPr lang="en-US" dirty="0"/>
              <a:t>Profits from breach &gt; $100,000</a:t>
            </a:r>
          </a:p>
          <a:p>
            <a:r>
              <a:rPr lang="en-US" dirty="0"/>
              <a:t>Damages &lt; $40,000</a:t>
            </a:r>
          </a:p>
          <a:p>
            <a:endParaRPr lang="en-US" dirty="0"/>
          </a:p>
          <a:p>
            <a:pPr marL="0" indent="0">
              <a:buNone/>
            </a:pPr>
            <a:r>
              <a:rPr lang="en-US" dirty="0"/>
              <a:t>Is this an efficient breach, i.e. one that leaves the promisor better off and the </a:t>
            </a:r>
            <a:r>
              <a:rPr lang="en-US" dirty="0" err="1"/>
              <a:t>promisee</a:t>
            </a:r>
            <a:r>
              <a:rPr lang="en-US" dirty="0"/>
              <a:t> no worse off?</a:t>
            </a:r>
          </a:p>
          <a:p>
            <a:pPr marL="0" indent="0">
              <a:buNone/>
            </a:pPr>
            <a:endParaRPr lang="en-US" dirty="0"/>
          </a:p>
          <a:p>
            <a:pPr marL="0" indent="0">
              <a:buNone/>
            </a:pPr>
            <a:r>
              <a:rPr lang="en-US" dirty="0"/>
              <a:t>Would you advise Berkley to breach?</a:t>
            </a:r>
          </a:p>
          <a:p>
            <a:pPr marL="0" indent="0">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285384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NY Rules of Professional Conduct</a:t>
            </a:r>
          </a:p>
        </p:txBody>
      </p:sp>
      <p:sp>
        <p:nvSpPr>
          <p:cNvPr id="3" name="Content Placeholder 2"/>
          <p:cNvSpPr>
            <a:spLocks noGrp="1"/>
          </p:cNvSpPr>
          <p:nvPr>
            <p:ph sz="quarter" idx="1"/>
          </p:nvPr>
        </p:nvSpPr>
        <p:spPr/>
        <p:txBody>
          <a:bodyPr>
            <a:normAutofit fontScale="92500" lnSpcReduction="20000"/>
          </a:bodyPr>
          <a:lstStyle/>
          <a:p>
            <a:pPr marL="0" indent="0" algn="just">
              <a:lnSpc>
                <a:spcPct val="120000"/>
              </a:lnSpc>
              <a:buNone/>
            </a:pPr>
            <a:r>
              <a:rPr lang="en-US" dirty="0"/>
              <a:t>Rule 1.2</a:t>
            </a:r>
          </a:p>
          <a:p>
            <a:pPr marL="0" indent="0" algn="just">
              <a:lnSpc>
                <a:spcPct val="120000"/>
              </a:lnSpc>
              <a:buNone/>
            </a:pPr>
            <a:r>
              <a:rPr lang="en-US" dirty="0"/>
              <a:t>(d) A lawyer shall not counsel a client to engage, or assist a client, in conduct that the lawyer knows is illegal or  fraudulent, except that the lawyer may discuss the legal consequences of any proposed course of conduct with a client.</a:t>
            </a:r>
          </a:p>
          <a:p>
            <a:pPr marL="0" indent="0" algn="just">
              <a:lnSpc>
                <a:spcPct val="120000"/>
              </a:lnSpc>
              <a:buNone/>
            </a:pPr>
            <a:endParaRPr lang="en-US" dirty="0"/>
          </a:p>
          <a:p>
            <a:pPr marL="0" indent="0" algn="just">
              <a:lnSpc>
                <a:spcPct val="120000"/>
              </a:lnSpc>
              <a:buNone/>
            </a:pPr>
            <a:r>
              <a:rPr lang="en-US" dirty="0"/>
              <a:t>Rule 2.1:</a:t>
            </a:r>
          </a:p>
          <a:p>
            <a:pPr marL="0" indent="0" algn="just">
              <a:lnSpc>
                <a:spcPct val="120000"/>
              </a:lnSpc>
              <a:buNone/>
            </a:pPr>
            <a:r>
              <a:rPr lang="en-US" dirty="0"/>
              <a:t>In representing a client, a lawyer shall exercise independent professional judgment and render candid advice. In rendering advice, a lawyer may refer not only to law but to other considerations such as moral, economic, social, psychological, and political factors that may be relevant to the client’s situation.</a:t>
            </a:r>
          </a:p>
        </p:txBody>
      </p:sp>
    </p:spTree>
    <p:extLst>
      <p:ext uri="{BB962C8B-B14F-4D97-AF65-F5344CB8AC3E}">
        <p14:creationId xmlns:p14="http://schemas.microsoft.com/office/powerpoint/2010/main" val="1163843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White v. </a:t>
            </a:r>
            <a:r>
              <a:rPr lang="en-US" dirty="0" err="1"/>
              <a:t>Benkowski</a:t>
            </a:r>
            <a:r>
              <a:rPr lang="en-US" dirty="0"/>
              <a:t> (31)</a:t>
            </a:r>
          </a:p>
        </p:txBody>
      </p:sp>
      <p:sp>
        <p:nvSpPr>
          <p:cNvPr id="3" name="Content Placeholder 2"/>
          <p:cNvSpPr>
            <a:spLocks noGrp="1"/>
          </p:cNvSpPr>
          <p:nvPr>
            <p:ph sz="quarter" idx="1"/>
          </p:nvPr>
        </p:nvSpPr>
        <p:spPr/>
        <p:txBody>
          <a:bodyPr/>
          <a:lstStyle/>
          <a:p>
            <a:r>
              <a:rPr lang="en-US" dirty="0"/>
              <a:t>What was the measure of expectation damages?</a:t>
            </a:r>
          </a:p>
          <a:p>
            <a:r>
              <a:rPr lang="en-US" dirty="0"/>
              <a:t>What was the measure of punitive damages?</a:t>
            </a:r>
          </a:p>
          <a:p>
            <a:r>
              <a:rPr lang="en-US" dirty="0"/>
              <a:t>Why did the jury award punitive damages?</a:t>
            </a:r>
          </a:p>
          <a:p>
            <a:r>
              <a:rPr lang="en-US" dirty="0"/>
              <a:t>Why did the Supreme Court disallow punitive damages?</a:t>
            </a:r>
          </a:p>
          <a:p>
            <a:pPr marL="0" indent="0">
              <a:buNone/>
            </a:pPr>
            <a:endParaRPr lang="en-US" dirty="0"/>
          </a:p>
          <a:p>
            <a:r>
              <a:rPr lang="en-US" dirty="0"/>
              <a:t>How could the Whites have avoided this outcome?</a:t>
            </a:r>
          </a:p>
          <a:p>
            <a:pPr marL="0" indent="0">
              <a:buNone/>
            </a:pPr>
            <a:endParaRPr lang="en-US" dirty="0"/>
          </a:p>
          <a:p>
            <a:endParaRPr lang="en-US" dirty="0"/>
          </a:p>
        </p:txBody>
      </p:sp>
    </p:spTree>
    <p:extLst>
      <p:ext uri="{BB962C8B-B14F-4D97-AF65-F5344CB8AC3E}">
        <p14:creationId xmlns:p14="http://schemas.microsoft.com/office/powerpoint/2010/main" val="2127263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t>Problem for next class</a:t>
            </a:r>
          </a:p>
        </p:txBody>
      </p:sp>
      <p:sp>
        <p:nvSpPr>
          <p:cNvPr id="29699" name="Content Placeholder 2"/>
          <p:cNvSpPr>
            <a:spLocks noGrp="1"/>
          </p:cNvSpPr>
          <p:nvPr>
            <p:ph sz="quarter" idx="1"/>
          </p:nvPr>
        </p:nvSpPr>
        <p:spPr>
          <a:xfrm>
            <a:off x="457200" y="1219200"/>
            <a:ext cx="8229600" cy="4937125"/>
          </a:xfrm>
        </p:spPr>
        <p:txBody>
          <a:bodyPr/>
          <a:lstStyle/>
          <a:p>
            <a:r>
              <a:rPr lang="en-US" dirty="0"/>
              <a:t>Discounting Retirement Problem, p. 59</a:t>
            </a:r>
          </a:p>
          <a:p>
            <a:pPr marL="0" indent="0">
              <a:buNone/>
            </a:pPr>
            <a:endParaRPr lang="en-US" dirty="0"/>
          </a:p>
        </p:txBody>
      </p:sp>
    </p:spTree>
    <p:extLst>
      <p:ext uri="{BB962C8B-B14F-4D97-AF65-F5344CB8AC3E}">
        <p14:creationId xmlns:p14="http://schemas.microsoft.com/office/powerpoint/2010/main" val="40235653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4777</TotalTime>
  <Words>1030</Words>
  <Application>Microsoft Office PowerPoint</Application>
  <PresentationFormat>On-screen Show (4:3)</PresentationFormat>
  <Paragraphs>139</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Bookman Old Style</vt:lpstr>
      <vt:lpstr>Calibri</vt:lpstr>
      <vt:lpstr>Gill Sans MT</vt:lpstr>
      <vt:lpstr>Times New Roman</vt:lpstr>
      <vt:lpstr>Wingdings</vt:lpstr>
      <vt:lpstr>Wingdings 3</vt:lpstr>
      <vt:lpstr>Origin</vt:lpstr>
      <vt:lpstr>Class 2: Introduction to remedies</vt:lpstr>
      <vt:lpstr>Topics</vt:lpstr>
      <vt:lpstr>Key questions</vt:lpstr>
      <vt:lpstr>Key questions</vt:lpstr>
      <vt:lpstr>Possible measures of damages (20)</vt:lpstr>
      <vt:lpstr>Sullivan v. O’Connor (13)</vt:lpstr>
      <vt:lpstr>Sullivan v. O’Connor (13)</vt:lpstr>
      <vt:lpstr>Applying the Interests (18)</vt:lpstr>
      <vt:lpstr>Applying the Interests (18)</vt:lpstr>
      <vt:lpstr>Applying the Interests (18) (lost opportunity)</vt:lpstr>
      <vt:lpstr>When is specific performance available?</vt:lpstr>
      <vt:lpstr>Morris v. Sparrow (27)</vt:lpstr>
      <vt:lpstr>US Naval Institute v. Charter Comm. (21)</vt:lpstr>
      <vt:lpstr>The economics of US Naval Institute</vt:lpstr>
      <vt:lpstr>NY Rules of Professional Conduct</vt:lpstr>
      <vt:lpstr>White v. Benkowski (31)</vt:lpstr>
      <vt:lpstr>Problem for next class</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2: Remedies and the theory of efficient breach</dc:title>
  <dc:creator>Davis, Kevin</dc:creator>
  <cp:lastModifiedBy>Davis, Kevin</cp:lastModifiedBy>
  <cp:revision>32</cp:revision>
  <dcterms:created xsi:type="dcterms:W3CDTF">2014-08-29T15:53:40Z</dcterms:created>
  <dcterms:modified xsi:type="dcterms:W3CDTF">2026-08-27T14:48:17Z</dcterms:modified>
</cp:coreProperties>
</file>