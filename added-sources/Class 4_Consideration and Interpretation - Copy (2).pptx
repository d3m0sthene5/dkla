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sldIdLst>
    <p:sldId id="273" r:id="rId3"/>
    <p:sldId id="257" r:id="rId4"/>
    <p:sldId id="258" r:id="rId5"/>
    <p:sldId id="259" r:id="rId6"/>
    <p:sldId id="260" r:id="rId7"/>
    <p:sldId id="261" r:id="rId8"/>
    <p:sldId id="264" r:id="rId9"/>
    <p:sldId id="265" r:id="rId10"/>
    <p:sldId id="266" r:id="rId11"/>
    <p:sldId id="274" r:id="rId12"/>
    <p:sldId id="277" r:id="rId13"/>
    <p:sldId id="275" r:id="rId14"/>
    <p:sldId id="276" r:id="rId15"/>
    <p:sldId id="268" r:id="rId16"/>
    <p:sldId id="269" r:id="rId17"/>
    <p:sldId id="270"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9/3/2026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360972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83616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9/3/2026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43746317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442432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413495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407601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551676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407354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9/3/2026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0630007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725977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2780720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2709386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9/3/2026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958394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874968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9/3/2026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93731651"/>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168819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348507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3594556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41379632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8828078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9/3/2026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68443151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10981742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31380121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341335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9/3/2026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6398055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9/3/2026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35417305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normAutofit fontScale="90000"/>
          </a:bodyPr>
          <a:lstStyle/>
          <a:p>
            <a:pPr eaLnBrk="1" hangingPunct="1"/>
            <a:r>
              <a:rPr lang="en-US" dirty="0"/>
              <a:t>Class 4: Consideration and interpretation</a:t>
            </a:r>
            <a:br>
              <a:rPr lang="en-US" dirty="0"/>
            </a:br>
            <a:endParaRPr lang="en-US" dirty="0"/>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extLst>
      <p:ext uri="{BB962C8B-B14F-4D97-AF65-F5344CB8AC3E}">
        <p14:creationId xmlns:p14="http://schemas.microsoft.com/office/powerpoint/2010/main" val="3234084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t>Topics</a:t>
            </a:r>
          </a:p>
        </p:txBody>
      </p:sp>
      <p:sp>
        <p:nvSpPr>
          <p:cNvPr id="10243" name="Content Placeholder 2"/>
          <p:cNvSpPr>
            <a:spLocks noGrp="1"/>
          </p:cNvSpPr>
          <p:nvPr>
            <p:ph sz="quarter" idx="1"/>
          </p:nvPr>
        </p:nvSpPr>
        <p:spPr>
          <a:xfrm>
            <a:off x="457200" y="1219200"/>
            <a:ext cx="8229600" cy="4937125"/>
          </a:xfrm>
        </p:spPr>
        <p:txBody>
          <a:bodyPr/>
          <a:lstStyle/>
          <a:p>
            <a:pPr eaLnBrk="1" hangingPunct="1"/>
            <a:r>
              <a:rPr lang="en-US" dirty="0"/>
              <a:t>Conditions</a:t>
            </a:r>
          </a:p>
          <a:p>
            <a:pPr eaLnBrk="1" hangingPunct="1"/>
            <a:r>
              <a:rPr lang="en-US" dirty="0"/>
              <a:t>Illusory promises</a:t>
            </a:r>
          </a:p>
          <a:p>
            <a:pPr eaLnBrk="1" hangingPunct="1"/>
            <a:r>
              <a:rPr lang="en-US" dirty="0"/>
              <a:t>Satisfaction clauses</a:t>
            </a:r>
          </a:p>
          <a:p>
            <a:r>
              <a:rPr lang="en-US" dirty="0"/>
              <a:t>Exclusive dealing contracts</a:t>
            </a:r>
          </a:p>
          <a:p>
            <a:pPr eaLnBrk="1" hangingPunct="1"/>
            <a:r>
              <a:rPr lang="en-US" dirty="0"/>
              <a:t>Requirements/output contracts</a:t>
            </a:r>
          </a:p>
          <a:p>
            <a:pPr eaLnBrk="1" hangingPunct="1"/>
            <a:r>
              <a:rPr lang="en-US" dirty="0"/>
              <a:t>Implied duty of good faith</a:t>
            </a:r>
          </a:p>
          <a:p>
            <a:pPr eaLnBrk="1" hangingPunct="1"/>
            <a:r>
              <a:rPr lang="en-US" dirty="0"/>
              <a:t>UCC 2-306</a:t>
            </a:r>
          </a:p>
          <a:p>
            <a:pPr eaLnBrk="1" hangingPunct="1"/>
            <a:r>
              <a:rPr lang="en-US" dirty="0"/>
              <a:t>Mandatory versus default rules</a:t>
            </a:r>
          </a:p>
          <a:p>
            <a:pPr eaLnBrk="1" hangingPunct="1"/>
            <a:endParaRPr lang="en-US" dirty="0"/>
          </a:p>
          <a:p>
            <a:pPr eaLnBrk="1" hangingPunct="1"/>
            <a:endParaRPr lang="en-US" dirty="0"/>
          </a:p>
        </p:txBody>
      </p:sp>
    </p:spTree>
    <p:extLst>
      <p:ext uri="{BB962C8B-B14F-4D97-AF65-F5344CB8AC3E}">
        <p14:creationId xmlns:p14="http://schemas.microsoft.com/office/powerpoint/2010/main" val="4281827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p:cNvSpPr>
            <a:spLocks noGrp="1"/>
          </p:cNvSpPr>
          <p:nvPr>
            <p:ph type="title"/>
          </p:nvPr>
        </p:nvSpPr>
        <p:spPr/>
        <p:txBody>
          <a:bodyPr/>
          <a:lstStyle/>
          <a:p>
            <a:r>
              <a:rPr lang="en-US" altLang="en-US"/>
              <a:t>Key questions</a:t>
            </a:r>
          </a:p>
        </p:txBody>
      </p:sp>
      <p:sp>
        <p:nvSpPr>
          <p:cNvPr id="11267" name="Content Placeholder 5"/>
          <p:cNvSpPr>
            <a:spLocks noGrp="1"/>
          </p:cNvSpPr>
          <p:nvPr>
            <p:ph sz="quarter" idx="1"/>
          </p:nvPr>
        </p:nvSpPr>
        <p:spPr>
          <a:xfrm>
            <a:off x="457200" y="1219200"/>
            <a:ext cx="8229600" cy="4937125"/>
          </a:xfrm>
        </p:spPr>
        <p:txBody>
          <a:bodyPr/>
          <a:lstStyle/>
          <a:p>
            <a:r>
              <a:rPr lang="en-US" altLang="en-US" b="1" dirty="0"/>
              <a:t>Is there an enforceable promise?</a:t>
            </a:r>
          </a:p>
          <a:p>
            <a:r>
              <a:rPr lang="en-US" altLang="en-US" b="1" dirty="0"/>
              <a:t>Has it been breached?</a:t>
            </a:r>
          </a:p>
          <a:p>
            <a:r>
              <a:rPr lang="en-US" altLang="en-US" dirty="0"/>
              <a:t>Has performance been excused?</a:t>
            </a:r>
          </a:p>
          <a:p>
            <a:r>
              <a:rPr lang="en-US" altLang="en-US" dirty="0"/>
              <a:t>How should it be enforced?</a:t>
            </a:r>
          </a:p>
        </p:txBody>
      </p:sp>
    </p:spTree>
    <p:extLst>
      <p:ext uri="{BB962C8B-B14F-4D97-AF65-F5344CB8AC3E}">
        <p14:creationId xmlns:p14="http://schemas.microsoft.com/office/powerpoint/2010/main" val="1093992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Conditions</a:t>
            </a:r>
          </a:p>
        </p:txBody>
      </p:sp>
      <p:sp>
        <p:nvSpPr>
          <p:cNvPr id="3" name="Content Placeholder 2"/>
          <p:cNvSpPr>
            <a:spLocks noGrp="1"/>
          </p:cNvSpPr>
          <p:nvPr>
            <p:ph sz="quarter" idx="1"/>
          </p:nvPr>
        </p:nvSpPr>
        <p:spPr/>
        <p:txBody>
          <a:bodyPr/>
          <a:lstStyle/>
          <a:p>
            <a:pPr marL="0" indent="0">
              <a:buNone/>
            </a:pPr>
            <a:endParaRPr lang="en-US" dirty="0"/>
          </a:p>
          <a:p>
            <a:pPr marL="0" indent="0">
              <a:buNone/>
            </a:pPr>
            <a:r>
              <a:rPr lang="en-US" dirty="0"/>
              <a:t>“A condition is an event, not certain to occur, which must occur, unless its nonoccurrence is excused, before performance under a contract becomes due.”</a:t>
            </a:r>
          </a:p>
          <a:p>
            <a:pPr marL="0" indent="0">
              <a:buNone/>
            </a:pPr>
            <a:endParaRPr lang="en-US" dirty="0"/>
          </a:p>
          <a:p>
            <a:pPr marL="0" indent="0" algn="r">
              <a:buNone/>
            </a:pPr>
            <a:r>
              <a:rPr lang="en-US" dirty="0"/>
              <a:t>Restatement § 224</a:t>
            </a:r>
          </a:p>
          <a:p>
            <a:pPr marL="0" indent="0" algn="r">
              <a:buNone/>
            </a:pPr>
            <a:endParaRPr lang="en-US" dirty="0"/>
          </a:p>
          <a:p>
            <a:pPr marL="0" indent="0">
              <a:buNone/>
            </a:pPr>
            <a:r>
              <a:rPr lang="en-US" dirty="0"/>
              <a:t>See also the note on conditional promises on p. 96.</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33536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err="1"/>
              <a:t>Mattei</a:t>
            </a:r>
            <a:r>
              <a:rPr lang="en-US" dirty="0"/>
              <a:t> v. Hopper (102)</a:t>
            </a:r>
          </a:p>
        </p:txBody>
      </p:sp>
      <p:sp>
        <p:nvSpPr>
          <p:cNvPr id="3" name="Content Placeholder 2"/>
          <p:cNvSpPr>
            <a:spLocks noGrp="1"/>
          </p:cNvSpPr>
          <p:nvPr>
            <p:ph sz="quarter" idx="1"/>
          </p:nvPr>
        </p:nvSpPr>
        <p:spPr>
          <a:xfrm>
            <a:off x="457200" y="1219200"/>
            <a:ext cx="8229600" cy="4937125"/>
          </a:xfrm>
        </p:spPr>
        <p:txBody>
          <a:bodyPr>
            <a:normAutofit/>
          </a:bodyPr>
          <a:lstStyle/>
          <a:p>
            <a:pPr>
              <a:defRPr/>
            </a:pPr>
            <a:r>
              <a:rPr lang="en-US" dirty="0"/>
              <a:t>What promise is the plaintiff seeking to enforce?</a:t>
            </a:r>
          </a:p>
          <a:p>
            <a:pPr>
              <a:defRPr/>
            </a:pPr>
            <a:r>
              <a:rPr lang="en-US" dirty="0"/>
              <a:t>What was the purported consideration?</a:t>
            </a:r>
          </a:p>
          <a:p>
            <a:pPr lvl="1">
              <a:defRPr/>
            </a:pPr>
            <a:r>
              <a:rPr lang="en-US" dirty="0"/>
              <a:t>“…subject to Coldwell Banker &amp; Co. obtaining leases satisfactory to the purchaser.”</a:t>
            </a:r>
          </a:p>
          <a:p>
            <a:pPr>
              <a:defRPr/>
            </a:pPr>
            <a:r>
              <a:rPr lang="en-US" dirty="0"/>
              <a:t>How did the court interpret the condition?</a:t>
            </a:r>
          </a:p>
          <a:p>
            <a:pPr lvl="1">
              <a:defRPr/>
            </a:pPr>
            <a:r>
              <a:rPr lang="en-US" dirty="0"/>
              <a:t>Purchaser has absolute discretion to determine satisfaction.</a:t>
            </a:r>
          </a:p>
          <a:p>
            <a:pPr lvl="1">
              <a:defRPr/>
            </a:pPr>
            <a:r>
              <a:rPr lang="en-US" dirty="0"/>
              <a:t>Leases must be satisfactory to a reasonable person.</a:t>
            </a:r>
          </a:p>
          <a:p>
            <a:pPr lvl="1">
              <a:defRPr/>
            </a:pPr>
            <a:r>
              <a:rPr lang="en-US" dirty="0"/>
              <a:t>Determination must be made in good faith.</a:t>
            </a:r>
          </a:p>
          <a:p>
            <a:pPr>
              <a:defRPr/>
            </a:pPr>
            <a:r>
              <a:rPr lang="en-US" dirty="0"/>
              <a:t>Why did the court go beyond the plain language?</a:t>
            </a:r>
          </a:p>
          <a:p>
            <a:pPr>
              <a:defRPr/>
            </a:pPr>
            <a:r>
              <a:rPr lang="en-US" dirty="0"/>
              <a:t>Is this the interpretation the parties would have wanted?</a:t>
            </a:r>
          </a:p>
          <a:p>
            <a:pPr>
              <a:defRPr/>
            </a:pPr>
            <a:r>
              <a:rPr lang="en-US" dirty="0"/>
              <a:t>Is it possible to contract around this interpretation?</a:t>
            </a:r>
          </a:p>
        </p:txBody>
      </p:sp>
    </p:spTree>
    <p:extLst>
      <p:ext uri="{BB962C8B-B14F-4D97-AF65-F5344CB8AC3E}">
        <p14:creationId xmlns:p14="http://schemas.microsoft.com/office/powerpoint/2010/main" val="389572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Mattei</a:t>
            </a:r>
            <a:r>
              <a:rPr lang="en-US" dirty="0"/>
              <a:t> v. Hopper (102)</a:t>
            </a:r>
          </a:p>
        </p:txBody>
      </p:sp>
      <p:sp>
        <p:nvSpPr>
          <p:cNvPr id="3" name="Content Placeholder 2"/>
          <p:cNvSpPr>
            <a:spLocks noGrp="1"/>
          </p:cNvSpPr>
          <p:nvPr>
            <p:ph sz="quarter" idx="1"/>
          </p:nvPr>
        </p:nvSpPr>
        <p:spPr/>
        <p:txBody>
          <a:bodyPr/>
          <a:lstStyle/>
          <a:p>
            <a:pPr marL="0" indent="0">
              <a:buNone/>
            </a:pPr>
            <a:r>
              <a:rPr lang="en-US" dirty="0"/>
              <a:t>“Subject to Coldwell Banker &amp; Company obtaining leases satisfactory to the purchaser, </a:t>
            </a:r>
            <a:r>
              <a:rPr lang="en-US" i="1" dirty="0"/>
              <a:t>acting at his sole discretion</a:t>
            </a:r>
            <a:r>
              <a:rPr lang="en-US" dirty="0"/>
              <a:t>.”</a:t>
            </a:r>
          </a:p>
          <a:p>
            <a:pPr marL="0" indent="0">
              <a:buNone/>
            </a:pPr>
            <a:endParaRPr lang="en-US" dirty="0"/>
          </a:p>
          <a:p>
            <a:pPr marL="0" indent="0">
              <a:buNone/>
            </a:pPr>
            <a:r>
              <a:rPr lang="en-US" dirty="0"/>
              <a:t>“The terms “sole discretion” and “absolute discretion” with respect to any determination to be made a Party under this Agreement shall mean the sole and absolute discretion of such Party, without regard to any standard of reasonableness or other standard by which the determination of such Party might be challenged.”</a:t>
            </a:r>
          </a:p>
        </p:txBody>
      </p:sp>
    </p:spTree>
    <p:extLst>
      <p:ext uri="{BB962C8B-B14F-4D97-AF65-F5344CB8AC3E}">
        <p14:creationId xmlns:p14="http://schemas.microsoft.com/office/powerpoint/2010/main" val="1283673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Wood v. Lucy, Lady Duff Gordon (113)</a:t>
            </a:r>
          </a:p>
        </p:txBody>
      </p:sp>
      <p:sp>
        <p:nvSpPr>
          <p:cNvPr id="3" name="Content Placeholder 2"/>
          <p:cNvSpPr>
            <a:spLocks noGrp="1"/>
          </p:cNvSpPr>
          <p:nvPr>
            <p:ph sz="quarter" idx="1"/>
          </p:nvPr>
        </p:nvSpPr>
        <p:spPr>
          <a:xfrm>
            <a:off x="457200" y="1219200"/>
            <a:ext cx="8229600" cy="5105400"/>
          </a:xfrm>
        </p:spPr>
        <p:txBody>
          <a:bodyPr>
            <a:normAutofit lnSpcReduction="10000"/>
          </a:bodyPr>
          <a:lstStyle/>
          <a:p>
            <a:pPr marL="0" indent="0">
              <a:buNone/>
            </a:pPr>
            <a:r>
              <a:rPr lang="en-US" dirty="0"/>
              <a:t>“Otis F. Wood is hereby granted the exclusive right to place such endorsements on such terms and conditions as may in his judgment, and also in the judgement of the said Lucy, Lady Duff Gordon….be most advantageous to the said Lucy, Lady Duff Gordon and the said Otis F. Wood.”</a:t>
            </a:r>
          </a:p>
          <a:p>
            <a:pPr marL="0" indent="0">
              <a:buNone/>
            </a:pPr>
            <a:endParaRPr lang="en-US" dirty="0"/>
          </a:p>
          <a:p>
            <a:pPr marL="0" indent="0">
              <a:buNone/>
            </a:pPr>
            <a:r>
              <a:rPr lang="en-US" dirty="0"/>
              <a:t>“…all profits and revenues…are to be paid over and collected by the said Otis Wood…all said profits and royalties are to be divided equally between the parties…”</a:t>
            </a:r>
          </a:p>
          <a:p>
            <a:pPr marL="0" indent="0">
              <a:buNone/>
            </a:pPr>
            <a:endParaRPr lang="en-US" dirty="0"/>
          </a:p>
          <a:p>
            <a:pPr marL="0" indent="0">
              <a:buNone/>
            </a:pPr>
            <a:r>
              <a:rPr lang="en-US" dirty="0"/>
              <a:t>“Otis F. Wood shall account monthly, to wit, on the first day of each month, to the said Lucy, Lady Duff Gordon…”</a:t>
            </a:r>
          </a:p>
        </p:txBody>
      </p:sp>
    </p:spTree>
    <p:extLst>
      <p:ext uri="{BB962C8B-B14F-4D97-AF65-F5344CB8AC3E}">
        <p14:creationId xmlns:p14="http://schemas.microsoft.com/office/powerpoint/2010/main" val="330886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Wood v. Lucy, Lady Duff Gordon (113)</a:t>
            </a:r>
          </a:p>
        </p:txBody>
      </p:sp>
      <p:sp>
        <p:nvSpPr>
          <p:cNvPr id="3" name="Content Placeholder 2"/>
          <p:cNvSpPr>
            <a:spLocks noGrp="1"/>
          </p:cNvSpPr>
          <p:nvPr>
            <p:ph sz="quarter" idx="1"/>
          </p:nvPr>
        </p:nvSpPr>
        <p:spPr>
          <a:xfrm>
            <a:off x="457200" y="1219200"/>
            <a:ext cx="8229600" cy="4937125"/>
          </a:xfrm>
        </p:spPr>
        <p:txBody>
          <a:bodyPr>
            <a:normAutofit lnSpcReduction="10000"/>
          </a:bodyPr>
          <a:lstStyle/>
          <a:p>
            <a:pPr>
              <a:defRPr/>
            </a:pPr>
            <a:r>
              <a:rPr lang="en-US" dirty="0"/>
              <a:t>What promise did Lucy make?</a:t>
            </a:r>
          </a:p>
          <a:p>
            <a:pPr>
              <a:defRPr/>
            </a:pPr>
            <a:r>
              <a:rPr lang="en-US" dirty="0"/>
              <a:t>What consideration did Wood provide?</a:t>
            </a:r>
          </a:p>
          <a:p>
            <a:pPr>
              <a:defRPr/>
            </a:pPr>
            <a:r>
              <a:rPr lang="en-US" dirty="0"/>
              <a:t>How did the court interpret Wood’s obligations?</a:t>
            </a:r>
          </a:p>
          <a:p>
            <a:pPr lvl="1">
              <a:defRPr/>
            </a:pPr>
            <a:r>
              <a:rPr lang="en-US" dirty="0"/>
              <a:t>None.</a:t>
            </a:r>
          </a:p>
          <a:p>
            <a:pPr lvl="1">
              <a:defRPr/>
            </a:pPr>
            <a:r>
              <a:rPr lang="en-US" dirty="0"/>
              <a:t>To use reasonable efforts to place her </a:t>
            </a:r>
            <a:r>
              <a:rPr lang="en-US" dirty="0" err="1"/>
              <a:t>indorsements</a:t>
            </a:r>
            <a:r>
              <a:rPr lang="en-US" dirty="0"/>
              <a:t> and market her designs and to bring profits and revenues into existence.</a:t>
            </a:r>
          </a:p>
          <a:p>
            <a:pPr lvl="1">
              <a:defRPr/>
            </a:pPr>
            <a:r>
              <a:rPr lang="en-US" dirty="0"/>
              <a:t>To use best efforts to place her </a:t>
            </a:r>
            <a:r>
              <a:rPr lang="en-US" dirty="0" err="1"/>
              <a:t>indorsements</a:t>
            </a:r>
            <a:r>
              <a:rPr lang="en-US" dirty="0"/>
              <a:t> and market her designs and to bring profits and revenues into existence.</a:t>
            </a:r>
          </a:p>
          <a:p>
            <a:pPr>
              <a:defRPr/>
            </a:pPr>
            <a:r>
              <a:rPr lang="en-US" dirty="0"/>
              <a:t>Why did the court go beyond the express terms?</a:t>
            </a:r>
          </a:p>
          <a:p>
            <a:pPr>
              <a:defRPr/>
            </a:pPr>
            <a:r>
              <a:rPr lang="en-US" dirty="0"/>
              <a:t>Is this the interpretation the parties would have wanted?</a:t>
            </a:r>
          </a:p>
          <a:p>
            <a:pPr>
              <a:defRPr/>
            </a:pPr>
            <a:r>
              <a:rPr lang="en-US" dirty="0"/>
              <a:t>Is it possible to contract around this interpretation?</a:t>
            </a:r>
          </a:p>
        </p:txBody>
      </p:sp>
    </p:spTree>
    <p:extLst>
      <p:ext uri="{BB962C8B-B14F-4D97-AF65-F5344CB8AC3E}">
        <p14:creationId xmlns:p14="http://schemas.microsoft.com/office/powerpoint/2010/main" val="299942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UCC 2-306(2)</a:t>
            </a:r>
          </a:p>
        </p:txBody>
      </p:sp>
      <p:sp>
        <p:nvSpPr>
          <p:cNvPr id="15363" name="Content Placeholder 2"/>
          <p:cNvSpPr>
            <a:spLocks noGrp="1"/>
          </p:cNvSpPr>
          <p:nvPr>
            <p:ph sz="quarter" idx="1"/>
          </p:nvPr>
        </p:nvSpPr>
        <p:spPr>
          <a:xfrm>
            <a:off x="457200" y="1219200"/>
            <a:ext cx="8229600" cy="4937125"/>
          </a:xfrm>
        </p:spPr>
        <p:txBody>
          <a:bodyPr/>
          <a:lstStyle/>
          <a:p>
            <a:pPr marL="0" indent="0">
              <a:buFont typeface="Wingdings 3" pitchFamily="18" charset="2"/>
              <a:buNone/>
            </a:pPr>
            <a:r>
              <a:rPr lang="en-US" dirty="0"/>
              <a:t>(2) A lawful agreement by either the seller or the buyer for exclusive dealing in the kind of goods concerned imposes unless otherwise agreed an obligation by the seller to use </a:t>
            </a:r>
            <a:r>
              <a:rPr lang="en-US" b="1" dirty="0"/>
              <a:t>best efforts </a:t>
            </a:r>
            <a:r>
              <a:rPr lang="en-US" dirty="0"/>
              <a:t>to supply the goods and by the buyer to use </a:t>
            </a:r>
            <a:r>
              <a:rPr lang="en-US" b="1" dirty="0"/>
              <a:t>best efforts </a:t>
            </a:r>
            <a:r>
              <a:rPr lang="en-US" dirty="0"/>
              <a:t>to promote their sale.</a:t>
            </a:r>
          </a:p>
          <a:p>
            <a:pPr marL="0" indent="0">
              <a:buFont typeface="Wingdings 3" pitchFamily="18" charset="2"/>
              <a:buNone/>
            </a:pPr>
            <a:endParaRPr lang="en-US" dirty="0"/>
          </a:p>
          <a:p>
            <a:r>
              <a:rPr lang="en-US" dirty="0"/>
              <a:t>Note that Comment 5 refers to </a:t>
            </a:r>
            <a:r>
              <a:rPr lang="en-US" b="1" dirty="0"/>
              <a:t>reasonable diligence</a:t>
            </a:r>
            <a:r>
              <a:rPr lang="en-US" dirty="0"/>
              <a:t>, </a:t>
            </a:r>
            <a:r>
              <a:rPr lang="en-US" b="1" dirty="0"/>
              <a:t>reasonable effort </a:t>
            </a:r>
            <a:r>
              <a:rPr lang="en-US" dirty="0"/>
              <a:t>and </a:t>
            </a:r>
            <a:r>
              <a:rPr lang="en-US" b="1" dirty="0"/>
              <a:t>due diligence</a:t>
            </a:r>
            <a:r>
              <a:rPr lang="en-US" dirty="0"/>
              <a:t>.</a:t>
            </a:r>
          </a:p>
        </p:txBody>
      </p:sp>
    </p:spTree>
    <p:extLst>
      <p:ext uri="{BB962C8B-B14F-4D97-AF65-F5344CB8AC3E}">
        <p14:creationId xmlns:p14="http://schemas.microsoft.com/office/powerpoint/2010/main" val="2249968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fontScale="90000"/>
          </a:bodyPr>
          <a:lstStyle/>
          <a:p>
            <a:r>
              <a:rPr lang="en-US" dirty="0"/>
              <a:t>Structural Polymer Group v. </a:t>
            </a:r>
            <a:r>
              <a:rPr lang="en-US" dirty="0" err="1"/>
              <a:t>Zoltek</a:t>
            </a:r>
            <a:r>
              <a:rPr lang="en-US" dirty="0"/>
              <a:t> (108)</a:t>
            </a:r>
          </a:p>
        </p:txBody>
      </p:sp>
      <p:sp>
        <p:nvSpPr>
          <p:cNvPr id="3" name="Content Placeholder 2"/>
          <p:cNvSpPr>
            <a:spLocks noGrp="1"/>
          </p:cNvSpPr>
          <p:nvPr>
            <p:ph sz="quarter" idx="1"/>
          </p:nvPr>
        </p:nvSpPr>
        <p:spPr>
          <a:xfrm>
            <a:off x="457200" y="1219200"/>
            <a:ext cx="8229600" cy="4937125"/>
          </a:xfrm>
        </p:spPr>
        <p:txBody>
          <a:bodyPr/>
          <a:lstStyle/>
          <a:p>
            <a:pPr>
              <a:defRPr/>
            </a:pPr>
            <a:r>
              <a:rPr lang="en-US" dirty="0"/>
              <a:t>What was the applicable law?</a:t>
            </a:r>
          </a:p>
          <a:p>
            <a:pPr>
              <a:defRPr/>
            </a:pPr>
            <a:r>
              <a:rPr lang="en-US" dirty="0"/>
              <a:t>What promise did the seller make?</a:t>
            </a:r>
          </a:p>
          <a:p>
            <a:pPr>
              <a:defRPr/>
            </a:pPr>
            <a:r>
              <a:rPr lang="en-US" dirty="0"/>
              <a:t>What was the return promise?</a:t>
            </a:r>
          </a:p>
          <a:p>
            <a:pPr>
              <a:defRPr/>
            </a:pPr>
            <a:r>
              <a:rPr lang="en-US" dirty="0"/>
              <a:t>How did the court interpret it?</a:t>
            </a:r>
          </a:p>
          <a:p>
            <a:pPr>
              <a:defRPr/>
            </a:pPr>
            <a:r>
              <a:rPr lang="en-US" dirty="0"/>
              <a:t>Why did the court go beyond the express terms this way?</a:t>
            </a:r>
          </a:p>
          <a:p>
            <a:pPr>
              <a:defRPr/>
            </a:pPr>
            <a:r>
              <a:rPr lang="en-US" dirty="0"/>
              <a:t>Is this the interpretation the parties would have wanted?</a:t>
            </a:r>
          </a:p>
          <a:p>
            <a:pPr>
              <a:defRPr/>
            </a:pPr>
            <a:r>
              <a:rPr lang="en-US" dirty="0"/>
              <a:t>Is it possible to contract around this interpretation?</a:t>
            </a:r>
          </a:p>
          <a:p>
            <a:pPr>
              <a:defRPr/>
            </a:pPr>
            <a:r>
              <a:rPr lang="en-US" dirty="0"/>
              <a:t>How were damages calculated?</a:t>
            </a:r>
          </a:p>
        </p:txBody>
      </p:sp>
    </p:spTree>
    <p:extLst>
      <p:ext uri="{BB962C8B-B14F-4D97-AF65-F5344CB8AC3E}">
        <p14:creationId xmlns:p14="http://schemas.microsoft.com/office/powerpoint/2010/main" val="4015571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fontScale="90000"/>
          </a:bodyPr>
          <a:lstStyle/>
          <a:p>
            <a:r>
              <a:rPr lang="en-US" dirty="0"/>
              <a:t>Structural Polymer Group v. </a:t>
            </a:r>
            <a:r>
              <a:rPr lang="en-US" dirty="0" err="1"/>
              <a:t>Zoltek</a:t>
            </a:r>
            <a:r>
              <a:rPr lang="en-US" dirty="0"/>
              <a:t> (108)</a:t>
            </a:r>
          </a:p>
        </p:txBody>
      </p:sp>
      <p:sp>
        <p:nvSpPr>
          <p:cNvPr id="3" name="Content Placeholder 2"/>
          <p:cNvSpPr>
            <a:spLocks noGrp="1"/>
          </p:cNvSpPr>
          <p:nvPr>
            <p:ph sz="quarter" idx="1"/>
          </p:nvPr>
        </p:nvSpPr>
        <p:spPr>
          <a:xfrm>
            <a:off x="457200" y="1219200"/>
            <a:ext cx="8229600" cy="4937125"/>
          </a:xfrm>
        </p:spPr>
        <p:txBody>
          <a:bodyPr/>
          <a:lstStyle/>
          <a:p>
            <a:pPr marL="0" indent="0">
              <a:buNone/>
            </a:pPr>
            <a:endParaRPr lang="en-US" dirty="0"/>
          </a:p>
          <a:p>
            <a:pPr marL="0" indent="0">
              <a:buNone/>
            </a:pPr>
            <a:r>
              <a:rPr lang="en-US" dirty="0"/>
              <a:t>2000	    28219 (PANEX 33)</a:t>
            </a:r>
          </a:p>
          <a:p>
            <a:pPr marL="0" indent="0">
              <a:buNone/>
            </a:pPr>
            <a:r>
              <a:rPr lang="en-US" dirty="0"/>
              <a:t>2001	    20943 (PANEX 33)</a:t>
            </a:r>
            <a:br>
              <a:rPr lang="en-US" dirty="0"/>
            </a:br>
            <a:r>
              <a:rPr lang="en-US" dirty="0"/>
              <a:t>2002	      1763 (returned)</a:t>
            </a:r>
          </a:p>
          <a:p>
            <a:pPr marL="0" indent="0">
              <a:buNone/>
            </a:pPr>
            <a:r>
              <a:rPr lang="en-US" dirty="0"/>
              <a:t>2003		 0</a:t>
            </a:r>
          </a:p>
          <a:p>
            <a:pPr marL="0" indent="0">
              <a:buNone/>
            </a:pPr>
            <a:r>
              <a:rPr lang="en-US" dirty="0"/>
              <a:t>2004	  548935 (PANEX 35)	</a:t>
            </a:r>
          </a:p>
          <a:p>
            <a:pPr marL="0" indent="0">
              <a:buNone/>
            </a:pPr>
            <a:r>
              <a:rPr lang="en-US" dirty="0"/>
              <a:t>2005	1480138  (PANEX 35) (not filled)</a:t>
            </a:r>
          </a:p>
          <a:p>
            <a:pPr marL="0" indent="0">
              <a:buNone/>
            </a:pPr>
            <a:r>
              <a:rPr lang="en-US" dirty="0"/>
              <a:t>2006	2480138  (PANEX 35) (not filled)</a:t>
            </a:r>
          </a:p>
          <a:p>
            <a:pPr marL="0" indent="0">
              <a:buNone/>
              <a:defRPr/>
            </a:pPr>
            <a:endParaRPr lang="en-US" dirty="0"/>
          </a:p>
        </p:txBody>
      </p:sp>
    </p:spTree>
    <p:extLst>
      <p:ext uri="{BB962C8B-B14F-4D97-AF65-F5344CB8AC3E}">
        <p14:creationId xmlns:p14="http://schemas.microsoft.com/office/powerpoint/2010/main" val="3364531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UCC 2-306(1)</a:t>
            </a:r>
          </a:p>
        </p:txBody>
      </p:sp>
      <p:sp>
        <p:nvSpPr>
          <p:cNvPr id="3" name="Content Placeholder 2"/>
          <p:cNvSpPr>
            <a:spLocks noGrp="1"/>
          </p:cNvSpPr>
          <p:nvPr>
            <p:ph sz="quarter" idx="1"/>
          </p:nvPr>
        </p:nvSpPr>
        <p:spPr>
          <a:xfrm>
            <a:off x="457200" y="1219200"/>
            <a:ext cx="8229600" cy="5105400"/>
          </a:xfrm>
        </p:spPr>
        <p:txBody>
          <a:bodyPr>
            <a:normAutofit lnSpcReduction="10000"/>
          </a:bodyPr>
          <a:lstStyle/>
          <a:p>
            <a:pPr marL="457200" indent="-457200">
              <a:buFont typeface="Wingdings 3" pitchFamily="18" charset="2"/>
              <a:buAutoNum type="arabicParenBoth"/>
              <a:defRPr/>
            </a:pPr>
            <a:r>
              <a:rPr lang="en-US" sz="2400" dirty="0"/>
              <a:t>A term which measures the quantity by the output of the seller or the requirements of the buyer means such actual output or requirements as may occur in good faith, except that no quantity unreasonably disproportionate to any stated estimate or in the absence of a stated estimate to any normal or otherwise comparable prior output or requirements may be tendered or demanded.</a:t>
            </a:r>
          </a:p>
          <a:p>
            <a:pPr marL="0" indent="0">
              <a:buNone/>
              <a:defRPr/>
            </a:pPr>
            <a:r>
              <a:rPr lang="en-US" sz="2400" i="1" dirty="0"/>
              <a:t>Commentary:</a:t>
            </a:r>
          </a:p>
          <a:p>
            <a:pPr>
              <a:defRPr/>
            </a:pPr>
            <a:r>
              <a:rPr lang="en-US" sz="2400" dirty="0"/>
              <a:t>quantity should “approximate a reasonably foreseeable figure” but “reasonable elasticity” and “good faith variations” are ok</a:t>
            </a:r>
          </a:p>
          <a:p>
            <a:pPr>
              <a:defRPr/>
            </a:pPr>
            <a:r>
              <a:rPr lang="en-US" sz="2400" dirty="0"/>
              <a:t>permits shut-down “for lack of orders” versus “merely to curtail losses”</a:t>
            </a:r>
          </a:p>
          <a:p>
            <a:pPr>
              <a:defRPr/>
            </a:pPr>
            <a:r>
              <a:rPr lang="en-US" sz="2400" dirty="0"/>
              <a:t>permits “normal expansion” versus “sudden expansion”</a:t>
            </a:r>
          </a:p>
        </p:txBody>
      </p:sp>
      <p:sp>
        <p:nvSpPr>
          <p:cNvPr id="5" name="Rectangular Callout 4"/>
          <p:cNvSpPr/>
          <p:nvPr/>
        </p:nvSpPr>
        <p:spPr>
          <a:xfrm>
            <a:off x="6019800" y="537186"/>
            <a:ext cx="2895600" cy="612775"/>
          </a:xfrm>
          <a:prstGeom prst="wedgeRectCallout">
            <a:avLst>
              <a:gd name="adj1" fmla="val 36294"/>
              <a:gd name="adj2" fmla="val 11935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rPr>
              <a:t>Suppose  SP says its requirements are zero?</a:t>
            </a:r>
          </a:p>
        </p:txBody>
      </p:sp>
      <p:sp>
        <p:nvSpPr>
          <p:cNvPr id="6" name="Rectangular Callout 5"/>
          <p:cNvSpPr/>
          <p:nvPr/>
        </p:nvSpPr>
        <p:spPr>
          <a:xfrm>
            <a:off x="6705600" y="3352800"/>
            <a:ext cx="2438400" cy="762000"/>
          </a:xfrm>
          <a:prstGeom prst="wedgeRectCallout">
            <a:avLst>
              <a:gd name="adj1" fmla="val -55330"/>
              <a:gd name="adj2" fmla="val -2487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a:defRPr/>
            </a:pPr>
            <a:endParaRPr lang="en-US" dirty="0">
              <a:solidFill>
                <a:prstClr val="white"/>
              </a:solidFill>
            </a:endParaRPr>
          </a:p>
          <a:p>
            <a:pPr marL="0" lvl="1">
              <a:defRPr/>
            </a:pPr>
            <a:r>
              <a:rPr lang="en-US" dirty="0">
                <a:solidFill>
                  <a:prstClr val="white"/>
                </a:solidFill>
              </a:rPr>
              <a:t>Suppose SP increases its requirements dramatically?</a:t>
            </a:r>
          </a:p>
          <a:p>
            <a:pPr algn="ctr">
              <a:defRPr/>
            </a:pPr>
            <a:endParaRPr lang="en-US" dirty="0">
              <a:solidFill>
                <a:prstClr val="white"/>
              </a:solidFill>
            </a:endParaRPr>
          </a:p>
        </p:txBody>
      </p:sp>
    </p:spTree>
    <p:extLst>
      <p:ext uri="{BB962C8B-B14F-4D97-AF65-F5344CB8AC3E}">
        <p14:creationId xmlns:p14="http://schemas.microsoft.com/office/powerpoint/2010/main" val="146209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UCC 1-302 – Variation by agreement</a:t>
            </a:r>
          </a:p>
        </p:txBody>
      </p:sp>
      <p:sp>
        <p:nvSpPr>
          <p:cNvPr id="3" name="Content Placeholder 2"/>
          <p:cNvSpPr>
            <a:spLocks noGrp="1"/>
          </p:cNvSpPr>
          <p:nvPr>
            <p:ph sz="quarter" idx="1"/>
          </p:nvPr>
        </p:nvSpPr>
        <p:spPr/>
        <p:txBody>
          <a:bodyPr/>
          <a:lstStyle/>
          <a:p>
            <a:pPr marL="0" indent="0">
              <a:buNone/>
            </a:pPr>
            <a:endParaRPr lang="en-US" dirty="0"/>
          </a:p>
          <a:p>
            <a:pPr marL="0" indent="0">
              <a:buNone/>
            </a:pPr>
            <a:r>
              <a:rPr lang="en-US" dirty="0"/>
              <a:t>(b) The obligations of good faith, diligence, reasonableness, and care prescribed by [the Uniform Commercial Code] may not be disclaimed by agreement. The parties, by agreement, may determine the standards by which the performance of those obligations is to be measured if those standards are not manifestly unreasonable. Whenever [the Uniform Commercial Code] requires an action to be taken within a reasonable time, a time that is not manifestly unreasonable may be fixed by agreement.</a:t>
            </a:r>
          </a:p>
          <a:p>
            <a:endParaRPr lang="en-US" dirty="0"/>
          </a:p>
        </p:txBody>
      </p:sp>
    </p:spTree>
    <p:extLst>
      <p:ext uri="{BB962C8B-B14F-4D97-AF65-F5344CB8AC3E}">
        <p14:creationId xmlns:p14="http://schemas.microsoft.com/office/powerpoint/2010/main" val="1872374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a:t>Summary</a:t>
            </a:r>
          </a:p>
        </p:txBody>
      </p:sp>
      <p:sp>
        <p:nvSpPr>
          <p:cNvPr id="11267" name="Content Placeholder 2"/>
          <p:cNvSpPr>
            <a:spLocks noGrp="1"/>
          </p:cNvSpPr>
          <p:nvPr>
            <p:ph sz="quarter" idx="1"/>
          </p:nvPr>
        </p:nvSpPr>
        <p:spPr>
          <a:xfrm>
            <a:off x="457200" y="1219200"/>
            <a:ext cx="8229600" cy="4937125"/>
          </a:xfrm>
        </p:spPr>
        <p:txBody>
          <a:bodyPr>
            <a:normAutofit fontScale="92500" lnSpcReduction="10000"/>
          </a:bodyPr>
          <a:lstStyle/>
          <a:p>
            <a:r>
              <a:rPr lang="en-US" dirty="0"/>
              <a:t>Courts may interpret agreements in which one party makes only illusory promises – or no express promises whatsoever – as imposing more robust obligations (e.g. to perform in good faith) that qualify as consideration.</a:t>
            </a:r>
          </a:p>
          <a:p>
            <a:r>
              <a:rPr lang="en-US" dirty="0"/>
              <a:t>It is unclear whether they do this to ensure that the agreement results in an enforceable contract or because they believe that their interpretations are consistent with the intentions of the parties, fairness or efficiency.</a:t>
            </a:r>
          </a:p>
          <a:p>
            <a:r>
              <a:rPr lang="en-US" dirty="0"/>
              <a:t>If the resulting obligations are not consistent with the intentions of the parties then the following concerns arise:</a:t>
            </a:r>
          </a:p>
          <a:p>
            <a:pPr lvl="1"/>
            <a:r>
              <a:rPr lang="en-US" dirty="0"/>
              <a:t>Incentives to engage in inefficient behavior</a:t>
            </a:r>
          </a:p>
          <a:p>
            <a:pPr lvl="1"/>
            <a:r>
              <a:rPr lang="en-US" dirty="0"/>
              <a:t>Uncertainty and costly litigation </a:t>
            </a:r>
          </a:p>
          <a:p>
            <a:pPr lvl="1"/>
            <a:r>
              <a:rPr lang="en-US" dirty="0"/>
              <a:t>Incentives to invest in drafting</a:t>
            </a:r>
          </a:p>
          <a:p>
            <a:endParaRPr lang="en-US" dirty="0"/>
          </a:p>
        </p:txBody>
      </p:sp>
    </p:spTree>
    <p:extLst>
      <p:ext uri="{BB962C8B-B14F-4D97-AF65-F5344CB8AC3E}">
        <p14:creationId xmlns:p14="http://schemas.microsoft.com/office/powerpoint/2010/main" val="543688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This contract is toast (113) </a:t>
            </a:r>
          </a:p>
        </p:txBody>
      </p:sp>
      <p:sp>
        <p:nvSpPr>
          <p:cNvPr id="3" name="Content Placeholder 2"/>
          <p:cNvSpPr>
            <a:spLocks noGrp="1"/>
          </p:cNvSpPr>
          <p:nvPr>
            <p:ph sz="quarter" idx="1"/>
          </p:nvPr>
        </p:nvSpPr>
        <p:spPr/>
        <p:txBody>
          <a:bodyPr/>
          <a:lstStyle/>
          <a:p>
            <a:r>
              <a:rPr lang="en-US" dirty="0"/>
              <a:t>Is there a contract?</a:t>
            </a:r>
          </a:p>
          <a:p>
            <a:r>
              <a:rPr lang="en-US" dirty="0"/>
              <a:t>Has </a:t>
            </a:r>
            <a:r>
              <a:rPr lang="en-US" dirty="0" err="1"/>
              <a:t>Staehl</a:t>
            </a:r>
            <a:r>
              <a:rPr lang="en-US" dirty="0"/>
              <a:t> Bread breached?</a:t>
            </a:r>
          </a:p>
          <a:p>
            <a:r>
              <a:rPr lang="en-US" dirty="0"/>
              <a:t>What are the damages?</a:t>
            </a:r>
          </a:p>
          <a:p>
            <a:r>
              <a:rPr lang="en-US" dirty="0"/>
              <a:t>How could Walker have drafted the contract to protect itself?</a:t>
            </a:r>
          </a:p>
          <a:p>
            <a:endParaRPr lang="en-US" dirty="0"/>
          </a:p>
        </p:txBody>
      </p:sp>
    </p:spTree>
    <p:extLst>
      <p:ext uri="{BB962C8B-B14F-4D97-AF65-F5344CB8AC3E}">
        <p14:creationId xmlns:p14="http://schemas.microsoft.com/office/powerpoint/2010/main" val="2625811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UCC 2-306(1)</a:t>
            </a:r>
          </a:p>
        </p:txBody>
      </p:sp>
      <p:sp>
        <p:nvSpPr>
          <p:cNvPr id="3" name="Content Placeholder 2"/>
          <p:cNvSpPr>
            <a:spLocks noGrp="1"/>
          </p:cNvSpPr>
          <p:nvPr>
            <p:ph sz="quarter" idx="1"/>
          </p:nvPr>
        </p:nvSpPr>
        <p:spPr>
          <a:xfrm>
            <a:off x="457200" y="1219200"/>
            <a:ext cx="8229600" cy="5105400"/>
          </a:xfrm>
        </p:spPr>
        <p:txBody>
          <a:bodyPr>
            <a:normAutofit lnSpcReduction="10000"/>
          </a:bodyPr>
          <a:lstStyle/>
          <a:p>
            <a:pPr marL="457200" indent="-457200">
              <a:buFont typeface="Wingdings 3" pitchFamily="18" charset="2"/>
              <a:buAutoNum type="arabicParenBoth"/>
              <a:defRPr/>
            </a:pPr>
            <a:r>
              <a:rPr lang="en-US" sz="2400" dirty="0"/>
              <a:t>A term which measures the quantity by the output of the seller or the requirements of the buyer means such actual output or requirements as may occur in good faith, except that no quantity unreasonably disproportionate to any stated estimate or in the absence of a stated estimate to any normal or otherwise comparable prior output or requirements may be tendered or demanded.</a:t>
            </a:r>
          </a:p>
          <a:p>
            <a:pPr marL="0" indent="0">
              <a:buNone/>
              <a:defRPr/>
            </a:pPr>
            <a:r>
              <a:rPr lang="en-US" sz="2400" i="1" dirty="0"/>
              <a:t>Official Comment:</a:t>
            </a:r>
          </a:p>
          <a:p>
            <a:pPr>
              <a:defRPr/>
            </a:pPr>
            <a:r>
              <a:rPr lang="en-US" sz="2400" dirty="0"/>
              <a:t>quantity should “approximate a reasonably foreseeable figure”</a:t>
            </a:r>
          </a:p>
          <a:p>
            <a:pPr>
              <a:defRPr/>
            </a:pPr>
            <a:r>
              <a:rPr lang="en-US" sz="2400" dirty="0"/>
              <a:t>good faith variations are permitted even if result in discontinuance</a:t>
            </a:r>
          </a:p>
          <a:p>
            <a:pPr>
              <a:defRPr/>
            </a:pPr>
            <a:r>
              <a:rPr lang="en-US" sz="2400" dirty="0"/>
              <a:t>permits shut-down “for lack of orders” versus “merely to curtail losses”</a:t>
            </a:r>
          </a:p>
          <a:p>
            <a:pPr>
              <a:defRPr/>
            </a:pPr>
            <a:r>
              <a:rPr lang="en-US" sz="2400" dirty="0"/>
              <a:t>permits “normal expansion” versus “sudden expansion”</a:t>
            </a:r>
          </a:p>
        </p:txBody>
      </p:sp>
    </p:spTree>
    <p:extLst>
      <p:ext uri="{BB962C8B-B14F-4D97-AF65-F5344CB8AC3E}">
        <p14:creationId xmlns:p14="http://schemas.microsoft.com/office/powerpoint/2010/main" val="9050013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1468</TotalTime>
  <Words>1220</Words>
  <Application>Microsoft Office PowerPoint</Application>
  <PresentationFormat>On-screen Show (4:3)</PresentationFormat>
  <Paragraphs>105</Paragraphs>
  <Slides>16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Bookman Old Style</vt:lpstr>
      <vt:lpstr>Gill Sans MT</vt:lpstr>
      <vt:lpstr>Wingdings</vt:lpstr>
      <vt:lpstr>Wingdings 3</vt:lpstr>
      <vt:lpstr>Origin</vt:lpstr>
      <vt:lpstr>1_Origin</vt:lpstr>
      <vt:lpstr>Class 4: Consideration and interpretation </vt:lpstr>
      <vt:lpstr>Topics</vt:lpstr>
      <vt:lpstr>Key questions</vt:lpstr>
      <vt:lpstr>Conditions</vt:lpstr>
      <vt:lpstr>Mattei v. Hopper (102)</vt:lpstr>
      <vt:lpstr>Mattei v. Hopper (102)</vt:lpstr>
      <vt:lpstr>Wood v. Lucy, Lady Duff Gordon (113)</vt:lpstr>
      <vt:lpstr>Wood v. Lucy, Lady Duff Gordon (113)</vt:lpstr>
      <vt:lpstr>UCC 2-306(2)</vt:lpstr>
      <vt:lpstr>Structural Polymer Group v. Zoltek (108)</vt:lpstr>
      <vt:lpstr>Structural Polymer Group v. Zoltek (108)</vt:lpstr>
      <vt:lpstr>UCC 2-306(1)</vt:lpstr>
      <vt:lpstr>UCC 1-302 – Variation by agreement</vt:lpstr>
      <vt:lpstr>Summary</vt:lpstr>
      <vt:lpstr>Problem: This contract is toast (113) </vt:lpstr>
      <vt:lpstr>UCC 2-306(1)</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4: Consideration: promises as consideration</dc:title>
  <dc:creator>Davis, Kevin</dc:creator>
  <cp:lastModifiedBy>Davis, Kevin</cp:lastModifiedBy>
  <cp:revision>29</cp:revision>
  <dcterms:created xsi:type="dcterms:W3CDTF">2014-09-10T17:51:21Z</dcterms:created>
  <dcterms:modified xsi:type="dcterms:W3CDTF">2026-09-03T14:48:04Z</dcterms:modified>
</cp:coreProperties>
</file>