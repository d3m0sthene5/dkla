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310" r:id="rId2"/>
    <p:sldId id="313" r:id="rId3"/>
    <p:sldId id="311" r:id="rId4"/>
    <p:sldId id="312" r:id="rId5"/>
    <p:sldId id="314" r:id="rId6"/>
    <p:sldId id="258" r:id="rId7"/>
    <p:sldId id="315" r:id="rId8"/>
    <p:sldId id="316" r:id="rId9"/>
    <p:sldId id="317" r:id="rId10"/>
    <p:sldId id="318" r:id="rId11"/>
    <p:sldId id="298" r:id="rId12"/>
    <p:sldId id="328" r:id="rId13"/>
    <p:sldId id="289" r:id="rId14"/>
    <p:sldId id="290" r:id="rId15"/>
    <p:sldId id="291" r:id="rId16"/>
    <p:sldId id="292" r:id="rId17"/>
    <p:sldId id="257" r:id="rId18"/>
    <p:sldId id="283" r:id="rId19"/>
    <p:sldId id="284" r:id="rId20"/>
    <p:sldId id="286" r:id="rId21"/>
    <p:sldId id="287" r:id="rId22"/>
    <p:sldId id="262" r:id="rId23"/>
    <p:sldId id="261" r:id="rId24"/>
    <p:sldId id="259" r:id="rId25"/>
    <p:sldId id="263" r:id="rId26"/>
    <p:sldId id="260" r:id="rId27"/>
    <p:sldId id="264" r:id="rId28"/>
    <p:sldId id="266" r:id="rId29"/>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D69D5A-A678-40CD-B060-70A401C2FEFF}" type="doc">
      <dgm:prSet loTypeId="urn:microsoft.com/office/officeart/2005/8/layout/hierarchy1" loCatId="hierarchy" qsTypeId="urn:microsoft.com/office/officeart/2005/8/quickstyle/simple1#1" qsCatId="simple" csTypeId="urn:microsoft.com/office/officeart/2005/8/colors/accent1_2#1" csCatId="accent1" phldr="1"/>
      <dgm:spPr/>
      <dgm:t>
        <a:bodyPr/>
        <a:lstStyle/>
        <a:p>
          <a:endParaRPr lang="en-US"/>
        </a:p>
      </dgm:t>
    </dgm:pt>
    <dgm:pt modelId="{4CACB22F-8D59-455F-9C7D-170D9FDF5D15}">
      <dgm:prSet phldrT="[Text]"/>
      <dgm:spPr/>
      <dgm:t>
        <a:bodyPr/>
        <a:lstStyle/>
        <a:p>
          <a:r>
            <a:rPr lang="en-US" dirty="0"/>
            <a:t>Forcing accountability onto the legislature?</a:t>
          </a:r>
        </a:p>
      </dgm:t>
    </dgm:pt>
    <dgm:pt modelId="{A6A8C937-335E-488D-AED0-865E73C1C4B8}" type="parTrans" cxnId="{EA909A8B-F90B-45FC-BCE4-79577EE0CA4D}">
      <dgm:prSet/>
      <dgm:spPr/>
      <dgm:t>
        <a:bodyPr/>
        <a:lstStyle/>
        <a:p>
          <a:endParaRPr lang="en-US"/>
        </a:p>
      </dgm:t>
    </dgm:pt>
    <dgm:pt modelId="{72E07BB6-8A99-4795-86DB-F556CA8ED929}" type="sibTrans" cxnId="{EA909A8B-F90B-45FC-BCE4-79577EE0CA4D}">
      <dgm:prSet/>
      <dgm:spPr/>
      <dgm:t>
        <a:bodyPr/>
        <a:lstStyle/>
        <a:p>
          <a:endParaRPr lang="en-US"/>
        </a:p>
      </dgm:t>
    </dgm:pt>
    <dgm:pt modelId="{AF9F8DC8-18D8-4DB5-9364-6EEAF0EA13EF}">
      <dgm:prSet phldrT="[Text]"/>
      <dgm:spPr/>
      <dgm:t>
        <a:bodyPr/>
        <a:lstStyle/>
        <a:p>
          <a:r>
            <a:rPr lang="en-US" dirty="0"/>
            <a:t>Insist on statutory standards proving that Congress has actually legislated</a:t>
          </a:r>
        </a:p>
      </dgm:t>
    </dgm:pt>
    <dgm:pt modelId="{C0040A56-F0A5-4F34-BB98-7F239AD32BA3}" type="parTrans" cxnId="{362A001B-5B2B-478B-BD02-CAEB1152AC22}">
      <dgm:prSet/>
      <dgm:spPr/>
      <dgm:t>
        <a:bodyPr/>
        <a:lstStyle/>
        <a:p>
          <a:endParaRPr lang="en-US"/>
        </a:p>
      </dgm:t>
    </dgm:pt>
    <dgm:pt modelId="{6A7DCAF6-AC2D-470A-8215-0413C0E5CDA5}" type="sibTrans" cxnId="{362A001B-5B2B-478B-BD02-CAEB1152AC22}">
      <dgm:prSet/>
      <dgm:spPr/>
      <dgm:t>
        <a:bodyPr/>
        <a:lstStyle/>
        <a:p>
          <a:endParaRPr lang="en-US"/>
        </a:p>
      </dgm:t>
    </dgm:pt>
    <dgm:pt modelId="{24A6C881-3754-4106-BC7A-1B068D2E2C4C}">
      <dgm:prSet phldrT="[Text]"/>
      <dgm:spPr/>
      <dgm:t>
        <a:bodyPr/>
        <a:lstStyle/>
        <a:p>
          <a:r>
            <a:rPr lang="en-US" dirty="0"/>
            <a:t>Making sure that public </a:t>
          </a:r>
          <a:r>
            <a:rPr lang="en-US" dirty="0" err="1"/>
            <a:t>adminstration</a:t>
          </a:r>
          <a:r>
            <a:rPr lang="en-US" dirty="0"/>
            <a:t> is reasonably fair and </a:t>
          </a:r>
          <a:r>
            <a:rPr lang="en-US" dirty="0" err="1"/>
            <a:t>nonarbitrary</a:t>
          </a:r>
          <a:r>
            <a:rPr lang="en-US" dirty="0"/>
            <a:t>?</a:t>
          </a:r>
        </a:p>
      </dgm:t>
    </dgm:pt>
    <dgm:pt modelId="{4990AB9B-B59E-4CE6-927B-91D9539B90CA}" type="parTrans" cxnId="{90CD03AF-A561-46CC-B591-5F369BF20A15}">
      <dgm:prSet/>
      <dgm:spPr/>
      <dgm:t>
        <a:bodyPr/>
        <a:lstStyle/>
        <a:p>
          <a:endParaRPr lang="en-US"/>
        </a:p>
      </dgm:t>
    </dgm:pt>
    <dgm:pt modelId="{2FA57870-B3C0-4F28-B68E-A2EC192D48E6}" type="sibTrans" cxnId="{90CD03AF-A561-46CC-B591-5F369BF20A15}">
      <dgm:prSet/>
      <dgm:spPr/>
      <dgm:t>
        <a:bodyPr/>
        <a:lstStyle/>
        <a:p>
          <a:endParaRPr lang="en-US"/>
        </a:p>
      </dgm:t>
    </dgm:pt>
    <dgm:pt modelId="{7DD2E48E-BA6F-4170-B19D-031BA9F0EDCF}">
      <dgm:prSet phldrT="[Text]"/>
      <dgm:spPr/>
      <dgm:t>
        <a:bodyPr/>
        <a:lstStyle/>
        <a:p>
          <a:r>
            <a:rPr lang="en-US" dirty="0"/>
            <a:t>Look for general elements of fairness, e.g., Does the agency set clear standards?  Is there judicial review?  Was there public input?  Any special circumstances that make broad discretion more legitimate?</a:t>
          </a:r>
        </a:p>
      </dgm:t>
    </dgm:pt>
    <dgm:pt modelId="{8B9B90C8-435A-4A95-A290-C8E2B93608F4}" type="parTrans" cxnId="{F1D21FA2-2A62-4011-8DD3-2A6ABEE0D339}">
      <dgm:prSet/>
      <dgm:spPr/>
      <dgm:t>
        <a:bodyPr/>
        <a:lstStyle/>
        <a:p>
          <a:endParaRPr lang="en-US"/>
        </a:p>
      </dgm:t>
    </dgm:pt>
    <dgm:pt modelId="{C04F44E8-6BB4-4514-A76A-1A14F09C1BE4}" type="sibTrans" cxnId="{F1D21FA2-2A62-4011-8DD3-2A6ABEE0D339}">
      <dgm:prSet/>
      <dgm:spPr/>
      <dgm:t>
        <a:bodyPr/>
        <a:lstStyle/>
        <a:p>
          <a:endParaRPr lang="en-US"/>
        </a:p>
      </dgm:t>
    </dgm:pt>
    <dgm:pt modelId="{E0671214-4541-407B-A453-F9BE4C49416D}">
      <dgm:prSet phldrT="[Text]"/>
      <dgm:spPr/>
      <dgm:t>
        <a:bodyPr/>
        <a:lstStyle/>
        <a:p>
          <a:r>
            <a:rPr lang="en-US" dirty="0"/>
            <a:t>Is your goal:</a:t>
          </a:r>
        </a:p>
      </dgm:t>
    </dgm:pt>
    <dgm:pt modelId="{9FA9AB18-2561-494B-B042-595349196629}" type="sibTrans" cxnId="{C78FDB8F-7EB1-42AE-BE2C-2D6A3BF0BC7B}">
      <dgm:prSet/>
      <dgm:spPr/>
      <dgm:t>
        <a:bodyPr/>
        <a:lstStyle/>
        <a:p>
          <a:endParaRPr lang="en-US"/>
        </a:p>
      </dgm:t>
    </dgm:pt>
    <dgm:pt modelId="{2D33C09E-2C1D-4AA2-A430-5CAB218C7DC0}" type="parTrans" cxnId="{C78FDB8F-7EB1-42AE-BE2C-2D6A3BF0BC7B}">
      <dgm:prSet/>
      <dgm:spPr/>
      <dgm:t>
        <a:bodyPr/>
        <a:lstStyle/>
        <a:p>
          <a:endParaRPr lang="en-US"/>
        </a:p>
      </dgm:t>
    </dgm:pt>
    <dgm:pt modelId="{84CB7A03-A5C4-44EF-B763-3F7D4F677371}" type="pres">
      <dgm:prSet presAssocID="{9AD69D5A-A678-40CD-B060-70A401C2FEFF}" presName="hierChild1" presStyleCnt="0">
        <dgm:presLayoutVars>
          <dgm:chPref val="1"/>
          <dgm:dir/>
          <dgm:animOne val="branch"/>
          <dgm:animLvl val="lvl"/>
          <dgm:resizeHandles/>
        </dgm:presLayoutVars>
      </dgm:prSet>
      <dgm:spPr/>
    </dgm:pt>
    <dgm:pt modelId="{87114144-8F55-404F-B745-9C60869261A7}" type="pres">
      <dgm:prSet presAssocID="{E0671214-4541-407B-A453-F9BE4C49416D}" presName="hierRoot1" presStyleCnt="0"/>
      <dgm:spPr/>
    </dgm:pt>
    <dgm:pt modelId="{38627AAE-F2EE-4E6E-8462-E5684E874C01}" type="pres">
      <dgm:prSet presAssocID="{E0671214-4541-407B-A453-F9BE4C49416D}" presName="composite" presStyleCnt="0"/>
      <dgm:spPr/>
    </dgm:pt>
    <dgm:pt modelId="{285DE3DC-DFC5-4B58-91BD-E7328C01D2C9}" type="pres">
      <dgm:prSet presAssocID="{E0671214-4541-407B-A453-F9BE4C49416D}" presName="background" presStyleLbl="node0" presStyleIdx="0" presStyleCnt="1"/>
      <dgm:spPr/>
    </dgm:pt>
    <dgm:pt modelId="{16EBBBFD-9656-4F29-8D43-64379019CB20}" type="pres">
      <dgm:prSet presAssocID="{E0671214-4541-407B-A453-F9BE4C49416D}" presName="text" presStyleLbl="fgAcc0" presStyleIdx="0" presStyleCnt="1" custScaleX="67516" custScaleY="31565" custLinFactX="-20373" custLinFactNeighborX="-100000" custLinFactNeighborY="17245">
        <dgm:presLayoutVars>
          <dgm:chPref val="3"/>
        </dgm:presLayoutVars>
      </dgm:prSet>
      <dgm:spPr/>
    </dgm:pt>
    <dgm:pt modelId="{DE6FDD10-3888-4193-B1EC-C94F1A8FE95E}" type="pres">
      <dgm:prSet presAssocID="{E0671214-4541-407B-A453-F9BE4C49416D}" presName="hierChild2" presStyleCnt="0"/>
      <dgm:spPr/>
    </dgm:pt>
    <dgm:pt modelId="{00F52854-D217-4E54-BB93-7AF6738AA789}" type="pres">
      <dgm:prSet presAssocID="{A6A8C937-335E-488D-AED0-865E73C1C4B8}" presName="Name10" presStyleLbl="parChTrans1D2" presStyleIdx="0" presStyleCnt="2"/>
      <dgm:spPr/>
    </dgm:pt>
    <dgm:pt modelId="{63DE9FA0-2224-4A68-AF72-A52CF341A938}" type="pres">
      <dgm:prSet presAssocID="{4CACB22F-8D59-455F-9C7D-170D9FDF5D15}" presName="hierRoot2" presStyleCnt="0"/>
      <dgm:spPr/>
    </dgm:pt>
    <dgm:pt modelId="{2FDCBEAC-F85C-47F7-B3F3-AF3AD2F47442}" type="pres">
      <dgm:prSet presAssocID="{4CACB22F-8D59-455F-9C7D-170D9FDF5D15}" presName="composite2" presStyleCnt="0"/>
      <dgm:spPr/>
    </dgm:pt>
    <dgm:pt modelId="{5478D9E4-70E0-46BC-8902-F1120D0B3DFD}" type="pres">
      <dgm:prSet presAssocID="{4CACB22F-8D59-455F-9C7D-170D9FDF5D15}" presName="background2" presStyleLbl="node2" presStyleIdx="0" presStyleCnt="2"/>
      <dgm:spPr/>
    </dgm:pt>
    <dgm:pt modelId="{060FA48E-33B1-420E-A193-EB337802B350}" type="pres">
      <dgm:prSet presAssocID="{4CACB22F-8D59-455F-9C7D-170D9FDF5D15}" presName="text2" presStyleLbl="fgAcc2" presStyleIdx="0" presStyleCnt="2" custScaleX="140173" custScaleY="43827">
        <dgm:presLayoutVars>
          <dgm:chPref val="3"/>
        </dgm:presLayoutVars>
      </dgm:prSet>
      <dgm:spPr/>
    </dgm:pt>
    <dgm:pt modelId="{12B2D676-FAFB-4AAE-8E61-73153F08D6E0}" type="pres">
      <dgm:prSet presAssocID="{4CACB22F-8D59-455F-9C7D-170D9FDF5D15}" presName="hierChild3" presStyleCnt="0"/>
      <dgm:spPr/>
    </dgm:pt>
    <dgm:pt modelId="{FF9CCA62-5B34-4780-922A-9ECF9FA5B79C}" type="pres">
      <dgm:prSet presAssocID="{C0040A56-F0A5-4F34-BB98-7F239AD32BA3}" presName="Name17" presStyleLbl="parChTrans1D3" presStyleIdx="0" presStyleCnt="2"/>
      <dgm:spPr/>
    </dgm:pt>
    <dgm:pt modelId="{C06092AB-9497-4A7F-9152-8C4D871B8426}" type="pres">
      <dgm:prSet presAssocID="{AF9F8DC8-18D8-4DB5-9364-6EEAF0EA13EF}" presName="hierRoot3" presStyleCnt="0"/>
      <dgm:spPr/>
    </dgm:pt>
    <dgm:pt modelId="{CC391E3D-56E7-4B9F-AA21-A13717931D94}" type="pres">
      <dgm:prSet presAssocID="{AF9F8DC8-18D8-4DB5-9364-6EEAF0EA13EF}" presName="composite3" presStyleCnt="0"/>
      <dgm:spPr/>
    </dgm:pt>
    <dgm:pt modelId="{03809C79-02CD-4F09-9C25-D22CAD688F2E}" type="pres">
      <dgm:prSet presAssocID="{AF9F8DC8-18D8-4DB5-9364-6EEAF0EA13EF}" presName="background3" presStyleLbl="node3" presStyleIdx="0" presStyleCnt="2"/>
      <dgm:spPr/>
    </dgm:pt>
    <dgm:pt modelId="{60F87443-91FE-4E4A-877F-1065F57891BB}" type="pres">
      <dgm:prSet presAssocID="{AF9F8DC8-18D8-4DB5-9364-6EEAF0EA13EF}" presName="text3" presStyleLbl="fgAcc3" presStyleIdx="0" presStyleCnt="2">
        <dgm:presLayoutVars>
          <dgm:chPref val="3"/>
        </dgm:presLayoutVars>
      </dgm:prSet>
      <dgm:spPr/>
    </dgm:pt>
    <dgm:pt modelId="{B73262E2-F53A-4165-A8EA-AFFFDC26A42B}" type="pres">
      <dgm:prSet presAssocID="{AF9F8DC8-18D8-4DB5-9364-6EEAF0EA13EF}" presName="hierChild4" presStyleCnt="0"/>
      <dgm:spPr/>
    </dgm:pt>
    <dgm:pt modelId="{402F9DA0-6527-456F-8106-87D0C788B84F}" type="pres">
      <dgm:prSet presAssocID="{4990AB9B-B59E-4CE6-927B-91D9539B90CA}" presName="Name10" presStyleLbl="parChTrans1D2" presStyleIdx="1" presStyleCnt="2"/>
      <dgm:spPr/>
    </dgm:pt>
    <dgm:pt modelId="{239AB0B9-1FF9-48C0-8BB0-D2AB591054CC}" type="pres">
      <dgm:prSet presAssocID="{24A6C881-3754-4106-BC7A-1B068D2E2C4C}" presName="hierRoot2" presStyleCnt="0"/>
      <dgm:spPr/>
    </dgm:pt>
    <dgm:pt modelId="{45CD3B91-4002-409E-881D-D8FBF94EBA75}" type="pres">
      <dgm:prSet presAssocID="{24A6C881-3754-4106-BC7A-1B068D2E2C4C}" presName="composite2" presStyleCnt="0"/>
      <dgm:spPr/>
    </dgm:pt>
    <dgm:pt modelId="{C9E05D8E-066B-44F7-B46E-9579BD12BE29}" type="pres">
      <dgm:prSet presAssocID="{24A6C881-3754-4106-BC7A-1B068D2E2C4C}" presName="background2" presStyleLbl="node2" presStyleIdx="1" presStyleCnt="2"/>
      <dgm:spPr/>
    </dgm:pt>
    <dgm:pt modelId="{FAF1DD05-0ED9-4058-A826-7B915250091F}" type="pres">
      <dgm:prSet presAssocID="{24A6C881-3754-4106-BC7A-1B068D2E2C4C}" presName="text2" presStyleLbl="fgAcc2" presStyleIdx="1" presStyleCnt="2" custScaleX="161192" custScaleY="43715">
        <dgm:presLayoutVars>
          <dgm:chPref val="3"/>
        </dgm:presLayoutVars>
      </dgm:prSet>
      <dgm:spPr/>
    </dgm:pt>
    <dgm:pt modelId="{BCD45A77-F344-4526-A5BB-6042BDE705D4}" type="pres">
      <dgm:prSet presAssocID="{24A6C881-3754-4106-BC7A-1B068D2E2C4C}" presName="hierChild3" presStyleCnt="0"/>
      <dgm:spPr/>
    </dgm:pt>
    <dgm:pt modelId="{973FEDFB-555F-4D92-9F1A-28C8E07559E0}" type="pres">
      <dgm:prSet presAssocID="{8B9B90C8-435A-4A95-A290-C8E2B93608F4}" presName="Name17" presStyleLbl="parChTrans1D3" presStyleIdx="1" presStyleCnt="2"/>
      <dgm:spPr/>
    </dgm:pt>
    <dgm:pt modelId="{E69C5779-BF2B-4B94-8751-7E5A0F1BA2A3}" type="pres">
      <dgm:prSet presAssocID="{7DD2E48E-BA6F-4170-B19D-031BA9F0EDCF}" presName="hierRoot3" presStyleCnt="0"/>
      <dgm:spPr/>
    </dgm:pt>
    <dgm:pt modelId="{BB66202D-ACB0-40B5-A65A-6345D796CD12}" type="pres">
      <dgm:prSet presAssocID="{7DD2E48E-BA6F-4170-B19D-031BA9F0EDCF}" presName="composite3" presStyleCnt="0"/>
      <dgm:spPr/>
    </dgm:pt>
    <dgm:pt modelId="{D52F0448-4346-4A3D-B8A7-A90A7E58F119}" type="pres">
      <dgm:prSet presAssocID="{7DD2E48E-BA6F-4170-B19D-031BA9F0EDCF}" presName="background3" presStyleLbl="node3" presStyleIdx="1" presStyleCnt="2"/>
      <dgm:spPr/>
    </dgm:pt>
    <dgm:pt modelId="{21E6EAEA-A215-431D-BFB7-C91C80360566}" type="pres">
      <dgm:prSet presAssocID="{7DD2E48E-BA6F-4170-B19D-031BA9F0EDCF}" presName="text3" presStyleLbl="fgAcc3" presStyleIdx="1" presStyleCnt="2" custScaleX="173403" custLinFactNeighborX="1477" custLinFactNeighborY="-8646">
        <dgm:presLayoutVars>
          <dgm:chPref val="3"/>
        </dgm:presLayoutVars>
      </dgm:prSet>
      <dgm:spPr/>
    </dgm:pt>
    <dgm:pt modelId="{F2179493-2C3F-45F2-B89A-C4929C6C4160}" type="pres">
      <dgm:prSet presAssocID="{7DD2E48E-BA6F-4170-B19D-031BA9F0EDCF}" presName="hierChild4" presStyleCnt="0"/>
      <dgm:spPr/>
    </dgm:pt>
  </dgm:ptLst>
  <dgm:cxnLst>
    <dgm:cxn modelId="{99DDAA0C-44E1-48F7-A6B5-2ACA14801A67}" type="presOf" srcId="{E0671214-4541-407B-A453-F9BE4C49416D}" destId="{16EBBBFD-9656-4F29-8D43-64379019CB20}" srcOrd="0" destOrd="0" presId="urn:microsoft.com/office/officeart/2005/8/layout/hierarchy1"/>
    <dgm:cxn modelId="{9CB17A14-01A8-41B4-B0C8-17E9CB146036}" type="presOf" srcId="{7DD2E48E-BA6F-4170-B19D-031BA9F0EDCF}" destId="{21E6EAEA-A215-431D-BFB7-C91C80360566}" srcOrd="0" destOrd="0" presId="urn:microsoft.com/office/officeart/2005/8/layout/hierarchy1"/>
    <dgm:cxn modelId="{1B9F8216-8EEB-4584-9351-D817414F39F5}" type="presOf" srcId="{9AD69D5A-A678-40CD-B060-70A401C2FEFF}" destId="{84CB7A03-A5C4-44EF-B763-3F7D4F677371}" srcOrd="0" destOrd="0" presId="urn:microsoft.com/office/officeart/2005/8/layout/hierarchy1"/>
    <dgm:cxn modelId="{362A001B-5B2B-478B-BD02-CAEB1152AC22}" srcId="{4CACB22F-8D59-455F-9C7D-170D9FDF5D15}" destId="{AF9F8DC8-18D8-4DB5-9364-6EEAF0EA13EF}" srcOrd="0" destOrd="0" parTransId="{C0040A56-F0A5-4F34-BB98-7F239AD32BA3}" sibTransId="{6A7DCAF6-AC2D-470A-8215-0413C0E5CDA5}"/>
    <dgm:cxn modelId="{F4939D68-9650-4792-8325-6CA7B396C86E}" type="presOf" srcId="{C0040A56-F0A5-4F34-BB98-7F239AD32BA3}" destId="{FF9CCA62-5B34-4780-922A-9ECF9FA5B79C}" srcOrd="0" destOrd="0" presId="urn:microsoft.com/office/officeart/2005/8/layout/hierarchy1"/>
    <dgm:cxn modelId="{55CC344B-DA5B-4981-A186-C30242EFEB2C}" type="presOf" srcId="{4CACB22F-8D59-455F-9C7D-170D9FDF5D15}" destId="{060FA48E-33B1-420E-A193-EB337802B350}" srcOrd="0" destOrd="0" presId="urn:microsoft.com/office/officeart/2005/8/layout/hierarchy1"/>
    <dgm:cxn modelId="{8D9B6470-BEFE-4DD3-9543-12D1972F4E22}" type="presOf" srcId="{AF9F8DC8-18D8-4DB5-9364-6EEAF0EA13EF}" destId="{60F87443-91FE-4E4A-877F-1065F57891BB}" srcOrd="0" destOrd="0" presId="urn:microsoft.com/office/officeart/2005/8/layout/hierarchy1"/>
    <dgm:cxn modelId="{08678B7D-6DA5-4BEC-855E-08E2E4A81326}" type="presOf" srcId="{4990AB9B-B59E-4CE6-927B-91D9539B90CA}" destId="{402F9DA0-6527-456F-8106-87D0C788B84F}" srcOrd="0" destOrd="0" presId="urn:microsoft.com/office/officeart/2005/8/layout/hierarchy1"/>
    <dgm:cxn modelId="{AEF79C7F-4DC1-4A4B-8F64-E351052721E6}" type="presOf" srcId="{24A6C881-3754-4106-BC7A-1B068D2E2C4C}" destId="{FAF1DD05-0ED9-4058-A826-7B915250091F}" srcOrd="0" destOrd="0" presId="urn:microsoft.com/office/officeart/2005/8/layout/hierarchy1"/>
    <dgm:cxn modelId="{EA909A8B-F90B-45FC-BCE4-79577EE0CA4D}" srcId="{E0671214-4541-407B-A453-F9BE4C49416D}" destId="{4CACB22F-8D59-455F-9C7D-170D9FDF5D15}" srcOrd="0" destOrd="0" parTransId="{A6A8C937-335E-488D-AED0-865E73C1C4B8}" sibTransId="{72E07BB6-8A99-4795-86DB-F556CA8ED929}"/>
    <dgm:cxn modelId="{C78FDB8F-7EB1-42AE-BE2C-2D6A3BF0BC7B}" srcId="{9AD69D5A-A678-40CD-B060-70A401C2FEFF}" destId="{E0671214-4541-407B-A453-F9BE4C49416D}" srcOrd="0" destOrd="0" parTransId="{2D33C09E-2C1D-4AA2-A430-5CAB218C7DC0}" sibTransId="{9FA9AB18-2561-494B-B042-595349196629}"/>
    <dgm:cxn modelId="{75E96197-C117-4F7D-AF86-324A5EBB89AF}" type="presOf" srcId="{8B9B90C8-435A-4A95-A290-C8E2B93608F4}" destId="{973FEDFB-555F-4D92-9F1A-28C8E07559E0}" srcOrd="0" destOrd="0" presId="urn:microsoft.com/office/officeart/2005/8/layout/hierarchy1"/>
    <dgm:cxn modelId="{F1D21FA2-2A62-4011-8DD3-2A6ABEE0D339}" srcId="{24A6C881-3754-4106-BC7A-1B068D2E2C4C}" destId="{7DD2E48E-BA6F-4170-B19D-031BA9F0EDCF}" srcOrd="0" destOrd="0" parTransId="{8B9B90C8-435A-4A95-A290-C8E2B93608F4}" sibTransId="{C04F44E8-6BB4-4514-A76A-1A14F09C1BE4}"/>
    <dgm:cxn modelId="{90CD03AF-A561-46CC-B591-5F369BF20A15}" srcId="{E0671214-4541-407B-A453-F9BE4C49416D}" destId="{24A6C881-3754-4106-BC7A-1B068D2E2C4C}" srcOrd="1" destOrd="0" parTransId="{4990AB9B-B59E-4CE6-927B-91D9539B90CA}" sibTransId="{2FA57870-B3C0-4F28-B68E-A2EC192D48E6}"/>
    <dgm:cxn modelId="{8CD7B2CA-9CAF-431E-A300-55E13499E345}" type="presOf" srcId="{A6A8C937-335E-488D-AED0-865E73C1C4B8}" destId="{00F52854-D217-4E54-BB93-7AF6738AA789}" srcOrd="0" destOrd="0" presId="urn:microsoft.com/office/officeart/2005/8/layout/hierarchy1"/>
    <dgm:cxn modelId="{F976FADD-FFB2-4FD2-8CEC-1D98BFEE77F6}" type="presParOf" srcId="{84CB7A03-A5C4-44EF-B763-3F7D4F677371}" destId="{87114144-8F55-404F-B745-9C60869261A7}" srcOrd="0" destOrd="0" presId="urn:microsoft.com/office/officeart/2005/8/layout/hierarchy1"/>
    <dgm:cxn modelId="{E6E54935-E7F2-44C5-8FEA-8E3ADCC80BE4}" type="presParOf" srcId="{87114144-8F55-404F-B745-9C60869261A7}" destId="{38627AAE-F2EE-4E6E-8462-E5684E874C01}" srcOrd="0" destOrd="0" presId="urn:microsoft.com/office/officeart/2005/8/layout/hierarchy1"/>
    <dgm:cxn modelId="{2891B93B-B4E8-4E02-A497-1940D78A94C5}" type="presParOf" srcId="{38627AAE-F2EE-4E6E-8462-E5684E874C01}" destId="{285DE3DC-DFC5-4B58-91BD-E7328C01D2C9}" srcOrd="0" destOrd="0" presId="urn:microsoft.com/office/officeart/2005/8/layout/hierarchy1"/>
    <dgm:cxn modelId="{739A8838-C130-4136-B3C6-F9A1EE015559}" type="presParOf" srcId="{38627AAE-F2EE-4E6E-8462-E5684E874C01}" destId="{16EBBBFD-9656-4F29-8D43-64379019CB20}" srcOrd="1" destOrd="0" presId="urn:microsoft.com/office/officeart/2005/8/layout/hierarchy1"/>
    <dgm:cxn modelId="{0FBA195D-3783-47E6-8BCB-85FA30A7F732}" type="presParOf" srcId="{87114144-8F55-404F-B745-9C60869261A7}" destId="{DE6FDD10-3888-4193-B1EC-C94F1A8FE95E}" srcOrd="1" destOrd="0" presId="urn:microsoft.com/office/officeart/2005/8/layout/hierarchy1"/>
    <dgm:cxn modelId="{530C967B-9F32-405D-98C4-1FEAE0D2FF25}" type="presParOf" srcId="{DE6FDD10-3888-4193-B1EC-C94F1A8FE95E}" destId="{00F52854-D217-4E54-BB93-7AF6738AA789}" srcOrd="0" destOrd="0" presId="urn:microsoft.com/office/officeart/2005/8/layout/hierarchy1"/>
    <dgm:cxn modelId="{15B0C93B-8947-465B-A71C-C5C51CA7E4E8}" type="presParOf" srcId="{DE6FDD10-3888-4193-B1EC-C94F1A8FE95E}" destId="{63DE9FA0-2224-4A68-AF72-A52CF341A938}" srcOrd="1" destOrd="0" presId="urn:microsoft.com/office/officeart/2005/8/layout/hierarchy1"/>
    <dgm:cxn modelId="{7329463C-8C9F-431C-996F-690F5AB6F31C}" type="presParOf" srcId="{63DE9FA0-2224-4A68-AF72-A52CF341A938}" destId="{2FDCBEAC-F85C-47F7-B3F3-AF3AD2F47442}" srcOrd="0" destOrd="0" presId="urn:microsoft.com/office/officeart/2005/8/layout/hierarchy1"/>
    <dgm:cxn modelId="{DF8525F4-60EA-496E-956E-3E304665B350}" type="presParOf" srcId="{2FDCBEAC-F85C-47F7-B3F3-AF3AD2F47442}" destId="{5478D9E4-70E0-46BC-8902-F1120D0B3DFD}" srcOrd="0" destOrd="0" presId="urn:microsoft.com/office/officeart/2005/8/layout/hierarchy1"/>
    <dgm:cxn modelId="{02F0991E-141D-4FE5-ACBD-47B5C399D85A}" type="presParOf" srcId="{2FDCBEAC-F85C-47F7-B3F3-AF3AD2F47442}" destId="{060FA48E-33B1-420E-A193-EB337802B350}" srcOrd="1" destOrd="0" presId="urn:microsoft.com/office/officeart/2005/8/layout/hierarchy1"/>
    <dgm:cxn modelId="{9F641033-46CD-4AC4-8CA3-2FC083F55181}" type="presParOf" srcId="{63DE9FA0-2224-4A68-AF72-A52CF341A938}" destId="{12B2D676-FAFB-4AAE-8E61-73153F08D6E0}" srcOrd="1" destOrd="0" presId="urn:microsoft.com/office/officeart/2005/8/layout/hierarchy1"/>
    <dgm:cxn modelId="{21B8559A-83CA-450C-89D8-AFC8E492F7D1}" type="presParOf" srcId="{12B2D676-FAFB-4AAE-8E61-73153F08D6E0}" destId="{FF9CCA62-5B34-4780-922A-9ECF9FA5B79C}" srcOrd="0" destOrd="0" presId="urn:microsoft.com/office/officeart/2005/8/layout/hierarchy1"/>
    <dgm:cxn modelId="{604F4C1C-5458-42C3-8232-717A565F2CA1}" type="presParOf" srcId="{12B2D676-FAFB-4AAE-8E61-73153F08D6E0}" destId="{C06092AB-9497-4A7F-9152-8C4D871B8426}" srcOrd="1" destOrd="0" presId="urn:microsoft.com/office/officeart/2005/8/layout/hierarchy1"/>
    <dgm:cxn modelId="{A94A0D89-62DF-4EAF-8CDE-4A11985CD287}" type="presParOf" srcId="{C06092AB-9497-4A7F-9152-8C4D871B8426}" destId="{CC391E3D-56E7-4B9F-AA21-A13717931D94}" srcOrd="0" destOrd="0" presId="urn:microsoft.com/office/officeart/2005/8/layout/hierarchy1"/>
    <dgm:cxn modelId="{A42A3CA9-E4D7-459D-BE1E-314732286D56}" type="presParOf" srcId="{CC391E3D-56E7-4B9F-AA21-A13717931D94}" destId="{03809C79-02CD-4F09-9C25-D22CAD688F2E}" srcOrd="0" destOrd="0" presId="urn:microsoft.com/office/officeart/2005/8/layout/hierarchy1"/>
    <dgm:cxn modelId="{DE3F603B-73D3-4A93-962B-7DA49037D754}" type="presParOf" srcId="{CC391E3D-56E7-4B9F-AA21-A13717931D94}" destId="{60F87443-91FE-4E4A-877F-1065F57891BB}" srcOrd="1" destOrd="0" presId="urn:microsoft.com/office/officeart/2005/8/layout/hierarchy1"/>
    <dgm:cxn modelId="{A75F7C79-60AA-46AA-AD5C-DEF52AA71EED}" type="presParOf" srcId="{C06092AB-9497-4A7F-9152-8C4D871B8426}" destId="{B73262E2-F53A-4165-A8EA-AFFFDC26A42B}" srcOrd="1" destOrd="0" presId="urn:microsoft.com/office/officeart/2005/8/layout/hierarchy1"/>
    <dgm:cxn modelId="{4FE14DAA-9699-4529-AE16-BFEA0F707AA4}" type="presParOf" srcId="{DE6FDD10-3888-4193-B1EC-C94F1A8FE95E}" destId="{402F9DA0-6527-456F-8106-87D0C788B84F}" srcOrd="2" destOrd="0" presId="urn:microsoft.com/office/officeart/2005/8/layout/hierarchy1"/>
    <dgm:cxn modelId="{B2EE83CC-7A98-4965-9EBA-E67DD84EDB32}" type="presParOf" srcId="{DE6FDD10-3888-4193-B1EC-C94F1A8FE95E}" destId="{239AB0B9-1FF9-48C0-8BB0-D2AB591054CC}" srcOrd="3" destOrd="0" presId="urn:microsoft.com/office/officeart/2005/8/layout/hierarchy1"/>
    <dgm:cxn modelId="{38C67126-EDB9-49F6-BB19-0A8468654B4B}" type="presParOf" srcId="{239AB0B9-1FF9-48C0-8BB0-D2AB591054CC}" destId="{45CD3B91-4002-409E-881D-D8FBF94EBA75}" srcOrd="0" destOrd="0" presId="urn:microsoft.com/office/officeart/2005/8/layout/hierarchy1"/>
    <dgm:cxn modelId="{FA306E7F-CC29-4BF5-88C1-9471C8B5F7DB}" type="presParOf" srcId="{45CD3B91-4002-409E-881D-D8FBF94EBA75}" destId="{C9E05D8E-066B-44F7-B46E-9579BD12BE29}" srcOrd="0" destOrd="0" presId="urn:microsoft.com/office/officeart/2005/8/layout/hierarchy1"/>
    <dgm:cxn modelId="{987AC75C-2D62-4B95-9D9F-D3E333CBE29D}" type="presParOf" srcId="{45CD3B91-4002-409E-881D-D8FBF94EBA75}" destId="{FAF1DD05-0ED9-4058-A826-7B915250091F}" srcOrd="1" destOrd="0" presId="urn:microsoft.com/office/officeart/2005/8/layout/hierarchy1"/>
    <dgm:cxn modelId="{AF0F659E-11CA-43EC-BBEB-BFC6273E0568}" type="presParOf" srcId="{239AB0B9-1FF9-48C0-8BB0-D2AB591054CC}" destId="{BCD45A77-F344-4526-A5BB-6042BDE705D4}" srcOrd="1" destOrd="0" presId="urn:microsoft.com/office/officeart/2005/8/layout/hierarchy1"/>
    <dgm:cxn modelId="{20163DB9-69E0-4FBD-A379-D4A49EBC157A}" type="presParOf" srcId="{BCD45A77-F344-4526-A5BB-6042BDE705D4}" destId="{973FEDFB-555F-4D92-9F1A-28C8E07559E0}" srcOrd="0" destOrd="0" presId="urn:microsoft.com/office/officeart/2005/8/layout/hierarchy1"/>
    <dgm:cxn modelId="{31B74BF1-6CFC-461F-90BB-743FE644C8FE}" type="presParOf" srcId="{BCD45A77-F344-4526-A5BB-6042BDE705D4}" destId="{E69C5779-BF2B-4B94-8751-7E5A0F1BA2A3}" srcOrd="1" destOrd="0" presId="urn:microsoft.com/office/officeart/2005/8/layout/hierarchy1"/>
    <dgm:cxn modelId="{2C822EF1-67E3-4E41-A418-C49A7DE52CF0}" type="presParOf" srcId="{E69C5779-BF2B-4B94-8751-7E5A0F1BA2A3}" destId="{BB66202D-ACB0-40B5-A65A-6345D796CD12}" srcOrd="0" destOrd="0" presId="urn:microsoft.com/office/officeart/2005/8/layout/hierarchy1"/>
    <dgm:cxn modelId="{32FFF425-1F31-40CB-8410-1E865FEEACCD}" type="presParOf" srcId="{BB66202D-ACB0-40B5-A65A-6345D796CD12}" destId="{D52F0448-4346-4A3D-B8A7-A90A7E58F119}" srcOrd="0" destOrd="0" presId="urn:microsoft.com/office/officeart/2005/8/layout/hierarchy1"/>
    <dgm:cxn modelId="{31E4B888-F19E-498B-AD55-DB63BB03300C}" type="presParOf" srcId="{BB66202D-ACB0-40B5-A65A-6345D796CD12}" destId="{21E6EAEA-A215-431D-BFB7-C91C80360566}" srcOrd="1" destOrd="0" presId="urn:microsoft.com/office/officeart/2005/8/layout/hierarchy1"/>
    <dgm:cxn modelId="{3EBE3F27-7045-4BCC-A307-6132C8D3E3AA}" type="presParOf" srcId="{E69C5779-BF2B-4B94-8751-7E5A0F1BA2A3}" destId="{F2179493-2C3F-45F2-B89A-C4929C6C4160}"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3FEDFB-555F-4D92-9F1A-28C8E07559E0}">
      <dsp:nvSpPr>
        <dsp:cNvPr id="0" name=""/>
        <dsp:cNvSpPr/>
      </dsp:nvSpPr>
      <dsp:spPr>
        <a:xfrm>
          <a:off x="5820094" y="1945486"/>
          <a:ext cx="91440" cy="569118"/>
        </a:xfrm>
        <a:custGeom>
          <a:avLst/>
          <a:gdLst/>
          <a:ahLst/>
          <a:cxnLst/>
          <a:rect l="0" t="0" r="0" b="0"/>
          <a:pathLst>
            <a:path>
              <a:moveTo>
                <a:pt x="45720" y="0"/>
              </a:moveTo>
              <a:lnTo>
                <a:pt x="45720" y="345652"/>
              </a:lnTo>
              <a:lnTo>
                <a:pt x="50048" y="345652"/>
              </a:lnTo>
              <a:lnTo>
                <a:pt x="50048" y="56911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2F9DA0-6527-456F-8106-87D0C788B84F}">
      <dsp:nvSpPr>
        <dsp:cNvPr id="0" name=""/>
        <dsp:cNvSpPr/>
      </dsp:nvSpPr>
      <dsp:spPr>
        <a:xfrm>
          <a:off x="1003485" y="838475"/>
          <a:ext cx="4862328" cy="437402"/>
        </a:xfrm>
        <a:custGeom>
          <a:avLst/>
          <a:gdLst/>
          <a:ahLst/>
          <a:cxnLst/>
          <a:rect l="0" t="0" r="0" b="0"/>
          <a:pathLst>
            <a:path>
              <a:moveTo>
                <a:pt x="0" y="0"/>
              </a:moveTo>
              <a:lnTo>
                <a:pt x="0" y="213936"/>
              </a:lnTo>
              <a:lnTo>
                <a:pt x="4862328" y="213936"/>
              </a:lnTo>
              <a:lnTo>
                <a:pt x="4862328" y="43740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9CCA62-5B34-4780-922A-9ECF9FA5B79C}">
      <dsp:nvSpPr>
        <dsp:cNvPr id="0" name=""/>
        <dsp:cNvSpPr/>
      </dsp:nvSpPr>
      <dsp:spPr>
        <a:xfrm>
          <a:off x="1649250" y="1947202"/>
          <a:ext cx="91440" cy="701554"/>
        </a:xfrm>
        <a:custGeom>
          <a:avLst/>
          <a:gdLst/>
          <a:ahLst/>
          <a:cxnLst/>
          <a:rect l="0" t="0" r="0" b="0"/>
          <a:pathLst>
            <a:path>
              <a:moveTo>
                <a:pt x="45720" y="0"/>
              </a:moveTo>
              <a:lnTo>
                <a:pt x="45720" y="70155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F52854-D217-4E54-BB93-7AF6738AA789}">
      <dsp:nvSpPr>
        <dsp:cNvPr id="0" name=""/>
        <dsp:cNvSpPr/>
      </dsp:nvSpPr>
      <dsp:spPr>
        <a:xfrm>
          <a:off x="1003485" y="838475"/>
          <a:ext cx="691484" cy="437402"/>
        </a:xfrm>
        <a:custGeom>
          <a:avLst/>
          <a:gdLst/>
          <a:ahLst/>
          <a:cxnLst/>
          <a:rect l="0" t="0" r="0" b="0"/>
          <a:pathLst>
            <a:path>
              <a:moveTo>
                <a:pt x="0" y="0"/>
              </a:moveTo>
              <a:lnTo>
                <a:pt x="0" y="213936"/>
              </a:lnTo>
              <a:lnTo>
                <a:pt x="691484" y="213936"/>
              </a:lnTo>
              <a:lnTo>
                <a:pt x="691484" y="43740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85DE3DC-DFC5-4B58-91BD-E7328C01D2C9}">
      <dsp:nvSpPr>
        <dsp:cNvPr id="0" name=""/>
        <dsp:cNvSpPr/>
      </dsp:nvSpPr>
      <dsp:spPr>
        <a:xfrm>
          <a:off x="189168" y="354974"/>
          <a:ext cx="1628635" cy="4835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EBBBFD-9656-4F29-8D43-64379019CB20}">
      <dsp:nvSpPr>
        <dsp:cNvPr id="0" name=""/>
        <dsp:cNvSpPr/>
      </dsp:nvSpPr>
      <dsp:spPr>
        <a:xfrm>
          <a:off x="457192" y="609598"/>
          <a:ext cx="1628635" cy="4835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Is your goal:</a:t>
          </a:r>
        </a:p>
      </dsp:txBody>
      <dsp:txXfrm>
        <a:off x="471353" y="623759"/>
        <a:ext cx="1600313" cy="455178"/>
      </dsp:txXfrm>
    </dsp:sp>
    <dsp:sp modelId="{5478D9E4-70E0-46BC-8902-F1120D0B3DFD}">
      <dsp:nvSpPr>
        <dsp:cNvPr id="0" name=""/>
        <dsp:cNvSpPr/>
      </dsp:nvSpPr>
      <dsp:spPr>
        <a:xfrm>
          <a:off x="4328" y="1275877"/>
          <a:ext cx="3381282" cy="6713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60FA48E-33B1-420E-A193-EB337802B350}">
      <dsp:nvSpPr>
        <dsp:cNvPr id="0" name=""/>
        <dsp:cNvSpPr/>
      </dsp:nvSpPr>
      <dsp:spPr>
        <a:xfrm>
          <a:off x="272353" y="1530500"/>
          <a:ext cx="3381282" cy="67132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Forcing accountability onto the legislature?</a:t>
          </a:r>
        </a:p>
      </dsp:txBody>
      <dsp:txXfrm>
        <a:off x="292015" y="1550162"/>
        <a:ext cx="3341958" cy="632000"/>
      </dsp:txXfrm>
    </dsp:sp>
    <dsp:sp modelId="{03809C79-02CD-4F09-9C25-D22CAD688F2E}">
      <dsp:nvSpPr>
        <dsp:cNvPr id="0" name=""/>
        <dsp:cNvSpPr/>
      </dsp:nvSpPr>
      <dsp:spPr>
        <a:xfrm>
          <a:off x="488859" y="2648756"/>
          <a:ext cx="2412221" cy="153176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F87443-91FE-4E4A-877F-1065F57891BB}">
      <dsp:nvSpPr>
        <dsp:cNvPr id="0" name=""/>
        <dsp:cNvSpPr/>
      </dsp:nvSpPr>
      <dsp:spPr>
        <a:xfrm>
          <a:off x="756884" y="2903379"/>
          <a:ext cx="2412221" cy="153176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Insist on statutory standards proving that Congress has actually legislated</a:t>
          </a:r>
        </a:p>
      </dsp:txBody>
      <dsp:txXfrm>
        <a:off x="801748" y="2948243"/>
        <a:ext cx="2322493" cy="1442032"/>
      </dsp:txXfrm>
    </dsp:sp>
    <dsp:sp modelId="{C9E05D8E-066B-44F7-B46E-9579BD12BE29}">
      <dsp:nvSpPr>
        <dsp:cNvPr id="0" name=""/>
        <dsp:cNvSpPr/>
      </dsp:nvSpPr>
      <dsp:spPr>
        <a:xfrm>
          <a:off x="3921660" y="1275877"/>
          <a:ext cx="3888307" cy="66960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AF1DD05-0ED9-4058-A826-7B915250091F}">
      <dsp:nvSpPr>
        <dsp:cNvPr id="0" name=""/>
        <dsp:cNvSpPr/>
      </dsp:nvSpPr>
      <dsp:spPr>
        <a:xfrm>
          <a:off x="4189685" y="1530500"/>
          <a:ext cx="3888307" cy="66960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Making sure that public </a:t>
          </a:r>
          <a:r>
            <a:rPr lang="en-US" sz="1600" kern="1200" dirty="0" err="1"/>
            <a:t>adminstration</a:t>
          </a:r>
          <a:r>
            <a:rPr lang="en-US" sz="1600" kern="1200" dirty="0"/>
            <a:t> is reasonably fair and </a:t>
          </a:r>
          <a:r>
            <a:rPr lang="en-US" sz="1600" kern="1200" dirty="0" err="1"/>
            <a:t>nonarbitrary</a:t>
          </a:r>
          <a:r>
            <a:rPr lang="en-US" sz="1600" kern="1200" dirty="0"/>
            <a:t>?</a:t>
          </a:r>
        </a:p>
      </dsp:txBody>
      <dsp:txXfrm>
        <a:off x="4209297" y="1550112"/>
        <a:ext cx="3849083" cy="630385"/>
      </dsp:txXfrm>
    </dsp:sp>
    <dsp:sp modelId="{D52F0448-4346-4A3D-B8A7-A90A7E58F119}">
      <dsp:nvSpPr>
        <dsp:cNvPr id="0" name=""/>
        <dsp:cNvSpPr/>
      </dsp:nvSpPr>
      <dsp:spPr>
        <a:xfrm>
          <a:off x="3778711" y="2514604"/>
          <a:ext cx="4182863" cy="153176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E6EAEA-A215-431D-BFB7-C91C80360566}">
      <dsp:nvSpPr>
        <dsp:cNvPr id="0" name=""/>
        <dsp:cNvSpPr/>
      </dsp:nvSpPr>
      <dsp:spPr>
        <a:xfrm>
          <a:off x="4046736" y="2769228"/>
          <a:ext cx="4182863" cy="153176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Look for general elements of fairness, e.g., Does the agency set clear standards?  Is there judicial review?  Was there public input?  Any special circumstances that make broad discretion more legitimate?</a:t>
          </a:r>
        </a:p>
      </dsp:txBody>
      <dsp:txXfrm>
        <a:off x="4091600" y="2814092"/>
        <a:ext cx="4093135" cy="144203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22C6C-F913-9B37-DB55-AEEBDDF7061D}"/>
              </a:ext>
            </a:extLst>
          </p:cNvPr>
          <p:cNvSpPr>
            <a:spLocks noGrp="1"/>
          </p:cNvSpPr>
          <p:nvPr>
            <p:ph type="hdr" sz="quarter"/>
          </p:nvPr>
        </p:nvSpPr>
        <p:spPr>
          <a:xfrm>
            <a:off x="0" y="0"/>
            <a:ext cx="3037840" cy="464820"/>
          </a:xfrm>
          <a:prstGeom prst="rect">
            <a:avLst/>
          </a:prstGeom>
        </p:spPr>
        <p:txBody>
          <a:bodyPr vert="horz" lIns="93177" tIns="46589" rIns="93177" bIns="46589"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53468BE8-C2E4-B328-301E-7BCB8EEA4580}"/>
              </a:ext>
            </a:extLst>
          </p:cNvPr>
          <p:cNvSpPr>
            <a:spLocks noGrp="1"/>
          </p:cNvSpPr>
          <p:nvPr>
            <p:ph type="dt" idx="1"/>
          </p:nvPr>
        </p:nvSpPr>
        <p:spPr>
          <a:xfrm>
            <a:off x="3970938" y="0"/>
            <a:ext cx="3037840" cy="464820"/>
          </a:xfrm>
          <a:prstGeom prst="rect">
            <a:avLst/>
          </a:prstGeom>
        </p:spPr>
        <p:txBody>
          <a:bodyPr vert="horz" lIns="93177" tIns="46589" rIns="93177" bIns="46589" rtlCol="0"/>
          <a:lstStyle>
            <a:lvl1pPr algn="r" eaLnBrk="1" hangingPunct="1">
              <a:defRPr sz="1200">
                <a:latin typeface="Arial" charset="0"/>
              </a:defRPr>
            </a:lvl1pPr>
          </a:lstStyle>
          <a:p>
            <a:pPr>
              <a:defRPr/>
            </a:pPr>
            <a:fld id="{34865E13-3A45-4434-9F4F-7D9532EDD4C1}" type="datetimeFigureOut">
              <a:rPr lang="en-US"/>
              <a:pPr>
                <a:defRPr/>
              </a:pPr>
              <a:t>9/28/2026</a:t>
            </a:fld>
            <a:endParaRPr lang="en-US"/>
          </a:p>
        </p:txBody>
      </p:sp>
      <p:sp>
        <p:nvSpPr>
          <p:cNvPr id="4" name="Slide Image Placeholder 3">
            <a:extLst>
              <a:ext uri="{FF2B5EF4-FFF2-40B4-BE49-F238E27FC236}">
                <a16:creationId xmlns:a16="http://schemas.microsoft.com/office/drawing/2014/main" id="{47911814-0E7F-5941-5A9E-9D80B274CE34}"/>
              </a:ext>
            </a:extLst>
          </p:cNvPr>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a:extLst>
              <a:ext uri="{FF2B5EF4-FFF2-40B4-BE49-F238E27FC236}">
                <a16:creationId xmlns:a16="http://schemas.microsoft.com/office/drawing/2014/main" id="{70922E57-F636-2C16-37E1-9E097C924601}"/>
              </a:ext>
            </a:extLst>
          </p:cNvPr>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09C430F8-E34C-9696-CB31-5E00CB7785B5}"/>
              </a:ext>
            </a:extLst>
          </p:cNvPr>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63194363-CA6E-6840-85EA-4493ABFC511F}"/>
              </a:ext>
            </a:extLst>
          </p:cNvPr>
          <p:cNvSpPr>
            <a:spLocks noGrp="1"/>
          </p:cNvSpPr>
          <p:nvPr>
            <p:ph type="sldNum" sz="quarter" idx="5"/>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431C69FD-115F-4F15-B057-7CB22A4BBB4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B9A5624-BD28-5C9F-40BC-4724A4E51B5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EE3791EE-3905-4C1C-195C-54FA875089F5}"/>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6" name="Rectangle 6">
            <a:extLst>
              <a:ext uri="{FF2B5EF4-FFF2-40B4-BE49-F238E27FC236}">
                <a16:creationId xmlns:a16="http://schemas.microsoft.com/office/drawing/2014/main" id="{A3F635CE-9671-FC65-2B60-0A706C62667D}"/>
              </a:ext>
            </a:extLst>
          </p:cNvPr>
          <p:cNvSpPr>
            <a:spLocks noGrp="1" noChangeArrowheads="1"/>
          </p:cNvSpPr>
          <p:nvPr>
            <p:ph type="sldNum" sz="quarter" idx="12"/>
          </p:nvPr>
        </p:nvSpPr>
        <p:spPr>
          <a:ln/>
        </p:spPr>
        <p:txBody>
          <a:bodyPr/>
          <a:lstStyle>
            <a:lvl1pPr>
              <a:defRPr/>
            </a:lvl1pPr>
          </a:lstStyle>
          <a:p>
            <a:pPr>
              <a:defRPr/>
            </a:pPr>
            <a:fld id="{DBD8AC1B-1F9E-4651-BBF4-7A071C4660A7}" type="slidenum">
              <a:rPr lang="en-US" altLang="en-US"/>
              <a:pPr>
                <a:defRPr/>
              </a:pPr>
              <a:t>‹#›</a:t>
            </a:fld>
            <a:endParaRPr lang="en-US" altLang="en-US"/>
          </a:p>
        </p:txBody>
      </p:sp>
    </p:spTree>
    <p:extLst>
      <p:ext uri="{BB962C8B-B14F-4D97-AF65-F5344CB8AC3E}">
        <p14:creationId xmlns:p14="http://schemas.microsoft.com/office/powerpoint/2010/main" val="2570326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9316698-F7F8-4636-C9D9-289AB3E69E5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AC44FD0F-6024-9082-8E3E-DB0867793184}"/>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6" name="Rectangle 6">
            <a:extLst>
              <a:ext uri="{FF2B5EF4-FFF2-40B4-BE49-F238E27FC236}">
                <a16:creationId xmlns:a16="http://schemas.microsoft.com/office/drawing/2014/main" id="{7FD49DD5-11A8-2B14-2B85-21FC3FDEF79F}"/>
              </a:ext>
            </a:extLst>
          </p:cNvPr>
          <p:cNvSpPr>
            <a:spLocks noGrp="1" noChangeArrowheads="1"/>
          </p:cNvSpPr>
          <p:nvPr>
            <p:ph type="sldNum" sz="quarter" idx="12"/>
          </p:nvPr>
        </p:nvSpPr>
        <p:spPr>
          <a:ln/>
        </p:spPr>
        <p:txBody>
          <a:bodyPr/>
          <a:lstStyle>
            <a:lvl1pPr>
              <a:defRPr/>
            </a:lvl1pPr>
          </a:lstStyle>
          <a:p>
            <a:pPr>
              <a:defRPr/>
            </a:pPr>
            <a:fld id="{1B61F791-5E91-481A-9C45-1F0075BBB47C}" type="slidenum">
              <a:rPr lang="en-US" altLang="en-US"/>
              <a:pPr>
                <a:defRPr/>
              </a:pPr>
              <a:t>‹#›</a:t>
            </a:fld>
            <a:endParaRPr lang="en-US" altLang="en-US"/>
          </a:p>
        </p:txBody>
      </p:sp>
    </p:spTree>
    <p:extLst>
      <p:ext uri="{BB962C8B-B14F-4D97-AF65-F5344CB8AC3E}">
        <p14:creationId xmlns:p14="http://schemas.microsoft.com/office/powerpoint/2010/main" val="1538668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CB40831-4C93-C9E1-7F07-D00F6B7B6A7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720C0A2F-8748-EA64-F4F6-5C63FC154E3D}"/>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6" name="Rectangle 6">
            <a:extLst>
              <a:ext uri="{FF2B5EF4-FFF2-40B4-BE49-F238E27FC236}">
                <a16:creationId xmlns:a16="http://schemas.microsoft.com/office/drawing/2014/main" id="{5E7A110D-8219-47DE-2631-C5A9803B9533}"/>
              </a:ext>
            </a:extLst>
          </p:cNvPr>
          <p:cNvSpPr>
            <a:spLocks noGrp="1" noChangeArrowheads="1"/>
          </p:cNvSpPr>
          <p:nvPr>
            <p:ph type="sldNum" sz="quarter" idx="12"/>
          </p:nvPr>
        </p:nvSpPr>
        <p:spPr>
          <a:ln/>
        </p:spPr>
        <p:txBody>
          <a:bodyPr/>
          <a:lstStyle>
            <a:lvl1pPr>
              <a:defRPr/>
            </a:lvl1pPr>
          </a:lstStyle>
          <a:p>
            <a:pPr>
              <a:defRPr/>
            </a:pPr>
            <a:fld id="{A11BED41-1802-4B74-8239-AFCEE8F374C0}" type="slidenum">
              <a:rPr lang="en-US" altLang="en-US"/>
              <a:pPr>
                <a:defRPr/>
              </a:pPr>
              <a:t>‹#›</a:t>
            </a:fld>
            <a:endParaRPr lang="en-US" altLang="en-US"/>
          </a:p>
        </p:txBody>
      </p:sp>
    </p:spTree>
    <p:extLst>
      <p:ext uri="{BB962C8B-B14F-4D97-AF65-F5344CB8AC3E}">
        <p14:creationId xmlns:p14="http://schemas.microsoft.com/office/powerpoint/2010/main" val="4179382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B24CF0D-5631-EA5E-AE51-1E64E320D88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C21A1AF7-0F3D-0E1E-71E9-C1661A89A9D4}"/>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7" name="Rectangle 6">
            <a:extLst>
              <a:ext uri="{FF2B5EF4-FFF2-40B4-BE49-F238E27FC236}">
                <a16:creationId xmlns:a16="http://schemas.microsoft.com/office/drawing/2014/main" id="{0A9A0FD4-10EB-FDC0-CE57-29C74B1A6E8A}"/>
              </a:ext>
            </a:extLst>
          </p:cNvPr>
          <p:cNvSpPr>
            <a:spLocks noGrp="1" noChangeArrowheads="1"/>
          </p:cNvSpPr>
          <p:nvPr>
            <p:ph type="sldNum" sz="quarter" idx="12"/>
          </p:nvPr>
        </p:nvSpPr>
        <p:spPr>
          <a:ln/>
        </p:spPr>
        <p:txBody>
          <a:bodyPr/>
          <a:lstStyle>
            <a:lvl1pPr>
              <a:defRPr/>
            </a:lvl1pPr>
          </a:lstStyle>
          <a:p>
            <a:pPr>
              <a:defRPr/>
            </a:pPr>
            <a:fld id="{3FB7BBF4-FF90-4427-B925-DEBCD275B913}" type="slidenum">
              <a:rPr lang="en-US" altLang="en-US"/>
              <a:pPr>
                <a:defRPr/>
              </a:pPr>
              <a:t>‹#›</a:t>
            </a:fld>
            <a:endParaRPr lang="en-US" altLang="en-US"/>
          </a:p>
        </p:txBody>
      </p:sp>
    </p:spTree>
    <p:extLst>
      <p:ext uri="{BB962C8B-B14F-4D97-AF65-F5344CB8AC3E}">
        <p14:creationId xmlns:p14="http://schemas.microsoft.com/office/powerpoint/2010/main" val="2190645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A1325548-4B2E-3712-8662-C635E8FFD31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0640A361-270A-3629-8D8A-F23189FA3778}"/>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9" name="Rectangle 6">
            <a:extLst>
              <a:ext uri="{FF2B5EF4-FFF2-40B4-BE49-F238E27FC236}">
                <a16:creationId xmlns:a16="http://schemas.microsoft.com/office/drawing/2014/main" id="{F29BE392-15CF-2CF3-D5F5-3F4E6F2B2808}"/>
              </a:ext>
            </a:extLst>
          </p:cNvPr>
          <p:cNvSpPr>
            <a:spLocks noGrp="1" noChangeArrowheads="1"/>
          </p:cNvSpPr>
          <p:nvPr>
            <p:ph type="sldNum" sz="quarter" idx="12"/>
          </p:nvPr>
        </p:nvSpPr>
        <p:spPr>
          <a:ln/>
        </p:spPr>
        <p:txBody>
          <a:bodyPr/>
          <a:lstStyle>
            <a:lvl1pPr>
              <a:defRPr/>
            </a:lvl1pPr>
          </a:lstStyle>
          <a:p>
            <a:pPr>
              <a:defRPr/>
            </a:pPr>
            <a:fld id="{207B321D-0885-4670-BA6A-13C42C4D6A96}" type="slidenum">
              <a:rPr lang="en-US" altLang="en-US"/>
              <a:pPr>
                <a:defRPr/>
              </a:pPr>
              <a:t>‹#›</a:t>
            </a:fld>
            <a:endParaRPr lang="en-US" altLang="en-US"/>
          </a:p>
        </p:txBody>
      </p:sp>
    </p:spTree>
    <p:extLst>
      <p:ext uri="{BB962C8B-B14F-4D97-AF65-F5344CB8AC3E}">
        <p14:creationId xmlns:p14="http://schemas.microsoft.com/office/powerpoint/2010/main" val="1098730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0AA6344D-B56E-703A-1A6E-B74A00E79E2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9EE80273-AFFE-517F-678C-8D04240B6250}"/>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5" name="Rectangle 6">
            <a:extLst>
              <a:ext uri="{FF2B5EF4-FFF2-40B4-BE49-F238E27FC236}">
                <a16:creationId xmlns:a16="http://schemas.microsoft.com/office/drawing/2014/main" id="{246AA2C9-AB1D-F712-A625-A5063D8929B5}"/>
              </a:ext>
            </a:extLst>
          </p:cNvPr>
          <p:cNvSpPr>
            <a:spLocks noGrp="1" noChangeArrowheads="1"/>
          </p:cNvSpPr>
          <p:nvPr>
            <p:ph type="sldNum" sz="quarter" idx="12"/>
          </p:nvPr>
        </p:nvSpPr>
        <p:spPr>
          <a:ln/>
        </p:spPr>
        <p:txBody>
          <a:bodyPr/>
          <a:lstStyle>
            <a:lvl1pPr>
              <a:defRPr/>
            </a:lvl1pPr>
          </a:lstStyle>
          <a:p>
            <a:pPr>
              <a:defRPr/>
            </a:pPr>
            <a:fld id="{37654927-2ECC-45CA-85E2-3D8FF3D0B7E0}" type="slidenum">
              <a:rPr lang="en-US" altLang="en-US"/>
              <a:pPr>
                <a:defRPr/>
              </a:pPr>
              <a:t>‹#›</a:t>
            </a:fld>
            <a:endParaRPr lang="en-US" altLang="en-US"/>
          </a:p>
        </p:txBody>
      </p:sp>
    </p:spTree>
    <p:extLst>
      <p:ext uri="{BB962C8B-B14F-4D97-AF65-F5344CB8AC3E}">
        <p14:creationId xmlns:p14="http://schemas.microsoft.com/office/powerpoint/2010/main" val="2870149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8555687-C0E8-A51C-3DA3-B0380264E36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9A798669-8A15-F1F9-C819-B20BB40FD811}"/>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4" name="Rectangle 6">
            <a:extLst>
              <a:ext uri="{FF2B5EF4-FFF2-40B4-BE49-F238E27FC236}">
                <a16:creationId xmlns:a16="http://schemas.microsoft.com/office/drawing/2014/main" id="{43B2BE9E-AC66-A34D-652F-FF369AC67298}"/>
              </a:ext>
            </a:extLst>
          </p:cNvPr>
          <p:cNvSpPr>
            <a:spLocks noGrp="1" noChangeArrowheads="1"/>
          </p:cNvSpPr>
          <p:nvPr>
            <p:ph type="sldNum" sz="quarter" idx="12"/>
          </p:nvPr>
        </p:nvSpPr>
        <p:spPr>
          <a:ln/>
        </p:spPr>
        <p:txBody>
          <a:bodyPr/>
          <a:lstStyle>
            <a:lvl1pPr>
              <a:defRPr/>
            </a:lvl1pPr>
          </a:lstStyle>
          <a:p>
            <a:pPr>
              <a:defRPr/>
            </a:pPr>
            <a:fld id="{F836530F-9FA0-45B6-B083-0511CC33269E}" type="slidenum">
              <a:rPr lang="en-US" altLang="en-US"/>
              <a:pPr>
                <a:defRPr/>
              </a:pPr>
              <a:t>‹#›</a:t>
            </a:fld>
            <a:endParaRPr lang="en-US" altLang="en-US"/>
          </a:p>
        </p:txBody>
      </p:sp>
    </p:spTree>
    <p:extLst>
      <p:ext uri="{BB962C8B-B14F-4D97-AF65-F5344CB8AC3E}">
        <p14:creationId xmlns:p14="http://schemas.microsoft.com/office/powerpoint/2010/main" val="1758050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D5B48E6-2BEF-FC83-D0C6-66732E81046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3714C8E0-BD83-39F3-A7E0-6B875AEFB199}"/>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7" name="Rectangle 6">
            <a:extLst>
              <a:ext uri="{FF2B5EF4-FFF2-40B4-BE49-F238E27FC236}">
                <a16:creationId xmlns:a16="http://schemas.microsoft.com/office/drawing/2014/main" id="{7F30354C-71EE-3962-223D-33242505360B}"/>
              </a:ext>
            </a:extLst>
          </p:cNvPr>
          <p:cNvSpPr>
            <a:spLocks noGrp="1" noChangeArrowheads="1"/>
          </p:cNvSpPr>
          <p:nvPr>
            <p:ph type="sldNum" sz="quarter" idx="12"/>
          </p:nvPr>
        </p:nvSpPr>
        <p:spPr>
          <a:ln/>
        </p:spPr>
        <p:txBody>
          <a:bodyPr/>
          <a:lstStyle>
            <a:lvl1pPr>
              <a:defRPr/>
            </a:lvl1pPr>
          </a:lstStyle>
          <a:p>
            <a:pPr>
              <a:defRPr/>
            </a:pPr>
            <a:fld id="{1F62B51D-0344-48B8-AFD2-FA4B6F1A6BBF}" type="slidenum">
              <a:rPr lang="en-US" altLang="en-US"/>
              <a:pPr>
                <a:defRPr/>
              </a:pPr>
              <a:t>‹#›</a:t>
            </a:fld>
            <a:endParaRPr lang="en-US" altLang="en-US"/>
          </a:p>
        </p:txBody>
      </p:sp>
    </p:spTree>
    <p:extLst>
      <p:ext uri="{BB962C8B-B14F-4D97-AF65-F5344CB8AC3E}">
        <p14:creationId xmlns:p14="http://schemas.microsoft.com/office/powerpoint/2010/main" val="1033357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C2FA9AF-7AAA-C774-6460-A6EEB48C9E9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724EAFB2-AFDE-61A6-1BA9-0180772AA535}"/>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7" name="Rectangle 6">
            <a:extLst>
              <a:ext uri="{FF2B5EF4-FFF2-40B4-BE49-F238E27FC236}">
                <a16:creationId xmlns:a16="http://schemas.microsoft.com/office/drawing/2014/main" id="{86809C5F-85ED-DAB0-BFC5-31C58461E5E3}"/>
              </a:ext>
            </a:extLst>
          </p:cNvPr>
          <p:cNvSpPr>
            <a:spLocks noGrp="1" noChangeArrowheads="1"/>
          </p:cNvSpPr>
          <p:nvPr>
            <p:ph type="sldNum" sz="quarter" idx="12"/>
          </p:nvPr>
        </p:nvSpPr>
        <p:spPr>
          <a:ln/>
        </p:spPr>
        <p:txBody>
          <a:bodyPr/>
          <a:lstStyle>
            <a:lvl1pPr>
              <a:defRPr/>
            </a:lvl1pPr>
          </a:lstStyle>
          <a:p>
            <a:pPr>
              <a:defRPr/>
            </a:pPr>
            <a:fld id="{26CB459B-820A-4F25-A2AC-6EF642694152}" type="slidenum">
              <a:rPr lang="en-US" altLang="en-US"/>
              <a:pPr>
                <a:defRPr/>
              </a:pPr>
              <a:t>‹#›</a:t>
            </a:fld>
            <a:endParaRPr lang="en-US" altLang="en-US"/>
          </a:p>
        </p:txBody>
      </p:sp>
    </p:spTree>
    <p:extLst>
      <p:ext uri="{BB962C8B-B14F-4D97-AF65-F5344CB8AC3E}">
        <p14:creationId xmlns:p14="http://schemas.microsoft.com/office/powerpoint/2010/main" val="2231348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4791811-2EBE-50D3-1672-74641C11335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6A33B84-C96D-78A9-8005-47C940699AE8}"/>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6" name="Rectangle 6">
            <a:extLst>
              <a:ext uri="{FF2B5EF4-FFF2-40B4-BE49-F238E27FC236}">
                <a16:creationId xmlns:a16="http://schemas.microsoft.com/office/drawing/2014/main" id="{EFDF619C-A2B5-4E32-2833-04186002612E}"/>
              </a:ext>
            </a:extLst>
          </p:cNvPr>
          <p:cNvSpPr>
            <a:spLocks noGrp="1" noChangeArrowheads="1"/>
          </p:cNvSpPr>
          <p:nvPr>
            <p:ph type="sldNum" sz="quarter" idx="12"/>
          </p:nvPr>
        </p:nvSpPr>
        <p:spPr>
          <a:ln/>
        </p:spPr>
        <p:txBody>
          <a:bodyPr/>
          <a:lstStyle>
            <a:lvl1pPr>
              <a:defRPr/>
            </a:lvl1pPr>
          </a:lstStyle>
          <a:p>
            <a:pPr>
              <a:defRPr/>
            </a:pPr>
            <a:fld id="{3F065232-251C-42D2-95F2-FBEC503C9561}" type="slidenum">
              <a:rPr lang="en-US" altLang="en-US"/>
              <a:pPr>
                <a:defRPr/>
              </a:pPr>
              <a:t>‹#›</a:t>
            </a:fld>
            <a:endParaRPr lang="en-US" altLang="en-US"/>
          </a:p>
        </p:txBody>
      </p:sp>
    </p:spTree>
    <p:extLst>
      <p:ext uri="{BB962C8B-B14F-4D97-AF65-F5344CB8AC3E}">
        <p14:creationId xmlns:p14="http://schemas.microsoft.com/office/powerpoint/2010/main" val="3183100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895CAC9-0474-7D54-6079-80F26BBECDA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F7288EB2-42D3-CD5A-67C0-1591605E1E22}"/>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6" name="Rectangle 6">
            <a:extLst>
              <a:ext uri="{FF2B5EF4-FFF2-40B4-BE49-F238E27FC236}">
                <a16:creationId xmlns:a16="http://schemas.microsoft.com/office/drawing/2014/main" id="{291FE64C-976A-0C67-D06F-23028304008D}"/>
              </a:ext>
            </a:extLst>
          </p:cNvPr>
          <p:cNvSpPr>
            <a:spLocks noGrp="1" noChangeArrowheads="1"/>
          </p:cNvSpPr>
          <p:nvPr>
            <p:ph type="sldNum" sz="quarter" idx="12"/>
          </p:nvPr>
        </p:nvSpPr>
        <p:spPr>
          <a:ln/>
        </p:spPr>
        <p:txBody>
          <a:bodyPr/>
          <a:lstStyle>
            <a:lvl1pPr>
              <a:defRPr/>
            </a:lvl1pPr>
          </a:lstStyle>
          <a:p>
            <a:pPr>
              <a:defRPr/>
            </a:pPr>
            <a:fld id="{343346AD-F7EF-46C5-BCAC-0FCD27630EAB}" type="slidenum">
              <a:rPr lang="en-US" altLang="en-US"/>
              <a:pPr>
                <a:defRPr/>
              </a:pPr>
              <a:t>‹#›</a:t>
            </a:fld>
            <a:endParaRPr lang="en-US" altLang="en-US"/>
          </a:p>
        </p:txBody>
      </p:sp>
    </p:spTree>
    <p:extLst>
      <p:ext uri="{BB962C8B-B14F-4D97-AF65-F5344CB8AC3E}">
        <p14:creationId xmlns:p14="http://schemas.microsoft.com/office/powerpoint/2010/main" val="3368955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a:p>
        </p:txBody>
      </p:sp>
      <p:sp>
        <p:nvSpPr>
          <p:cNvPr id="4" name="Rectangle 4">
            <a:extLst>
              <a:ext uri="{FF2B5EF4-FFF2-40B4-BE49-F238E27FC236}">
                <a16:creationId xmlns:a16="http://schemas.microsoft.com/office/drawing/2014/main" id="{710D1C32-C2CE-C2A0-3E26-E0598C3A254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4E7F52F-BF58-4BFF-3B9A-9C3810DB4FB8}"/>
              </a:ext>
            </a:extLst>
          </p:cNvPr>
          <p:cNvSpPr>
            <a:spLocks noGrp="1" noChangeArrowheads="1"/>
          </p:cNvSpPr>
          <p:nvPr>
            <p:ph type="ftr" sz="quarter" idx="11"/>
          </p:nvPr>
        </p:nvSpPr>
        <p:spPr>
          <a:ln/>
        </p:spPr>
        <p:txBody>
          <a:bodyPr/>
          <a:lstStyle>
            <a:lvl1pPr>
              <a:defRPr/>
            </a:lvl1pPr>
          </a:lstStyle>
          <a:p>
            <a:pPr>
              <a:defRPr/>
            </a:pPr>
            <a:r>
              <a:rPr lang="en-US" altLang="en-US"/>
              <a:t>© Copyright 2026.  Peter M. Shane All rights reserved. </a:t>
            </a:r>
          </a:p>
        </p:txBody>
      </p:sp>
      <p:sp>
        <p:nvSpPr>
          <p:cNvPr id="6" name="Rectangle 6">
            <a:extLst>
              <a:ext uri="{FF2B5EF4-FFF2-40B4-BE49-F238E27FC236}">
                <a16:creationId xmlns:a16="http://schemas.microsoft.com/office/drawing/2014/main" id="{093E93B9-4309-B7B5-DCAB-BF8284EB70A4}"/>
              </a:ext>
            </a:extLst>
          </p:cNvPr>
          <p:cNvSpPr>
            <a:spLocks noGrp="1" noChangeArrowheads="1"/>
          </p:cNvSpPr>
          <p:nvPr>
            <p:ph type="sldNum" sz="quarter" idx="12"/>
          </p:nvPr>
        </p:nvSpPr>
        <p:spPr>
          <a:ln/>
        </p:spPr>
        <p:txBody>
          <a:bodyPr/>
          <a:lstStyle>
            <a:lvl1pPr>
              <a:defRPr/>
            </a:lvl1pPr>
          </a:lstStyle>
          <a:p>
            <a:pPr>
              <a:defRPr/>
            </a:pPr>
            <a:fld id="{C90511C5-9061-41CA-9A6F-D86AA5243E84}" type="slidenum">
              <a:rPr lang="en-US" altLang="en-US"/>
              <a:pPr>
                <a:defRPr/>
              </a:pPr>
              <a:t>‹#›</a:t>
            </a:fld>
            <a:endParaRPr lang="en-US" altLang="en-US"/>
          </a:p>
        </p:txBody>
      </p:sp>
    </p:spTree>
    <p:extLst>
      <p:ext uri="{BB962C8B-B14F-4D97-AF65-F5344CB8AC3E}">
        <p14:creationId xmlns:p14="http://schemas.microsoft.com/office/powerpoint/2010/main" val="1579785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EF76FE6-A40E-7B3D-4F80-901288D99610}"/>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22C2E9CB-5550-B197-A9FC-7D7BF996BC60}"/>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7B764A0D-53E5-8EEB-11E8-58EDD736475B}"/>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ltLang="en-US"/>
          </a:p>
        </p:txBody>
      </p:sp>
      <p:sp>
        <p:nvSpPr>
          <p:cNvPr id="1029" name="Rectangle 5">
            <a:extLst>
              <a:ext uri="{FF2B5EF4-FFF2-40B4-BE49-F238E27FC236}">
                <a16:creationId xmlns:a16="http://schemas.microsoft.com/office/drawing/2014/main" id="{F330CAC6-F9A4-42D9-D71F-A54DD27FC694}"/>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r>
              <a:rPr lang="en-US" altLang="en-US"/>
              <a:t>© Copyright 2026.  Peter M. Shane All rights reserved. </a:t>
            </a:r>
          </a:p>
        </p:txBody>
      </p:sp>
      <p:sp>
        <p:nvSpPr>
          <p:cNvPr id="1030" name="Rectangle 6">
            <a:extLst>
              <a:ext uri="{FF2B5EF4-FFF2-40B4-BE49-F238E27FC236}">
                <a16:creationId xmlns:a16="http://schemas.microsoft.com/office/drawing/2014/main" id="{A2AC0270-A508-9A42-F422-91070209D826}"/>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2EB583F5-0AB6-48EB-AFAF-2FD6255E212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balkin.blogspot.com/" TargetMode="External"/><Relationship Id="rId3" Type="http://schemas.openxmlformats.org/officeDocument/2006/relationships/hyperlink" Target="https://www.yalejreg.com/nc/" TargetMode="External"/><Relationship Id="rId7" Type="http://schemas.openxmlformats.org/officeDocument/2006/relationships/hyperlink" Target="https://washingtonmonthly.com/" TargetMode="External"/><Relationship Id="rId2" Type="http://schemas.openxmlformats.org/officeDocument/2006/relationships/hyperlink" Target="https://www.theregreview.org/" TargetMode="External"/><Relationship Id="rId1" Type="http://schemas.openxmlformats.org/officeDocument/2006/relationships/slideLayout" Target="../slideLayouts/slideLayout2.xml"/><Relationship Id="rId6" Type="http://schemas.openxmlformats.org/officeDocument/2006/relationships/hyperlink" Target="https://www.justsecurity.org/" TargetMode="External"/><Relationship Id="rId5" Type="http://schemas.openxmlformats.org/officeDocument/2006/relationships/hyperlink" Target="https://www.lawfaremedia.org/" TargetMode="External"/><Relationship Id="rId10" Type="http://schemas.openxmlformats.org/officeDocument/2006/relationships/hyperlink" Target="https://www.stevevladeck.com/" TargetMode="External"/><Relationship Id="rId4" Type="http://schemas.openxmlformats.org/officeDocument/2006/relationships/hyperlink" Target="https://executivefunctions.substack.com/" TargetMode="External"/><Relationship Id="rId9" Type="http://schemas.openxmlformats.org/officeDocument/2006/relationships/hyperlink" Target="https://reason.com/volokh/"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036C9-7363-40C4-A170-1990CDD0130B}"/>
              </a:ext>
            </a:extLst>
          </p:cNvPr>
          <p:cNvSpPr>
            <a:spLocks noGrp="1"/>
          </p:cNvSpPr>
          <p:nvPr>
            <p:ph type="title"/>
          </p:nvPr>
        </p:nvSpPr>
        <p:spPr/>
        <p:txBody>
          <a:bodyPr/>
          <a:lstStyle/>
          <a:p>
            <a:r>
              <a:rPr lang="en-US" dirty="0"/>
              <a:t>Recap of Class 8</a:t>
            </a:r>
          </a:p>
        </p:txBody>
      </p:sp>
      <p:sp>
        <p:nvSpPr>
          <p:cNvPr id="3" name="Content Placeholder 2">
            <a:extLst>
              <a:ext uri="{FF2B5EF4-FFF2-40B4-BE49-F238E27FC236}">
                <a16:creationId xmlns:a16="http://schemas.microsoft.com/office/drawing/2014/main" id="{5979233F-0D51-2E04-D5AB-FBCA10869292}"/>
              </a:ext>
            </a:extLst>
          </p:cNvPr>
          <p:cNvSpPr>
            <a:spLocks noGrp="1"/>
          </p:cNvSpPr>
          <p:nvPr>
            <p:ph idx="1"/>
          </p:nvPr>
        </p:nvSpPr>
        <p:spPr/>
        <p:txBody>
          <a:bodyPr/>
          <a:lstStyle/>
          <a:p>
            <a:r>
              <a:rPr lang="en-US" dirty="0"/>
              <a:t>Despite discomfort of what may be a majority of current Justices, the “intelligible principle” requirement is still the only current judicially “enforced” limit on congressional delegation power</a:t>
            </a:r>
          </a:p>
          <a:p>
            <a:r>
              <a:rPr lang="en-US" dirty="0"/>
              <a:t>Lower court attempts to create a “non-arbitrariness” version of NDD rejected by SCOTUS</a:t>
            </a:r>
          </a:p>
          <a:p>
            <a:endParaRPr lang="en-US" dirty="0"/>
          </a:p>
        </p:txBody>
      </p:sp>
      <p:sp>
        <p:nvSpPr>
          <p:cNvPr id="4" name="Footer Placeholder 3">
            <a:extLst>
              <a:ext uri="{FF2B5EF4-FFF2-40B4-BE49-F238E27FC236}">
                <a16:creationId xmlns:a16="http://schemas.microsoft.com/office/drawing/2014/main" id="{DE2C7C9E-7887-CBC8-E7D6-CB3662264CB2}"/>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B0097A09-7BEE-8385-30C9-6A644C1A94A9}"/>
              </a:ext>
            </a:extLst>
          </p:cNvPr>
          <p:cNvSpPr>
            <a:spLocks noGrp="1"/>
          </p:cNvSpPr>
          <p:nvPr>
            <p:ph type="sldNum" sz="quarter" idx="12"/>
          </p:nvPr>
        </p:nvSpPr>
        <p:spPr/>
        <p:txBody>
          <a:bodyPr/>
          <a:lstStyle/>
          <a:p>
            <a:pPr>
              <a:defRPr/>
            </a:pPr>
            <a:fld id="{1B61F791-5E91-481A-9C45-1F0075BBB47C}" type="slidenum">
              <a:rPr lang="en-US" altLang="en-US" smtClean="0"/>
              <a:pPr>
                <a:defRPr/>
              </a:pPr>
              <a:t>1</a:t>
            </a:fld>
            <a:endParaRPr lang="en-US" altLang="en-US"/>
          </a:p>
        </p:txBody>
      </p:sp>
    </p:spTree>
    <p:extLst>
      <p:ext uri="{BB962C8B-B14F-4D97-AF65-F5344CB8AC3E}">
        <p14:creationId xmlns:p14="http://schemas.microsoft.com/office/powerpoint/2010/main" val="2302445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What Do You Want from a Nondelegation Doctrine?</a:t>
            </a:r>
          </a:p>
        </p:txBody>
      </p:sp>
      <p:graphicFrame>
        <p:nvGraphicFramePr>
          <p:cNvPr id="5" name="Table Placeholder 4"/>
          <p:cNvGraphicFramePr>
            <a:graphicFrameLocks noGrp="1"/>
          </p:cNvGraphicFramePr>
          <p:nvPr>
            <p:ph type="tbl" idx="1"/>
            <p:extLst>
              <p:ext uri="{D42A27DB-BD31-4B8C-83A1-F6EECF244321}">
                <p14:modId xmlns:p14="http://schemas.microsoft.com/office/powerpoint/2010/main" val="574749039"/>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t>© Copyright 2026.  Peter M. Shane All rights reserved. </a:t>
            </a:r>
            <a:endParaRPr lang="en-US" dirty="0"/>
          </a:p>
        </p:txBody>
      </p:sp>
      <p:sp>
        <p:nvSpPr>
          <p:cNvPr id="3" name="Slide Number Placeholder 2">
            <a:extLst>
              <a:ext uri="{FF2B5EF4-FFF2-40B4-BE49-F238E27FC236}">
                <a16:creationId xmlns:a16="http://schemas.microsoft.com/office/drawing/2014/main" id="{70FDD4FE-A6E6-323D-531D-57E1A0BA3315}"/>
              </a:ext>
            </a:extLst>
          </p:cNvPr>
          <p:cNvSpPr>
            <a:spLocks noGrp="1"/>
          </p:cNvSpPr>
          <p:nvPr>
            <p:ph type="sldNum" sz="quarter" idx="12"/>
          </p:nvPr>
        </p:nvSpPr>
        <p:spPr/>
        <p:txBody>
          <a:bodyPr/>
          <a:lstStyle/>
          <a:p>
            <a:fld id="{4E3CD157-9D04-4761-A815-F11068D8F141}" type="slidenum">
              <a:rPr lang="en-US" smtClean="0"/>
              <a:pPr/>
              <a:t>2</a:t>
            </a:fld>
            <a:endParaRPr lang="en-US"/>
          </a:p>
        </p:txBody>
      </p:sp>
    </p:spTree>
    <p:extLst>
      <p:ext uri="{BB962C8B-B14F-4D97-AF65-F5344CB8AC3E}">
        <p14:creationId xmlns:p14="http://schemas.microsoft.com/office/powerpoint/2010/main" val="1064757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4CB55-DDF5-5C71-3B61-53181B1E8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7F1C94-A22F-A41C-3E31-ACB0325405FF}"/>
              </a:ext>
            </a:extLst>
          </p:cNvPr>
          <p:cNvSpPr>
            <a:spLocks noGrp="1"/>
          </p:cNvSpPr>
          <p:nvPr>
            <p:ph type="title"/>
          </p:nvPr>
        </p:nvSpPr>
        <p:spPr/>
        <p:txBody>
          <a:bodyPr/>
          <a:lstStyle/>
          <a:p>
            <a:r>
              <a:rPr lang="en-US" dirty="0"/>
              <a:t>Congress and Control</a:t>
            </a:r>
          </a:p>
        </p:txBody>
      </p:sp>
      <p:sp>
        <p:nvSpPr>
          <p:cNvPr id="3" name="Content Placeholder 2">
            <a:extLst>
              <a:ext uri="{FF2B5EF4-FFF2-40B4-BE49-F238E27FC236}">
                <a16:creationId xmlns:a16="http://schemas.microsoft.com/office/drawing/2014/main" id="{9816B224-08D0-F8D9-0AAF-2ADF5CDA2F18}"/>
              </a:ext>
            </a:extLst>
          </p:cNvPr>
          <p:cNvSpPr>
            <a:spLocks noGrp="1"/>
          </p:cNvSpPr>
          <p:nvPr>
            <p:ph idx="1"/>
          </p:nvPr>
        </p:nvSpPr>
        <p:spPr/>
        <p:txBody>
          <a:bodyPr/>
          <a:lstStyle/>
          <a:p>
            <a:r>
              <a:rPr lang="en-US" sz="2800" dirty="0"/>
              <a:t>Reality: Congress does not lose interest in administration once law is passed, but struggles for control</a:t>
            </a:r>
          </a:p>
          <a:p>
            <a:r>
              <a:rPr lang="en-US" sz="2800" dirty="0"/>
              <a:t>Oversight, appropriations, confirmation hearings all offer opportunities, but only occasional</a:t>
            </a:r>
          </a:p>
          <a:p>
            <a:r>
              <a:rPr lang="en-US" sz="2800" dirty="0"/>
              <a:t>Legislative veto was designed to bolster Congress’s influence; struck down in </a:t>
            </a:r>
            <a:r>
              <a:rPr lang="en-US" sz="2800" i="1" dirty="0"/>
              <a:t>Chadha</a:t>
            </a:r>
          </a:p>
          <a:p>
            <a:r>
              <a:rPr lang="en-US" sz="2800" dirty="0"/>
              <a:t>Congress has enacted other statutes (CRA, ICA, </a:t>
            </a:r>
            <a:r>
              <a:rPr lang="en-US" sz="2800" dirty="0" err="1"/>
              <a:t>Antideficiency</a:t>
            </a:r>
            <a:r>
              <a:rPr lang="en-US" sz="2800" dirty="0"/>
              <a:t> Act) to sustain its role—efficacy open to debate</a:t>
            </a:r>
            <a:endParaRPr lang="en-US" dirty="0"/>
          </a:p>
        </p:txBody>
      </p:sp>
      <p:sp>
        <p:nvSpPr>
          <p:cNvPr id="4" name="Footer Placeholder 3">
            <a:extLst>
              <a:ext uri="{FF2B5EF4-FFF2-40B4-BE49-F238E27FC236}">
                <a16:creationId xmlns:a16="http://schemas.microsoft.com/office/drawing/2014/main" id="{49E017CD-7C15-C9A3-3663-CE63C79B8A13}"/>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B5B79C88-F6AE-DECF-44D1-A742607871F4}"/>
              </a:ext>
            </a:extLst>
          </p:cNvPr>
          <p:cNvSpPr>
            <a:spLocks noGrp="1"/>
          </p:cNvSpPr>
          <p:nvPr>
            <p:ph type="sldNum" sz="quarter" idx="12"/>
          </p:nvPr>
        </p:nvSpPr>
        <p:spPr/>
        <p:txBody>
          <a:bodyPr/>
          <a:lstStyle/>
          <a:p>
            <a:pPr>
              <a:defRPr/>
            </a:pPr>
            <a:fld id="{1B61F791-5E91-481A-9C45-1F0075BBB47C}" type="slidenum">
              <a:rPr lang="en-US" altLang="en-US" smtClean="0"/>
              <a:pPr>
                <a:defRPr/>
              </a:pPr>
              <a:t>3</a:t>
            </a:fld>
            <a:endParaRPr lang="en-US" altLang="en-US"/>
          </a:p>
        </p:txBody>
      </p:sp>
    </p:spTree>
    <p:extLst>
      <p:ext uri="{BB962C8B-B14F-4D97-AF65-F5344CB8AC3E}">
        <p14:creationId xmlns:p14="http://schemas.microsoft.com/office/powerpoint/2010/main" val="1978952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7170" name="Rectangle 2"/>
          <p:cNvSpPr>
            <a:spLocks noGrp="1" noChangeArrowheads="1"/>
          </p:cNvSpPr>
          <p:nvPr>
            <p:ph type="title"/>
          </p:nvPr>
        </p:nvSpPr>
        <p:spPr/>
        <p:txBody>
          <a:bodyPr/>
          <a:lstStyle/>
          <a:p>
            <a:r>
              <a:rPr lang="en-US" sz="4000" dirty="0"/>
              <a:t>Possible Residual Impacts of Nondelegation Doctrine</a:t>
            </a:r>
          </a:p>
        </p:txBody>
      </p:sp>
      <p:sp>
        <p:nvSpPr>
          <p:cNvPr id="7171" name="Rectangle 3"/>
          <p:cNvSpPr>
            <a:spLocks noGrp="1" noChangeArrowheads="1"/>
          </p:cNvSpPr>
          <p:nvPr>
            <p:ph type="body" idx="1"/>
          </p:nvPr>
        </p:nvSpPr>
        <p:spPr/>
        <p:txBody>
          <a:bodyPr/>
          <a:lstStyle/>
          <a:p>
            <a:r>
              <a:rPr lang="en-US" dirty="0"/>
              <a:t>Sometimes used as a backup argument in a case about statutory construction</a:t>
            </a:r>
          </a:p>
          <a:p>
            <a:pPr lvl="1"/>
            <a:r>
              <a:rPr lang="en-US" dirty="0"/>
              <a:t>Where statutes are susceptible to multiple interpretations, but one interpretation would make the statute constitutionally suspect, then the court should prefer the other interpretation</a:t>
            </a:r>
          </a:p>
          <a:p>
            <a:r>
              <a:rPr lang="en-US" dirty="0"/>
              <a:t>I am certain that some functions are </a:t>
            </a:r>
            <a:r>
              <a:rPr lang="en-US" dirty="0" err="1"/>
              <a:t>nondelegable</a:t>
            </a:r>
            <a:r>
              <a:rPr lang="en-US" dirty="0"/>
              <a:t>, e.g., U.S. Impeachment Agency</a:t>
            </a:r>
          </a:p>
        </p:txBody>
      </p:sp>
      <p:sp>
        <p:nvSpPr>
          <p:cNvPr id="2" name="Slide Number Placeholder 1">
            <a:extLst>
              <a:ext uri="{FF2B5EF4-FFF2-40B4-BE49-F238E27FC236}">
                <a16:creationId xmlns:a16="http://schemas.microsoft.com/office/drawing/2014/main" id="{6896187A-6312-9680-F731-CC060525CF4D}"/>
              </a:ext>
            </a:extLst>
          </p:cNvPr>
          <p:cNvSpPr>
            <a:spLocks noGrp="1"/>
          </p:cNvSpPr>
          <p:nvPr>
            <p:ph type="sldNum" sz="quarter" idx="12"/>
          </p:nvPr>
        </p:nvSpPr>
        <p:spPr/>
        <p:txBody>
          <a:bodyPr/>
          <a:lstStyle/>
          <a:p>
            <a:fld id="{43E3236E-8354-4469-A39B-052E70412384}" type="slidenum">
              <a:rPr lang="en-US" smtClean="0"/>
              <a:pPr/>
              <a:t>4</a:t>
            </a:fld>
            <a:endParaRPr lang="en-US"/>
          </a:p>
        </p:txBody>
      </p:sp>
    </p:spTree>
    <p:extLst>
      <p:ext uri="{BB962C8B-B14F-4D97-AF65-F5344CB8AC3E}">
        <p14:creationId xmlns:p14="http://schemas.microsoft.com/office/powerpoint/2010/main" val="3556377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Problems of Over-Specific Statutes?</a:t>
            </a:r>
          </a:p>
        </p:txBody>
      </p:sp>
      <p:sp>
        <p:nvSpPr>
          <p:cNvPr id="3" name="Content Placeholder 2"/>
          <p:cNvSpPr>
            <a:spLocks noGrp="1"/>
          </p:cNvSpPr>
          <p:nvPr>
            <p:ph idx="1"/>
          </p:nvPr>
        </p:nvSpPr>
        <p:spPr/>
        <p:txBody>
          <a:bodyPr/>
          <a:lstStyle/>
          <a:p>
            <a:r>
              <a:rPr lang="en-US" dirty="0"/>
              <a:t>Too little flexibility</a:t>
            </a:r>
          </a:p>
          <a:p>
            <a:pPr lvl="1"/>
            <a:r>
              <a:rPr lang="en-US" dirty="0"/>
              <a:t>Statutory rule may capture cases not aligned with Congress’s purposes</a:t>
            </a:r>
          </a:p>
          <a:p>
            <a:pPr lvl="1"/>
            <a:r>
              <a:rPr lang="en-US" dirty="0"/>
              <a:t>Rule may become less attractive as policy thinking changes, but revising the rule in light of new knowledge may be politically difficult</a:t>
            </a:r>
          </a:p>
          <a:p>
            <a:r>
              <a:rPr lang="en-US" dirty="0"/>
              <a:t>Courts have few tools to police statutes on grounds of either breadth </a:t>
            </a:r>
            <a:r>
              <a:rPr lang="en-US"/>
              <a:t>or narrowness</a:t>
            </a:r>
          </a:p>
        </p:txBody>
      </p:sp>
      <p:sp>
        <p:nvSpPr>
          <p:cNvPr id="4" name="Footer Placeholder 3"/>
          <p:cNvSpPr>
            <a:spLocks noGrp="1"/>
          </p:cNvSpPr>
          <p:nvPr>
            <p:ph type="ftr" sz="quarter" idx="11"/>
          </p:nvPr>
        </p:nvSpPr>
        <p:spPr/>
        <p:txBody>
          <a:bodyPr/>
          <a:lstStyle/>
          <a:p>
            <a:r>
              <a:rPr lang="en-US"/>
              <a:t>© Copyright 2026.  Peter M. Shane All rights reserved. </a:t>
            </a:r>
            <a:endParaRPr lang="en-US" dirty="0"/>
          </a:p>
        </p:txBody>
      </p:sp>
      <p:sp>
        <p:nvSpPr>
          <p:cNvPr id="5" name="Slide Number Placeholder 4">
            <a:extLst>
              <a:ext uri="{FF2B5EF4-FFF2-40B4-BE49-F238E27FC236}">
                <a16:creationId xmlns:a16="http://schemas.microsoft.com/office/drawing/2014/main" id="{107374D8-D0D8-32DA-CB92-215E5FBF78DA}"/>
              </a:ext>
            </a:extLst>
          </p:cNvPr>
          <p:cNvSpPr>
            <a:spLocks noGrp="1"/>
          </p:cNvSpPr>
          <p:nvPr>
            <p:ph type="sldNum" sz="quarter" idx="12"/>
          </p:nvPr>
        </p:nvSpPr>
        <p:spPr/>
        <p:txBody>
          <a:bodyPr/>
          <a:lstStyle/>
          <a:p>
            <a:fld id="{43E3236E-8354-4469-A39B-052E70412384}" type="slidenum">
              <a:rPr lang="en-US" smtClean="0"/>
              <a:pPr/>
              <a:t>5</a:t>
            </a:fld>
            <a:endParaRPr lang="en-US"/>
          </a:p>
        </p:txBody>
      </p:sp>
    </p:spTree>
    <p:extLst>
      <p:ext uri="{BB962C8B-B14F-4D97-AF65-F5344CB8AC3E}">
        <p14:creationId xmlns:p14="http://schemas.microsoft.com/office/powerpoint/2010/main" val="3521190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4098" name="Rectangle 2"/>
          <p:cNvSpPr>
            <a:spLocks noGrp="1" noChangeArrowheads="1"/>
          </p:cNvSpPr>
          <p:nvPr>
            <p:ph type="title"/>
          </p:nvPr>
        </p:nvSpPr>
        <p:spPr/>
        <p:txBody>
          <a:bodyPr/>
          <a:lstStyle/>
          <a:p>
            <a:r>
              <a:rPr lang="en-US"/>
              <a:t>The </a:t>
            </a:r>
            <a:r>
              <a:rPr lang="en-US" i="1"/>
              <a:t>Murry</a:t>
            </a:r>
            <a:r>
              <a:rPr lang="en-US"/>
              <a:t> Conundrum</a:t>
            </a:r>
          </a:p>
        </p:txBody>
      </p:sp>
      <p:sp>
        <p:nvSpPr>
          <p:cNvPr id="4099" name="Rectangle 3"/>
          <p:cNvSpPr>
            <a:spLocks noGrp="1" noChangeArrowheads="1"/>
          </p:cNvSpPr>
          <p:nvPr>
            <p:ph type="body" idx="1"/>
          </p:nvPr>
        </p:nvSpPr>
        <p:spPr/>
        <p:txBody>
          <a:bodyPr/>
          <a:lstStyle/>
          <a:p>
            <a:pPr>
              <a:lnSpc>
                <a:spcPct val="90000"/>
              </a:lnSpc>
            </a:pPr>
            <a:r>
              <a:rPr lang="en-US" sz="2400"/>
              <a:t>Household disqualified from food stamps if it contained as a member an individual 18 years or older claimed as a tax dependent in a different household</a:t>
            </a:r>
          </a:p>
          <a:p>
            <a:pPr lvl="1">
              <a:lnSpc>
                <a:spcPct val="90000"/>
              </a:lnSpc>
            </a:pPr>
            <a:r>
              <a:rPr lang="en-US" sz="2000"/>
              <a:t>Problem = middle and upperclass college students getting food stamps</a:t>
            </a:r>
          </a:p>
          <a:p>
            <a:pPr>
              <a:lnSpc>
                <a:spcPct val="90000"/>
              </a:lnSpc>
            </a:pPr>
            <a:r>
              <a:rPr lang="en-US" sz="2400"/>
              <a:t>Why not:  “The Secretary of Agriculture may/shall, by regulation, limit the availability of food stamps to persons 18 years or older claimed as tax dependents in the households in which they do not currently reside, if the Secretary determines that resources otherwise available to such persons would actually be adequate to provide for their sustenance.”</a:t>
            </a:r>
          </a:p>
        </p:txBody>
      </p:sp>
      <p:sp>
        <p:nvSpPr>
          <p:cNvPr id="2" name="Slide Number Placeholder 1">
            <a:extLst>
              <a:ext uri="{FF2B5EF4-FFF2-40B4-BE49-F238E27FC236}">
                <a16:creationId xmlns:a16="http://schemas.microsoft.com/office/drawing/2014/main" id="{01B1CDA4-E2B6-A0A6-E98E-00806085BA17}"/>
              </a:ext>
            </a:extLst>
          </p:cNvPr>
          <p:cNvSpPr>
            <a:spLocks noGrp="1"/>
          </p:cNvSpPr>
          <p:nvPr>
            <p:ph type="sldNum" sz="quarter" idx="12"/>
          </p:nvPr>
        </p:nvSpPr>
        <p:spPr/>
        <p:txBody>
          <a:bodyPr/>
          <a:lstStyle/>
          <a:p>
            <a:fld id="{43E3236E-8354-4469-A39B-052E70412384}" type="slidenum">
              <a:rPr lang="en-US" smtClean="0"/>
              <a:pPr/>
              <a:t>6</a:t>
            </a:fld>
            <a:endParaRPr lang="en-US"/>
          </a:p>
        </p:txBody>
      </p:sp>
    </p:spTree>
    <p:extLst>
      <p:ext uri="{BB962C8B-B14F-4D97-AF65-F5344CB8AC3E}">
        <p14:creationId xmlns:p14="http://schemas.microsoft.com/office/powerpoint/2010/main" val="13825567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 calcmode="lin" valueType="num">
                                      <p:cBhvr additive="base">
                                        <p:cTn id="7" dur="500" fill="hold"/>
                                        <p:tgtEl>
                                          <p:spTgt spid="40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0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4099">
                                            <p:txEl>
                                              <p:pRg st="1" end="1"/>
                                            </p:txEl>
                                          </p:spTgt>
                                        </p:tgtEl>
                                        <p:attrNameLst>
                                          <p:attrName>style.visibility</p:attrName>
                                        </p:attrNameLst>
                                      </p:cBhvr>
                                      <p:to>
                                        <p:strVal val="visible"/>
                                      </p:to>
                                    </p:set>
                                    <p:anim calcmode="lin" valueType="num">
                                      <p:cBhvr additive="base">
                                        <p:cTn id="13" dur="500" fill="hold"/>
                                        <p:tgtEl>
                                          <p:spTgt spid="40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0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99">
                                            <p:txEl>
                                              <p:pRg st="2" end="2"/>
                                            </p:txEl>
                                          </p:spTgt>
                                        </p:tgtEl>
                                        <p:attrNameLst>
                                          <p:attrName>style.visibility</p:attrName>
                                        </p:attrNameLst>
                                      </p:cBhvr>
                                      <p:to>
                                        <p:strVal val="visible"/>
                                      </p:to>
                                    </p:set>
                                    <p:anim calcmode="lin" valueType="num">
                                      <p:cBhvr additive="base">
                                        <p:cTn id="19" dur="500" fill="hold"/>
                                        <p:tgtEl>
                                          <p:spTgt spid="40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099">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5122" name="Rectangle 2"/>
          <p:cNvSpPr>
            <a:spLocks noGrp="1" noChangeArrowheads="1"/>
          </p:cNvSpPr>
          <p:nvPr>
            <p:ph type="title"/>
          </p:nvPr>
        </p:nvSpPr>
        <p:spPr/>
        <p:txBody>
          <a:bodyPr/>
          <a:lstStyle/>
          <a:p>
            <a:r>
              <a:rPr lang="en-US"/>
              <a:t>Irrebuttable Presumptions</a:t>
            </a:r>
          </a:p>
        </p:txBody>
      </p:sp>
      <p:sp>
        <p:nvSpPr>
          <p:cNvPr id="5123" name="Rectangle 3"/>
          <p:cNvSpPr>
            <a:spLocks noGrp="1" noChangeArrowheads="1"/>
          </p:cNvSpPr>
          <p:nvPr>
            <p:ph type="body" idx="1"/>
          </p:nvPr>
        </p:nvSpPr>
        <p:spPr/>
        <p:txBody>
          <a:bodyPr/>
          <a:lstStyle/>
          <a:p>
            <a:r>
              <a:rPr lang="en-US"/>
              <a:t>Congress had *presumed* that anyone falling into its particular statutory formula would be undeserving of food stamps given the availability of parental resources</a:t>
            </a:r>
          </a:p>
          <a:p>
            <a:r>
              <a:rPr lang="en-US"/>
              <a:t>Congress had not provided a process for people disqualified to show that this presumption was inaccurate in their case</a:t>
            </a:r>
          </a:p>
          <a:p>
            <a:r>
              <a:rPr lang="en-US"/>
              <a:t>Irrebuttable presumption was irrational</a:t>
            </a:r>
          </a:p>
        </p:txBody>
      </p:sp>
      <p:sp>
        <p:nvSpPr>
          <p:cNvPr id="2" name="Slide Number Placeholder 1">
            <a:extLst>
              <a:ext uri="{FF2B5EF4-FFF2-40B4-BE49-F238E27FC236}">
                <a16:creationId xmlns:a16="http://schemas.microsoft.com/office/drawing/2014/main" id="{CC875E70-8EBB-7C69-A2E0-7E770F586DB8}"/>
              </a:ext>
            </a:extLst>
          </p:cNvPr>
          <p:cNvSpPr>
            <a:spLocks noGrp="1"/>
          </p:cNvSpPr>
          <p:nvPr>
            <p:ph type="sldNum" sz="quarter" idx="12"/>
          </p:nvPr>
        </p:nvSpPr>
        <p:spPr/>
        <p:txBody>
          <a:bodyPr/>
          <a:lstStyle/>
          <a:p>
            <a:fld id="{43E3236E-8354-4469-A39B-052E70412384}" type="slidenum">
              <a:rPr lang="en-US" smtClean="0"/>
              <a:pPr/>
              <a:t>7</a:t>
            </a:fld>
            <a:endParaRPr lang="en-US"/>
          </a:p>
        </p:txBody>
      </p:sp>
    </p:spTree>
    <p:extLst>
      <p:ext uri="{BB962C8B-B14F-4D97-AF65-F5344CB8AC3E}">
        <p14:creationId xmlns:p14="http://schemas.microsoft.com/office/powerpoint/2010/main" val="929829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3124200" y="6248400"/>
            <a:ext cx="2895600" cy="476250"/>
          </a:xfrm>
        </p:spPr>
        <p:txBody>
          <a:bodyPr/>
          <a:lstStyle/>
          <a:p>
            <a:r>
              <a:rPr lang="en-US"/>
              <a:t>© Copyright 2026.  Peter M. Shane All rights reserved. </a:t>
            </a:r>
            <a:endParaRPr lang="en-US" dirty="0"/>
          </a:p>
        </p:txBody>
      </p:sp>
      <p:sp>
        <p:nvSpPr>
          <p:cNvPr id="6146" name="Rectangle 2"/>
          <p:cNvSpPr>
            <a:spLocks noGrp="1" noChangeArrowheads="1"/>
          </p:cNvSpPr>
          <p:nvPr>
            <p:ph type="title"/>
          </p:nvPr>
        </p:nvSpPr>
        <p:spPr/>
        <p:txBody>
          <a:bodyPr/>
          <a:lstStyle/>
          <a:p>
            <a:r>
              <a:rPr lang="en-US" sz="2400"/>
              <a:t>Irrebuttable Presumption Doctrine Threatened to Invalidate Any Statutory Category Ever Legislated</a:t>
            </a:r>
          </a:p>
        </p:txBody>
      </p:sp>
      <p:sp>
        <p:nvSpPr>
          <p:cNvPr id="6147" name="Rectangle 3"/>
          <p:cNvSpPr>
            <a:spLocks noGrp="1" noChangeArrowheads="1"/>
          </p:cNvSpPr>
          <p:nvPr>
            <p:ph type="body" idx="1"/>
          </p:nvPr>
        </p:nvSpPr>
        <p:spPr/>
        <p:txBody>
          <a:bodyPr/>
          <a:lstStyle/>
          <a:p>
            <a:r>
              <a:rPr lang="en-US" dirty="0"/>
              <a:t>Age requirements</a:t>
            </a:r>
          </a:p>
          <a:p>
            <a:pPr lvl="1"/>
            <a:r>
              <a:rPr lang="en-US" dirty="0"/>
              <a:t>No driving until 17/18</a:t>
            </a:r>
          </a:p>
          <a:p>
            <a:pPr lvl="2"/>
            <a:r>
              <a:rPr lang="en-US" dirty="0"/>
              <a:t>Presumption is that persons under 17/18 lack sufficient skill and maturity to drive safely</a:t>
            </a:r>
          </a:p>
          <a:p>
            <a:r>
              <a:rPr lang="en-US" dirty="0"/>
              <a:t>Tax rates – higher incomes treated to higher marginal tax rates</a:t>
            </a:r>
          </a:p>
          <a:p>
            <a:pPr lvl="2"/>
            <a:r>
              <a:rPr lang="en-US" dirty="0"/>
              <a:t>Presumption is that the marginal utility of income is greater for poor people than for rich people</a:t>
            </a:r>
          </a:p>
        </p:txBody>
      </p:sp>
      <p:sp>
        <p:nvSpPr>
          <p:cNvPr id="2" name="Slide Number Placeholder 1">
            <a:extLst>
              <a:ext uri="{FF2B5EF4-FFF2-40B4-BE49-F238E27FC236}">
                <a16:creationId xmlns:a16="http://schemas.microsoft.com/office/drawing/2014/main" id="{778A9150-C73F-8933-541A-23B6B83A59E6}"/>
              </a:ext>
            </a:extLst>
          </p:cNvPr>
          <p:cNvSpPr>
            <a:spLocks noGrp="1"/>
          </p:cNvSpPr>
          <p:nvPr>
            <p:ph type="sldNum" sz="quarter" idx="12"/>
          </p:nvPr>
        </p:nvSpPr>
        <p:spPr/>
        <p:txBody>
          <a:bodyPr/>
          <a:lstStyle/>
          <a:p>
            <a:fld id="{43E3236E-8354-4469-A39B-052E70412384}" type="slidenum">
              <a:rPr lang="en-US" smtClean="0"/>
              <a:pPr/>
              <a:t>8</a:t>
            </a:fld>
            <a:endParaRPr lang="en-US"/>
          </a:p>
        </p:txBody>
      </p:sp>
    </p:spTree>
    <p:extLst>
      <p:ext uri="{BB962C8B-B14F-4D97-AF65-F5344CB8AC3E}">
        <p14:creationId xmlns:p14="http://schemas.microsoft.com/office/powerpoint/2010/main" val="629878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7170" name="Rectangle 2"/>
          <p:cNvSpPr>
            <a:spLocks noGrp="1" noChangeArrowheads="1"/>
          </p:cNvSpPr>
          <p:nvPr>
            <p:ph type="title"/>
          </p:nvPr>
        </p:nvSpPr>
        <p:spPr/>
        <p:txBody>
          <a:bodyPr/>
          <a:lstStyle/>
          <a:p>
            <a:r>
              <a:rPr lang="en-US" sz="4000"/>
              <a:t>Irrebuttable Presumption Doctrine = Pro-Adjudication Doctrine?</a:t>
            </a:r>
          </a:p>
        </p:txBody>
      </p:sp>
      <p:sp>
        <p:nvSpPr>
          <p:cNvPr id="7171" name="Rectangle 3"/>
          <p:cNvSpPr>
            <a:spLocks noGrp="1" noChangeArrowheads="1"/>
          </p:cNvSpPr>
          <p:nvPr>
            <p:ph type="body" idx="1"/>
          </p:nvPr>
        </p:nvSpPr>
        <p:spPr/>
        <p:txBody>
          <a:bodyPr/>
          <a:lstStyle/>
          <a:p>
            <a:r>
              <a:rPr lang="en-US"/>
              <a:t>Ban on irrebuttable presumptions would mean that any statute that includes a legislative generalization would have to authorize some administrative process to adjudicate the possibility that applied to some individual cases the generalization is irrational</a:t>
            </a:r>
          </a:p>
        </p:txBody>
      </p:sp>
      <p:sp>
        <p:nvSpPr>
          <p:cNvPr id="2" name="Slide Number Placeholder 1">
            <a:extLst>
              <a:ext uri="{FF2B5EF4-FFF2-40B4-BE49-F238E27FC236}">
                <a16:creationId xmlns:a16="http://schemas.microsoft.com/office/drawing/2014/main" id="{CD54CDDE-C33C-33BF-C55E-5B207CC18EB8}"/>
              </a:ext>
            </a:extLst>
          </p:cNvPr>
          <p:cNvSpPr>
            <a:spLocks noGrp="1"/>
          </p:cNvSpPr>
          <p:nvPr>
            <p:ph type="sldNum" sz="quarter" idx="12"/>
          </p:nvPr>
        </p:nvSpPr>
        <p:spPr/>
        <p:txBody>
          <a:bodyPr/>
          <a:lstStyle/>
          <a:p>
            <a:fld id="{43E3236E-8354-4469-A39B-052E70412384}" type="slidenum">
              <a:rPr lang="en-US" smtClean="0"/>
              <a:pPr/>
              <a:t>9</a:t>
            </a:fld>
            <a:endParaRPr lang="en-US"/>
          </a:p>
        </p:txBody>
      </p:sp>
    </p:spTree>
    <p:extLst>
      <p:ext uri="{BB962C8B-B14F-4D97-AF65-F5344CB8AC3E}">
        <p14:creationId xmlns:p14="http://schemas.microsoft.com/office/powerpoint/2010/main" val="2375187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4"/>
          <p:cNvSpPr>
            <a:spLocks noGrp="1"/>
          </p:cNvSpPr>
          <p:nvPr>
            <p:ph type="ftr" sz="quarter" idx="11"/>
          </p:nvPr>
        </p:nvSpPr>
        <p:spPr/>
        <p:txBody>
          <a:bodyPr/>
          <a:lstStyle/>
          <a:p>
            <a:r>
              <a:rPr lang="en-US"/>
              <a:t>© Copyright 2026.  Peter M. Shane All rights reserved. </a:t>
            </a:r>
            <a:endParaRPr lang="en-US" dirty="0"/>
          </a:p>
        </p:txBody>
      </p:sp>
      <p:sp>
        <p:nvSpPr>
          <p:cNvPr id="11287" name="Rectangle 23"/>
          <p:cNvSpPr>
            <a:spLocks noGrp="1" noChangeArrowheads="1"/>
          </p:cNvSpPr>
          <p:nvPr>
            <p:ph type="title"/>
          </p:nvPr>
        </p:nvSpPr>
        <p:spPr/>
        <p:txBody>
          <a:bodyPr/>
          <a:lstStyle/>
          <a:p>
            <a:r>
              <a:rPr lang="en-US" sz="4000" dirty="0"/>
              <a:t>How useful are courts at policing statutory specificity?</a:t>
            </a:r>
          </a:p>
        </p:txBody>
      </p:sp>
      <p:graphicFrame>
        <p:nvGraphicFramePr>
          <p:cNvPr id="11296" name="Group 32"/>
          <p:cNvGraphicFramePr>
            <a:graphicFrameLocks noGrp="1"/>
          </p:cNvGraphicFramePr>
          <p:nvPr>
            <p:ph idx="1"/>
          </p:nvPr>
        </p:nvGraphicFramePr>
        <p:xfrm>
          <a:off x="457200" y="1600200"/>
          <a:ext cx="8229600" cy="423672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762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Doctrinal tool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Status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97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Statutes that appear to delegate too broadly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Nondelegation doctrine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charset="0"/>
                        </a:rPr>
                        <a:t>Not overruled, but not used to overturn any statutes since 1935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Statutes that appear to delegate with detail that is overly specific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err="1">
                          <a:ln>
                            <a:noFill/>
                          </a:ln>
                          <a:solidFill>
                            <a:schemeClr val="tx1"/>
                          </a:solidFill>
                          <a:effectLst/>
                          <a:latin typeface="Arial" charset="0"/>
                        </a:rPr>
                        <a:t>Irrebuttable</a:t>
                      </a:r>
                      <a:r>
                        <a:rPr kumimoji="0" lang="en-US" sz="2800" b="0" i="0" u="none" strike="noStrike" cap="none" normalizeH="0" baseline="0" dirty="0">
                          <a:ln>
                            <a:noFill/>
                          </a:ln>
                          <a:solidFill>
                            <a:schemeClr val="tx1"/>
                          </a:solidFill>
                          <a:effectLst/>
                          <a:latin typeface="Arial" charset="0"/>
                        </a:rPr>
                        <a:t> presumption doctrine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Dead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2" name="Slide Number Placeholder 1">
            <a:extLst>
              <a:ext uri="{FF2B5EF4-FFF2-40B4-BE49-F238E27FC236}">
                <a16:creationId xmlns:a16="http://schemas.microsoft.com/office/drawing/2014/main" id="{9B404BB5-8EC3-77B8-7BB5-11CB7C17AC89}"/>
              </a:ext>
            </a:extLst>
          </p:cNvPr>
          <p:cNvSpPr>
            <a:spLocks noGrp="1"/>
          </p:cNvSpPr>
          <p:nvPr>
            <p:ph type="sldNum" sz="quarter" idx="12"/>
          </p:nvPr>
        </p:nvSpPr>
        <p:spPr/>
        <p:txBody>
          <a:bodyPr/>
          <a:lstStyle/>
          <a:p>
            <a:fld id="{4E3CD157-9D04-4761-A815-F11068D8F141}" type="slidenum">
              <a:rPr lang="en-US" smtClean="0"/>
              <a:pPr/>
              <a:t>10</a:t>
            </a:fld>
            <a:endParaRPr lang="en-US"/>
          </a:p>
        </p:txBody>
      </p:sp>
    </p:spTree>
    <p:extLst>
      <p:ext uri="{BB962C8B-B14F-4D97-AF65-F5344CB8AC3E}">
        <p14:creationId xmlns:p14="http://schemas.microsoft.com/office/powerpoint/2010/main" val="1246513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93A73-6FDF-10E1-859B-FF4CAC50083B}"/>
              </a:ext>
            </a:extLst>
          </p:cNvPr>
          <p:cNvSpPr>
            <a:spLocks noGrp="1"/>
          </p:cNvSpPr>
          <p:nvPr>
            <p:ph type="title"/>
          </p:nvPr>
        </p:nvSpPr>
        <p:spPr/>
        <p:txBody>
          <a:bodyPr/>
          <a:lstStyle/>
          <a:p>
            <a:r>
              <a:rPr lang="en-US" sz="4000" i="1" dirty="0"/>
              <a:t>FCC v. Consumers Research</a:t>
            </a:r>
            <a:r>
              <a:rPr lang="en-US" sz="4000" dirty="0"/>
              <a:t>,</a:t>
            </a:r>
            <a:br>
              <a:rPr lang="en-US" sz="4000" dirty="0"/>
            </a:br>
            <a:r>
              <a:rPr lang="en-US" sz="4000" dirty="0"/>
              <a:t>606 US _ (2025).</a:t>
            </a:r>
          </a:p>
        </p:txBody>
      </p:sp>
      <p:sp>
        <p:nvSpPr>
          <p:cNvPr id="6" name="Content Placeholder 5">
            <a:extLst>
              <a:ext uri="{FF2B5EF4-FFF2-40B4-BE49-F238E27FC236}">
                <a16:creationId xmlns:a16="http://schemas.microsoft.com/office/drawing/2014/main" id="{1264FF05-497F-C7EC-4FDE-0DE0DBB0F064}"/>
              </a:ext>
            </a:extLst>
          </p:cNvPr>
          <p:cNvSpPr>
            <a:spLocks noGrp="1"/>
          </p:cNvSpPr>
          <p:nvPr>
            <p:ph idx="1"/>
          </p:nvPr>
        </p:nvSpPr>
        <p:spPr/>
        <p:txBody>
          <a:bodyPr/>
          <a:lstStyle/>
          <a:p>
            <a:r>
              <a:rPr lang="en-US" sz="1800" dirty="0"/>
              <a:t>Section 254 of 1996 Telecom Act authorizes FCC to raise revenue in the form of carrier “</a:t>
            </a:r>
            <a:r>
              <a:rPr lang="en-US" sz="1800" dirty="0" err="1"/>
              <a:t>contribut</a:t>
            </a:r>
            <a:r>
              <a:rPr lang="en-US" sz="1800" dirty="0"/>
              <a:t>[ions]” for universal-service programs. §254(d). </a:t>
            </a:r>
          </a:p>
          <a:p>
            <a:r>
              <a:rPr lang="en-US" sz="1800" dirty="0"/>
              <a:t>“Every . . . carrier that provides interstate telecommunications services shall contribute, on an equitable and nondiscriminatory basis, to the specific, predictable, and sufficient mechanisms established by the Commission to preserve and advance universal service. “</a:t>
            </a:r>
          </a:p>
          <a:p>
            <a:r>
              <a:rPr lang="en-US" sz="1800" dirty="0"/>
              <a:t>Consumers Research argued that contributions were taxes and revenue-raising statutes have to satisfy a special nondelegation rule, i.e., Congress must set a “definite” or “objective limit” on how much money an agency can collect—a numeric cap, a fixed rate, or the equivalent.</a:t>
            </a:r>
          </a:p>
          <a:p>
            <a:r>
              <a:rPr lang="en-US" sz="1800" dirty="0"/>
              <a:t>SCOTUS reverses 6-3, finding that there is no such special rule and 254 meets the “intelligible principle” test.</a:t>
            </a:r>
          </a:p>
          <a:p>
            <a:r>
              <a:rPr lang="en-US" sz="1800" dirty="0"/>
              <a:t>Also upholds subdelegation of management of the Universal Service Fund to a private corporation, called the Universal Service Administrative Company, because FCC retains all decision making authority.</a:t>
            </a:r>
          </a:p>
        </p:txBody>
      </p:sp>
      <p:sp>
        <p:nvSpPr>
          <p:cNvPr id="4" name="Footer Placeholder 3">
            <a:extLst>
              <a:ext uri="{FF2B5EF4-FFF2-40B4-BE49-F238E27FC236}">
                <a16:creationId xmlns:a16="http://schemas.microsoft.com/office/drawing/2014/main" id="{B1959A13-E250-92B1-C005-F9014920167A}"/>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BA200EDF-AEB3-472A-D978-4568B6C907AA}"/>
              </a:ext>
            </a:extLst>
          </p:cNvPr>
          <p:cNvSpPr>
            <a:spLocks noGrp="1"/>
          </p:cNvSpPr>
          <p:nvPr>
            <p:ph type="sldNum" sz="quarter" idx="12"/>
          </p:nvPr>
        </p:nvSpPr>
        <p:spPr/>
        <p:txBody>
          <a:bodyPr/>
          <a:lstStyle/>
          <a:p>
            <a:fld id="{4E3CD157-9D04-4761-A815-F11068D8F141}" type="slidenum">
              <a:rPr lang="en-US" smtClean="0"/>
              <a:pPr/>
              <a:t>11</a:t>
            </a:fld>
            <a:endParaRPr lang="en-US"/>
          </a:p>
        </p:txBody>
      </p:sp>
    </p:spTree>
    <p:extLst>
      <p:ext uri="{BB962C8B-B14F-4D97-AF65-F5344CB8AC3E}">
        <p14:creationId xmlns:p14="http://schemas.microsoft.com/office/powerpoint/2010/main" val="317957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5EFF5-1E48-B394-81FE-680533CD9ED5}"/>
              </a:ext>
            </a:extLst>
          </p:cNvPr>
          <p:cNvSpPr>
            <a:spLocks noGrp="1"/>
          </p:cNvSpPr>
          <p:nvPr>
            <p:ph type="title"/>
          </p:nvPr>
        </p:nvSpPr>
        <p:spPr/>
        <p:txBody>
          <a:bodyPr>
            <a:noAutofit/>
          </a:bodyPr>
          <a:lstStyle/>
          <a:p>
            <a:r>
              <a:rPr lang="en-US" sz="2100" dirty="0"/>
              <a:t>Some Favorite Public Affairs Blogs</a:t>
            </a:r>
            <a:br>
              <a:rPr lang="en-US" sz="2100" dirty="0"/>
            </a:br>
            <a:r>
              <a:rPr lang="en-US" sz="2100" dirty="0"/>
              <a:t>with Heavy Separation of Powers/Admin. Law coverage</a:t>
            </a:r>
          </a:p>
        </p:txBody>
      </p:sp>
      <p:sp>
        <p:nvSpPr>
          <p:cNvPr id="3" name="Content Placeholder 2">
            <a:extLst>
              <a:ext uri="{FF2B5EF4-FFF2-40B4-BE49-F238E27FC236}">
                <a16:creationId xmlns:a16="http://schemas.microsoft.com/office/drawing/2014/main" id="{2B958777-A691-3024-AE43-1FE700A6900C}"/>
              </a:ext>
            </a:extLst>
          </p:cNvPr>
          <p:cNvSpPr>
            <a:spLocks noGrp="1"/>
          </p:cNvSpPr>
          <p:nvPr>
            <p:ph idx="1"/>
          </p:nvPr>
        </p:nvSpPr>
        <p:spPr>
          <a:xfrm>
            <a:off x="1485900" y="2153266"/>
            <a:ext cx="6172200" cy="3394472"/>
          </a:xfrm>
        </p:spPr>
        <p:txBody>
          <a:bodyPr>
            <a:normAutofit fontScale="55000" lnSpcReduction="20000"/>
          </a:bodyPr>
          <a:lstStyle/>
          <a:p>
            <a:r>
              <a:rPr lang="en-US" dirty="0"/>
              <a:t>Regulatory Review </a:t>
            </a:r>
            <a:r>
              <a:rPr lang="en-US" dirty="0">
                <a:hlinkClick r:id="rId2"/>
              </a:rPr>
              <a:t>https://www.theregreview.org/</a:t>
            </a:r>
            <a:endParaRPr lang="en-US" dirty="0"/>
          </a:p>
          <a:p>
            <a:r>
              <a:rPr lang="en-US" dirty="0"/>
              <a:t>Notice &amp; Comment </a:t>
            </a:r>
            <a:r>
              <a:rPr lang="en-US" dirty="0">
                <a:hlinkClick r:id="rId3"/>
              </a:rPr>
              <a:t>https://www.yalejreg.com/nc/</a:t>
            </a:r>
            <a:endParaRPr lang="en-US" dirty="0"/>
          </a:p>
          <a:p>
            <a:r>
              <a:rPr lang="en-US" dirty="0"/>
              <a:t>Executive Functions </a:t>
            </a:r>
            <a:r>
              <a:rPr lang="en-US" dirty="0">
                <a:hlinkClick r:id="rId4"/>
              </a:rPr>
              <a:t>https://executivefunctions.substack.com/</a:t>
            </a:r>
            <a:endParaRPr lang="en-US" dirty="0"/>
          </a:p>
          <a:p>
            <a:r>
              <a:rPr lang="en-US" dirty="0"/>
              <a:t>Lawfare </a:t>
            </a:r>
            <a:r>
              <a:rPr lang="en-US" dirty="0">
                <a:hlinkClick r:id="rId5"/>
              </a:rPr>
              <a:t>https://www.lawfaremedia.org/</a:t>
            </a:r>
            <a:endParaRPr lang="en-US" dirty="0"/>
          </a:p>
          <a:p>
            <a:r>
              <a:rPr lang="en-US" dirty="0"/>
              <a:t>Just Security </a:t>
            </a:r>
            <a:r>
              <a:rPr lang="en-US" dirty="0">
                <a:hlinkClick r:id="rId6"/>
              </a:rPr>
              <a:t>https://www.justsecurity.org/</a:t>
            </a:r>
            <a:endParaRPr lang="en-US" dirty="0"/>
          </a:p>
          <a:p>
            <a:r>
              <a:rPr lang="en-US" dirty="0"/>
              <a:t>Washington Monthly </a:t>
            </a:r>
            <a:r>
              <a:rPr lang="en-US" dirty="0">
                <a:hlinkClick r:id="rId7"/>
              </a:rPr>
              <a:t>https://washingtonmonthly.com/</a:t>
            </a:r>
            <a:endParaRPr lang="en-US" dirty="0"/>
          </a:p>
          <a:p>
            <a:r>
              <a:rPr lang="en-US" dirty="0" err="1"/>
              <a:t>Balkinization</a:t>
            </a:r>
            <a:r>
              <a:rPr lang="en-US" dirty="0"/>
              <a:t> (esp. David Super) </a:t>
            </a:r>
            <a:r>
              <a:rPr lang="en-US" dirty="0">
                <a:hlinkClick r:id="rId8"/>
              </a:rPr>
              <a:t>https://balkin.blogspot.com/</a:t>
            </a:r>
            <a:endParaRPr lang="en-US" dirty="0"/>
          </a:p>
          <a:p>
            <a:r>
              <a:rPr lang="en-US" dirty="0"/>
              <a:t>Volokh Conspiracy (esp. Ilya Somin, Jonathan Adler) </a:t>
            </a:r>
            <a:r>
              <a:rPr lang="en-US" dirty="0">
                <a:hlinkClick r:id="rId9"/>
              </a:rPr>
              <a:t>https://reason.com/volokh/</a:t>
            </a:r>
            <a:endParaRPr lang="en-US" dirty="0"/>
          </a:p>
          <a:p>
            <a:r>
              <a:rPr lang="en-US"/>
              <a:t>One First </a:t>
            </a:r>
            <a:r>
              <a:rPr lang="en-US">
                <a:hlinkClick r:id="rId10"/>
              </a:rPr>
              <a:t>https://www.stevevladeck.com/</a:t>
            </a:r>
            <a:endParaRPr lang="en-US"/>
          </a:p>
        </p:txBody>
      </p:sp>
      <p:sp>
        <p:nvSpPr>
          <p:cNvPr id="4" name="Footer Placeholder 3">
            <a:extLst>
              <a:ext uri="{FF2B5EF4-FFF2-40B4-BE49-F238E27FC236}">
                <a16:creationId xmlns:a16="http://schemas.microsoft.com/office/drawing/2014/main" id="{3AF226F0-A156-3919-9D0F-516B379B475B}"/>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0C68C78F-AB89-130F-C3CA-841BFEA1D63E}"/>
              </a:ext>
            </a:extLst>
          </p:cNvPr>
          <p:cNvSpPr>
            <a:spLocks noGrp="1"/>
          </p:cNvSpPr>
          <p:nvPr>
            <p:ph type="sldNum" sz="quarter" idx="12"/>
          </p:nvPr>
        </p:nvSpPr>
        <p:spPr/>
        <p:txBody>
          <a:bodyPr/>
          <a:lstStyle/>
          <a:p>
            <a:fld id="{7ED1AE92-1F7A-794C-B2A7-2EEF60C9AF34}" type="slidenum">
              <a:rPr lang="en-US" smtClean="0"/>
              <a:t>12</a:t>
            </a:fld>
            <a:endParaRPr lang="en-US"/>
          </a:p>
        </p:txBody>
      </p:sp>
    </p:spTree>
    <p:extLst>
      <p:ext uri="{BB962C8B-B14F-4D97-AF65-F5344CB8AC3E}">
        <p14:creationId xmlns:p14="http://schemas.microsoft.com/office/powerpoint/2010/main" val="3246476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382F0-1377-45AB-DF55-2ABD7E251742}"/>
              </a:ext>
            </a:extLst>
          </p:cNvPr>
          <p:cNvSpPr>
            <a:spLocks noGrp="1"/>
          </p:cNvSpPr>
          <p:nvPr>
            <p:ph type="title"/>
          </p:nvPr>
        </p:nvSpPr>
        <p:spPr/>
        <p:txBody>
          <a:bodyPr/>
          <a:lstStyle/>
          <a:p>
            <a:r>
              <a:rPr lang="en-US" dirty="0"/>
              <a:t>Designing the Executive Branch</a:t>
            </a:r>
          </a:p>
        </p:txBody>
      </p:sp>
      <p:sp>
        <p:nvSpPr>
          <p:cNvPr id="3" name="Content Placeholder 2">
            <a:extLst>
              <a:ext uri="{FF2B5EF4-FFF2-40B4-BE49-F238E27FC236}">
                <a16:creationId xmlns:a16="http://schemas.microsoft.com/office/drawing/2014/main" id="{98407445-D5ED-1A30-7A9B-5ECB36D23CF6}"/>
              </a:ext>
            </a:extLst>
          </p:cNvPr>
          <p:cNvSpPr>
            <a:spLocks noGrp="1"/>
          </p:cNvSpPr>
          <p:nvPr>
            <p:ph idx="1"/>
          </p:nvPr>
        </p:nvSpPr>
        <p:spPr/>
        <p:txBody>
          <a:bodyPr/>
          <a:lstStyle/>
          <a:p>
            <a:r>
              <a:rPr lang="en-US" sz="2800" dirty="0"/>
              <a:t>“The American Constitution of 1787 left a hole where administration might have been.” – Jerry L. Mashaw</a:t>
            </a:r>
          </a:p>
          <a:p>
            <a:pPr lvl="1"/>
            <a:r>
              <a:rPr lang="en-US" sz="2400" dirty="0"/>
              <a:t>President = head of executive branch</a:t>
            </a:r>
          </a:p>
          <a:p>
            <a:pPr lvl="1"/>
            <a:r>
              <a:rPr lang="en-US" sz="2400" dirty="0"/>
              <a:t>Branch includes “executive departments” with heads</a:t>
            </a:r>
          </a:p>
          <a:p>
            <a:pPr lvl="1"/>
            <a:r>
              <a:rPr lang="en-US" sz="2400" dirty="0"/>
              <a:t>Among those employed will be principal officers and inferior officers</a:t>
            </a:r>
          </a:p>
          <a:p>
            <a:pPr lvl="1"/>
            <a:r>
              <a:rPr lang="en-US" sz="2400" dirty="0"/>
              <a:t>Avenues for appointment spelled out</a:t>
            </a:r>
          </a:p>
          <a:p>
            <a:pPr lvl="1"/>
            <a:r>
              <a:rPr lang="en-US" sz="2400" dirty="0"/>
              <a:t>Necessary and Proper Clause implies Congress’s primary role in structuring administration</a:t>
            </a:r>
            <a:endParaRPr lang="en-US" dirty="0"/>
          </a:p>
          <a:p>
            <a:pPr lvl="1"/>
            <a:endParaRPr lang="en-US" dirty="0"/>
          </a:p>
        </p:txBody>
      </p:sp>
      <p:sp>
        <p:nvSpPr>
          <p:cNvPr id="4" name="Footer Placeholder 3">
            <a:extLst>
              <a:ext uri="{FF2B5EF4-FFF2-40B4-BE49-F238E27FC236}">
                <a16:creationId xmlns:a16="http://schemas.microsoft.com/office/drawing/2014/main" id="{EF12732A-09C9-D753-7A02-9EC4D59BD462}"/>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9EB058E1-CBDD-E6A2-0470-709897C9973F}"/>
              </a:ext>
            </a:extLst>
          </p:cNvPr>
          <p:cNvSpPr>
            <a:spLocks noGrp="1"/>
          </p:cNvSpPr>
          <p:nvPr>
            <p:ph type="sldNum" sz="quarter" idx="12"/>
          </p:nvPr>
        </p:nvSpPr>
        <p:spPr/>
        <p:txBody>
          <a:bodyPr/>
          <a:lstStyle/>
          <a:p>
            <a:pPr>
              <a:defRPr/>
            </a:pPr>
            <a:fld id="{1B61F791-5E91-481A-9C45-1F0075BBB47C}" type="slidenum">
              <a:rPr lang="en-US" altLang="en-US" smtClean="0"/>
              <a:pPr>
                <a:defRPr/>
              </a:pPr>
              <a:t>13</a:t>
            </a:fld>
            <a:endParaRPr lang="en-US" altLang="en-US"/>
          </a:p>
        </p:txBody>
      </p:sp>
    </p:spTree>
    <p:extLst>
      <p:ext uri="{BB962C8B-B14F-4D97-AF65-F5344CB8AC3E}">
        <p14:creationId xmlns:p14="http://schemas.microsoft.com/office/powerpoint/2010/main" val="1119516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A5106-4A37-DB8B-D8C7-C42E7101E190}"/>
              </a:ext>
            </a:extLst>
          </p:cNvPr>
          <p:cNvSpPr>
            <a:spLocks noGrp="1"/>
          </p:cNvSpPr>
          <p:nvPr>
            <p:ph type="title"/>
          </p:nvPr>
        </p:nvSpPr>
        <p:spPr/>
        <p:txBody>
          <a:bodyPr/>
          <a:lstStyle/>
          <a:p>
            <a:r>
              <a:rPr lang="en-US" dirty="0"/>
              <a:t>Reorganization Authority - 1</a:t>
            </a:r>
          </a:p>
        </p:txBody>
      </p:sp>
      <p:sp>
        <p:nvSpPr>
          <p:cNvPr id="3" name="Content Placeholder 2">
            <a:extLst>
              <a:ext uri="{FF2B5EF4-FFF2-40B4-BE49-F238E27FC236}">
                <a16:creationId xmlns:a16="http://schemas.microsoft.com/office/drawing/2014/main" id="{32125185-45DC-1426-D97D-1FD66B87CA56}"/>
              </a:ext>
            </a:extLst>
          </p:cNvPr>
          <p:cNvSpPr>
            <a:spLocks noGrp="1"/>
          </p:cNvSpPr>
          <p:nvPr>
            <p:ph idx="1"/>
          </p:nvPr>
        </p:nvSpPr>
        <p:spPr>
          <a:xfrm>
            <a:off x="489155" y="1551244"/>
            <a:ext cx="8229600" cy="4525963"/>
          </a:xfrm>
        </p:spPr>
        <p:txBody>
          <a:bodyPr/>
          <a:lstStyle/>
          <a:p>
            <a:r>
              <a:rPr lang="en-US" sz="2800" dirty="0"/>
              <a:t>Beginning in 1939, Congress enacted a series of so-called Reorganization Acts, which, for limited periods, gave presidents significant (but not unlimited) discretion to create, abolish, or restructure administrative agencies, subject to an important caveat. </a:t>
            </a:r>
          </a:p>
          <a:p>
            <a:r>
              <a:rPr lang="en-US" sz="2800" dirty="0"/>
              <a:t>Presidential reorganization plans were subject to a “legislative veto”—a resolution disapproving the plan enacted by both Houses of Congress, which could keep it from going into effect. </a:t>
            </a:r>
          </a:p>
        </p:txBody>
      </p:sp>
      <p:sp>
        <p:nvSpPr>
          <p:cNvPr id="4" name="Footer Placeholder 3">
            <a:extLst>
              <a:ext uri="{FF2B5EF4-FFF2-40B4-BE49-F238E27FC236}">
                <a16:creationId xmlns:a16="http://schemas.microsoft.com/office/drawing/2014/main" id="{3F6FD8F9-B708-2673-8183-3225FEAD9F51}"/>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54FBBC57-DB45-572C-0FEF-C656DC4D86C8}"/>
              </a:ext>
            </a:extLst>
          </p:cNvPr>
          <p:cNvSpPr>
            <a:spLocks noGrp="1"/>
          </p:cNvSpPr>
          <p:nvPr>
            <p:ph type="sldNum" sz="quarter" idx="12"/>
          </p:nvPr>
        </p:nvSpPr>
        <p:spPr/>
        <p:txBody>
          <a:bodyPr/>
          <a:lstStyle/>
          <a:p>
            <a:pPr>
              <a:defRPr/>
            </a:pPr>
            <a:fld id="{1B61F791-5E91-481A-9C45-1F0075BBB47C}" type="slidenum">
              <a:rPr lang="en-US" altLang="en-US" smtClean="0"/>
              <a:pPr>
                <a:defRPr/>
              </a:pPr>
              <a:t>14</a:t>
            </a:fld>
            <a:endParaRPr lang="en-US" altLang="en-US"/>
          </a:p>
        </p:txBody>
      </p:sp>
    </p:spTree>
    <p:extLst>
      <p:ext uri="{BB962C8B-B14F-4D97-AF65-F5344CB8AC3E}">
        <p14:creationId xmlns:p14="http://schemas.microsoft.com/office/powerpoint/2010/main" val="38981256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84540-B97A-948D-FE3C-7244C2E37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5DA89-83D0-03B1-C0DB-DAFD9A57061F}"/>
              </a:ext>
            </a:extLst>
          </p:cNvPr>
          <p:cNvSpPr>
            <a:spLocks noGrp="1"/>
          </p:cNvSpPr>
          <p:nvPr>
            <p:ph type="title"/>
          </p:nvPr>
        </p:nvSpPr>
        <p:spPr/>
        <p:txBody>
          <a:bodyPr/>
          <a:lstStyle/>
          <a:p>
            <a:r>
              <a:rPr lang="en-US" dirty="0"/>
              <a:t>Reorganization Authority - 2</a:t>
            </a:r>
          </a:p>
        </p:txBody>
      </p:sp>
      <p:sp>
        <p:nvSpPr>
          <p:cNvPr id="3" name="Content Placeholder 2">
            <a:extLst>
              <a:ext uri="{FF2B5EF4-FFF2-40B4-BE49-F238E27FC236}">
                <a16:creationId xmlns:a16="http://schemas.microsoft.com/office/drawing/2014/main" id="{1040192B-F670-B94B-93B0-819EB334432B}"/>
              </a:ext>
            </a:extLst>
          </p:cNvPr>
          <p:cNvSpPr>
            <a:spLocks noGrp="1"/>
          </p:cNvSpPr>
          <p:nvPr>
            <p:ph idx="1"/>
          </p:nvPr>
        </p:nvSpPr>
        <p:spPr/>
        <p:txBody>
          <a:bodyPr/>
          <a:lstStyle/>
          <a:p>
            <a:pPr>
              <a:spcBef>
                <a:spcPts val="0"/>
              </a:spcBef>
            </a:pPr>
            <a:r>
              <a:rPr lang="en-US" sz="2400" dirty="0"/>
              <a:t>For decades, Congress’s successive Reorganization Acts provided that the veto would take the form of a concurrent resolution. Under the Reorganization Act of 1977, a presidential reorganization plan could be blocked by a one-House veto, i.e., a resolution of either the House or Senate alone, without either the President’s signature or the concurrence of the other House</a:t>
            </a:r>
          </a:p>
          <a:p>
            <a:pPr>
              <a:spcBef>
                <a:spcPts val="0"/>
              </a:spcBef>
            </a:pPr>
            <a:r>
              <a:rPr lang="en-US" sz="2400" dirty="0"/>
              <a:t>1983: SCOTUS holds legislative vetoes unconstitutional</a:t>
            </a:r>
          </a:p>
          <a:p>
            <a:pPr>
              <a:spcBef>
                <a:spcPts val="0"/>
              </a:spcBef>
            </a:pPr>
            <a:r>
              <a:rPr lang="en-US" sz="2400" dirty="0"/>
              <a:t>Since 1984, presidents have been allowed only to propose reorganizations, which Congress could enact through the ordinary legislative process. </a:t>
            </a:r>
          </a:p>
        </p:txBody>
      </p:sp>
      <p:sp>
        <p:nvSpPr>
          <p:cNvPr id="4" name="Footer Placeholder 3">
            <a:extLst>
              <a:ext uri="{FF2B5EF4-FFF2-40B4-BE49-F238E27FC236}">
                <a16:creationId xmlns:a16="http://schemas.microsoft.com/office/drawing/2014/main" id="{4180A9DD-EB7C-47DB-98C2-67A7B12A0C7F}"/>
              </a:ext>
            </a:extLst>
          </p:cNvPr>
          <p:cNvSpPr>
            <a:spLocks noGrp="1"/>
          </p:cNvSpPr>
          <p:nvPr>
            <p:ph type="ftr" sz="quarter" idx="11"/>
          </p:nvPr>
        </p:nvSpPr>
        <p:spPr/>
        <p:txBody>
          <a:bodyPr/>
          <a:lstStyle/>
          <a:p>
            <a:pPr>
              <a:defRPr/>
            </a:pPr>
            <a:r>
              <a:rPr lang="en-US" altLang="en-US"/>
              <a:t>© Copyright 2026.  Peter M. Shane All rights reserved. </a:t>
            </a:r>
            <a:endParaRPr lang="en-US" altLang="en-US" dirty="0"/>
          </a:p>
        </p:txBody>
      </p:sp>
      <p:sp>
        <p:nvSpPr>
          <p:cNvPr id="5" name="Slide Number Placeholder 4">
            <a:extLst>
              <a:ext uri="{FF2B5EF4-FFF2-40B4-BE49-F238E27FC236}">
                <a16:creationId xmlns:a16="http://schemas.microsoft.com/office/drawing/2014/main" id="{316A1F6E-2E9D-9428-E746-4BA1D5B6EB4D}"/>
              </a:ext>
            </a:extLst>
          </p:cNvPr>
          <p:cNvSpPr>
            <a:spLocks noGrp="1"/>
          </p:cNvSpPr>
          <p:nvPr>
            <p:ph type="sldNum" sz="quarter" idx="12"/>
          </p:nvPr>
        </p:nvSpPr>
        <p:spPr/>
        <p:txBody>
          <a:bodyPr/>
          <a:lstStyle/>
          <a:p>
            <a:pPr>
              <a:defRPr/>
            </a:pPr>
            <a:fld id="{1B61F791-5E91-481A-9C45-1F0075BBB47C}" type="slidenum">
              <a:rPr lang="en-US" altLang="en-US" smtClean="0"/>
              <a:pPr>
                <a:defRPr/>
              </a:pPr>
              <a:t>15</a:t>
            </a:fld>
            <a:endParaRPr lang="en-US" altLang="en-US"/>
          </a:p>
        </p:txBody>
      </p:sp>
    </p:spTree>
    <p:extLst>
      <p:ext uri="{BB962C8B-B14F-4D97-AF65-F5344CB8AC3E}">
        <p14:creationId xmlns:p14="http://schemas.microsoft.com/office/powerpoint/2010/main" val="1640166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527C1-7046-160F-F69B-E5A337D3F47C}"/>
              </a:ext>
            </a:extLst>
          </p:cNvPr>
          <p:cNvSpPr>
            <a:spLocks noGrp="1"/>
          </p:cNvSpPr>
          <p:nvPr>
            <p:ph type="title"/>
          </p:nvPr>
        </p:nvSpPr>
        <p:spPr/>
        <p:txBody>
          <a:bodyPr/>
          <a:lstStyle/>
          <a:p>
            <a:r>
              <a:rPr lang="en-US" dirty="0"/>
              <a:t>Location, Location, Location</a:t>
            </a:r>
          </a:p>
        </p:txBody>
      </p:sp>
      <p:sp>
        <p:nvSpPr>
          <p:cNvPr id="3" name="Content Placeholder 2">
            <a:extLst>
              <a:ext uri="{FF2B5EF4-FFF2-40B4-BE49-F238E27FC236}">
                <a16:creationId xmlns:a16="http://schemas.microsoft.com/office/drawing/2014/main" id="{F959855B-4E3E-1E1B-B5D2-016EE3592B1E}"/>
              </a:ext>
            </a:extLst>
          </p:cNvPr>
          <p:cNvSpPr>
            <a:spLocks noGrp="1"/>
          </p:cNvSpPr>
          <p:nvPr>
            <p:ph idx="1"/>
          </p:nvPr>
        </p:nvSpPr>
        <p:spPr/>
        <p:txBody>
          <a:bodyPr/>
          <a:lstStyle/>
          <a:p>
            <a:pPr>
              <a:spcBef>
                <a:spcPts val="0"/>
              </a:spcBef>
            </a:pPr>
            <a:r>
              <a:rPr lang="en-US" dirty="0"/>
              <a:t>Agency culture shapes agency mission</a:t>
            </a:r>
          </a:p>
          <a:p>
            <a:pPr lvl="1">
              <a:spcBef>
                <a:spcPts val="0"/>
              </a:spcBef>
            </a:pPr>
            <a:r>
              <a:rPr lang="en-US" dirty="0"/>
              <a:t>Division of public lands management</a:t>
            </a:r>
          </a:p>
          <a:p>
            <a:pPr lvl="2">
              <a:spcBef>
                <a:spcPts val="0"/>
              </a:spcBef>
            </a:pPr>
            <a:r>
              <a:rPr lang="en-US" dirty="0"/>
              <a:t>Interior: Wilderness</a:t>
            </a:r>
          </a:p>
          <a:p>
            <a:pPr lvl="2">
              <a:spcBef>
                <a:spcPts val="0"/>
              </a:spcBef>
            </a:pPr>
            <a:r>
              <a:rPr lang="en-US" dirty="0"/>
              <a:t>Agriculture: Forests</a:t>
            </a:r>
          </a:p>
          <a:p>
            <a:pPr>
              <a:spcBef>
                <a:spcPts val="0"/>
              </a:spcBef>
            </a:pPr>
            <a:r>
              <a:rPr lang="en-US" dirty="0"/>
              <a:t>Creation of DHS in 2002</a:t>
            </a:r>
          </a:p>
          <a:p>
            <a:pPr lvl="1">
              <a:spcBef>
                <a:spcPts val="0"/>
              </a:spcBef>
            </a:pPr>
            <a:r>
              <a:rPr lang="en-US" dirty="0"/>
              <a:t>Moved Coast Guard from Transportation</a:t>
            </a:r>
          </a:p>
          <a:p>
            <a:pPr lvl="1">
              <a:spcBef>
                <a:spcPts val="0"/>
              </a:spcBef>
            </a:pPr>
            <a:r>
              <a:rPr lang="en-US" dirty="0"/>
              <a:t>Moved immigration enforcement from Justice</a:t>
            </a:r>
          </a:p>
          <a:p>
            <a:pPr>
              <a:spcBef>
                <a:spcPts val="0"/>
              </a:spcBef>
            </a:pPr>
            <a:r>
              <a:rPr lang="en-US" dirty="0"/>
              <a:t>Coordinating role of the Executive Office of the President</a:t>
            </a:r>
          </a:p>
        </p:txBody>
      </p:sp>
      <p:sp>
        <p:nvSpPr>
          <p:cNvPr id="4" name="Footer Placeholder 3">
            <a:extLst>
              <a:ext uri="{FF2B5EF4-FFF2-40B4-BE49-F238E27FC236}">
                <a16:creationId xmlns:a16="http://schemas.microsoft.com/office/drawing/2014/main" id="{DC3FD660-CAC1-B7F0-6C0E-B9EA4A286AF4}"/>
              </a:ext>
            </a:extLst>
          </p:cNvPr>
          <p:cNvSpPr>
            <a:spLocks noGrp="1"/>
          </p:cNvSpPr>
          <p:nvPr>
            <p:ph type="ftr" sz="quarter" idx="11"/>
          </p:nvPr>
        </p:nvSpPr>
        <p:spPr/>
        <p:txBody>
          <a:bodyPr/>
          <a:lstStyle/>
          <a:p>
            <a:pPr>
              <a:defRPr/>
            </a:pPr>
            <a:r>
              <a:rPr lang="en-US" altLang="en-US"/>
              <a:t>© Copyright 2026.  Peter M. Shane All rights reserved. </a:t>
            </a:r>
          </a:p>
        </p:txBody>
      </p:sp>
      <p:sp>
        <p:nvSpPr>
          <p:cNvPr id="5" name="Slide Number Placeholder 4">
            <a:extLst>
              <a:ext uri="{FF2B5EF4-FFF2-40B4-BE49-F238E27FC236}">
                <a16:creationId xmlns:a16="http://schemas.microsoft.com/office/drawing/2014/main" id="{7A9C4F30-F7E7-E5A7-E0F9-B35513D4EE9A}"/>
              </a:ext>
            </a:extLst>
          </p:cNvPr>
          <p:cNvSpPr>
            <a:spLocks noGrp="1"/>
          </p:cNvSpPr>
          <p:nvPr>
            <p:ph type="sldNum" sz="quarter" idx="12"/>
          </p:nvPr>
        </p:nvSpPr>
        <p:spPr/>
        <p:txBody>
          <a:bodyPr/>
          <a:lstStyle/>
          <a:p>
            <a:pPr>
              <a:defRPr/>
            </a:pPr>
            <a:fld id="{1B61F791-5E91-481A-9C45-1F0075BBB47C}" type="slidenum">
              <a:rPr lang="en-US" altLang="en-US" smtClean="0"/>
              <a:pPr>
                <a:defRPr/>
              </a:pPr>
              <a:t>16</a:t>
            </a:fld>
            <a:endParaRPr lang="en-US" altLang="en-US"/>
          </a:p>
        </p:txBody>
      </p:sp>
    </p:spTree>
    <p:extLst>
      <p:ext uri="{BB962C8B-B14F-4D97-AF65-F5344CB8AC3E}">
        <p14:creationId xmlns:p14="http://schemas.microsoft.com/office/powerpoint/2010/main" val="2419732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Footer Placeholder 4">
            <a:extLst>
              <a:ext uri="{FF2B5EF4-FFF2-40B4-BE49-F238E27FC236}">
                <a16:creationId xmlns:a16="http://schemas.microsoft.com/office/drawing/2014/main" id="{1160D590-2C2D-4604-5A09-D9131D78EC8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 Copyright 2026.  Peter M. Shane All rights reserved. </a:t>
            </a:r>
          </a:p>
        </p:txBody>
      </p:sp>
      <p:sp>
        <p:nvSpPr>
          <p:cNvPr id="15362" name="Rectangle 2">
            <a:extLst>
              <a:ext uri="{FF2B5EF4-FFF2-40B4-BE49-F238E27FC236}">
                <a16:creationId xmlns:a16="http://schemas.microsoft.com/office/drawing/2014/main" id="{ECF03774-A1DB-BEF7-593D-9B79158A4A90}"/>
              </a:ext>
            </a:extLst>
          </p:cNvPr>
          <p:cNvSpPr>
            <a:spLocks noGrp="1" noChangeArrowheads="1"/>
          </p:cNvSpPr>
          <p:nvPr>
            <p:ph type="title"/>
          </p:nvPr>
        </p:nvSpPr>
        <p:spPr/>
        <p:txBody>
          <a:bodyPr/>
          <a:lstStyle/>
          <a:p>
            <a:pPr eaLnBrk="1" hangingPunct="1"/>
            <a:r>
              <a:rPr lang="en-US" altLang="en-US" sz="4000"/>
              <a:t>Setting the Stage:</a:t>
            </a:r>
            <a:br>
              <a:rPr lang="en-US" altLang="en-US" sz="4000"/>
            </a:br>
            <a:r>
              <a:rPr lang="en-US" altLang="en-US" sz="4000"/>
              <a:t>Debate Over Unitary Presidency</a:t>
            </a:r>
          </a:p>
        </p:txBody>
      </p:sp>
      <p:sp>
        <p:nvSpPr>
          <p:cNvPr id="15363" name="Rectangle 3">
            <a:extLst>
              <a:ext uri="{FF2B5EF4-FFF2-40B4-BE49-F238E27FC236}">
                <a16:creationId xmlns:a16="http://schemas.microsoft.com/office/drawing/2014/main" id="{CE0DA311-EA01-9330-170F-90AE89745FA6}"/>
              </a:ext>
            </a:extLst>
          </p:cNvPr>
          <p:cNvSpPr>
            <a:spLocks noGrp="1" noChangeArrowheads="1"/>
          </p:cNvSpPr>
          <p:nvPr>
            <p:ph type="body" idx="1"/>
          </p:nvPr>
        </p:nvSpPr>
        <p:spPr/>
        <p:txBody>
          <a:bodyPr/>
          <a:lstStyle/>
          <a:p>
            <a:pPr eaLnBrk="1" hangingPunct="1">
              <a:lnSpc>
                <a:spcPct val="80000"/>
              </a:lnSpc>
            </a:pPr>
            <a:r>
              <a:rPr lang="en-US" altLang="en-US" sz="2400"/>
              <a:t>Varieties of direct Presidential authority </a:t>
            </a:r>
          </a:p>
          <a:p>
            <a:pPr lvl="1" eaLnBrk="1" hangingPunct="1">
              <a:lnSpc>
                <a:spcPct val="80000"/>
              </a:lnSpc>
            </a:pPr>
            <a:r>
              <a:rPr lang="en-US" altLang="en-US" sz="2000"/>
              <a:t>Under the Constitution, e.g., granting pardons, negotiating treaties</a:t>
            </a:r>
          </a:p>
          <a:p>
            <a:pPr lvl="1" eaLnBrk="1" hangingPunct="1">
              <a:lnSpc>
                <a:spcPct val="80000"/>
              </a:lnSpc>
            </a:pPr>
            <a:r>
              <a:rPr lang="en-US" altLang="en-US" sz="2000"/>
              <a:t>Under statute, e.g., setting tariffs</a:t>
            </a:r>
          </a:p>
          <a:p>
            <a:pPr lvl="2" eaLnBrk="1" hangingPunct="1">
              <a:lnSpc>
                <a:spcPct val="80000"/>
              </a:lnSpc>
            </a:pPr>
            <a:r>
              <a:rPr lang="en-US" altLang="en-US" sz="1800"/>
              <a:t>3 USC 301 – allows President to subdelegate</a:t>
            </a:r>
          </a:p>
          <a:p>
            <a:pPr eaLnBrk="1" hangingPunct="1">
              <a:lnSpc>
                <a:spcPct val="80000"/>
              </a:lnSpc>
            </a:pPr>
            <a:r>
              <a:rPr lang="en-US" altLang="en-US" sz="2400"/>
              <a:t>Congress also enacts many statutes that authorize initiatives by entities within the EB other than the President</a:t>
            </a:r>
          </a:p>
          <a:p>
            <a:pPr lvl="1" eaLnBrk="1" hangingPunct="1">
              <a:lnSpc>
                <a:spcPct val="80000"/>
              </a:lnSpc>
            </a:pPr>
            <a:r>
              <a:rPr lang="en-US" altLang="en-US" sz="2000"/>
              <a:t>May the President direct other members of the executive branch in the substance of how they exercise discretion that Congress has formally vested not in the President, but in THEM?</a:t>
            </a:r>
          </a:p>
          <a:p>
            <a:pPr lvl="1" eaLnBrk="1" hangingPunct="1">
              <a:lnSpc>
                <a:spcPct val="80000"/>
              </a:lnSpc>
            </a:pPr>
            <a:r>
              <a:rPr lang="en-US" altLang="en-US" sz="2000"/>
              <a:t>Possible sources of power:</a:t>
            </a:r>
          </a:p>
          <a:p>
            <a:pPr lvl="2" eaLnBrk="1" hangingPunct="1">
              <a:lnSpc>
                <a:spcPct val="80000"/>
              </a:lnSpc>
            </a:pPr>
            <a:r>
              <a:rPr lang="en-US" altLang="en-US" sz="1800"/>
              <a:t>Congress could give the President that authority</a:t>
            </a:r>
          </a:p>
          <a:p>
            <a:pPr lvl="2" eaLnBrk="1" hangingPunct="1">
              <a:lnSpc>
                <a:spcPct val="80000"/>
              </a:lnSpc>
            </a:pPr>
            <a:r>
              <a:rPr lang="en-US" altLang="en-US" sz="1800"/>
              <a:t>Vesting clause</a:t>
            </a:r>
          </a:p>
          <a:p>
            <a:pPr lvl="2" eaLnBrk="1" hangingPunct="1">
              <a:lnSpc>
                <a:spcPct val="80000"/>
              </a:lnSpc>
            </a:pPr>
            <a:r>
              <a:rPr lang="en-US" altLang="en-US" sz="1800"/>
              <a:t>Faithful execution clause</a:t>
            </a:r>
          </a:p>
          <a:p>
            <a:pPr lvl="2" eaLnBrk="1" hangingPunct="1">
              <a:lnSpc>
                <a:spcPct val="80000"/>
              </a:lnSpc>
            </a:pPr>
            <a:endParaRPr lang="en-US" altLang="en-US" sz="1800"/>
          </a:p>
        </p:txBody>
      </p:sp>
      <p:sp>
        <p:nvSpPr>
          <p:cNvPr id="15364" name="Slide Number Placeholder 1">
            <a:extLst>
              <a:ext uri="{FF2B5EF4-FFF2-40B4-BE49-F238E27FC236}">
                <a16:creationId xmlns:a16="http://schemas.microsoft.com/office/drawing/2014/main" id="{6405E5A6-4253-2132-D6BA-DD5133A4BAB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40C1CFE-DDFE-48FE-B397-246EC482518E}" type="slidenum">
              <a:rPr lang="en-US" altLang="en-US" sz="1400" smtClean="0"/>
              <a:pPr>
                <a:spcBef>
                  <a:spcPct val="0"/>
                </a:spcBef>
                <a:buFontTx/>
                <a:buNone/>
              </a:pPr>
              <a:t>17</a:t>
            </a:fld>
            <a:endParaRPr lang="en-US" altLang="en-US"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5D7C0-2056-9440-6DEA-920AB69D271F}"/>
              </a:ext>
            </a:extLst>
          </p:cNvPr>
          <p:cNvSpPr>
            <a:spLocks noGrp="1"/>
          </p:cNvSpPr>
          <p:nvPr>
            <p:ph type="title"/>
          </p:nvPr>
        </p:nvSpPr>
        <p:spPr/>
        <p:txBody>
          <a:bodyPr/>
          <a:lstStyle/>
          <a:p>
            <a:r>
              <a:rPr lang="en-US" dirty="0"/>
              <a:t>Unitary Executive Theory</a:t>
            </a:r>
          </a:p>
        </p:txBody>
      </p:sp>
      <p:sp>
        <p:nvSpPr>
          <p:cNvPr id="3" name="Content Placeholder 2">
            <a:extLst>
              <a:ext uri="{FF2B5EF4-FFF2-40B4-BE49-F238E27FC236}">
                <a16:creationId xmlns:a16="http://schemas.microsoft.com/office/drawing/2014/main" id="{1B8FB705-C3EA-B8D7-D2BA-2E3DA944FB86}"/>
              </a:ext>
            </a:extLst>
          </p:cNvPr>
          <p:cNvSpPr>
            <a:spLocks noGrp="1"/>
          </p:cNvSpPr>
          <p:nvPr>
            <p:ph idx="1"/>
          </p:nvPr>
        </p:nvSpPr>
        <p:spPr/>
        <p:txBody>
          <a:bodyPr>
            <a:normAutofit/>
          </a:bodyPr>
          <a:lstStyle/>
          <a:p>
            <a:r>
              <a:rPr lang="en-US" sz="2400" dirty="0"/>
              <a:t>Foundational Premise: Article II guarantees President control over the discretionary functions of the executive branch</a:t>
            </a:r>
          </a:p>
          <a:p>
            <a:r>
              <a:rPr lang="en-US" sz="2400" dirty="0"/>
              <a:t>Different flavors</a:t>
            </a:r>
          </a:p>
          <a:p>
            <a:pPr lvl="1"/>
            <a:r>
              <a:rPr lang="en-US" sz="2100" dirty="0"/>
              <a:t>Plenary removal power over principal officers</a:t>
            </a:r>
          </a:p>
          <a:p>
            <a:pPr lvl="1"/>
            <a:r>
              <a:rPr lang="en-US" sz="2100" dirty="0"/>
              <a:t>Plenary removal power over all officers who assist in the exercise of executive power</a:t>
            </a:r>
          </a:p>
          <a:p>
            <a:pPr lvl="1"/>
            <a:r>
              <a:rPr lang="en-US" sz="2100" dirty="0"/>
              <a:t>Power to command directly how discretionary power is exercised</a:t>
            </a:r>
          </a:p>
          <a:p>
            <a:pPr lvl="1"/>
            <a:r>
              <a:rPr lang="en-US" sz="2100" dirty="0"/>
              <a:t>Power to execute the laws personally</a:t>
            </a:r>
          </a:p>
        </p:txBody>
      </p:sp>
      <p:sp>
        <p:nvSpPr>
          <p:cNvPr id="4" name="Footer Placeholder 3">
            <a:extLst>
              <a:ext uri="{FF2B5EF4-FFF2-40B4-BE49-F238E27FC236}">
                <a16:creationId xmlns:a16="http://schemas.microsoft.com/office/drawing/2014/main" id="{7B4E9BC2-8ADB-00F4-9C02-0188E7D8FE9D}"/>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B1755E87-EDC7-246B-4F12-C7B3749AC0EC}"/>
              </a:ext>
            </a:extLst>
          </p:cNvPr>
          <p:cNvSpPr>
            <a:spLocks noGrp="1"/>
          </p:cNvSpPr>
          <p:nvPr>
            <p:ph type="sldNum" sz="quarter" idx="12"/>
          </p:nvPr>
        </p:nvSpPr>
        <p:spPr/>
        <p:txBody>
          <a:bodyPr/>
          <a:lstStyle/>
          <a:p>
            <a:fld id="{00E774E6-6CB7-4DC2-8F39-01C2CA722D2F}" type="slidenum">
              <a:rPr lang="en-US" smtClean="0"/>
              <a:t>18</a:t>
            </a:fld>
            <a:endParaRPr lang="en-US"/>
          </a:p>
        </p:txBody>
      </p:sp>
    </p:spTree>
    <p:extLst>
      <p:ext uri="{BB962C8B-B14F-4D97-AF65-F5344CB8AC3E}">
        <p14:creationId xmlns:p14="http://schemas.microsoft.com/office/powerpoint/2010/main" val="294930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E882A-5111-A14B-CA48-EC52FBF04449}"/>
              </a:ext>
            </a:extLst>
          </p:cNvPr>
          <p:cNvSpPr>
            <a:spLocks noGrp="1"/>
          </p:cNvSpPr>
          <p:nvPr>
            <p:ph type="title"/>
          </p:nvPr>
        </p:nvSpPr>
        <p:spPr/>
        <p:txBody>
          <a:bodyPr/>
          <a:lstStyle/>
          <a:p>
            <a:r>
              <a:rPr lang="en-US" dirty="0"/>
              <a:t>Purported Sources of the Authority</a:t>
            </a:r>
          </a:p>
        </p:txBody>
      </p:sp>
      <p:sp>
        <p:nvSpPr>
          <p:cNvPr id="3" name="Content Placeholder 2">
            <a:extLst>
              <a:ext uri="{FF2B5EF4-FFF2-40B4-BE49-F238E27FC236}">
                <a16:creationId xmlns:a16="http://schemas.microsoft.com/office/drawing/2014/main" id="{688200A4-F179-EE3D-6B78-BA3C39B83C6F}"/>
              </a:ext>
            </a:extLst>
          </p:cNvPr>
          <p:cNvSpPr>
            <a:spLocks noGrp="1"/>
          </p:cNvSpPr>
          <p:nvPr>
            <p:ph idx="1"/>
          </p:nvPr>
        </p:nvSpPr>
        <p:spPr/>
        <p:txBody>
          <a:bodyPr>
            <a:normAutofit/>
          </a:bodyPr>
          <a:lstStyle/>
          <a:p>
            <a:r>
              <a:rPr lang="en-US" sz="3000" dirty="0"/>
              <a:t>Vesting Clause: “The executive power shall be vested in a President of the United States of America.” Art. II, § 1, par. 1.</a:t>
            </a:r>
          </a:p>
          <a:p>
            <a:r>
              <a:rPr lang="en-US" sz="3000" dirty="0"/>
              <a:t>Take Care Clause: “[H]e shall take care that the laws be faithfully executed.”</a:t>
            </a:r>
          </a:p>
          <a:p>
            <a:r>
              <a:rPr lang="en-US" sz="3000" dirty="0"/>
              <a:t>Or the alchemy of both.</a:t>
            </a:r>
          </a:p>
        </p:txBody>
      </p:sp>
      <p:sp>
        <p:nvSpPr>
          <p:cNvPr id="4" name="Footer Placeholder 3">
            <a:extLst>
              <a:ext uri="{FF2B5EF4-FFF2-40B4-BE49-F238E27FC236}">
                <a16:creationId xmlns:a16="http://schemas.microsoft.com/office/drawing/2014/main" id="{A536A8A5-FB10-4A0B-CFD6-A9C45483D1F5}"/>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826CC5F1-E2A0-18BE-1345-D8154AC20201}"/>
              </a:ext>
            </a:extLst>
          </p:cNvPr>
          <p:cNvSpPr>
            <a:spLocks noGrp="1"/>
          </p:cNvSpPr>
          <p:nvPr>
            <p:ph type="sldNum" sz="quarter" idx="12"/>
          </p:nvPr>
        </p:nvSpPr>
        <p:spPr/>
        <p:txBody>
          <a:bodyPr/>
          <a:lstStyle/>
          <a:p>
            <a:fld id="{00E774E6-6CB7-4DC2-8F39-01C2CA722D2F}" type="slidenum">
              <a:rPr lang="en-US" smtClean="0"/>
              <a:t>19</a:t>
            </a:fld>
            <a:endParaRPr lang="en-US"/>
          </a:p>
        </p:txBody>
      </p:sp>
    </p:spTree>
    <p:extLst>
      <p:ext uri="{BB962C8B-B14F-4D97-AF65-F5344CB8AC3E}">
        <p14:creationId xmlns:p14="http://schemas.microsoft.com/office/powerpoint/2010/main" val="4244657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01385-4677-96BF-B5DA-948CDCA410BB}"/>
              </a:ext>
            </a:extLst>
          </p:cNvPr>
          <p:cNvSpPr>
            <a:spLocks noGrp="1"/>
          </p:cNvSpPr>
          <p:nvPr>
            <p:ph type="title"/>
          </p:nvPr>
        </p:nvSpPr>
        <p:spPr/>
        <p:txBody>
          <a:bodyPr/>
          <a:lstStyle/>
          <a:p>
            <a:r>
              <a:rPr lang="en-US" sz="3200" dirty="0"/>
              <a:t>Roberts Narrative of the Constitutional Presidency—Supposedly Rooted in History</a:t>
            </a:r>
          </a:p>
        </p:txBody>
      </p:sp>
      <p:sp>
        <p:nvSpPr>
          <p:cNvPr id="3" name="Content Placeholder 2">
            <a:extLst>
              <a:ext uri="{FF2B5EF4-FFF2-40B4-BE49-F238E27FC236}">
                <a16:creationId xmlns:a16="http://schemas.microsoft.com/office/drawing/2014/main" id="{EE1A87E1-6899-8455-3B4B-CFEECBDA9A9A}"/>
              </a:ext>
            </a:extLst>
          </p:cNvPr>
          <p:cNvSpPr>
            <a:spLocks noGrp="1"/>
          </p:cNvSpPr>
          <p:nvPr>
            <p:ph idx="1"/>
          </p:nvPr>
        </p:nvSpPr>
        <p:spPr/>
        <p:txBody>
          <a:bodyPr>
            <a:normAutofit fontScale="70000" lnSpcReduction="20000"/>
          </a:bodyPr>
          <a:lstStyle/>
          <a:p>
            <a:r>
              <a:rPr lang="en-US" dirty="0">
                <a:solidFill>
                  <a:srgbClr val="FF0000"/>
                </a:solidFill>
              </a:rPr>
              <a:t>The One-Person Branch</a:t>
            </a:r>
            <a:r>
              <a:rPr lang="en-US" dirty="0"/>
              <a:t>: The President “occupies a unique position in the constitutional scheme,” as “the only person who alone composes a branch of government,” </a:t>
            </a:r>
            <a:r>
              <a:rPr lang="en-US" i="1" dirty="0"/>
              <a:t>Trump v. Mazars USA</a:t>
            </a:r>
            <a:r>
              <a:rPr lang="en-US" dirty="0"/>
              <a:t>, LLP, 591 U. S. 848, 868 (2020).</a:t>
            </a:r>
          </a:p>
          <a:p>
            <a:r>
              <a:rPr lang="en-US" dirty="0">
                <a:solidFill>
                  <a:srgbClr val="FF0000"/>
                </a:solidFill>
              </a:rPr>
              <a:t>The Unbreakable Chain of Command</a:t>
            </a:r>
            <a:r>
              <a:rPr lang="en-US" dirty="0"/>
              <a:t>: Today, thousands of officers wield executive power on behalf of the President in the name of the United States. That power acquires its legitimacy and accountability to the public through “a clear and effective chain of command” down from the President, on whom all the people vote. </a:t>
            </a:r>
            <a:r>
              <a:rPr lang="en-US" i="1" dirty="0"/>
              <a:t>Free Enterprise Fund</a:t>
            </a:r>
            <a:r>
              <a:rPr lang="en-US" dirty="0"/>
              <a:t>, 561 U. S., at 498. </a:t>
            </a:r>
          </a:p>
          <a:p>
            <a:r>
              <a:rPr lang="en-US" dirty="0">
                <a:solidFill>
                  <a:srgbClr val="FF0000"/>
                </a:solidFill>
              </a:rPr>
              <a:t>The Uncheckable Power</a:t>
            </a:r>
            <a:r>
              <a:rPr lang="en-US" dirty="0"/>
              <a:t>: Congress cannot act on, and courts cannot examine, the President’s actions on subjects within his “conclusive and preclusive” constitutional authority. </a:t>
            </a:r>
            <a:r>
              <a:rPr lang="en-US" i="1" dirty="0"/>
              <a:t>Trump v. U.S. </a:t>
            </a:r>
            <a:r>
              <a:rPr lang="en-US" dirty="0"/>
              <a:t>(2024)—Includes removal power, control over Investigative and prosecutorial decisionmaking </a:t>
            </a:r>
          </a:p>
          <a:p>
            <a:endParaRPr lang="en-US" dirty="0"/>
          </a:p>
        </p:txBody>
      </p:sp>
      <p:sp>
        <p:nvSpPr>
          <p:cNvPr id="4" name="Footer Placeholder 3">
            <a:extLst>
              <a:ext uri="{FF2B5EF4-FFF2-40B4-BE49-F238E27FC236}">
                <a16:creationId xmlns:a16="http://schemas.microsoft.com/office/drawing/2014/main" id="{0AAFD047-EBFF-A41F-308B-421EEAA5CE21}"/>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8053A6D0-0BB2-128E-2436-F4389F9B2101}"/>
              </a:ext>
            </a:extLst>
          </p:cNvPr>
          <p:cNvSpPr>
            <a:spLocks noGrp="1"/>
          </p:cNvSpPr>
          <p:nvPr>
            <p:ph type="sldNum" sz="quarter" idx="12"/>
          </p:nvPr>
        </p:nvSpPr>
        <p:spPr/>
        <p:txBody>
          <a:bodyPr/>
          <a:lstStyle/>
          <a:p>
            <a:fld id="{00E774E6-6CB7-4DC2-8F39-01C2CA722D2F}" type="slidenum">
              <a:rPr lang="en-US" smtClean="0"/>
              <a:t>20</a:t>
            </a:fld>
            <a:endParaRPr lang="en-US"/>
          </a:p>
        </p:txBody>
      </p:sp>
    </p:spTree>
    <p:extLst>
      <p:ext uri="{BB962C8B-B14F-4D97-AF65-F5344CB8AC3E}">
        <p14:creationId xmlns:p14="http://schemas.microsoft.com/office/powerpoint/2010/main" val="182216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47B07-2282-2DE4-CADF-434D4A776D2F}"/>
              </a:ext>
            </a:extLst>
          </p:cNvPr>
          <p:cNvSpPr>
            <a:spLocks noGrp="1"/>
          </p:cNvSpPr>
          <p:nvPr>
            <p:ph type="title"/>
          </p:nvPr>
        </p:nvSpPr>
        <p:spPr/>
        <p:txBody>
          <a:bodyPr/>
          <a:lstStyle/>
          <a:p>
            <a:r>
              <a:rPr lang="en-US" sz="4000" dirty="0"/>
              <a:t>Shane: The Likeliest Coherent Reading of the Text: 1789 or Now</a:t>
            </a:r>
          </a:p>
        </p:txBody>
      </p:sp>
      <p:sp>
        <p:nvSpPr>
          <p:cNvPr id="3" name="Content Placeholder 2">
            <a:extLst>
              <a:ext uri="{FF2B5EF4-FFF2-40B4-BE49-F238E27FC236}">
                <a16:creationId xmlns:a16="http://schemas.microsoft.com/office/drawing/2014/main" id="{3E62F286-61BD-3AF1-FCFD-F976FE074D6B}"/>
              </a:ext>
            </a:extLst>
          </p:cNvPr>
          <p:cNvSpPr>
            <a:spLocks noGrp="1"/>
          </p:cNvSpPr>
          <p:nvPr>
            <p:ph idx="1"/>
          </p:nvPr>
        </p:nvSpPr>
        <p:spPr/>
        <p:txBody>
          <a:bodyPr>
            <a:normAutofit fontScale="70000" lnSpcReduction="20000"/>
          </a:bodyPr>
          <a:lstStyle/>
          <a:p>
            <a:r>
              <a:rPr lang="en-US" dirty="0"/>
              <a:t>POTUS heads the executive branch</a:t>
            </a:r>
          </a:p>
          <a:p>
            <a:r>
              <a:rPr lang="en-US" dirty="0"/>
              <a:t>Powers granted to the President are executive, i.e., related to the execution of the law</a:t>
            </a:r>
          </a:p>
          <a:p>
            <a:r>
              <a:rPr lang="en-US" dirty="0"/>
              <a:t>Congress determines how law is best executed</a:t>
            </a:r>
          </a:p>
          <a:p>
            <a:r>
              <a:rPr lang="en-US" dirty="0"/>
              <a:t>Congress creates “executive departments” and assigns them duties</a:t>
            </a:r>
          </a:p>
          <a:p>
            <a:r>
              <a:rPr lang="en-US" dirty="0"/>
              <a:t>President supervises the execution of law, making sure it is done “faithfully”</a:t>
            </a:r>
          </a:p>
          <a:p>
            <a:r>
              <a:rPr lang="en-US" dirty="0"/>
              <a:t>President may demand reports from heads of the executive departments</a:t>
            </a:r>
          </a:p>
          <a:p>
            <a:r>
              <a:rPr lang="en-US" dirty="0"/>
              <a:t>Departments also include “inferior officers,” who may be appointed with advice and consent, but also—at Congress’s choice—by POTUS alone, by department heads, or by Courts of Law</a:t>
            </a:r>
          </a:p>
        </p:txBody>
      </p:sp>
      <p:sp>
        <p:nvSpPr>
          <p:cNvPr id="4" name="Footer Placeholder 3">
            <a:extLst>
              <a:ext uri="{FF2B5EF4-FFF2-40B4-BE49-F238E27FC236}">
                <a16:creationId xmlns:a16="http://schemas.microsoft.com/office/drawing/2014/main" id="{08481AE7-0F58-5E60-5D54-30CC117646AF}"/>
              </a:ext>
            </a:extLst>
          </p:cNvPr>
          <p:cNvSpPr>
            <a:spLocks noGrp="1"/>
          </p:cNvSpPr>
          <p:nvPr>
            <p:ph type="ftr" sz="quarter" idx="11"/>
          </p:nvPr>
        </p:nvSpPr>
        <p:spPr/>
        <p:txBody>
          <a:bodyPr/>
          <a:lstStyle/>
          <a:p>
            <a:r>
              <a:rPr lang="en-US"/>
              <a:t>© Copyright 2026.  Peter M. Shane All rights reserved. </a:t>
            </a:r>
          </a:p>
        </p:txBody>
      </p:sp>
      <p:sp>
        <p:nvSpPr>
          <p:cNvPr id="5" name="Slide Number Placeholder 4">
            <a:extLst>
              <a:ext uri="{FF2B5EF4-FFF2-40B4-BE49-F238E27FC236}">
                <a16:creationId xmlns:a16="http://schemas.microsoft.com/office/drawing/2014/main" id="{2C6F8046-B56D-39EC-221B-740D37A3AE5D}"/>
              </a:ext>
            </a:extLst>
          </p:cNvPr>
          <p:cNvSpPr>
            <a:spLocks noGrp="1"/>
          </p:cNvSpPr>
          <p:nvPr>
            <p:ph type="sldNum" sz="quarter" idx="12"/>
          </p:nvPr>
        </p:nvSpPr>
        <p:spPr/>
        <p:txBody>
          <a:bodyPr/>
          <a:lstStyle/>
          <a:p>
            <a:fld id="{00E774E6-6CB7-4DC2-8F39-01C2CA722D2F}" type="slidenum">
              <a:rPr lang="en-US" smtClean="0"/>
              <a:t>21</a:t>
            </a:fld>
            <a:endParaRPr lang="en-US"/>
          </a:p>
        </p:txBody>
      </p:sp>
    </p:spTree>
    <p:extLst>
      <p:ext uri="{BB962C8B-B14F-4D97-AF65-F5344CB8AC3E}">
        <p14:creationId xmlns:p14="http://schemas.microsoft.com/office/powerpoint/2010/main" val="2670755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ooter Placeholder 4">
            <a:extLst>
              <a:ext uri="{FF2B5EF4-FFF2-40B4-BE49-F238E27FC236}">
                <a16:creationId xmlns:a16="http://schemas.microsoft.com/office/drawing/2014/main" id="{0DB2A382-6829-F939-F1FE-76B04F38EC3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 Copyright 2026.  Peter M. Shane All rights reserved. </a:t>
            </a:r>
          </a:p>
        </p:txBody>
      </p:sp>
      <p:sp>
        <p:nvSpPr>
          <p:cNvPr id="17410" name="Rectangle 2">
            <a:extLst>
              <a:ext uri="{FF2B5EF4-FFF2-40B4-BE49-F238E27FC236}">
                <a16:creationId xmlns:a16="http://schemas.microsoft.com/office/drawing/2014/main" id="{7BA45538-EA6A-01C6-C1B1-A4259558D344}"/>
              </a:ext>
            </a:extLst>
          </p:cNvPr>
          <p:cNvSpPr>
            <a:spLocks noGrp="1" noChangeArrowheads="1"/>
          </p:cNvSpPr>
          <p:nvPr>
            <p:ph type="title"/>
          </p:nvPr>
        </p:nvSpPr>
        <p:spPr/>
        <p:txBody>
          <a:bodyPr/>
          <a:lstStyle/>
          <a:p>
            <a:pPr eaLnBrk="1" hangingPunct="1"/>
            <a:r>
              <a:rPr lang="en-US" altLang="en-US" sz="4000"/>
              <a:t>Unitary Executive v.</a:t>
            </a:r>
            <a:br>
              <a:rPr lang="en-US" altLang="en-US" sz="4000"/>
            </a:br>
            <a:r>
              <a:rPr lang="en-US" altLang="en-US" sz="4000"/>
              <a:t>Checks and Balances Executive</a:t>
            </a:r>
          </a:p>
        </p:txBody>
      </p:sp>
      <p:graphicFrame>
        <p:nvGraphicFramePr>
          <p:cNvPr id="8223" name="Group 31">
            <a:extLst>
              <a:ext uri="{FF2B5EF4-FFF2-40B4-BE49-F238E27FC236}">
                <a16:creationId xmlns:a16="http://schemas.microsoft.com/office/drawing/2014/main" id="{99BD63E1-B3C8-D751-1A3E-F194D8028BE1}"/>
              </a:ext>
            </a:extLst>
          </p:cNvPr>
          <p:cNvGraphicFramePr>
            <a:graphicFrameLocks noGrp="1"/>
          </p:cNvGraphicFramePr>
          <p:nvPr>
            <p:ph idx="1"/>
          </p:nvPr>
        </p:nvGraphicFramePr>
        <p:xfrm>
          <a:off x="457200" y="1600200"/>
          <a:ext cx="8229600" cy="4475163"/>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945028">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charset="0"/>
                        </a:rPr>
                        <a:t>Unitary Executive</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charset="0"/>
                        </a:rPr>
                        <a:t>Checks and Balances Executive</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30135">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altLang="en-US" sz="2800" b="0" i="0" u="none" strike="noStrike" cap="none" normalizeH="0" baseline="0">
                          <a:ln>
                            <a:noFill/>
                          </a:ln>
                          <a:solidFill>
                            <a:schemeClr val="tx1"/>
                          </a:solidFill>
                          <a:effectLst/>
                          <a:latin typeface="Arial" charset="0"/>
                        </a:rPr>
                        <a:t>  </a:t>
                      </a:r>
                      <a:r>
                        <a:rPr kumimoji="0" lang="en-US" altLang="en-US" sz="2400" b="0" i="0" u="none" strike="noStrike" cap="none" normalizeH="0" baseline="0">
                          <a:ln>
                            <a:noFill/>
                          </a:ln>
                          <a:solidFill>
                            <a:schemeClr val="tx1"/>
                          </a:solidFill>
                          <a:effectLst/>
                          <a:latin typeface="Arial" charset="0"/>
                        </a:rPr>
                        <a:t>President may command how all discretion vested in EB is exercised</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charset="0"/>
                        </a:rPr>
                        <a:t>  Disobedience = grounds for dismissal under President’s plenary power to fire at will</a:t>
                      </a:r>
                    </a:p>
                  </a:txBody>
                  <a:tcPr marT="45727" marB="457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charset="0"/>
                        </a:rPr>
                        <a:t>  Statutory discretion vested in EB must be exercised by the officer designated by Congress</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charset="0"/>
                        </a:rPr>
                        <a:t>  President may cajole, persuade, nudge, etc.</a:t>
                      </a:r>
                    </a:p>
                    <a:p>
                      <a:pPr marL="0" marR="0" lvl="0" indent="0" algn="l" defTabSz="914400" rtl="0" eaLnBrk="1" fontAlgn="base" latinLnBrk="0" hangingPunct="1">
                        <a:lnSpc>
                          <a:spcPct val="100000"/>
                        </a:lnSpc>
                        <a:spcBef>
                          <a:spcPct val="2000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charset="0"/>
                        </a:rPr>
                        <a:t>  If officer displeases President, may be fired if Congress permits</a:t>
                      </a:r>
                    </a:p>
                  </a:txBody>
                  <a:tcPr marT="45727" marB="457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7422" name="Slide Number Placeholder 1">
            <a:extLst>
              <a:ext uri="{FF2B5EF4-FFF2-40B4-BE49-F238E27FC236}">
                <a16:creationId xmlns:a16="http://schemas.microsoft.com/office/drawing/2014/main" id="{0E5F7271-416C-3BE4-3BFE-A0C07BFDC1D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1F1242-53BD-40DB-B229-A8EBB5FC5697}" type="slidenum">
              <a:rPr lang="en-US" altLang="en-US" sz="1400" smtClean="0"/>
              <a:pPr>
                <a:spcBef>
                  <a:spcPct val="0"/>
                </a:spcBef>
                <a:buFontTx/>
                <a:buNone/>
              </a:pPr>
              <a:t>22</a:t>
            </a:fld>
            <a:endParaRPr lang="en-US" altLang="en-US" sz="1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Footer Placeholder 4">
            <a:extLst>
              <a:ext uri="{FF2B5EF4-FFF2-40B4-BE49-F238E27FC236}">
                <a16:creationId xmlns:a16="http://schemas.microsoft.com/office/drawing/2014/main" id="{5FCC13F7-D2C7-52E6-9F8E-600E4D93B80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 Copyright 2026.  Peter M. Shane All rights reserved. </a:t>
            </a:r>
          </a:p>
        </p:txBody>
      </p:sp>
      <p:sp>
        <p:nvSpPr>
          <p:cNvPr id="18434" name="Rectangle 2">
            <a:extLst>
              <a:ext uri="{FF2B5EF4-FFF2-40B4-BE49-F238E27FC236}">
                <a16:creationId xmlns:a16="http://schemas.microsoft.com/office/drawing/2014/main" id="{307300BA-CEF5-6F57-AF47-0E11BC530C13}"/>
              </a:ext>
            </a:extLst>
          </p:cNvPr>
          <p:cNvSpPr>
            <a:spLocks noGrp="1" noChangeArrowheads="1"/>
          </p:cNvSpPr>
          <p:nvPr>
            <p:ph type="title"/>
          </p:nvPr>
        </p:nvSpPr>
        <p:spPr/>
        <p:txBody>
          <a:bodyPr/>
          <a:lstStyle/>
          <a:p>
            <a:pPr eaLnBrk="1" hangingPunct="1"/>
            <a:r>
              <a:rPr lang="en-US" altLang="en-US" sz="4000"/>
              <a:t>Segue to Appointments/Removals</a:t>
            </a:r>
          </a:p>
        </p:txBody>
      </p:sp>
      <p:sp>
        <p:nvSpPr>
          <p:cNvPr id="18435" name="Rectangle 3">
            <a:extLst>
              <a:ext uri="{FF2B5EF4-FFF2-40B4-BE49-F238E27FC236}">
                <a16:creationId xmlns:a16="http://schemas.microsoft.com/office/drawing/2014/main" id="{F9485EA5-4C63-9BEA-AD26-066422F4A762}"/>
              </a:ext>
            </a:extLst>
          </p:cNvPr>
          <p:cNvSpPr>
            <a:spLocks noGrp="1" noChangeArrowheads="1"/>
          </p:cNvSpPr>
          <p:nvPr>
            <p:ph type="body" idx="1"/>
          </p:nvPr>
        </p:nvSpPr>
        <p:spPr/>
        <p:txBody>
          <a:bodyPr/>
          <a:lstStyle/>
          <a:p>
            <a:pPr eaLnBrk="1" hangingPunct="1"/>
            <a:r>
              <a:rPr lang="en-US" altLang="en-US"/>
              <a:t>Never directly tested in Court; assumption is removal/appointment powers analytically linked to this question</a:t>
            </a:r>
          </a:p>
          <a:p>
            <a:pPr lvl="1" eaLnBrk="1" hangingPunct="1"/>
            <a:r>
              <a:rPr lang="en-US" altLang="en-US"/>
              <a:t>Is it?  Even if President can fire everyone at will, he might not be able to directly impose how discretionary matters are resolved</a:t>
            </a:r>
          </a:p>
          <a:p>
            <a:pPr lvl="1" eaLnBrk="1" hangingPunct="1"/>
            <a:r>
              <a:rPr lang="en-US" altLang="en-US"/>
              <a:t>Consider what the difference might be in practice</a:t>
            </a:r>
          </a:p>
          <a:p>
            <a:pPr eaLnBrk="1" hangingPunct="1"/>
            <a:endParaRPr lang="en-US" altLang="en-US" sz="2800"/>
          </a:p>
        </p:txBody>
      </p:sp>
      <p:sp>
        <p:nvSpPr>
          <p:cNvPr id="18436" name="Slide Number Placeholder 1">
            <a:extLst>
              <a:ext uri="{FF2B5EF4-FFF2-40B4-BE49-F238E27FC236}">
                <a16:creationId xmlns:a16="http://schemas.microsoft.com/office/drawing/2014/main" id="{6232E055-6D01-F9E6-1265-4A5B6F5C473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66A667E-A7C7-4246-AB5D-AB84FF6CF507}" type="slidenum">
              <a:rPr lang="en-US" altLang="en-US" sz="1400" smtClean="0"/>
              <a:pPr>
                <a:spcBef>
                  <a:spcPct val="0"/>
                </a:spcBef>
                <a:buFontTx/>
                <a:buNone/>
              </a:pPr>
              <a:t>23</a:t>
            </a:fld>
            <a:endParaRPr lang="en-US" altLang="en-US" sz="1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Footer Placeholder 4">
            <a:extLst>
              <a:ext uri="{FF2B5EF4-FFF2-40B4-BE49-F238E27FC236}">
                <a16:creationId xmlns:a16="http://schemas.microsoft.com/office/drawing/2014/main" id="{B68D9B95-C0E6-091E-610D-87E4A34503D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 Copyright 2026.  Peter M. Shane All rights reserved. </a:t>
            </a:r>
          </a:p>
        </p:txBody>
      </p:sp>
      <p:sp>
        <p:nvSpPr>
          <p:cNvPr id="20482" name="Rectangle 2">
            <a:extLst>
              <a:ext uri="{FF2B5EF4-FFF2-40B4-BE49-F238E27FC236}">
                <a16:creationId xmlns:a16="http://schemas.microsoft.com/office/drawing/2014/main" id="{449AEC12-36E0-959D-E6E9-67E96EFD8F3F}"/>
              </a:ext>
            </a:extLst>
          </p:cNvPr>
          <p:cNvSpPr>
            <a:spLocks noGrp="1" noChangeArrowheads="1"/>
          </p:cNvSpPr>
          <p:nvPr>
            <p:ph type="title"/>
          </p:nvPr>
        </p:nvSpPr>
        <p:spPr/>
        <p:txBody>
          <a:bodyPr/>
          <a:lstStyle/>
          <a:p>
            <a:pPr eaLnBrk="1" hangingPunct="1"/>
            <a:r>
              <a:rPr lang="en-US" altLang="en-US"/>
              <a:t>Appointments Clause</a:t>
            </a:r>
          </a:p>
        </p:txBody>
      </p:sp>
      <p:sp>
        <p:nvSpPr>
          <p:cNvPr id="20483" name="Rectangle 3">
            <a:extLst>
              <a:ext uri="{FF2B5EF4-FFF2-40B4-BE49-F238E27FC236}">
                <a16:creationId xmlns:a16="http://schemas.microsoft.com/office/drawing/2014/main" id="{61D99ECD-1635-6375-8310-98F9DC3B3D29}"/>
              </a:ext>
            </a:extLst>
          </p:cNvPr>
          <p:cNvSpPr>
            <a:spLocks noGrp="1" noChangeArrowheads="1"/>
          </p:cNvSpPr>
          <p:nvPr>
            <p:ph type="body" idx="1"/>
          </p:nvPr>
        </p:nvSpPr>
        <p:spPr/>
        <p:txBody>
          <a:bodyPr/>
          <a:lstStyle/>
          <a:p>
            <a:pPr eaLnBrk="1" hangingPunct="1"/>
            <a:r>
              <a:rPr lang="en-US" altLang="en-US"/>
              <a:t>4 modes of appointment are expressed</a:t>
            </a:r>
          </a:p>
          <a:p>
            <a:pPr lvl="1" eaLnBrk="1" hangingPunct="1"/>
            <a:r>
              <a:rPr lang="en-US" altLang="en-US"/>
              <a:t>President shall appoint [all principal and some inferior, as Congress determines] </a:t>
            </a:r>
            <a:r>
              <a:rPr lang="en-US" altLang="en-US">
                <a:solidFill>
                  <a:srgbClr val="FF3300"/>
                </a:solidFill>
              </a:rPr>
              <a:t>officers of the US</a:t>
            </a:r>
            <a:r>
              <a:rPr lang="en-US" altLang="en-US"/>
              <a:t> with advice and consent, EXCEPT:</a:t>
            </a:r>
          </a:p>
          <a:p>
            <a:pPr lvl="2" eaLnBrk="1" hangingPunct="1"/>
            <a:r>
              <a:rPr lang="en-US" altLang="en-US" sz="2800"/>
              <a:t>For “inferior officers” Congress may vest appointment authority in:</a:t>
            </a:r>
          </a:p>
          <a:p>
            <a:pPr lvl="3" eaLnBrk="1" hangingPunct="1"/>
            <a:r>
              <a:rPr lang="en-US" altLang="en-US" sz="2400"/>
              <a:t>President alone</a:t>
            </a:r>
          </a:p>
          <a:p>
            <a:pPr lvl="3" eaLnBrk="1" hangingPunct="1"/>
            <a:r>
              <a:rPr lang="en-US" altLang="en-US" sz="2400"/>
              <a:t>Heads of departments</a:t>
            </a:r>
          </a:p>
          <a:p>
            <a:pPr lvl="3" eaLnBrk="1" hangingPunct="1"/>
            <a:r>
              <a:rPr lang="en-US" altLang="en-US" sz="2400"/>
              <a:t>Courts of law</a:t>
            </a:r>
          </a:p>
        </p:txBody>
      </p:sp>
      <p:sp>
        <p:nvSpPr>
          <p:cNvPr id="20484" name="Slide Number Placeholder 1">
            <a:extLst>
              <a:ext uri="{FF2B5EF4-FFF2-40B4-BE49-F238E27FC236}">
                <a16:creationId xmlns:a16="http://schemas.microsoft.com/office/drawing/2014/main" id="{E6C579B0-BF71-45E5-1537-7311424876B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27F7489-DB61-4C8C-B86B-608E3AF4F4A7}" type="slidenum">
              <a:rPr lang="en-US" altLang="en-US" sz="1400" smtClean="0"/>
              <a:pPr>
                <a:spcBef>
                  <a:spcPct val="0"/>
                </a:spcBef>
                <a:buFontTx/>
                <a:buNone/>
              </a:pPr>
              <a:t>24</a:t>
            </a:fld>
            <a:endParaRPr lang="en-US" altLang="en-US" sz="1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Footer Placeholder 4">
            <a:extLst>
              <a:ext uri="{FF2B5EF4-FFF2-40B4-BE49-F238E27FC236}">
                <a16:creationId xmlns:a16="http://schemas.microsoft.com/office/drawing/2014/main" id="{ABA1D6B7-7761-D63A-EEC6-4DEB901164F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 Copyright 2026.  Peter M. Shane All rights reserved. </a:t>
            </a:r>
          </a:p>
        </p:txBody>
      </p:sp>
      <p:sp>
        <p:nvSpPr>
          <p:cNvPr id="19458" name="Rectangle 2">
            <a:extLst>
              <a:ext uri="{FF2B5EF4-FFF2-40B4-BE49-F238E27FC236}">
                <a16:creationId xmlns:a16="http://schemas.microsoft.com/office/drawing/2014/main" id="{7BF33BC6-A73C-8C3E-ED79-274AFD905424}"/>
              </a:ext>
            </a:extLst>
          </p:cNvPr>
          <p:cNvSpPr>
            <a:spLocks noGrp="1" noChangeArrowheads="1"/>
          </p:cNvSpPr>
          <p:nvPr>
            <p:ph type="title"/>
          </p:nvPr>
        </p:nvSpPr>
        <p:spPr/>
        <p:txBody>
          <a:bodyPr/>
          <a:lstStyle/>
          <a:p>
            <a:pPr eaLnBrk="1" hangingPunct="1"/>
            <a:r>
              <a:rPr lang="en-US" altLang="en-US"/>
              <a:t>Federal Election Commission</a:t>
            </a:r>
          </a:p>
        </p:txBody>
      </p:sp>
      <p:sp>
        <p:nvSpPr>
          <p:cNvPr id="12291" name="Rectangle 3">
            <a:extLst>
              <a:ext uri="{FF2B5EF4-FFF2-40B4-BE49-F238E27FC236}">
                <a16:creationId xmlns:a16="http://schemas.microsoft.com/office/drawing/2014/main" id="{08065D77-2D6F-1B58-9BFD-30C98C202A65}"/>
              </a:ext>
            </a:extLst>
          </p:cNvPr>
          <p:cNvSpPr>
            <a:spLocks noGrp="1" noChangeArrowheads="1"/>
          </p:cNvSpPr>
          <p:nvPr>
            <p:ph type="body" idx="1"/>
          </p:nvPr>
        </p:nvSpPr>
        <p:spPr/>
        <p:txBody>
          <a:bodyPr/>
          <a:lstStyle/>
          <a:p>
            <a:pPr eaLnBrk="1" hangingPunct="1">
              <a:lnSpc>
                <a:spcPct val="80000"/>
              </a:lnSpc>
            </a:pPr>
            <a:r>
              <a:rPr lang="en-US" altLang="en-US" sz="2000" dirty="0"/>
              <a:t>Structure</a:t>
            </a:r>
          </a:p>
          <a:p>
            <a:pPr lvl="1" eaLnBrk="1" hangingPunct="1">
              <a:lnSpc>
                <a:spcPct val="80000"/>
              </a:lnSpc>
            </a:pPr>
            <a:r>
              <a:rPr lang="en-US" altLang="en-US" sz="1800" dirty="0"/>
              <a:t>Senate Sec’y and House clerk ex officio</a:t>
            </a:r>
          </a:p>
          <a:p>
            <a:pPr lvl="1" eaLnBrk="1" hangingPunct="1">
              <a:lnSpc>
                <a:spcPct val="80000"/>
              </a:lnSpc>
            </a:pPr>
            <a:r>
              <a:rPr lang="en-US" altLang="en-US" sz="1800" dirty="0"/>
              <a:t>Pres pro </a:t>
            </a:r>
            <a:r>
              <a:rPr lang="en-US" altLang="en-US" sz="1800" dirty="0" err="1"/>
              <a:t>tem</a:t>
            </a:r>
            <a:r>
              <a:rPr lang="en-US" altLang="en-US" sz="1800" dirty="0"/>
              <a:t> of Senate appoints 2</a:t>
            </a:r>
          </a:p>
          <a:p>
            <a:pPr lvl="1" eaLnBrk="1" hangingPunct="1">
              <a:lnSpc>
                <a:spcPct val="80000"/>
              </a:lnSpc>
            </a:pPr>
            <a:r>
              <a:rPr lang="en-US" altLang="en-US" sz="1800" dirty="0"/>
              <a:t>Speaker of House appoints 2</a:t>
            </a:r>
          </a:p>
          <a:p>
            <a:pPr lvl="1" eaLnBrk="1" hangingPunct="1">
              <a:lnSpc>
                <a:spcPct val="80000"/>
              </a:lnSpc>
            </a:pPr>
            <a:r>
              <a:rPr lang="en-US" altLang="en-US" sz="1800" dirty="0"/>
              <a:t>President appoints 2</a:t>
            </a:r>
          </a:p>
          <a:p>
            <a:pPr eaLnBrk="1" hangingPunct="1">
              <a:lnSpc>
                <a:spcPct val="80000"/>
              </a:lnSpc>
            </a:pPr>
            <a:r>
              <a:rPr lang="en-US" altLang="en-US" sz="2000" dirty="0"/>
              <a:t>Authorities</a:t>
            </a:r>
          </a:p>
          <a:p>
            <a:pPr lvl="1" eaLnBrk="1" hangingPunct="1">
              <a:lnSpc>
                <a:spcPct val="80000"/>
              </a:lnSpc>
            </a:pPr>
            <a:r>
              <a:rPr lang="en-US" altLang="en-US" sz="1800" dirty="0"/>
              <a:t>Enforcement powers (bringing lawsuits for breaches of law)</a:t>
            </a:r>
          </a:p>
          <a:p>
            <a:pPr lvl="1" eaLnBrk="1" hangingPunct="1">
              <a:lnSpc>
                <a:spcPct val="80000"/>
              </a:lnSpc>
            </a:pPr>
            <a:r>
              <a:rPr lang="en-US" altLang="en-US" sz="1800" dirty="0"/>
              <a:t>Administrative rulemaking</a:t>
            </a:r>
          </a:p>
          <a:p>
            <a:pPr lvl="1" eaLnBrk="1" hangingPunct="1">
              <a:lnSpc>
                <a:spcPct val="80000"/>
              </a:lnSpc>
            </a:pPr>
            <a:r>
              <a:rPr lang="en-US" altLang="en-US" sz="1800" dirty="0"/>
              <a:t>Administrative adjudication</a:t>
            </a:r>
          </a:p>
          <a:p>
            <a:pPr lvl="1" eaLnBrk="1" hangingPunct="1">
              <a:lnSpc>
                <a:spcPct val="80000"/>
              </a:lnSpc>
            </a:pPr>
            <a:r>
              <a:rPr lang="en-US" altLang="en-US" sz="1800" dirty="0"/>
              <a:t>Determinations of eligibility</a:t>
            </a:r>
          </a:p>
          <a:p>
            <a:pPr lvl="1" eaLnBrk="1" hangingPunct="1">
              <a:lnSpc>
                <a:spcPct val="80000"/>
              </a:lnSpc>
            </a:pPr>
            <a:r>
              <a:rPr lang="en-US" altLang="en-US" sz="1800" dirty="0"/>
              <a:t>Advisory opinions</a:t>
            </a:r>
          </a:p>
          <a:p>
            <a:pPr eaLnBrk="1" hangingPunct="1">
              <a:lnSpc>
                <a:spcPct val="80000"/>
              </a:lnSpc>
            </a:pPr>
            <a:r>
              <a:rPr lang="en-US" altLang="en-US" sz="2000" dirty="0"/>
              <a:t>Buckley’s challenge</a:t>
            </a:r>
          </a:p>
          <a:p>
            <a:pPr lvl="1" eaLnBrk="1" hangingPunct="1">
              <a:lnSpc>
                <a:spcPct val="80000"/>
              </a:lnSpc>
            </a:pPr>
            <a:r>
              <a:rPr lang="en-US" altLang="en-US" sz="1800" dirty="0"/>
              <a:t>Anybody who does what the FEC does must be an “officer of the United States”</a:t>
            </a:r>
          </a:p>
          <a:p>
            <a:pPr lvl="1" eaLnBrk="1" hangingPunct="1">
              <a:lnSpc>
                <a:spcPct val="80000"/>
              </a:lnSpc>
            </a:pPr>
            <a:r>
              <a:rPr lang="en-US" altLang="en-US" sz="1800" dirty="0"/>
              <a:t>Officers of the U.S. must be appointed pursuant to Article II of the Constitution – and 6/8 folks on the FEC are not</a:t>
            </a:r>
          </a:p>
        </p:txBody>
      </p:sp>
      <p:sp>
        <p:nvSpPr>
          <p:cNvPr id="19460" name="Slide Number Placeholder 1">
            <a:extLst>
              <a:ext uri="{FF2B5EF4-FFF2-40B4-BE49-F238E27FC236}">
                <a16:creationId xmlns:a16="http://schemas.microsoft.com/office/drawing/2014/main" id="{341251C0-F863-A239-FCF7-5DFD9C107F1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E80CA1C-E2AB-4CE5-92E1-A353448447A0}" type="slidenum">
              <a:rPr lang="en-US" altLang="en-US" sz="1400" smtClean="0"/>
              <a:pPr>
                <a:spcBef>
                  <a:spcPct val="0"/>
                </a:spcBef>
                <a:buFontTx/>
                <a:buNone/>
              </a:pPr>
              <a:t>25</a:t>
            </a:fld>
            <a:endParaRPr lang="en-US" altLang="en-US"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anim calcmode="lin" valueType="num">
                                      <p:cBhvr additive="base">
                                        <p:cTn id="11" dur="5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29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anim calcmode="lin" valueType="num">
                                      <p:cBhvr additive="base">
                                        <p:cTn id="15" dur="5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29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anim calcmode="lin" valueType="num">
                                      <p:cBhvr additive="base">
                                        <p:cTn id="19" dur="5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91">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2291">
                                            <p:txEl>
                                              <p:pRg st="4" end="4"/>
                                            </p:txEl>
                                          </p:spTgt>
                                        </p:tgtEl>
                                        <p:attrNameLst>
                                          <p:attrName>style.visibility</p:attrName>
                                        </p:attrNameLst>
                                      </p:cBhvr>
                                      <p:to>
                                        <p:strVal val="visible"/>
                                      </p:to>
                                    </p:set>
                                    <p:anim calcmode="lin" valueType="num">
                                      <p:cBhvr additive="base">
                                        <p:cTn id="23" dur="500" fill="hold"/>
                                        <p:tgtEl>
                                          <p:spTgt spid="1229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29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2291">
                                            <p:txEl>
                                              <p:pRg st="5" end="5"/>
                                            </p:txEl>
                                          </p:spTgt>
                                        </p:tgtEl>
                                        <p:attrNameLst>
                                          <p:attrName>style.visibility</p:attrName>
                                        </p:attrNameLst>
                                      </p:cBhvr>
                                      <p:to>
                                        <p:strVal val="visible"/>
                                      </p:to>
                                    </p:set>
                                    <p:anim calcmode="lin" valueType="num">
                                      <p:cBhvr additive="base">
                                        <p:cTn id="29" dur="500" fill="hold"/>
                                        <p:tgtEl>
                                          <p:spTgt spid="1229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29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291">
                                            <p:txEl>
                                              <p:pRg st="6" end="6"/>
                                            </p:txEl>
                                          </p:spTgt>
                                        </p:tgtEl>
                                        <p:attrNameLst>
                                          <p:attrName>style.visibility</p:attrName>
                                        </p:attrNameLst>
                                      </p:cBhvr>
                                      <p:to>
                                        <p:strVal val="visible"/>
                                      </p:to>
                                    </p:set>
                                    <p:anim calcmode="lin" valueType="num">
                                      <p:cBhvr additive="base">
                                        <p:cTn id="33" dur="500" fill="hold"/>
                                        <p:tgtEl>
                                          <p:spTgt spid="1229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229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2291">
                                            <p:txEl>
                                              <p:pRg st="7" end="7"/>
                                            </p:txEl>
                                          </p:spTgt>
                                        </p:tgtEl>
                                        <p:attrNameLst>
                                          <p:attrName>style.visibility</p:attrName>
                                        </p:attrNameLst>
                                      </p:cBhvr>
                                      <p:to>
                                        <p:strVal val="visible"/>
                                      </p:to>
                                    </p:set>
                                    <p:anim calcmode="lin" valueType="num">
                                      <p:cBhvr additive="base">
                                        <p:cTn id="37" dur="500" fill="hold"/>
                                        <p:tgtEl>
                                          <p:spTgt spid="1229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291">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2291">
                                            <p:txEl>
                                              <p:pRg st="8" end="8"/>
                                            </p:txEl>
                                          </p:spTgt>
                                        </p:tgtEl>
                                        <p:attrNameLst>
                                          <p:attrName>style.visibility</p:attrName>
                                        </p:attrNameLst>
                                      </p:cBhvr>
                                      <p:to>
                                        <p:strVal val="visible"/>
                                      </p:to>
                                    </p:set>
                                    <p:anim calcmode="lin" valueType="num">
                                      <p:cBhvr additive="base">
                                        <p:cTn id="41" dur="500" fill="hold"/>
                                        <p:tgtEl>
                                          <p:spTgt spid="12291">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2291">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2291">
                                            <p:txEl>
                                              <p:pRg st="9" end="9"/>
                                            </p:txEl>
                                          </p:spTgt>
                                        </p:tgtEl>
                                        <p:attrNameLst>
                                          <p:attrName>style.visibility</p:attrName>
                                        </p:attrNameLst>
                                      </p:cBhvr>
                                      <p:to>
                                        <p:strVal val="visible"/>
                                      </p:to>
                                    </p:set>
                                    <p:anim calcmode="lin" valueType="num">
                                      <p:cBhvr additive="base">
                                        <p:cTn id="45" dur="500" fill="hold"/>
                                        <p:tgtEl>
                                          <p:spTgt spid="12291">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2291">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2291">
                                            <p:txEl>
                                              <p:pRg st="10" end="10"/>
                                            </p:txEl>
                                          </p:spTgt>
                                        </p:tgtEl>
                                        <p:attrNameLst>
                                          <p:attrName>style.visibility</p:attrName>
                                        </p:attrNameLst>
                                      </p:cBhvr>
                                      <p:to>
                                        <p:strVal val="visible"/>
                                      </p:to>
                                    </p:set>
                                    <p:anim calcmode="lin" valueType="num">
                                      <p:cBhvr additive="base">
                                        <p:cTn id="49" dur="500" fill="hold"/>
                                        <p:tgtEl>
                                          <p:spTgt spid="12291">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2291">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12291">
                                            <p:txEl>
                                              <p:pRg st="11" end="11"/>
                                            </p:txEl>
                                          </p:spTgt>
                                        </p:tgtEl>
                                        <p:attrNameLst>
                                          <p:attrName>style.visibility</p:attrName>
                                        </p:attrNameLst>
                                      </p:cBhvr>
                                      <p:to>
                                        <p:strVal val="visible"/>
                                      </p:to>
                                    </p:set>
                                    <p:anim calcmode="lin" valueType="num">
                                      <p:cBhvr additive="base">
                                        <p:cTn id="55" dur="500" fill="hold"/>
                                        <p:tgtEl>
                                          <p:spTgt spid="12291">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2291">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2291">
                                            <p:txEl>
                                              <p:pRg st="12" end="12"/>
                                            </p:txEl>
                                          </p:spTgt>
                                        </p:tgtEl>
                                        <p:attrNameLst>
                                          <p:attrName>style.visibility</p:attrName>
                                        </p:attrNameLst>
                                      </p:cBhvr>
                                      <p:to>
                                        <p:strVal val="visible"/>
                                      </p:to>
                                    </p:set>
                                    <p:anim calcmode="lin" valueType="num">
                                      <p:cBhvr additive="base">
                                        <p:cTn id="59" dur="500" fill="hold"/>
                                        <p:tgtEl>
                                          <p:spTgt spid="12291">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2291">
                                            <p:txEl>
                                              <p:pRg st="12" end="12"/>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2291">
                                            <p:txEl>
                                              <p:pRg st="13" end="13"/>
                                            </p:txEl>
                                          </p:spTgt>
                                        </p:tgtEl>
                                        <p:attrNameLst>
                                          <p:attrName>style.visibility</p:attrName>
                                        </p:attrNameLst>
                                      </p:cBhvr>
                                      <p:to>
                                        <p:strVal val="visible"/>
                                      </p:to>
                                    </p:set>
                                    <p:anim calcmode="lin" valueType="num">
                                      <p:cBhvr additive="base">
                                        <p:cTn id="63" dur="500" fill="hold"/>
                                        <p:tgtEl>
                                          <p:spTgt spid="12291">
                                            <p:txEl>
                                              <p:pRg st="13" end="1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2291">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Footer Placeholder 4">
            <a:extLst>
              <a:ext uri="{FF2B5EF4-FFF2-40B4-BE49-F238E27FC236}">
                <a16:creationId xmlns:a16="http://schemas.microsoft.com/office/drawing/2014/main" id="{187C622C-37B7-7F6A-BF46-97C9E250446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 Copyright 2026.  Peter M. Shane All rights reserved. </a:t>
            </a:r>
          </a:p>
        </p:txBody>
      </p:sp>
      <p:sp>
        <p:nvSpPr>
          <p:cNvPr id="21506" name="Rectangle 2">
            <a:extLst>
              <a:ext uri="{FF2B5EF4-FFF2-40B4-BE49-F238E27FC236}">
                <a16:creationId xmlns:a16="http://schemas.microsoft.com/office/drawing/2014/main" id="{6695A6A1-A97F-4A25-DDD1-E5F771B9D10D}"/>
              </a:ext>
            </a:extLst>
          </p:cNvPr>
          <p:cNvSpPr>
            <a:spLocks noGrp="1" noChangeArrowheads="1"/>
          </p:cNvSpPr>
          <p:nvPr>
            <p:ph type="title"/>
          </p:nvPr>
        </p:nvSpPr>
        <p:spPr/>
        <p:txBody>
          <a:bodyPr/>
          <a:lstStyle/>
          <a:p>
            <a:pPr eaLnBrk="1" hangingPunct="1"/>
            <a:r>
              <a:rPr lang="en-US" altLang="en-US" sz="2400"/>
              <a:t>Doctrinally, how do we know if someone doing an administrative job = “an officer of the United States?”</a:t>
            </a:r>
          </a:p>
        </p:txBody>
      </p:sp>
      <p:sp>
        <p:nvSpPr>
          <p:cNvPr id="21507" name="Rectangle 3">
            <a:extLst>
              <a:ext uri="{FF2B5EF4-FFF2-40B4-BE49-F238E27FC236}">
                <a16:creationId xmlns:a16="http://schemas.microsoft.com/office/drawing/2014/main" id="{CF473315-8AB2-DFAC-683F-5325C6F2996F}"/>
              </a:ext>
            </a:extLst>
          </p:cNvPr>
          <p:cNvSpPr>
            <a:spLocks noGrp="1" noChangeArrowheads="1"/>
          </p:cNvSpPr>
          <p:nvPr>
            <p:ph type="body" idx="1"/>
          </p:nvPr>
        </p:nvSpPr>
        <p:spPr/>
        <p:txBody>
          <a:bodyPr/>
          <a:lstStyle/>
          <a:p>
            <a:pPr eaLnBrk="1" hangingPunct="1">
              <a:lnSpc>
                <a:spcPct val="90000"/>
              </a:lnSpc>
            </a:pPr>
            <a:r>
              <a:rPr lang="en-US" altLang="en-US" sz="2800"/>
              <a:t>Have to look at the functions that the individual is performing</a:t>
            </a:r>
          </a:p>
          <a:p>
            <a:pPr lvl="1" eaLnBrk="1" hangingPunct="1">
              <a:lnSpc>
                <a:spcPct val="90000"/>
              </a:lnSpc>
            </a:pPr>
            <a:r>
              <a:rPr lang="en-US" altLang="en-US" sz="2400"/>
              <a:t>Investigations </a:t>
            </a:r>
          </a:p>
          <a:p>
            <a:pPr lvl="1" eaLnBrk="1" hangingPunct="1">
              <a:lnSpc>
                <a:spcPct val="90000"/>
              </a:lnSpc>
            </a:pPr>
            <a:r>
              <a:rPr lang="en-US" altLang="en-US" sz="2400"/>
              <a:t>Clearinghouse</a:t>
            </a:r>
          </a:p>
          <a:p>
            <a:pPr lvl="1" eaLnBrk="1" hangingPunct="1">
              <a:lnSpc>
                <a:spcPct val="90000"/>
              </a:lnSpc>
            </a:pPr>
            <a:r>
              <a:rPr lang="en-US" altLang="en-US" sz="2400"/>
              <a:t>Make rules*</a:t>
            </a:r>
          </a:p>
          <a:p>
            <a:pPr lvl="1" eaLnBrk="1" hangingPunct="1">
              <a:lnSpc>
                <a:spcPct val="90000"/>
              </a:lnSpc>
            </a:pPr>
            <a:r>
              <a:rPr lang="en-US" altLang="en-US" sz="2400"/>
              <a:t>Issue advisory opinions*</a:t>
            </a:r>
          </a:p>
          <a:p>
            <a:pPr lvl="1" eaLnBrk="1" hangingPunct="1">
              <a:lnSpc>
                <a:spcPct val="90000"/>
              </a:lnSpc>
            </a:pPr>
            <a:r>
              <a:rPr lang="en-US" altLang="en-US" sz="2400"/>
              <a:t>Prosecute miscreants*</a:t>
            </a:r>
          </a:p>
          <a:p>
            <a:pPr lvl="1" eaLnBrk="1" hangingPunct="1">
              <a:lnSpc>
                <a:spcPct val="90000"/>
              </a:lnSpc>
            </a:pPr>
            <a:r>
              <a:rPr lang="en-US" altLang="en-US" sz="2400"/>
              <a:t>Hand out money*</a:t>
            </a:r>
          </a:p>
          <a:p>
            <a:pPr lvl="1" eaLnBrk="1" hangingPunct="1">
              <a:lnSpc>
                <a:spcPct val="90000"/>
              </a:lnSpc>
            </a:pPr>
            <a:r>
              <a:rPr lang="en-US" altLang="en-US" sz="2400"/>
              <a:t>Can go to court*</a:t>
            </a:r>
          </a:p>
          <a:p>
            <a:pPr eaLnBrk="1" hangingPunct="1">
              <a:lnSpc>
                <a:spcPct val="90000"/>
              </a:lnSpc>
              <a:buFontTx/>
              <a:buNone/>
            </a:pPr>
            <a:r>
              <a:rPr lang="en-US" altLang="en-US" sz="2800"/>
              <a:t>How do asterisked functions differ from investigations and clearinghouse function?</a:t>
            </a:r>
          </a:p>
        </p:txBody>
      </p:sp>
      <p:sp>
        <p:nvSpPr>
          <p:cNvPr id="21508" name="Slide Number Placeholder 1">
            <a:extLst>
              <a:ext uri="{FF2B5EF4-FFF2-40B4-BE49-F238E27FC236}">
                <a16:creationId xmlns:a16="http://schemas.microsoft.com/office/drawing/2014/main" id="{CC6A7610-C095-0C7A-DED0-68024DD8A15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9FFD03C-57C7-409E-98A9-56E3670913BC}" type="slidenum">
              <a:rPr lang="en-US" altLang="en-US" sz="1400" smtClean="0"/>
              <a:pPr>
                <a:spcBef>
                  <a:spcPct val="0"/>
                </a:spcBef>
                <a:buFontTx/>
                <a:buNone/>
              </a:pPr>
              <a:t>26</a:t>
            </a:fld>
            <a:endParaRPr lang="en-US" altLang="en-US" sz="14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Footer Placeholder 4">
            <a:extLst>
              <a:ext uri="{FF2B5EF4-FFF2-40B4-BE49-F238E27FC236}">
                <a16:creationId xmlns:a16="http://schemas.microsoft.com/office/drawing/2014/main" id="{230947A0-4C11-ACB1-C871-B7767C3AED9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 Copyright 2026.  Peter M. Shane All rights reserved. </a:t>
            </a:r>
          </a:p>
        </p:txBody>
      </p:sp>
      <p:sp>
        <p:nvSpPr>
          <p:cNvPr id="22530" name="Rectangle 2">
            <a:extLst>
              <a:ext uri="{FF2B5EF4-FFF2-40B4-BE49-F238E27FC236}">
                <a16:creationId xmlns:a16="http://schemas.microsoft.com/office/drawing/2014/main" id="{7CC54C56-A878-FC18-C4C0-0CF096C65543}"/>
              </a:ext>
            </a:extLst>
          </p:cNvPr>
          <p:cNvSpPr>
            <a:spLocks noGrp="1" noChangeArrowheads="1"/>
          </p:cNvSpPr>
          <p:nvPr>
            <p:ph type="title"/>
          </p:nvPr>
        </p:nvSpPr>
        <p:spPr/>
        <p:txBody>
          <a:bodyPr/>
          <a:lstStyle/>
          <a:p>
            <a:pPr eaLnBrk="1" hangingPunct="1"/>
            <a:r>
              <a:rPr lang="en-US" altLang="en-US"/>
              <a:t>Who is an officer of the U.S.?</a:t>
            </a:r>
          </a:p>
        </p:txBody>
      </p:sp>
      <p:sp>
        <p:nvSpPr>
          <p:cNvPr id="22531" name="Rectangle 3">
            <a:extLst>
              <a:ext uri="{FF2B5EF4-FFF2-40B4-BE49-F238E27FC236}">
                <a16:creationId xmlns:a16="http://schemas.microsoft.com/office/drawing/2014/main" id="{F8625010-B690-132C-DC76-E8C43EA7D52B}"/>
              </a:ext>
            </a:extLst>
          </p:cNvPr>
          <p:cNvSpPr>
            <a:spLocks noGrp="1" noChangeArrowheads="1"/>
          </p:cNvSpPr>
          <p:nvPr>
            <p:ph type="body" idx="1"/>
          </p:nvPr>
        </p:nvSpPr>
        <p:spPr/>
        <p:txBody>
          <a:bodyPr/>
          <a:lstStyle/>
          <a:p>
            <a:pPr eaLnBrk="1" hangingPunct="1"/>
            <a:r>
              <a:rPr lang="en-US" altLang="en-US" dirty="0"/>
              <a:t>Someone performing pursuant to law a significant function that could not have been delegated to a congressional committee?</a:t>
            </a:r>
          </a:p>
          <a:p>
            <a:pPr lvl="1" eaLnBrk="1" hangingPunct="1"/>
            <a:r>
              <a:rPr lang="en-US" altLang="en-US" dirty="0"/>
              <a:t>Makes no difference to the </a:t>
            </a:r>
            <a:r>
              <a:rPr lang="en-US" altLang="en-US" i="1" dirty="0"/>
              <a:t>Buckley</a:t>
            </a:r>
            <a:r>
              <a:rPr lang="en-US" altLang="en-US" dirty="0"/>
              <a:t> court that these functions may include functions that are not traditionally considered executive functions</a:t>
            </a:r>
          </a:p>
        </p:txBody>
      </p:sp>
      <p:sp>
        <p:nvSpPr>
          <p:cNvPr id="22532" name="Slide Number Placeholder 1">
            <a:extLst>
              <a:ext uri="{FF2B5EF4-FFF2-40B4-BE49-F238E27FC236}">
                <a16:creationId xmlns:a16="http://schemas.microsoft.com/office/drawing/2014/main" id="{03816471-C20F-1750-D2AE-FDF8B4AFCBC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6EDAF67-DA07-4C54-A3E5-E17F04A3F89D}" type="slidenum">
              <a:rPr lang="en-US" altLang="en-US" sz="1400" smtClean="0"/>
              <a:pPr>
                <a:spcBef>
                  <a:spcPct val="0"/>
                </a:spcBef>
                <a:buFontTx/>
                <a:buNone/>
              </a:pPr>
              <a:t>27</a:t>
            </a:fld>
            <a:endParaRPr lang="en-US" altLang="en-US" sz="1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1">
                                            <p:txEl>
                                              <p:pRg st="1" end="1"/>
                                            </p:txEl>
                                          </p:spTgt>
                                        </p:tgtEl>
                                        <p:attrNameLst>
                                          <p:attrName>style.visibility</p:attrName>
                                        </p:attrNameLst>
                                      </p:cBhvr>
                                      <p:to>
                                        <p:strVal val="visible"/>
                                      </p:to>
                                    </p:set>
                                    <p:anim calcmode="lin" valueType="num">
                                      <p:cBhvr additive="base">
                                        <p:cTn id="7" dur="500" fill="hold"/>
                                        <p:tgtEl>
                                          <p:spTgt spid="2253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Footer Placeholder 4">
            <a:extLst>
              <a:ext uri="{FF2B5EF4-FFF2-40B4-BE49-F238E27FC236}">
                <a16:creationId xmlns:a16="http://schemas.microsoft.com/office/drawing/2014/main" id="{71D5E893-00AD-C52D-C250-6AD46570946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a:t>© Copyright 2026.  Peter M. Shane All rights reserved. </a:t>
            </a:r>
          </a:p>
        </p:txBody>
      </p:sp>
      <p:sp>
        <p:nvSpPr>
          <p:cNvPr id="23554" name="Rectangle 2">
            <a:extLst>
              <a:ext uri="{FF2B5EF4-FFF2-40B4-BE49-F238E27FC236}">
                <a16:creationId xmlns:a16="http://schemas.microsoft.com/office/drawing/2014/main" id="{0FF78BDA-A20E-FAF9-2F60-56B9EA4D72ED}"/>
              </a:ext>
            </a:extLst>
          </p:cNvPr>
          <p:cNvSpPr>
            <a:spLocks noGrp="1" noChangeArrowheads="1"/>
          </p:cNvSpPr>
          <p:nvPr>
            <p:ph type="title"/>
          </p:nvPr>
        </p:nvSpPr>
        <p:spPr/>
        <p:txBody>
          <a:bodyPr/>
          <a:lstStyle/>
          <a:p>
            <a:pPr eaLnBrk="1" hangingPunct="1"/>
            <a:r>
              <a:rPr lang="en-US" altLang="en-US"/>
              <a:t>The Competing Arguments</a:t>
            </a:r>
          </a:p>
        </p:txBody>
      </p:sp>
      <p:graphicFrame>
        <p:nvGraphicFramePr>
          <p:cNvPr id="15375" name="Group 15">
            <a:extLst>
              <a:ext uri="{FF2B5EF4-FFF2-40B4-BE49-F238E27FC236}">
                <a16:creationId xmlns:a16="http://schemas.microsoft.com/office/drawing/2014/main" id="{085DB36A-82B6-C1C9-558D-4758280CC519}"/>
              </a:ext>
            </a:extLst>
          </p:cNvPr>
          <p:cNvGraphicFramePr>
            <a:graphicFrameLocks noGrp="1"/>
          </p:cNvGraphicFramePr>
          <p:nvPr>
            <p:ph idx="1"/>
          </p:nvPr>
        </p:nvGraphicFramePr>
        <p:xfrm>
          <a:off x="457200" y="1600200"/>
          <a:ext cx="8229600" cy="456260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685574">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charset="0"/>
                        </a:rPr>
                        <a:t>Buckley</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charset="0"/>
                        </a:rPr>
                        <a:t>Congress</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76901">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Congress may permit ANY officer to be appointed by the President with advice and consent</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Congress may permit INFERIOR officers to be appointed:</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By President alone</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By heads of departments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By courts of law</a:t>
                      </a:r>
                    </a:p>
                  </a:txBody>
                  <a:tcPr marT="45705" marB="4570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charset="0"/>
                        </a:defRPr>
                      </a:lvl1pPr>
                      <a:lvl2pPr>
                        <a:spcBef>
                          <a:spcPct val="20000"/>
                        </a:spcBef>
                        <a:defRPr sz="2400">
                          <a:solidFill>
                            <a:schemeClr val="tx1"/>
                          </a:solidFill>
                          <a:latin typeface="Arial" charset="0"/>
                        </a:defRPr>
                      </a:lvl2pPr>
                      <a:lvl3pPr>
                        <a:spcBef>
                          <a:spcPct val="20000"/>
                        </a:spcBef>
                        <a:defRPr sz="2000">
                          <a:solidFill>
                            <a:schemeClr val="tx1"/>
                          </a:solidFill>
                          <a:latin typeface="Arial" charset="0"/>
                        </a:defRPr>
                      </a:lvl3pPr>
                      <a:lvl4pPr>
                        <a:spcBef>
                          <a:spcPct val="20000"/>
                        </a:spcBef>
                        <a:defRPr>
                          <a:solidFill>
                            <a:schemeClr val="tx1"/>
                          </a:solidFill>
                          <a:latin typeface="Arial" charset="0"/>
                        </a:defRPr>
                      </a:lvl4pPr>
                      <a:lvl5pPr>
                        <a:spcBef>
                          <a:spcPct val="20000"/>
                        </a:spcBef>
                        <a:defRPr>
                          <a:solidFill>
                            <a:schemeClr val="tx1"/>
                          </a:solidFill>
                          <a:latin typeface="Arial" charset="0"/>
                        </a:defRPr>
                      </a:lvl5pPr>
                      <a:lvl6pPr fontAlgn="base">
                        <a:spcBef>
                          <a:spcPct val="20000"/>
                        </a:spcBef>
                        <a:spcAft>
                          <a:spcPct val="0"/>
                        </a:spcAft>
                        <a:defRPr>
                          <a:solidFill>
                            <a:schemeClr val="tx1"/>
                          </a:solidFill>
                          <a:latin typeface="Arial" charset="0"/>
                        </a:defRPr>
                      </a:lvl6pPr>
                      <a:lvl7pPr fontAlgn="base">
                        <a:spcBef>
                          <a:spcPct val="20000"/>
                        </a:spcBef>
                        <a:spcAft>
                          <a:spcPct val="0"/>
                        </a:spcAft>
                        <a:defRPr>
                          <a:solidFill>
                            <a:schemeClr val="tx1"/>
                          </a:solidFill>
                          <a:latin typeface="Arial" charset="0"/>
                        </a:defRPr>
                      </a:lvl7pPr>
                      <a:lvl8pPr fontAlgn="base">
                        <a:spcBef>
                          <a:spcPct val="20000"/>
                        </a:spcBef>
                        <a:spcAft>
                          <a:spcPct val="0"/>
                        </a:spcAft>
                        <a:defRPr>
                          <a:solidFill>
                            <a:schemeClr val="tx1"/>
                          </a:solidFill>
                          <a:latin typeface="Arial" charset="0"/>
                        </a:defRPr>
                      </a:lvl8pPr>
                      <a:lvl9pPr fontAlgn="base">
                        <a:spcBef>
                          <a:spcPct val="20000"/>
                        </a:spcBef>
                        <a:spcAft>
                          <a:spcPct val="0"/>
                        </a:spcAft>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Art. II authorizes a series of appointment mechanisms, which are illustrative of the ways in which Congress may proceed</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If none is functionally appropriate for a particular agency, Congress may prefer some additional method not mentioned in Art. II if it is “necessary and proper”</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Arial" charset="0"/>
                        </a:rPr>
                        <a:t>If Art. II used the word “ONLY,” we’d have a problem</a:t>
                      </a:r>
                    </a:p>
                  </a:txBody>
                  <a:tcPr marT="45705" marB="4570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3566" name="Slide Number Placeholder 1">
            <a:extLst>
              <a:ext uri="{FF2B5EF4-FFF2-40B4-BE49-F238E27FC236}">
                <a16:creationId xmlns:a16="http://schemas.microsoft.com/office/drawing/2014/main" id="{5ED6A967-BED6-21B2-60EF-06188E66E23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B4C4E9EA-333E-4DCF-BEBD-89E96E1A81CB}" type="slidenum">
              <a:rPr lang="en-US" altLang="en-US" sz="1400" smtClean="0"/>
              <a:pPr>
                <a:spcBef>
                  <a:spcPct val="0"/>
                </a:spcBef>
                <a:buFontTx/>
                <a:buNone/>
              </a:pPr>
              <a:t>28</a:t>
            </a:fld>
            <a:endParaRPr lang="en-US" altLang="en-US" sz="1400"/>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2294</TotalTime>
  <Words>2596</Words>
  <Application>Microsoft Office PowerPoint</Application>
  <PresentationFormat>On-screen Show (4:3)</PresentationFormat>
  <Paragraphs>238</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Default Design</vt:lpstr>
      <vt:lpstr>Recap of Class 8</vt:lpstr>
      <vt:lpstr>What Do You Want from a Nondelegation Doctrine?</vt:lpstr>
      <vt:lpstr>Congress and Control</vt:lpstr>
      <vt:lpstr>Possible Residual Impacts of Nondelegation Doctrine</vt:lpstr>
      <vt:lpstr>Problems of Over-Specific Statutes?</vt:lpstr>
      <vt:lpstr>The Murry Conundrum</vt:lpstr>
      <vt:lpstr>Irrebuttable Presumptions</vt:lpstr>
      <vt:lpstr>Irrebuttable Presumption Doctrine Threatened to Invalidate Any Statutory Category Ever Legislated</vt:lpstr>
      <vt:lpstr>Irrebuttable Presumption Doctrine = Pro-Adjudication Doctrine?</vt:lpstr>
      <vt:lpstr>How useful are courts at policing statutory specificity?</vt:lpstr>
      <vt:lpstr>FCC v. Consumers Research, 606 US _ (2025).</vt:lpstr>
      <vt:lpstr>Some Favorite Public Affairs Blogs with Heavy Separation of Powers/Admin. Law coverage</vt:lpstr>
      <vt:lpstr>Designing the Executive Branch</vt:lpstr>
      <vt:lpstr>Reorganization Authority - 1</vt:lpstr>
      <vt:lpstr>Reorganization Authority - 2</vt:lpstr>
      <vt:lpstr>Location, Location, Location</vt:lpstr>
      <vt:lpstr>Setting the Stage: Debate Over Unitary Presidency</vt:lpstr>
      <vt:lpstr>Unitary Executive Theory</vt:lpstr>
      <vt:lpstr>Purported Sources of the Authority</vt:lpstr>
      <vt:lpstr>Roberts Narrative of the Constitutional Presidency—Supposedly Rooted in History</vt:lpstr>
      <vt:lpstr>Shane: The Likeliest Coherent Reading of the Text: 1789 or Now</vt:lpstr>
      <vt:lpstr>Unitary Executive v. Checks and Balances Executive</vt:lpstr>
      <vt:lpstr>Segue to Appointments/Removals</vt:lpstr>
      <vt:lpstr>Appointments Clause</vt:lpstr>
      <vt:lpstr>Federal Election Commission</vt:lpstr>
      <vt:lpstr>Doctrinally, how do we know if someone doing an administrative job = “an officer of the United States?”</vt:lpstr>
      <vt:lpstr>Who is an officer of the U.S.?</vt:lpstr>
      <vt:lpstr>The Competing Arguments</vt:lpstr>
    </vt:vector>
  </TitlesOfParts>
  <Company>OSU Moritz College of Law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Debate Over Unitary Presidency</dc:title>
  <dc:creator>Podiums Room 250</dc:creator>
  <cp:lastModifiedBy>Shane, Peter</cp:lastModifiedBy>
  <cp:revision>37</cp:revision>
  <cp:lastPrinted>2025-09-24T14:35:20Z</cp:lastPrinted>
  <dcterms:created xsi:type="dcterms:W3CDTF">2009-01-27T18:56:00Z</dcterms:created>
  <dcterms:modified xsi:type="dcterms:W3CDTF">2026-09-28T18:02:54Z</dcterms:modified>
</cp:coreProperties>
</file>