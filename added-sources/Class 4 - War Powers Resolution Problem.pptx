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85" r:id="rId2"/>
    <p:sldId id="286" r:id="rId3"/>
    <p:sldId id="287" r:id="rId4"/>
    <p:sldId id="288" r:id="rId5"/>
    <p:sldId id="289" r:id="rId6"/>
    <p:sldId id="297" r:id="rId7"/>
    <p:sldId id="291" r:id="rId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16" autoAdjust="0"/>
    <p:restoredTop sz="94660"/>
  </p:normalViewPr>
  <p:slideViewPr>
    <p:cSldViewPr>
      <p:cViewPr varScale="1">
        <p:scale>
          <a:sx n="105" d="100"/>
          <a:sy n="105" d="100"/>
        </p:scale>
        <p:origin x="1770" y="96"/>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F01686C8-3207-4C4D-B839-3C94E565B86B}" type="datetimeFigureOut">
              <a:rPr lang="en-US" smtClean="0"/>
              <a:t>9/9/2026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99A1D912-5AA3-464E-9710-DDD09EC2AD9C}" type="slidenum">
              <a:rPr lang="en-US" smtClean="0"/>
              <a:t>‹#›</a:t>
            </a:fld>
            <a:endParaRPr lang="en-US"/>
          </a:p>
        </p:txBody>
      </p:sp>
    </p:spTree>
    <p:extLst>
      <p:ext uri="{BB962C8B-B14F-4D97-AF65-F5344CB8AC3E}">
        <p14:creationId xmlns:p14="http://schemas.microsoft.com/office/powerpoint/2010/main" val="27502036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7CFFDDDC-3E75-4117-936F-779BD510180A}" type="datetimeFigureOut">
              <a:rPr lang="en-US" smtClean="0"/>
              <a:t>9/9/2026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8855AAFF-1EBB-4756-ACCF-E3CC7974F5F5}" type="slidenum">
              <a:rPr lang="en-US" smtClean="0"/>
              <a:t>‹#›</a:t>
            </a:fld>
            <a:endParaRPr lang="en-US"/>
          </a:p>
        </p:txBody>
      </p:sp>
    </p:spTree>
    <p:extLst>
      <p:ext uri="{BB962C8B-B14F-4D97-AF65-F5344CB8AC3E}">
        <p14:creationId xmlns:p14="http://schemas.microsoft.com/office/powerpoint/2010/main" val="4185806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FE91ABF-9512-43D7-9833-BC107E22745A}" type="datetime1">
              <a:rPr lang="en-US" smtClean="0"/>
              <a:t>9/9/2026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57991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B231D0-8587-4AB8-B24E-1AA02DCB37CD}" type="datetime1">
              <a:rPr lang="en-US" smtClean="0"/>
              <a:t>9/9/2026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575874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99B10C-31AF-42BB-A08E-7F13EEB64F08}" type="datetime1">
              <a:rPr lang="en-US" smtClean="0"/>
              <a:t>9/9/2026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1159787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710C5E-318C-4C48-8725-B3153A78268E}" type="datetime1">
              <a:rPr lang="en-US" smtClean="0"/>
              <a:t>9/9/2026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3459880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E6F45A-4665-4416-82B9-6B204C413699}" type="datetime1">
              <a:rPr lang="en-US" smtClean="0"/>
              <a:t>9/9/2026</a:t>
            </a:fld>
            <a:endParaRPr lang="en-US"/>
          </a:p>
        </p:txBody>
      </p:sp>
      <p:sp>
        <p:nvSpPr>
          <p:cNvPr id="8" name="Footer Placeholder 7"/>
          <p:cNvSpPr>
            <a:spLocks noGrp="1"/>
          </p:cNvSpPr>
          <p:nvPr>
            <p:ph type="ftr" sz="quarter" idx="11"/>
          </p:nvPr>
        </p:nvSpPr>
        <p:spPr/>
        <p:txBody>
          <a:bodyPr/>
          <a:lstStyle/>
          <a:p>
            <a:r>
              <a:rPr lang="en-US"/>
              <a:t>© Copyright 2026.  Peter M. Shane All rights reserved. </a:t>
            </a:r>
          </a:p>
        </p:txBody>
      </p:sp>
      <p:sp>
        <p:nvSpPr>
          <p:cNvPr id="9" name="Slide Number Placeholder 8"/>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48242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6EA267-FA55-46AD-AB7B-32F6E211878B}" type="datetime1">
              <a:rPr lang="en-US" smtClean="0"/>
              <a:t>9/9/2026</a:t>
            </a:fld>
            <a:endParaRPr lang="en-US"/>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23681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83A36D-C310-4070-8FD8-9166B88AFC24}" type="datetime1">
              <a:rPr lang="en-US" smtClean="0"/>
              <a:t>9/9/2026</a:t>
            </a:fld>
            <a:endParaRPr lang="en-US"/>
          </a:p>
        </p:txBody>
      </p:sp>
      <p:sp>
        <p:nvSpPr>
          <p:cNvPr id="3" name="Footer Placeholder 2"/>
          <p:cNvSpPr>
            <a:spLocks noGrp="1"/>
          </p:cNvSpPr>
          <p:nvPr>
            <p:ph type="ftr" sz="quarter" idx="11"/>
          </p:nvPr>
        </p:nvSpPr>
        <p:spPr/>
        <p:txBody>
          <a:bodyPr/>
          <a:lstStyle/>
          <a:p>
            <a:r>
              <a:rPr lang="en-US"/>
              <a:t>© Copyright 2026.  Peter M. Shane All rights reserved. </a:t>
            </a:r>
          </a:p>
        </p:txBody>
      </p:sp>
      <p:sp>
        <p:nvSpPr>
          <p:cNvPr id="4" name="Slide Number Placeholder 3"/>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6396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60A3F2-5273-4B30-9E07-D78D3F347B5B}" type="datetime1">
              <a:rPr lang="en-US" smtClean="0"/>
              <a:t>9/9/2026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2254963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87DDB0-BD3C-4E7C-B1B4-69D5FAAC3815}" type="datetime1">
              <a:rPr lang="en-US" smtClean="0"/>
              <a:t>9/9/2026</a:t>
            </a:fld>
            <a:endParaRPr lang="en-US"/>
          </a:p>
        </p:txBody>
      </p:sp>
      <p:sp>
        <p:nvSpPr>
          <p:cNvPr id="6" name="Footer Placeholder 5"/>
          <p:cNvSpPr>
            <a:spLocks noGrp="1"/>
          </p:cNvSpPr>
          <p:nvPr>
            <p:ph type="ftr" sz="quarter" idx="11"/>
          </p:nvPr>
        </p:nvSpPr>
        <p:spPr/>
        <p:txBody>
          <a:bodyPr/>
          <a:lstStyle/>
          <a:p>
            <a:r>
              <a:rPr lang="en-US"/>
              <a:t>© Copyright 2026.  Peter M. Shane All rights reserved. </a:t>
            </a:r>
          </a:p>
        </p:txBody>
      </p:sp>
      <p:sp>
        <p:nvSpPr>
          <p:cNvPr id="7" name="Slide Number Placeholder 6"/>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1629853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D288A6-6A69-410D-9C0B-2F297079E913}" type="datetime1">
              <a:rPr lang="en-US" smtClean="0"/>
              <a:t>9/9/2026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3248526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C8439B-20F9-4951-95E6-DE59994E183F}" type="datetime1">
              <a:rPr lang="en-US" smtClean="0"/>
              <a:t>9/9/2026</a:t>
            </a:fld>
            <a:endParaRPr lang="en-US"/>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A51A480E-C97D-488C-89CE-DB65B1C35FB0}" type="slidenum">
              <a:rPr lang="en-US" smtClean="0"/>
              <a:t>‹#›</a:t>
            </a:fld>
            <a:endParaRPr lang="en-US"/>
          </a:p>
        </p:txBody>
      </p:sp>
    </p:spTree>
    <p:extLst>
      <p:ext uri="{BB962C8B-B14F-4D97-AF65-F5344CB8AC3E}">
        <p14:creationId xmlns:p14="http://schemas.microsoft.com/office/powerpoint/2010/main" val="3575636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2BA84A-D142-47E8-8D5D-A3DB21437DE0}" type="datetime1">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Copyright 2026.  Peter M. Shane All rights reserved.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1A480E-C97D-488C-89CE-DB65B1C35FB0}" type="slidenum">
              <a:rPr lang="en-US" smtClean="0"/>
              <a:t>‹#›</a:t>
            </a:fld>
            <a:endParaRPr lang="en-US"/>
          </a:p>
        </p:txBody>
      </p:sp>
    </p:spTree>
    <p:extLst>
      <p:ext uri="{BB962C8B-B14F-4D97-AF65-F5344CB8AC3E}">
        <p14:creationId xmlns:p14="http://schemas.microsoft.com/office/powerpoint/2010/main" val="1178194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www.law.cornell.edu/uscode/html/uscode50/usc_sec_50_00001543----000-.html#a_1" TargetMode="External"/><Relationship Id="rId2" Type="http://schemas.openxmlformats.org/officeDocument/2006/relationships/hyperlink" Target="http://www.law.cornell.edu/uscode/html/uscode50/usc_sec_50_00001543----000-.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War Powers Resolution</a:t>
            </a:r>
          </a:p>
        </p:txBody>
      </p:sp>
      <p:sp>
        <p:nvSpPr>
          <p:cNvPr id="3" name="Content Placeholder 2"/>
          <p:cNvSpPr>
            <a:spLocks noGrp="1"/>
          </p:cNvSpPr>
          <p:nvPr>
            <p:ph idx="1"/>
          </p:nvPr>
        </p:nvSpPr>
        <p:spPr>
          <a:xfrm>
            <a:off x="533400" y="1295400"/>
            <a:ext cx="8229600" cy="4525963"/>
          </a:xfrm>
        </p:spPr>
        <p:txBody>
          <a:bodyPr>
            <a:normAutofit lnSpcReduction="10000"/>
          </a:bodyPr>
          <a:lstStyle/>
          <a:p>
            <a:pPr>
              <a:buNone/>
            </a:pPr>
            <a:r>
              <a:rPr lang="en-US" sz="2000" b="1" dirty="0"/>
              <a:t>§ 1543. Reporting requirement</a:t>
            </a:r>
          </a:p>
          <a:p>
            <a:pPr>
              <a:buNone/>
            </a:pPr>
            <a:r>
              <a:rPr lang="en-US" sz="2000" dirty="0"/>
              <a:t>(a) </a:t>
            </a:r>
            <a:r>
              <a:rPr lang="en-US" sz="2000" b="1" dirty="0"/>
              <a:t>Written report; time of submission; circumstances necessitating submission; information reported </a:t>
            </a:r>
            <a:r>
              <a:rPr lang="en-US" sz="2000" dirty="0"/>
              <a:t>In the absence of a declaration of war, in any case in which United States Armed Forces are introduced— </a:t>
            </a:r>
          </a:p>
          <a:p>
            <a:pPr marL="514350" indent="-514350">
              <a:buAutoNum type="arabicParenBoth"/>
            </a:pPr>
            <a:r>
              <a:rPr lang="en-US" sz="2000" dirty="0"/>
              <a:t>into </a:t>
            </a:r>
            <a:r>
              <a:rPr lang="en-US" sz="2000" dirty="0">
                <a:solidFill>
                  <a:srgbClr val="FF0000"/>
                </a:solidFill>
              </a:rPr>
              <a:t>hostilities</a:t>
            </a:r>
            <a:r>
              <a:rPr lang="en-US" sz="2000" dirty="0"/>
              <a:t> or into situations where imminent involvement in </a:t>
            </a:r>
            <a:r>
              <a:rPr lang="en-US" sz="2000" dirty="0">
                <a:solidFill>
                  <a:srgbClr val="FF0000"/>
                </a:solidFill>
              </a:rPr>
              <a:t>hostilities</a:t>
            </a:r>
            <a:r>
              <a:rPr lang="en-US" sz="2000" dirty="0"/>
              <a:t> is clearly indicated by the circumstances; . . .</a:t>
            </a:r>
          </a:p>
          <a:p>
            <a:pPr marL="514350" indent="-514350">
              <a:buNone/>
            </a:pPr>
            <a:r>
              <a:rPr lang="en-US" sz="2000" dirty="0"/>
              <a:t> the President shall submit within 48 hours to the Speaker of the House of Representatives and to the President pro tempore of the Senate a report, in writing, setting forth— </a:t>
            </a:r>
          </a:p>
          <a:p>
            <a:pPr>
              <a:buNone/>
            </a:pPr>
            <a:r>
              <a:rPr lang="en-US" sz="2000" dirty="0"/>
              <a:t>(A) the circumstances necessitating the introduction of United States Armed Forces; </a:t>
            </a:r>
          </a:p>
          <a:p>
            <a:pPr>
              <a:buNone/>
            </a:pPr>
            <a:r>
              <a:rPr lang="en-US" sz="2000" dirty="0"/>
              <a:t>(B) the constitutional and legislative authority under which such introduction took place; and </a:t>
            </a:r>
          </a:p>
          <a:p>
            <a:pPr>
              <a:buNone/>
            </a:pPr>
            <a:r>
              <a:rPr lang="en-US" sz="2000" dirty="0"/>
              <a:t>(C) the estimated scope and duration of the hostilities or involvement. </a:t>
            </a:r>
          </a:p>
          <a:p>
            <a:endParaRPr lang="en-US" dirty="0"/>
          </a:p>
        </p:txBody>
      </p:sp>
      <p:sp>
        <p:nvSpPr>
          <p:cNvPr id="4" name="Slide Number Placeholder 3"/>
          <p:cNvSpPr>
            <a:spLocks noGrp="1"/>
          </p:cNvSpPr>
          <p:nvPr>
            <p:ph type="sldNum" sz="quarter" idx="12"/>
          </p:nvPr>
        </p:nvSpPr>
        <p:spPr/>
        <p:txBody>
          <a:bodyPr/>
          <a:lstStyle/>
          <a:p>
            <a:fld id="{03C2B117-1C95-4F55-818D-5341971D30B6}" type="slidenum">
              <a:rPr lang="en-US" smtClean="0"/>
              <a:pPr/>
              <a:t>1</a:t>
            </a:fld>
            <a:endParaRPr lang="en-US" dirty="0"/>
          </a:p>
        </p:txBody>
      </p:sp>
      <p:sp>
        <p:nvSpPr>
          <p:cNvPr id="5" name="Footer Placeholder 4">
            <a:extLst>
              <a:ext uri="{FF2B5EF4-FFF2-40B4-BE49-F238E27FC236}">
                <a16:creationId xmlns:a16="http://schemas.microsoft.com/office/drawing/2014/main" id="{6AEC31FD-33E0-105C-C4C1-6F475C740BBA}"/>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022548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WPR - 2</a:t>
            </a:r>
          </a:p>
        </p:txBody>
      </p:sp>
      <p:sp>
        <p:nvSpPr>
          <p:cNvPr id="3" name="Content Placeholder 2"/>
          <p:cNvSpPr>
            <a:spLocks noGrp="1"/>
          </p:cNvSpPr>
          <p:nvPr>
            <p:ph idx="1"/>
          </p:nvPr>
        </p:nvSpPr>
        <p:spPr/>
        <p:txBody>
          <a:bodyPr/>
          <a:lstStyle/>
          <a:p>
            <a:pPr>
              <a:buNone/>
            </a:pPr>
            <a:r>
              <a:rPr lang="en-US" sz="1800" b="1" dirty="0"/>
              <a:t>§ 1544 (b)</a:t>
            </a:r>
            <a:r>
              <a:rPr lang="en-US" sz="1800" dirty="0"/>
              <a:t> </a:t>
            </a:r>
            <a:r>
              <a:rPr lang="en-US" sz="1800" b="1" dirty="0"/>
              <a:t>Termination of use of United States Armed Forces; exceptions; extension period </a:t>
            </a:r>
            <a:r>
              <a:rPr lang="en-US" sz="1800" dirty="0"/>
              <a:t>Within sixty calendar days after a report is submitted or is required to be submitted pursuant to section </a:t>
            </a:r>
            <a:r>
              <a:rPr lang="en-US" sz="1800" dirty="0">
                <a:hlinkClick r:id="rId2"/>
              </a:rPr>
              <a:t>1543</a:t>
            </a:r>
            <a:r>
              <a:rPr lang="en-US" sz="1800" dirty="0"/>
              <a:t> </a:t>
            </a:r>
            <a:r>
              <a:rPr lang="en-US" sz="1800" dirty="0">
                <a:hlinkClick r:id="rId3"/>
              </a:rPr>
              <a:t>(a)(1)</a:t>
            </a:r>
            <a:r>
              <a:rPr lang="en-US" sz="1800" dirty="0"/>
              <a:t> of this title, whichever is earlier, the President shall terminate any use of United States Armed Forces with respect to which such report was submitted (or required to be submitted), unless the Congress </a:t>
            </a:r>
          </a:p>
          <a:p>
            <a:pPr>
              <a:buNone/>
            </a:pPr>
            <a:r>
              <a:rPr lang="en-US" sz="1800" dirty="0"/>
              <a:t>(1) has declared war or has enacted a specific authorization for such use of United States Armed Forces, </a:t>
            </a:r>
          </a:p>
          <a:p>
            <a:pPr>
              <a:buNone/>
            </a:pPr>
            <a:r>
              <a:rPr lang="en-US" sz="1800" dirty="0"/>
              <a:t>(2) has extended by law such sixty-day period, or </a:t>
            </a:r>
          </a:p>
          <a:p>
            <a:pPr>
              <a:buNone/>
            </a:pPr>
            <a:r>
              <a:rPr lang="en-US" sz="1800" dirty="0"/>
              <a:t>(3) is physically unable to meet as a result of an armed attack upon the United States. Such sixty-day period shall be extended for not more than an additional thirty days if the President determines and certifies to the Congress in writing that unavoidable military necessity respecting the safety of United States Armed Forces requires the continued use of such armed forces in the course of bringing about a prompt removal of such forces. </a:t>
            </a:r>
          </a:p>
          <a:p>
            <a:endParaRPr lang="en-US" dirty="0"/>
          </a:p>
        </p:txBody>
      </p:sp>
      <p:sp>
        <p:nvSpPr>
          <p:cNvPr id="4" name="Slide Number Placeholder 3"/>
          <p:cNvSpPr>
            <a:spLocks noGrp="1"/>
          </p:cNvSpPr>
          <p:nvPr>
            <p:ph type="sldNum" sz="quarter" idx="12"/>
          </p:nvPr>
        </p:nvSpPr>
        <p:spPr/>
        <p:txBody>
          <a:bodyPr/>
          <a:lstStyle/>
          <a:p>
            <a:fld id="{03C2B117-1C95-4F55-818D-5341971D30B6}" type="slidenum">
              <a:rPr lang="en-US" smtClean="0"/>
              <a:pPr/>
              <a:t>2</a:t>
            </a:fld>
            <a:endParaRPr lang="en-US"/>
          </a:p>
        </p:txBody>
      </p:sp>
      <p:sp>
        <p:nvSpPr>
          <p:cNvPr id="5" name="Footer Placeholder 4">
            <a:extLst>
              <a:ext uri="{FF2B5EF4-FFF2-40B4-BE49-F238E27FC236}">
                <a16:creationId xmlns:a16="http://schemas.microsoft.com/office/drawing/2014/main" id="{8AF68C06-4E4A-E415-942B-5D36E2117EE0}"/>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702201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WPR-3</a:t>
            </a:r>
          </a:p>
        </p:txBody>
      </p:sp>
      <p:sp>
        <p:nvSpPr>
          <p:cNvPr id="3" name="Content Placeholder 2"/>
          <p:cNvSpPr>
            <a:spLocks noGrp="1"/>
          </p:cNvSpPr>
          <p:nvPr>
            <p:ph idx="1"/>
          </p:nvPr>
        </p:nvSpPr>
        <p:spPr/>
        <p:txBody>
          <a:bodyPr/>
          <a:lstStyle/>
          <a:p>
            <a:pPr>
              <a:buNone/>
            </a:pPr>
            <a:r>
              <a:rPr lang="en-US" sz="2000" b="1" dirty="0"/>
              <a:t>§ 1547. Interpretation of joint resolution . . .</a:t>
            </a:r>
          </a:p>
          <a:p>
            <a:pPr>
              <a:buNone/>
            </a:pPr>
            <a:r>
              <a:rPr lang="en-US" sz="2000" dirty="0"/>
              <a:t>(d) </a:t>
            </a:r>
            <a:r>
              <a:rPr lang="en-US" sz="2000" b="1" dirty="0"/>
              <a:t>Constitutional authorities or existing treaties unaffected; construction against grant of Presidential authority respecting use of United States Armed Forces </a:t>
            </a:r>
            <a:r>
              <a:rPr lang="en-US" sz="2000" dirty="0"/>
              <a:t>Nothing in this chapter— </a:t>
            </a:r>
          </a:p>
          <a:p>
            <a:pPr>
              <a:buNone/>
            </a:pPr>
            <a:r>
              <a:rPr lang="en-US" sz="2000" dirty="0"/>
              <a:t>(1) is intended to alter the constitutional authority of the Congress or of the President, or the provisions of existing treaties; or </a:t>
            </a:r>
          </a:p>
          <a:p>
            <a:pPr>
              <a:buNone/>
            </a:pPr>
            <a:r>
              <a:rPr lang="en-US" sz="2000" dirty="0"/>
              <a:t>(2) shall be construed as granting any authority to the President with respect to the introduction of United States Armed Forces into hostilities or into situations wherein involvement in hostilities is clearly indicated by the circumstances which authority he would not have had in the absence of this chapter. </a:t>
            </a:r>
          </a:p>
          <a:p>
            <a:endParaRPr lang="en-US" sz="2000" dirty="0"/>
          </a:p>
        </p:txBody>
      </p:sp>
      <p:sp>
        <p:nvSpPr>
          <p:cNvPr id="4" name="Slide Number Placeholder 3"/>
          <p:cNvSpPr>
            <a:spLocks noGrp="1"/>
          </p:cNvSpPr>
          <p:nvPr>
            <p:ph type="sldNum" sz="quarter" idx="12"/>
          </p:nvPr>
        </p:nvSpPr>
        <p:spPr/>
        <p:txBody>
          <a:bodyPr/>
          <a:lstStyle/>
          <a:p>
            <a:fld id="{03C2B117-1C95-4F55-818D-5341971D30B6}" type="slidenum">
              <a:rPr lang="en-US" smtClean="0"/>
              <a:pPr/>
              <a:t>3</a:t>
            </a:fld>
            <a:endParaRPr lang="en-US"/>
          </a:p>
        </p:txBody>
      </p:sp>
      <p:sp>
        <p:nvSpPr>
          <p:cNvPr id="5" name="Footer Placeholder 4">
            <a:extLst>
              <a:ext uri="{FF2B5EF4-FFF2-40B4-BE49-F238E27FC236}">
                <a16:creationId xmlns:a16="http://schemas.microsoft.com/office/drawing/2014/main" id="{62C55635-DDBB-814E-1236-BB08FDDF51FF}"/>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153599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Libya Timeline</a:t>
            </a:r>
          </a:p>
        </p:txBody>
      </p:sp>
      <p:sp>
        <p:nvSpPr>
          <p:cNvPr id="3" name="Content Placeholder 2"/>
          <p:cNvSpPr>
            <a:spLocks noGrp="1"/>
          </p:cNvSpPr>
          <p:nvPr>
            <p:ph idx="1"/>
          </p:nvPr>
        </p:nvSpPr>
        <p:spPr/>
        <p:txBody>
          <a:bodyPr/>
          <a:lstStyle/>
          <a:p>
            <a:r>
              <a:rPr lang="en-US" sz="1800" dirty="0"/>
              <a:t>Mid-February 2011:  popular protests erupt in Libya; </a:t>
            </a:r>
            <a:r>
              <a:rPr lang="en-US" sz="1800" dirty="0" err="1"/>
              <a:t>Qadhafi</a:t>
            </a:r>
            <a:r>
              <a:rPr lang="en-US" sz="1800" dirty="0"/>
              <a:t> answers with violence, opening fire on unarmed crowds. </a:t>
            </a:r>
          </a:p>
          <a:p>
            <a:r>
              <a:rPr lang="en-US" sz="1800" dirty="0"/>
              <a:t>U.N. Security Council adopted Resolution 1973, demands an immediate ceasefire in Libya and authorizing member states to engage in the use of all necessary measures to protect Libyan civilians. </a:t>
            </a:r>
          </a:p>
          <a:p>
            <a:r>
              <a:rPr lang="en-US" sz="1800" dirty="0"/>
              <a:t>Two days later, the United States commences military operations to enforce Resolution 1973, launching strikes against </a:t>
            </a:r>
            <a:r>
              <a:rPr lang="en-US" sz="1800" dirty="0" err="1"/>
              <a:t>Qadhafi’s</a:t>
            </a:r>
            <a:r>
              <a:rPr lang="en-US" sz="1800" dirty="0"/>
              <a:t> air defense systems and military airfields in order to lay the groundwork for a no-fly zone over Libya. </a:t>
            </a:r>
          </a:p>
          <a:p>
            <a:r>
              <a:rPr lang="en-US" sz="1800" dirty="0"/>
              <a:t>March 21:  President Obama formally reported these events to congressional leadership “consistent with WPR</a:t>
            </a:r>
          </a:p>
          <a:p>
            <a:r>
              <a:rPr lang="en-US" sz="1800" dirty="0"/>
              <a:t>April 1:  OLC issues opinion memorializing its advice that the President had acted within his constitutional authority to undertake such a military initiative without explicit congressional authorization. </a:t>
            </a:r>
          </a:p>
          <a:p>
            <a:r>
              <a:rPr lang="en-US" sz="1800" dirty="0"/>
              <a:t>May 20:  60-days run without any further report to Congress or withdrawal</a:t>
            </a:r>
          </a:p>
        </p:txBody>
      </p:sp>
      <p:sp>
        <p:nvSpPr>
          <p:cNvPr id="4" name="Slide Number Placeholder 3"/>
          <p:cNvSpPr>
            <a:spLocks noGrp="1"/>
          </p:cNvSpPr>
          <p:nvPr>
            <p:ph type="sldNum" sz="quarter" idx="12"/>
          </p:nvPr>
        </p:nvSpPr>
        <p:spPr/>
        <p:txBody>
          <a:bodyPr/>
          <a:lstStyle/>
          <a:p>
            <a:fld id="{03C2B117-1C95-4F55-818D-5341971D30B6}" type="slidenum">
              <a:rPr lang="en-US" smtClean="0"/>
              <a:pPr/>
              <a:t>4</a:t>
            </a:fld>
            <a:endParaRPr lang="en-US"/>
          </a:p>
        </p:txBody>
      </p:sp>
      <p:sp>
        <p:nvSpPr>
          <p:cNvPr id="5" name="Footer Placeholder 4">
            <a:extLst>
              <a:ext uri="{FF2B5EF4-FFF2-40B4-BE49-F238E27FC236}">
                <a16:creationId xmlns:a16="http://schemas.microsoft.com/office/drawing/2014/main" id="{BCB79AF3-E498-27AC-9712-37E5E78B9E0E}"/>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874819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Obama Legal Position</a:t>
            </a:r>
          </a:p>
        </p:txBody>
      </p:sp>
      <p:sp>
        <p:nvSpPr>
          <p:cNvPr id="3" name="Content Placeholder 2"/>
          <p:cNvSpPr>
            <a:spLocks noGrp="1"/>
          </p:cNvSpPr>
          <p:nvPr>
            <p:ph idx="1"/>
          </p:nvPr>
        </p:nvSpPr>
        <p:spPr>
          <a:xfrm>
            <a:off x="457200" y="1371600"/>
            <a:ext cx="8229600" cy="4525963"/>
          </a:xfrm>
        </p:spPr>
        <p:txBody>
          <a:bodyPr/>
          <a:lstStyle/>
          <a:p>
            <a:pPr>
              <a:buNone/>
            </a:pPr>
            <a:r>
              <a:rPr lang="en-US" sz="2200" dirty="0"/>
              <a:t>U.S. military operations are distinct from the kind of “hostilities” contemplated by the Resolution’s 60 day termination provision. U.S. forces are playing a constrained and supporting role in a multinational coalition, whose operations are both legitimated by and limited to the terms of a United Nations Security Council Resolution that authorizes the use of force solely to protect civilians and civilian populated areas under attack or threat of attack and to enforce a no-fly zone and an arms embargo. U.S. operations do not involve sustained fighting or active exchanges of fire with hostile forces, nor do they involve the presence of U.S. ground troops, U.S. casualties or a serious threat thereof, or any significant chance of escalation into a conflict characterized by those factors.</a:t>
            </a:r>
          </a:p>
        </p:txBody>
      </p:sp>
      <p:sp>
        <p:nvSpPr>
          <p:cNvPr id="4" name="Slide Number Placeholder 3"/>
          <p:cNvSpPr>
            <a:spLocks noGrp="1"/>
          </p:cNvSpPr>
          <p:nvPr>
            <p:ph type="sldNum" sz="quarter" idx="12"/>
          </p:nvPr>
        </p:nvSpPr>
        <p:spPr/>
        <p:txBody>
          <a:bodyPr/>
          <a:lstStyle/>
          <a:p>
            <a:fld id="{03C2B117-1C95-4F55-818D-5341971D30B6}" type="slidenum">
              <a:rPr lang="en-US" smtClean="0"/>
              <a:pPr/>
              <a:t>5</a:t>
            </a:fld>
            <a:endParaRPr lang="en-US"/>
          </a:p>
        </p:txBody>
      </p:sp>
      <p:sp>
        <p:nvSpPr>
          <p:cNvPr id="5" name="Footer Placeholder 4">
            <a:extLst>
              <a:ext uri="{FF2B5EF4-FFF2-40B4-BE49-F238E27FC236}">
                <a16:creationId xmlns:a16="http://schemas.microsoft.com/office/drawing/2014/main" id="{D9E34BA7-0B7F-ED3E-0028-44E1EDADAD50}"/>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438298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From H. Rept. 93-287, War Powers Resolution of 1973, 93d Cong., 1</a:t>
            </a:r>
            <a:r>
              <a:rPr lang="en-US" sz="2800" baseline="30000" dirty="0"/>
              <a:t>st</a:t>
            </a:r>
            <a:r>
              <a:rPr lang="en-US" sz="2800" dirty="0"/>
              <a:t> Sess. (1973).</a:t>
            </a:r>
          </a:p>
        </p:txBody>
      </p:sp>
      <p:sp>
        <p:nvSpPr>
          <p:cNvPr id="3" name="Content Placeholder 2"/>
          <p:cNvSpPr>
            <a:spLocks noGrp="1"/>
          </p:cNvSpPr>
          <p:nvPr>
            <p:ph idx="1"/>
          </p:nvPr>
        </p:nvSpPr>
        <p:spPr/>
        <p:txBody>
          <a:bodyPr/>
          <a:lstStyle/>
          <a:p>
            <a:r>
              <a:rPr lang="en-US" sz="2400" dirty="0"/>
              <a:t>The Cambodian incursion of 1970 provided the initial impetus for a number of bills and resolutions on the war powers.  Many members of Congress, including those who supported the action, were disturbed by the lack of prior consultation with Congress and the near crisis in relations between the executive and legislative branches, which the incident occasioned. . . .The term “war powers” may be taken to mean the authority inherent in national sovereignties to declare, conduct, and concluded armed hostilities with other states. (pp. 19-20)</a:t>
            </a:r>
          </a:p>
          <a:p>
            <a:endParaRPr lang="en-US" dirty="0"/>
          </a:p>
          <a:p>
            <a:endParaRPr lang="en-US" dirty="0"/>
          </a:p>
        </p:txBody>
      </p:sp>
      <p:sp>
        <p:nvSpPr>
          <p:cNvPr id="4" name="Slide Number Placeholder 3"/>
          <p:cNvSpPr>
            <a:spLocks noGrp="1"/>
          </p:cNvSpPr>
          <p:nvPr>
            <p:ph type="sldNum" sz="quarter" idx="12"/>
          </p:nvPr>
        </p:nvSpPr>
        <p:spPr/>
        <p:txBody>
          <a:bodyPr/>
          <a:lstStyle/>
          <a:p>
            <a:fld id="{03C2B117-1C95-4F55-818D-5341971D30B6}" type="slidenum">
              <a:rPr lang="en-US" smtClean="0"/>
              <a:pPr/>
              <a:t>6</a:t>
            </a:fld>
            <a:endParaRPr lang="en-US"/>
          </a:p>
        </p:txBody>
      </p:sp>
      <p:sp>
        <p:nvSpPr>
          <p:cNvPr id="5" name="Footer Placeholder 4">
            <a:extLst>
              <a:ext uri="{FF2B5EF4-FFF2-40B4-BE49-F238E27FC236}">
                <a16:creationId xmlns:a16="http://schemas.microsoft.com/office/drawing/2014/main" id="{76A67B3C-92C0-F4C5-B24C-18AB7AE144C7}"/>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24970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From H. Rept. 93-287, War Powers Resolution of 1973, 93d Cong., 1</a:t>
            </a:r>
            <a:r>
              <a:rPr lang="en-US" sz="2800" baseline="30000" dirty="0"/>
              <a:t>st</a:t>
            </a:r>
            <a:r>
              <a:rPr lang="en-US" sz="2800" dirty="0"/>
              <a:t> Sess. (1973).</a:t>
            </a:r>
          </a:p>
        </p:txBody>
      </p:sp>
      <p:sp>
        <p:nvSpPr>
          <p:cNvPr id="3" name="Content Placeholder 2"/>
          <p:cNvSpPr>
            <a:spLocks noGrp="1"/>
          </p:cNvSpPr>
          <p:nvPr>
            <p:ph idx="1"/>
          </p:nvPr>
        </p:nvSpPr>
        <p:spPr/>
        <p:txBody>
          <a:bodyPr/>
          <a:lstStyle/>
          <a:p>
            <a:endParaRPr lang="en-US" dirty="0"/>
          </a:p>
          <a:p>
            <a:endParaRPr lang="en-US" dirty="0"/>
          </a:p>
        </p:txBody>
      </p:sp>
      <p:sp>
        <p:nvSpPr>
          <p:cNvPr id="4" name="Slide Number Placeholder 3"/>
          <p:cNvSpPr>
            <a:spLocks noGrp="1"/>
          </p:cNvSpPr>
          <p:nvPr>
            <p:ph type="sldNum" sz="quarter" idx="12"/>
          </p:nvPr>
        </p:nvSpPr>
        <p:spPr/>
        <p:txBody>
          <a:bodyPr/>
          <a:lstStyle/>
          <a:p>
            <a:fld id="{03C2B117-1C95-4F55-818D-5341971D30B6}" type="slidenum">
              <a:rPr lang="en-US" smtClean="0"/>
              <a:pPr/>
              <a:t>7</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5477" y="1600200"/>
            <a:ext cx="6694487"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4919" y="3581400"/>
            <a:ext cx="6555045"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Footer Placeholder 4">
            <a:extLst>
              <a:ext uri="{FF2B5EF4-FFF2-40B4-BE49-F238E27FC236}">
                <a16:creationId xmlns:a16="http://schemas.microsoft.com/office/drawing/2014/main" id="{CB6EA964-AEE4-B4F5-DC6C-07CB5DACA058}"/>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797993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1884</TotalTime>
  <Words>990</Words>
  <Application>Microsoft Office PowerPoint</Application>
  <PresentationFormat>On-screen Show (4:3)</PresentationFormat>
  <Paragraphs>44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War Powers Resolution</vt:lpstr>
      <vt:lpstr>WPR - 2</vt:lpstr>
      <vt:lpstr>WPR-3</vt:lpstr>
      <vt:lpstr>Libya Timeline</vt:lpstr>
      <vt:lpstr>Obama Legal Position</vt:lpstr>
      <vt:lpstr>From H. Rept. 93-287, War Powers Resolution of 1973, 93d Cong., 1st Sess. (1973).</vt:lpstr>
      <vt:lpstr>From H. Rept. 93-287, War Powers Resolution of 1973, 93d Cong., 1st Sess. (1973).</vt:lpstr>
    </vt:vector>
  </TitlesOfParts>
  <Company>OSU Moritz College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Trends in Use of Legislative History</dc:title>
  <dc:creator>Peter Shane</dc:creator>
  <cp:lastModifiedBy>Shane, Peter</cp:lastModifiedBy>
  <cp:revision>26</cp:revision>
  <cp:lastPrinted>2025-09-08T14:38:47Z</cp:lastPrinted>
  <dcterms:created xsi:type="dcterms:W3CDTF">2017-01-09T16:50:51Z</dcterms:created>
  <dcterms:modified xsi:type="dcterms:W3CDTF">2026-09-09T19:35:42Z</dcterms:modified>
</cp:coreProperties>
</file>