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97" r:id="rId2"/>
    <p:sldId id="329" r:id="rId3"/>
    <p:sldId id="262" r:id="rId4"/>
    <p:sldId id="289" r:id="rId5"/>
    <p:sldId id="302" r:id="rId6"/>
    <p:sldId id="303" r:id="rId7"/>
    <p:sldId id="266" r:id="rId8"/>
    <p:sldId id="304" r:id="rId9"/>
    <p:sldId id="267" r:id="rId10"/>
    <p:sldId id="263" r:id="rId11"/>
    <p:sldId id="305" r:id="rId12"/>
    <p:sldId id="291" r:id="rId13"/>
    <p:sldId id="306" r:id="rId14"/>
    <p:sldId id="307" r:id="rId15"/>
    <p:sldId id="273" r:id="rId16"/>
    <p:sldId id="308" r:id="rId17"/>
    <p:sldId id="275" r:id="rId18"/>
    <p:sldId id="276" r:id="rId19"/>
    <p:sldId id="277" r:id="rId20"/>
    <p:sldId id="278" r:id="rId21"/>
    <p:sldId id="279" r:id="rId22"/>
    <p:sldId id="330" r:id="rId23"/>
    <p:sldId id="280" r:id="rId24"/>
    <p:sldId id="281" r:id="rId25"/>
    <p:sldId id="282" r:id="rId26"/>
    <p:sldId id="284" r:id="rId27"/>
    <p:sldId id="292" r:id="rId28"/>
    <p:sldId id="293" r:id="rId29"/>
    <p:sldId id="294" r:id="rId30"/>
    <p:sldId id="295" r:id="rId31"/>
    <p:sldId id="296" r:id="rId32"/>
    <p:sldId id="288" r:id="rId3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79886" autoAdjust="0"/>
  </p:normalViewPr>
  <p:slideViewPr>
    <p:cSldViewPr>
      <p:cViewPr varScale="1">
        <p:scale>
          <a:sx n="83" d="100"/>
          <a:sy n="83" d="100"/>
        </p:scale>
        <p:origin x="1488" y="67"/>
      </p:cViewPr>
      <p:guideLst>
        <p:guide orient="horz" pos="2160"/>
        <p:guide pos="2880"/>
      </p:guideLst>
    </p:cSldViewPr>
  </p:slideViewPr>
  <p:notesTextViewPr>
    <p:cViewPr>
      <p:scale>
        <a:sx n="100" d="100"/>
        <a:sy n="100" d="100"/>
      </p:scale>
      <p:origin x="0" y="0"/>
    </p:cViewPr>
  </p:notesTextViewPr>
  <p:sorterViewPr>
    <p:cViewPr>
      <p:scale>
        <a:sx n="163" d="100"/>
        <a:sy n="163"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442B38B4-53B1-8445-87BC-9326EB29B8B4}" type="datetimeFigureOut">
              <a:rPr lang="en-US" smtClean="0"/>
              <a:t>9/25/2026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E99A386B-2347-B845-95E8-3498C6075C27}" type="slidenum">
              <a:rPr lang="en-US" smtClean="0"/>
              <a:t>‹#›</a:t>
            </a:fld>
            <a:endParaRPr lang="en-US"/>
          </a:p>
        </p:txBody>
      </p:sp>
    </p:spTree>
    <p:extLst>
      <p:ext uri="{BB962C8B-B14F-4D97-AF65-F5344CB8AC3E}">
        <p14:creationId xmlns:p14="http://schemas.microsoft.com/office/powerpoint/2010/main" val="29807079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endParaRPr lang="en-US"/>
          </a:p>
        </p:txBody>
      </p:sp>
      <p:sp>
        <p:nvSpPr>
          <p:cNvPr id="10243" name="Rectangle 3"/>
          <p:cNvSpPr>
            <a:spLocks noGrp="1" noChangeArrowheads="1"/>
          </p:cNvSpPr>
          <p:nvPr>
            <p:ph type="dt" idx="1"/>
          </p:nvPr>
        </p:nvSpPr>
        <p:spPr bwMode="auto">
          <a:xfrm>
            <a:off x="3970938" y="0"/>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endParaRPr lang="en-US"/>
          </a:p>
        </p:txBody>
      </p:sp>
      <p:sp>
        <p:nvSpPr>
          <p:cNvPr id="1024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10245"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46"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endParaRPr lang="en-US"/>
          </a:p>
        </p:txBody>
      </p:sp>
      <p:sp>
        <p:nvSpPr>
          <p:cNvPr id="10247"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fld id="{8113886C-CA9A-4160-89BA-D8E971235274}" type="slidenum">
              <a:rPr lang="en-US"/>
              <a:pPr/>
              <a:t>‹#›</a:t>
            </a:fld>
            <a:endParaRPr lang="en-US"/>
          </a:p>
        </p:txBody>
      </p:sp>
    </p:spTree>
    <p:extLst>
      <p:ext uri="{BB962C8B-B14F-4D97-AF65-F5344CB8AC3E}">
        <p14:creationId xmlns:p14="http://schemas.microsoft.com/office/powerpoint/2010/main" val="406609006"/>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13886C-CA9A-4160-89BA-D8E971235274}" type="slidenum">
              <a:rPr lang="en-US" smtClean="0"/>
              <a:pPr/>
              <a:t>1</a:t>
            </a:fld>
            <a:endParaRPr lang="en-US"/>
          </a:p>
        </p:txBody>
      </p:sp>
    </p:spTree>
    <p:extLst>
      <p:ext uri="{BB962C8B-B14F-4D97-AF65-F5344CB8AC3E}">
        <p14:creationId xmlns:p14="http://schemas.microsoft.com/office/powerpoint/2010/main" val="3764213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13886C-CA9A-4160-89BA-D8E971235274}" type="slidenum">
              <a:rPr lang="en-US" smtClean="0"/>
              <a:pPr/>
              <a:t>3</a:t>
            </a:fld>
            <a:endParaRPr lang="en-US"/>
          </a:p>
        </p:txBody>
      </p:sp>
    </p:spTree>
    <p:extLst>
      <p:ext uri="{BB962C8B-B14F-4D97-AF65-F5344CB8AC3E}">
        <p14:creationId xmlns:p14="http://schemas.microsoft.com/office/powerpoint/2010/main" val="585032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9B292-CBE0-8458-4382-3B0A8A34E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983C1-45EB-A71F-D2B7-567C944BC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7C380-1242-5297-EDA7-FE62F2F28D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EC4B1-2076-1364-8476-BBE3A2A6508F}"/>
              </a:ext>
            </a:extLst>
          </p:cNvPr>
          <p:cNvSpPr>
            <a:spLocks noGrp="1"/>
          </p:cNvSpPr>
          <p:nvPr>
            <p:ph type="sldNum" sz="quarter" idx="10"/>
          </p:nvPr>
        </p:nvSpPr>
        <p:spPr/>
        <p:txBody>
          <a:bodyPr/>
          <a:lstStyle/>
          <a:p>
            <a:fld id="{8113886C-CA9A-4160-89BA-D8E971235274}" type="slidenum">
              <a:rPr lang="en-US" smtClean="0"/>
              <a:pPr/>
              <a:t>13</a:t>
            </a:fld>
            <a:endParaRPr lang="en-US"/>
          </a:p>
        </p:txBody>
      </p:sp>
    </p:spTree>
    <p:extLst>
      <p:ext uri="{BB962C8B-B14F-4D97-AF65-F5344CB8AC3E}">
        <p14:creationId xmlns:p14="http://schemas.microsoft.com/office/powerpoint/2010/main" val="1651080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13886C-CA9A-4160-89BA-D8E971235274}" type="slidenum">
              <a:rPr lang="en-US" smtClean="0"/>
              <a:pPr/>
              <a:t>14</a:t>
            </a:fld>
            <a:endParaRPr lang="en-US"/>
          </a:p>
        </p:txBody>
      </p:sp>
    </p:spTree>
    <p:extLst>
      <p:ext uri="{BB962C8B-B14F-4D97-AF65-F5344CB8AC3E}">
        <p14:creationId xmlns:p14="http://schemas.microsoft.com/office/powerpoint/2010/main" val="2523124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13886C-CA9A-4160-89BA-D8E971235274}" type="slidenum">
              <a:rPr lang="en-US" smtClean="0"/>
              <a:pPr/>
              <a:t>15</a:t>
            </a:fld>
            <a:endParaRPr lang="en-US"/>
          </a:p>
        </p:txBody>
      </p:sp>
    </p:spTree>
    <p:extLst>
      <p:ext uri="{BB962C8B-B14F-4D97-AF65-F5344CB8AC3E}">
        <p14:creationId xmlns:p14="http://schemas.microsoft.com/office/powerpoint/2010/main" val="2710593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13886C-CA9A-4160-89BA-D8E971235274}" type="slidenum">
              <a:rPr lang="en-US" smtClean="0"/>
              <a:pPr/>
              <a:t>17</a:t>
            </a:fld>
            <a:endParaRPr lang="en-US"/>
          </a:p>
        </p:txBody>
      </p:sp>
    </p:spTree>
    <p:extLst>
      <p:ext uri="{BB962C8B-B14F-4D97-AF65-F5344CB8AC3E}">
        <p14:creationId xmlns:p14="http://schemas.microsoft.com/office/powerpoint/2010/main" val="3402667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13886C-CA9A-4160-89BA-D8E971235274}" type="slidenum">
              <a:rPr lang="en-US" smtClean="0"/>
              <a:pPr/>
              <a:t>18</a:t>
            </a:fld>
            <a:endParaRPr lang="en-US"/>
          </a:p>
        </p:txBody>
      </p:sp>
    </p:spTree>
    <p:extLst>
      <p:ext uri="{BB962C8B-B14F-4D97-AF65-F5344CB8AC3E}">
        <p14:creationId xmlns:p14="http://schemas.microsoft.com/office/powerpoint/2010/main" val="3315446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1F060C-DFB5-44D4-B4C7-C55CFD61FA9F}" type="slidenum">
              <a:rPr lang="en-US"/>
              <a:pPr/>
              <a:t>32</a:t>
            </a:fld>
            <a:endParaRPr lang="en-US"/>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7D3EF99D-68A2-431A-81DC-4E1C93BD0283}" type="slidenum">
              <a:rPr lang="en-US"/>
              <a:pPr/>
              <a:t>‹#›</a:t>
            </a:fld>
            <a:endParaRPr lang="en-US"/>
          </a:p>
        </p:txBody>
      </p:sp>
    </p:spTree>
    <p:extLst>
      <p:ext uri="{BB962C8B-B14F-4D97-AF65-F5344CB8AC3E}">
        <p14:creationId xmlns:p14="http://schemas.microsoft.com/office/powerpoint/2010/main" val="2300148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dirty="0"/>
          </a:p>
        </p:txBody>
      </p:sp>
      <p:sp>
        <p:nvSpPr>
          <p:cNvPr id="6" name="Slide Number Placeholder 5"/>
          <p:cNvSpPr>
            <a:spLocks noGrp="1"/>
          </p:cNvSpPr>
          <p:nvPr>
            <p:ph type="sldNum" sz="quarter" idx="12"/>
          </p:nvPr>
        </p:nvSpPr>
        <p:spPr/>
        <p:txBody>
          <a:bodyPr/>
          <a:lstStyle>
            <a:lvl1pPr>
              <a:defRPr/>
            </a:lvl1pPr>
          </a:lstStyle>
          <a:p>
            <a:fld id="{43E3236E-8354-4469-A39B-052E70412384}" type="slidenum">
              <a:rPr lang="en-US"/>
              <a:pPr/>
              <a:t>‹#›</a:t>
            </a:fld>
            <a:endParaRPr lang="en-US"/>
          </a:p>
        </p:txBody>
      </p:sp>
    </p:spTree>
    <p:extLst>
      <p:ext uri="{BB962C8B-B14F-4D97-AF65-F5344CB8AC3E}">
        <p14:creationId xmlns:p14="http://schemas.microsoft.com/office/powerpoint/2010/main" val="2181685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ED7A2C10-E62F-4C50-BEE7-A68D4AA42D99}" type="slidenum">
              <a:rPr lang="en-US"/>
              <a:pPr/>
              <a:t>‹#›</a:t>
            </a:fld>
            <a:endParaRPr lang="en-US"/>
          </a:p>
        </p:txBody>
      </p:sp>
    </p:spTree>
    <p:extLst>
      <p:ext uri="{BB962C8B-B14F-4D97-AF65-F5344CB8AC3E}">
        <p14:creationId xmlns:p14="http://schemas.microsoft.com/office/powerpoint/2010/main" val="1143907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5667F313-C39D-43E8-B9A1-106CE8419531}" type="slidenum">
              <a:rPr lang="en-US"/>
              <a:pPr/>
              <a:t>‹#›</a:t>
            </a:fld>
            <a:endParaRPr lang="en-US"/>
          </a:p>
        </p:txBody>
      </p:sp>
    </p:spTree>
    <p:extLst>
      <p:ext uri="{BB962C8B-B14F-4D97-AF65-F5344CB8AC3E}">
        <p14:creationId xmlns:p14="http://schemas.microsoft.com/office/powerpoint/2010/main" val="352721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9" name="Slide Number Placeholder 8"/>
          <p:cNvSpPr>
            <a:spLocks noGrp="1"/>
          </p:cNvSpPr>
          <p:nvPr>
            <p:ph type="sldNum" sz="quarter" idx="12"/>
          </p:nvPr>
        </p:nvSpPr>
        <p:spPr/>
        <p:txBody>
          <a:bodyPr/>
          <a:lstStyle>
            <a:lvl1pPr>
              <a:defRPr/>
            </a:lvl1pPr>
          </a:lstStyle>
          <a:p>
            <a:fld id="{B37CBFAA-C870-4BCA-8749-03B1A955763E}" type="slidenum">
              <a:rPr lang="en-US"/>
              <a:pPr/>
              <a:t>‹#›</a:t>
            </a:fld>
            <a:endParaRPr lang="en-US"/>
          </a:p>
        </p:txBody>
      </p:sp>
    </p:spTree>
    <p:extLst>
      <p:ext uri="{BB962C8B-B14F-4D97-AF65-F5344CB8AC3E}">
        <p14:creationId xmlns:p14="http://schemas.microsoft.com/office/powerpoint/2010/main" val="395955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5" name="Slide Number Placeholder 4"/>
          <p:cNvSpPr>
            <a:spLocks noGrp="1"/>
          </p:cNvSpPr>
          <p:nvPr>
            <p:ph type="sldNum" sz="quarter" idx="12"/>
          </p:nvPr>
        </p:nvSpPr>
        <p:spPr/>
        <p:txBody>
          <a:bodyPr/>
          <a:lstStyle>
            <a:lvl1pPr>
              <a:defRPr/>
            </a:lvl1pPr>
          </a:lstStyle>
          <a:p>
            <a:fld id="{E07293E1-2C27-4DFD-BB91-B40781D0C38F}" type="slidenum">
              <a:rPr lang="en-US"/>
              <a:pPr/>
              <a:t>‹#›</a:t>
            </a:fld>
            <a:endParaRPr lang="en-US"/>
          </a:p>
        </p:txBody>
      </p:sp>
    </p:spTree>
    <p:extLst>
      <p:ext uri="{BB962C8B-B14F-4D97-AF65-F5344CB8AC3E}">
        <p14:creationId xmlns:p14="http://schemas.microsoft.com/office/powerpoint/2010/main" val="1286030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4" name="Slide Number Placeholder 3"/>
          <p:cNvSpPr>
            <a:spLocks noGrp="1"/>
          </p:cNvSpPr>
          <p:nvPr>
            <p:ph type="sldNum" sz="quarter" idx="12"/>
          </p:nvPr>
        </p:nvSpPr>
        <p:spPr/>
        <p:txBody>
          <a:bodyPr/>
          <a:lstStyle>
            <a:lvl1pPr>
              <a:defRPr/>
            </a:lvl1pPr>
          </a:lstStyle>
          <a:p>
            <a:fld id="{76AC2DA0-BAE7-4B7F-80E7-89BACC91041A}" type="slidenum">
              <a:rPr lang="en-US"/>
              <a:pPr/>
              <a:t>‹#›</a:t>
            </a:fld>
            <a:endParaRPr lang="en-US"/>
          </a:p>
        </p:txBody>
      </p:sp>
    </p:spTree>
    <p:extLst>
      <p:ext uri="{BB962C8B-B14F-4D97-AF65-F5344CB8AC3E}">
        <p14:creationId xmlns:p14="http://schemas.microsoft.com/office/powerpoint/2010/main" val="2218351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4E60DEAB-FBD6-4218-8F7A-9F595F530862}" type="slidenum">
              <a:rPr lang="en-US"/>
              <a:pPr/>
              <a:t>‹#›</a:t>
            </a:fld>
            <a:endParaRPr lang="en-US"/>
          </a:p>
        </p:txBody>
      </p:sp>
    </p:spTree>
    <p:extLst>
      <p:ext uri="{BB962C8B-B14F-4D97-AF65-F5344CB8AC3E}">
        <p14:creationId xmlns:p14="http://schemas.microsoft.com/office/powerpoint/2010/main" val="104362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9DA6AD37-4B7F-4E6C-9137-3140F9D1C51B}" type="slidenum">
              <a:rPr lang="en-US"/>
              <a:pPr/>
              <a:t>‹#›</a:t>
            </a:fld>
            <a:endParaRPr lang="en-US"/>
          </a:p>
        </p:txBody>
      </p:sp>
    </p:spTree>
    <p:extLst>
      <p:ext uri="{BB962C8B-B14F-4D97-AF65-F5344CB8AC3E}">
        <p14:creationId xmlns:p14="http://schemas.microsoft.com/office/powerpoint/2010/main" val="137447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A41A66BD-AF8B-4393-8079-1D35037EA29D}" type="slidenum">
              <a:rPr lang="en-US"/>
              <a:pPr/>
              <a:t>‹#›</a:t>
            </a:fld>
            <a:endParaRPr lang="en-US"/>
          </a:p>
        </p:txBody>
      </p:sp>
    </p:spTree>
    <p:extLst>
      <p:ext uri="{BB962C8B-B14F-4D97-AF65-F5344CB8AC3E}">
        <p14:creationId xmlns:p14="http://schemas.microsoft.com/office/powerpoint/2010/main" val="29767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869B92DC-A21D-4ED3-9D0C-A759C128BAE5}" type="slidenum">
              <a:rPr lang="en-US"/>
              <a:pPr/>
              <a:t>‹#›</a:t>
            </a:fld>
            <a:endParaRPr lang="en-US"/>
          </a:p>
        </p:txBody>
      </p:sp>
    </p:spTree>
    <p:extLst>
      <p:ext uri="{BB962C8B-B14F-4D97-AF65-F5344CB8AC3E}">
        <p14:creationId xmlns:p14="http://schemas.microsoft.com/office/powerpoint/2010/main" val="361014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vl1pPr>
          </a:lstStyle>
          <a:p>
            <a:r>
              <a:rPr lang="en-US" sz="1400"/>
              <a:t>© Copyright 2026.  Peter M. Shane All rights reserved. </a:t>
            </a: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5A1B40A4-E29F-4CDF-9935-ACFA67EAC4E9}"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DAEE-19BC-6B63-4BFB-2435D233C82C}"/>
              </a:ext>
            </a:extLst>
          </p:cNvPr>
          <p:cNvSpPr>
            <a:spLocks noGrp="1"/>
          </p:cNvSpPr>
          <p:nvPr>
            <p:ph type="title"/>
          </p:nvPr>
        </p:nvSpPr>
        <p:spPr/>
        <p:txBody>
          <a:bodyPr/>
          <a:lstStyle/>
          <a:p>
            <a:r>
              <a:rPr lang="en-US" dirty="0"/>
              <a:t>Recap of Class 7</a:t>
            </a:r>
          </a:p>
        </p:txBody>
      </p:sp>
      <p:sp>
        <p:nvSpPr>
          <p:cNvPr id="3" name="Content Placeholder 2">
            <a:extLst>
              <a:ext uri="{FF2B5EF4-FFF2-40B4-BE49-F238E27FC236}">
                <a16:creationId xmlns:a16="http://schemas.microsoft.com/office/drawing/2014/main" id="{E3B9A819-F90F-ED1B-CAE7-2A777BAFCDE1}"/>
              </a:ext>
            </a:extLst>
          </p:cNvPr>
          <p:cNvSpPr>
            <a:spLocks noGrp="1"/>
          </p:cNvSpPr>
          <p:nvPr>
            <p:ph idx="1"/>
          </p:nvPr>
        </p:nvSpPr>
        <p:spPr/>
        <p:txBody>
          <a:bodyPr/>
          <a:lstStyle/>
          <a:p>
            <a:pPr>
              <a:spcBef>
                <a:spcPts val="0"/>
              </a:spcBef>
            </a:pPr>
            <a:r>
              <a:rPr lang="en-US" sz="4000" dirty="0"/>
              <a:t>Concluded introduction to canons</a:t>
            </a:r>
          </a:p>
          <a:p>
            <a:pPr lvl="1">
              <a:spcBef>
                <a:spcPts val="0"/>
              </a:spcBef>
            </a:pPr>
            <a:r>
              <a:rPr lang="en-US" sz="3600" dirty="0"/>
              <a:t>Both textualists and </a:t>
            </a:r>
            <a:r>
              <a:rPr lang="en-US" sz="3600" dirty="0" err="1"/>
              <a:t>purposivists</a:t>
            </a:r>
            <a:r>
              <a:rPr lang="en-US" sz="3600" dirty="0"/>
              <a:t> claim to be Congress’s faithful servants</a:t>
            </a:r>
          </a:p>
          <a:p>
            <a:pPr lvl="1">
              <a:spcBef>
                <a:spcPts val="0"/>
              </a:spcBef>
            </a:pPr>
            <a:r>
              <a:rPr lang="en-US" sz="3600" dirty="0"/>
              <a:t>Difference (supposedly) is range of tools to which judges may legitimately have recourse for interpretation</a:t>
            </a:r>
          </a:p>
        </p:txBody>
      </p:sp>
      <p:sp>
        <p:nvSpPr>
          <p:cNvPr id="4" name="Footer Placeholder 3">
            <a:extLst>
              <a:ext uri="{FF2B5EF4-FFF2-40B4-BE49-F238E27FC236}">
                <a16:creationId xmlns:a16="http://schemas.microsoft.com/office/drawing/2014/main" id="{A8F3871D-D517-B3DA-79C3-2B8E01472EB8}"/>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1A4C1F0E-0B8A-B77F-4B53-9A02ED68DCDA}"/>
              </a:ext>
            </a:extLst>
          </p:cNvPr>
          <p:cNvSpPr>
            <a:spLocks noGrp="1"/>
          </p:cNvSpPr>
          <p:nvPr>
            <p:ph type="sldNum" sz="quarter" idx="12"/>
          </p:nvPr>
        </p:nvSpPr>
        <p:spPr/>
        <p:txBody>
          <a:bodyPr/>
          <a:lstStyle/>
          <a:p>
            <a:fld id="{43E3236E-8354-4469-A39B-052E70412384}" type="slidenum">
              <a:rPr lang="en-US" smtClean="0"/>
              <a:pPr/>
              <a:t>1</a:t>
            </a:fld>
            <a:endParaRPr lang="en-US"/>
          </a:p>
        </p:txBody>
      </p:sp>
    </p:spTree>
    <p:extLst>
      <p:ext uri="{BB962C8B-B14F-4D97-AF65-F5344CB8AC3E}">
        <p14:creationId xmlns:p14="http://schemas.microsoft.com/office/powerpoint/2010/main" val="1476929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DAEE-19BC-6B63-4BFB-2435D233C82C}"/>
              </a:ext>
            </a:extLst>
          </p:cNvPr>
          <p:cNvSpPr>
            <a:spLocks noGrp="1"/>
          </p:cNvSpPr>
          <p:nvPr>
            <p:ph type="title"/>
          </p:nvPr>
        </p:nvSpPr>
        <p:spPr/>
        <p:txBody>
          <a:bodyPr/>
          <a:lstStyle/>
          <a:p>
            <a:r>
              <a:rPr lang="en-US" dirty="0"/>
              <a:t>Recap of Class 7 (Cont’d)</a:t>
            </a:r>
          </a:p>
        </p:txBody>
      </p:sp>
      <p:sp>
        <p:nvSpPr>
          <p:cNvPr id="3" name="Content Placeholder 2">
            <a:extLst>
              <a:ext uri="{FF2B5EF4-FFF2-40B4-BE49-F238E27FC236}">
                <a16:creationId xmlns:a16="http://schemas.microsoft.com/office/drawing/2014/main" id="{E3B9A819-F90F-ED1B-CAE7-2A777BAFCDE1}"/>
              </a:ext>
            </a:extLst>
          </p:cNvPr>
          <p:cNvSpPr>
            <a:spLocks noGrp="1"/>
          </p:cNvSpPr>
          <p:nvPr>
            <p:ph idx="1"/>
          </p:nvPr>
        </p:nvSpPr>
        <p:spPr/>
        <p:txBody>
          <a:bodyPr/>
          <a:lstStyle/>
          <a:p>
            <a:pPr>
              <a:spcBef>
                <a:spcPts val="0"/>
              </a:spcBef>
            </a:pPr>
            <a:r>
              <a:rPr lang="en-US" dirty="0"/>
              <a:t>Central rule of law problem for administrative law = discretion</a:t>
            </a:r>
          </a:p>
          <a:p>
            <a:pPr>
              <a:spcBef>
                <a:spcPts val="0"/>
              </a:spcBef>
            </a:pPr>
            <a:r>
              <a:rPr lang="en-US" dirty="0"/>
              <a:t>SCOTUS struggle to identify how much discretion Congress may convey to the executive without abdicating legislative power</a:t>
            </a:r>
          </a:p>
          <a:p>
            <a:pPr lvl="1">
              <a:spcBef>
                <a:spcPts val="0"/>
              </a:spcBef>
            </a:pPr>
            <a:r>
              <a:rPr lang="en-US" dirty="0"/>
              <a:t>Fact-finding v. law making</a:t>
            </a:r>
          </a:p>
          <a:p>
            <a:pPr lvl="1">
              <a:spcBef>
                <a:spcPts val="0"/>
              </a:spcBef>
            </a:pPr>
            <a:r>
              <a:rPr lang="en-US" dirty="0"/>
              <a:t>Primary policy making v. filling up details</a:t>
            </a:r>
          </a:p>
          <a:p>
            <a:pPr lvl="1">
              <a:spcBef>
                <a:spcPts val="0"/>
              </a:spcBef>
            </a:pPr>
            <a:r>
              <a:rPr lang="en-US" dirty="0"/>
              <a:t>Discretion bound by “intelligible principle”</a:t>
            </a:r>
          </a:p>
        </p:txBody>
      </p:sp>
      <p:sp>
        <p:nvSpPr>
          <p:cNvPr id="4" name="Footer Placeholder 3">
            <a:extLst>
              <a:ext uri="{FF2B5EF4-FFF2-40B4-BE49-F238E27FC236}">
                <a16:creationId xmlns:a16="http://schemas.microsoft.com/office/drawing/2014/main" id="{A8F3871D-D517-B3DA-79C3-2B8E01472EB8}"/>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1A4C1F0E-0B8A-B77F-4B53-9A02ED68DCDA}"/>
              </a:ext>
            </a:extLst>
          </p:cNvPr>
          <p:cNvSpPr>
            <a:spLocks noGrp="1"/>
          </p:cNvSpPr>
          <p:nvPr>
            <p:ph type="sldNum" sz="quarter" idx="12"/>
          </p:nvPr>
        </p:nvSpPr>
        <p:spPr/>
        <p:txBody>
          <a:bodyPr/>
          <a:lstStyle/>
          <a:p>
            <a:fld id="{43E3236E-8354-4469-A39B-052E70412384}" type="slidenum">
              <a:rPr lang="en-US" smtClean="0"/>
              <a:pPr/>
              <a:t>2</a:t>
            </a:fld>
            <a:endParaRPr lang="en-US"/>
          </a:p>
        </p:txBody>
      </p:sp>
    </p:spTree>
    <p:extLst>
      <p:ext uri="{BB962C8B-B14F-4D97-AF65-F5344CB8AC3E}">
        <p14:creationId xmlns:p14="http://schemas.microsoft.com/office/powerpoint/2010/main" val="414727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 Copyright 2026.  Peter M. Shane All rights reserved. </a:t>
            </a:r>
            <a:endParaRPr lang="en-US" sz="1200" dirty="0"/>
          </a:p>
        </p:txBody>
      </p:sp>
      <p:sp>
        <p:nvSpPr>
          <p:cNvPr id="8194" name="Rectangle 2"/>
          <p:cNvSpPr>
            <a:spLocks noGrp="1" noChangeArrowheads="1"/>
          </p:cNvSpPr>
          <p:nvPr>
            <p:ph type="title"/>
          </p:nvPr>
        </p:nvSpPr>
        <p:spPr/>
        <p:txBody>
          <a:bodyPr/>
          <a:lstStyle/>
          <a:p>
            <a:r>
              <a:rPr lang="en-US" dirty="0"/>
              <a:t>Zone of discretion</a:t>
            </a:r>
          </a:p>
        </p:txBody>
      </p:sp>
      <p:sp>
        <p:nvSpPr>
          <p:cNvPr id="8195" name="Rectangle 3"/>
          <p:cNvSpPr>
            <a:spLocks noGrp="1" noChangeArrowheads="1"/>
          </p:cNvSpPr>
          <p:nvPr>
            <p:ph type="body" idx="1"/>
          </p:nvPr>
        </p:nvSpPr>
        <p:spPr/>
        <p:txBody>
          <a:bodyPr/>
          <a:lstStyle/>
          <a:p>
            <a:pPr>
              <a:lnSpc>
                <a:spcPct val="90000"/>
              </a:lnSpc>
              <a:buFontTx/>
              <a:buNone/>
            </a:pPr>
            <a:r>
              <a:rPr lang="en-US"/>
              <a:t>Ultra vires/unlawful acts</a:t>
            </a:r>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lvl="1">
              <a:lnSpc>
                <a:spcPct val="90000"/>
              </a:lnSpc>
              <a:buFontTx/>
              <a:buNone/>
            </a:pPr>
            <a:r>
              <a:rPr lang="en-US"/>
              <a:t>					</a:t>
            </a:r>
            <a:r>
              <a:rPr lang="en-US" sz="3200"/>
              <a:t>Ultra vires/unlawful acts</a:t>
            </a:r>
          </a:p>
        </p:txBody>
      </p:sp>
      <p:sp>
        <p:nvSpPr>
          <p:cNvPr id="8196" name="Oval 4"/>
          <p:cNvSpPr>
            <a:spLocks noChangeArrowheads="1"/>
          </p:cNvSpPr>
          <p:nvPr/>
        </p:nvSpPr>
        <p:spPr bwMode="auto">
          <a:xfrm>
            <a:off x="2362200" y="2590800"/>
            <a:ext cx="4800600" cy="2667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a:t>Acts within the </a:t>
            </a:r>
          </a:p>
          <a:p>
            <a:pPr algn="ctr"/>
            <a:r>
              <a:rPr lang="en-US" sz="2800"/>
              <a:t>judgment of the </a:t>
            </a:r>
          </a:p>
          <a:p>
            <a:pPr algn="ctr"/>
            <a:r>
              <a:rPr lang="en-US" sz="2800"/>
              <a:t>administrator</a:t>
            </a:r>
          </a:p>
        </p:txBody>
      </p:sp>
      <p:sp>
        <p:nvSpPr>
          <p:cNvPr id="2" name="Slide Number Placeholder 1">
            <a:extLst>
              <a:ext uri="{FF2B5EF4-FFF2-40B4-BE49-F238E27FC236}">
                <a16:creationId xmlns:a16="http://schemas.microsoft.com/office/drawing/2014/main" id="{967F3210-6768-691A-40E3-D05B75C634EA}"/>
              </a:ext>
            </a:extLst>
          </p:cNvPr>
          <p:cNvSpPr>
            <a:spLocks noGrp="1"/>
          </p:cNvSpPr>
          <p:nvPr>
            <p:ph type="sldNum" sz="quarter" idx="12"/>
          </p:nvPr>
        </p:nvSpPr>
        <p:spPr/>
        <p:txBody>
          <a:bodyPr/>
          <a:lstStyle/>
          <a:p>
            <a:fld id="{43E3236E-8354-4469-A39B-052E70412384}" type="slidenum">
              <a:rPr lang="en-US" smtClean="0"/>
              <a:pPr/>
              <a:t>3</a:t>
            </a:fld>
            <a:endParaRPr lang="en-US"/>
          </a:p>
        </p:txBody>
      </p:sp>
    </p:spTree>
    <p:extLst>
      <p:ext uri="{BB962C8B-B14F-4D97-AF65-F5344CB8AC3E}">
        <p14:creationId xmlns:p14="http://schemas.microsoft.com/office/powerpoint/2010/main" val="279887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CABD0-D8FF-FF2C-8E51-269247FE01C9}"/>
              </a:ext>
            </a:extLst>
          </p:cNvPr>
          <p:cNvSpPr>
            <a:spLocks noGrp="1"/>
          </p:cNvSpPr>
          <p:nvPr>
            <p:ph type="title"/>
          </p:nvPr>
        </p:nvSpPr>
        <p:spPr/>
        <p:txBody>
          <a:bodyPr/>
          <a:lstStyle/>
          <a:p>
            <a:r>
              <a:rPr lang="en-US" i="1" dirty="0"/>
              <a:t>Yakus v. U.S. </a:t>
            </a:r>
            <a:r>
              <a:rPr lang="en-US" dirty="0"/>
              <a:t>(1944)</a:t>
            </a:r>
          </a:p>
        </p:txBody>
      </p:sp>
      <p:sp>
        <p:nvSpPr>
          <p:cNvPr id="3" name="Content Placeholder 2">
            <a:extLst>
              <a:ext uri="{FF2B5EF4-FFF2-40B4-BE49-F238E27FC236}">
                <a16:creationId xmlns:a16="http://schemas.microsoft.com/office/drawing/2014/main" id="{359C58F8-A1C0-B188-004D-6F067096086F}"/>
              </a:ext>
            </a:extLst>
          </p:cNvPr>
          <p:cNvSpPr>
            <a:spLocks noGrp="1"/>
          </p:cNvSpPr>
          <p:nvPr>
            <p:ph idx="1"/>
          </p:nvPr>
        </p:nvSpPr>
        <p:spPr/>
        <p:txBody>
          <a:bodyPr/>
          <a:lstStyle/>
          <a:p>
            <a:r>
              <a:rPr lang="en-US" sz="2800" b="1" dirty="0"/>
              <a:t>Action at Stake</a:t>
            </a:r>
            <a:r>
              <a:rPr lang="en-US" sz="2800" dirty="0"/>
              <a:t>: Imposition of wartime price controls</a:t>
            </a:r>
          </a:p>
          <a:p>
            <a:r>
              <a:rPr lang="en-US" sz="2800" b="1" dirty="0"/>
              <a:t>Limits on Discretion</a:t>
            </a:r>
            <a:r>
              <a:rPr lang="en-US" sz="2800" dirty="0"/>
              <a:t>: Price administrator may fix prices of commodities which ‘in his judgment will be generally fair and equitable and will effectuate the purposes of this Act’ when, in his judgment, their prices ‘have risen or threaten to rise to an extent or in a manner inconsistent with the purposes of this Act.’</a:t>
            </a:r>
            <a:endParaRPr lang="en-US" sz="3600" dirty="0"/>
          </a:p>
        </p:txBody>
      </p:sp>
      <p:sp>
        <p:nvSpPr>
          <p:cNvPr id="4" name="Footer Placeholder 3">
            <a:extLst>
              <a:ext uri="{FF2B5EF4-FFF2-40B4-BE49-F238E27FC236}">
                <a16:creationId xmlns:a16="http://schemas.microsoft.com/office/drawing/2014/main" id="{1DD60E7C-25A4-FE4F-7C4B-E3D0107730DD}"/>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CF705FA4-1DA4-B2A1-55C5-7BCBD8312A5B}"/>
              </a:ext>
            </a:extLst>
          </p:cNvPr>
          <p:cNvSpPr>
            <a:spLocks noGrp="1"/>
          </p:cNvSpPr>
          <p:nvPr>
            <p:ph type="sldNum" sz="quarter" idx="12"/>
          </p:nvPr>
        </p:nvSpPr>
        <p:spPr/>
        <p:txBody>
          <a:bodyPr/>
          <a:lstStyle/>
          <a:p>
            <a:fld id="{43E3236E-8354-4469-A39B-052E70412384}" type="slidenum">
              <a:rPr lang="en-US" smtClean="0"/>
              <a:pPr/>
              <a:t>4</a:t>
            </a:fld>
            <a:endParaRPr lang="en-US"/>
          </a:p>
        </p:txBody>
      </p:sp>
    </p:spTree>
    <p:extLst>
      <p:ext uri="{BB962C8B-B14F-4D97-AF65-F5344CB8AC3E}">
        <p14:creationId xmlns:p14="http://schemas.microsoft.com/office/powerpoint/2010/main" val="10044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08935-D5E6-B9D5-817C-7EEDA1D98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80417-F38F-658E-5793-778A11EBA3EB}"/>
              </a:ext>
            </a:extLst>
          </p:cNvPr>
          <p:cNvSpPr>
            <a:spLocks noGrp="1"/>
          </p:cNvSpPr>
          <p:nvPr>
            <p:ph type="title"/>
          </p:nvPr>
        </p:nvSpPr>
        <p:spPr/>
        <p:txBody>
          <a:bodyPr/>
          <a:lstStyle/>
          <a:p>
            <a:r>
              <a:rPr lang="en-US" dirty="0"/>
              <a:t>Policies of the EPCA</a:t>
            </a:r>
          </a:p>
        </p:txBody>
      </p:sp>
      <p:sp>
        <p:nvSpPr>
          <p:cNvPr id="3" name="Content Placeholder 2">
            <a:extLst>
              <a:ext uri="{FF2B5EF4-FFF2-40B4-BE49-F238E27FC236}">
                <a16:creationId xmlns:a16="http://schemas.microsoft.com/office/drawing/2014/main" id="{EC20E7D6-2073-C5A6-9E10-5A5D1996B814}"/>
              </a:ext>
            </a:extLst>
          </p:cNvPr>
          <p:cNvSpPr>
            <a:spLocks noGrp="1"/>
          </p:cNvSpPr>
          <p:nvPr>
            <p:ph idx="1"/>
          </p:nvPr>
        </p:nvSpPr>
        <p:spPr/>
        <p:txBody>
          <a:bodyPr/>
          <a:lstStyle/>
          <a:p>
            <a:pPr marL="0" indent="0">
              <a:buNone/>
            </a:pPr>
            <a:r>
              <a:rPr lang="en-US" sz="2200" dirty="0"/>
              <a:t>to stabilize prices and to prevent speculative, unwarranted, and abnormal increases in prices and rents; to eliminate . . .disruptive practices resulting from abnormal market conditions or scarcities caused by or contributing to the national emergency; to assure that defense appropriations are not dissipated by excessive prices; to protect persons with relatively fixed and limited incomes, consumers, wage earners, investors, and persons dependent on life insurance, annuities, and pensions, from undue impairment of their standard of living; to prevent hardships to persons engaged in business, * * * and to the Federal, State, and local governments . . .; to assist in securing adequate production of commodities and facilities; to prevent a post emergency collapse of values; *</a:t>
            </a:r>
          </a:p>
          <a:p>
            <a:pPr marL="0" indent="0">
              <a:buNone/>
            </a:pPr>
            <a:endParaRPr lang="en-US" dirty="0"/>
          </a:p>
        </p:txBody>
      </p:sp>
      <p:sp>
        <p:nvSpPr>
          <p:cNvPr id="4" name="Footer Placeholder 3">
            <a:extLst>
              <a:ext uri="{FF2B5EF4-FFF2-40B4-BE49-F238E27FC236}">
                <a16:creationId xmlns:a16="http://schemas.microsoft.com/office/drawing/2014/main" id="{9A3A12F1-FC09-7FCB-DCCE-0533493106FA}"/>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259C9D79-A026-146D-A6C2-3E36A094D76E}"/>
              </a:ext>
            </a:extLst>
          </p:cNvPr>
          <p:cNvSpPr>
            <a:spLocks noGrp="1"/>
          </p:cNvSpPr>
          <p:nvPr>
            <p:ph type="sldNum" sz="quarter" idx="12"/>
          </p:nvPr>
        </p:nvSpPr>
        <p:spPr/>
        <p:txBody>
          <a:bodyPr/>
          <a:lstStyle/>
          <a:p>
            <a:fld id="{43E3236E-8354-4469-A39B-052E70412384}" type="slidenum">
              <a:rPr lang="en-US" smtClean="0"/>
              <a:pPr/>
              <a:t>5</a:t>
            </a:fld>
            <a:endParaRPr lang="en-US"/>
          </a:p>
        </p:txBody>
      </p:sp>
    </p:spTree>
    <p:extLst>
      <p:ext uri="{BB962C8B-B14F-4D97-AF65-F5344CB8AC3E}">
        <p14:creationId xmlns:p14="http://schemas.microsoft.com/office/powerpoint/2010/main" val="3754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905B7-72F6-4219-4FCC-36FC8EC29DEC}"/>
              </a:ext>
            </a:extLst>
          </p:cNvPr>
          <p:cNvSpPr>
            <a:spLocks noGrp="1"/>
          </p:cNvSpPr>
          <p:nvPr>
            <p:ph type="title"/>
          </p:nvPr>
        </p:nvSpPr>
        <p:spPr/>
        <p:txBody>
          <a:bodyPr/>
          <a:lstStyle/>
          <a:p>
            <a:r>
              <a:rPr lang="en-US" dirty="0"/>
              <a:t>And Why Permissible?</a:t>
            </a:r>
          </a:p>
        </p:txBody>
      </p:sp>
      <p:sp>
        <p:nvSpPr>
          <p:cNvPr id="3" name="Content Placeholder 2">
            <a:extLst>
              <a:ext uri="{FF2B5EF4-FFF2-40B4-BE49-F238E27FC236}">
                <a16:creationId xmlns:a16="http://schemas.microsoft.com/office/drawing/2014/main" id="{9F040A6A-FF04-BC3E-0611-3CD3E9B56AD3}"/>
              </a:ext>
            </a:extLst>
          </p:cNvPr>
          <p:cNvSpPr>
            <a:spLocks noGrp="1"/>
          </p:cNvSpPr>
          <p:nvPr>
            <p:ph idx="1"/>
          </p:nvPr>
        </p:nvSpPr>
        <p:spPr/>
        <p:txBody>
          <a:bodyPr/>
          <a:lstStyle/>
          <a:p>
            <a:r>
              <a:rPr lang="en-US" dirty="0"/>
              <a:t>“Only if we could say that there is an absence of standards for the guidance of the Administrator's action, so that it would be impossible in a proper proceeding to ascertain whether the will of Congress has been obeyed, would we be justified in overriding its choice of means for effecting its declared purpose of preventing inflation.”</a:t>
            </a:r>
          </a:p>
        </p:txBody>
      </p:sp>
      <p:sp>
        <p:nvSpPr>
          <p:cNvPr id="4" name="Footer Placeholder 3">
            <a:extLst>
              <a:ext uri="{FF2B5EF4-FFF2-40B4-BE49-F238E27FC236}">
                <a16:creationId xmlns:a16="http://schemas.microsoft.com/office/drawing/2014/main" id="{1529329E-1C9A-9FCE-4DDF-81A7A3A23818}"/>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9F5745F6-B19E-5769-BF8B-2AD21942ED83}"/>
              </a:ext>
            </a:extLst>
          </p:cNvPr>
          <p:cNvSpPr>
            <a:spLocks noGrp="1"/>
          </p:cNvSpPr>
          <p:nvPr>
            <p:ph type="sldNum" sz="quarter" idx="12"/>
          </p:nvPr>
        </p:nvSpPr>
        <p:spPr/>
        <p:txBody>
          <a:bodyPr/>
          <a:lstStyle/>
          <a:p>
            <a:fld id="{43E3236E-8354-4469-A39B-052E70412384}" type="slidenum">
              <a:rPr lang="en-US" smtClean="0"/>
              <a:pPr/>
              <a:t>6</a:t>
            </a:fld>
            <a:endParaRPr lang="en-US"/>
          </a:p>
        </p:txBody>
      </p:sp>
    </p:spTree>
    <p:extLst>
      <p:ext uri="{BB962C8B-B14F-4D97-AF65-F5344CB8AC3E}">
        <p14:creationId xmlns:p14="http://schemas.microsoft.com/office/powerpoint/2010/main" val="321796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a:extLst>
              <a:ext uri="{FF2B5EF4-FFF2-40B4-BE49-F238E27FC236}">
                <a16:creationId xmlns:a16="http://schemas.microsoft.com/office/drawing/2014/main" id="{F2FB1474-A2CA-F3F7-5646-F8AE9FD63F25}"/>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 Copyright 2026.  Peter M. Shane All rights reserved. </a:t>
            </a:r>
          </a:p>
        </p:txBody>
      </p:sp>
      <p:sp>
        <p:nvSpPr>
          <p:cNvPr id="11267" name="Rectangle 2">
            <a:extLst>
              <a:ext uri="{FF2B5EF4-FFF2-40B4-BE49-F238E27FC236}">
                <a16:creationId xmlns:a16="http://schemas.microsoft.com/office/drawing/2014/main" id="{5261D258-DFDB-5026-C4F8-AD3D425A078A}"/>
              </a:ext>
            </a:extLst>
          </p:cNvPr>
          <p:cNvSpPr>
            <a:spLocks noGrp="1" noChangeArrowheads="1"/>
          </p:cNvSpPr>
          <p:nvPr>
            <p:ph type="title"/>
          </p:nvPr>
        </p:nvSpPr>
        <p:spPr/>
        <p:txBody>
          <a:bodyPr/>
          <a:lstStyle/>
          <a:p>
            <a:pPr eaLnBrk="1" hangingPunct="1"/>
            <a:r>
              <a:rPr lang="en-US" altLang="en-US" i="1" dirty="0"/>
              <a:t>Mistretta v. U.S. </a:t>
            </a:r>
            <a:r>
              <a:rPr lang="en-US" altLang="en-US" dirty="0"/>
              <a:t>(1989)</a:t>
            </a:r>
          </a:p>
        </p:txBody>
      </p:sp>
      <p:sp>
        <p:nvSpPr>
          <p:cNvPr id="14339" name="Rectangle 3">
            <a:extLst>
              <a:ext uri="{FF2B5EF4-FFF2-40B4-BE49-F238E27FC236}">
                <a16:creationId xmlns:a16="http://schemas.microsoft.com/office/drawing/2014/main" id="{A0EAC285-789C-8F76-F289-B428499E6C2B}"/>
              </a:ext>
            </a:extLst>
          </p:cNvPr>
          <p:cNvSpPr>
            <a:spLocks noGrp="1" noChangeArrowheads="1"/>
          </p:cNvSpPr>
          <p:nvPr>
            <p:ph type="body" idx="1"/>
          </p:nvPr>
        </p:nvSpPr>
        <p:spPr/>
        <p:txBody>
          <a:bodyPr/>
          <a:lstStyle/>
          <a:p>
            <a:pPr>
              <a:spcBef>
                <a:spcPts val="0"/>
              </a:spcBef>
            </a:pPr>
            <a:r>
              <a:rPr lang="en-US" sz="2800" b="1" dirty="0"/>
              <a:t>Action at Stake</a:t>
            </a:r>
            <a:r>
              <a:rPr lang="en-US" sz="2800" dirty="0"/>
              <a:t>: Sentencing guidelines</a:t>
            </a:r>
          </a:p>
          <a:p>
            <a:pPr>
              <a:spcBef>
                <a:spcPts val="0"/>
              </a:spcBef>
            </a:pPr>
            <a:r>
              <a:rPr lang="en-US" sz="2800" b="1" dirty="0"/>
              <a:t>Limit on Discretion</a:t>
            </a:r>
            <a:r>
              <a:rPr lang="en-US" sz="2800" dirty="0"/>
              <a:t>: Avoid unjustified disparities; Guidelines address for needs: </a:t>
            </a:r>
          </a:p>
          <a:p>
            <a:pPr lvl="1"/>
            <a:r>
              <a:rPr lang="en-US" sz="2100" dirty="0"/>
              <a:t>(A) to reflect the seriousness of the offense, to promote respect for the law, and to provide just punishment for the offense;</a:t>
            </a:r>
          </a:p>
          <a:p>
            <a:pPr lvl="1"/>
            <a:r>
              <a:rPr lang="en-US" sz="2100" dirty="0"/>
              <a:t>(B) to afford adequate deterrence to criminal conduct;</a:t>
            </a:r>
          </a:p>
          <a:p>
            <a:pPr lvl="1"/>
            <a:r>
              <a:rPr lang="en-US" sz="2100" dirty="0"/>
              <a:t>(C) to protect the public from further crimes of the defendant; and</a:t>
            </a:r>
          </a:p>
          <a:p>
            <a:pPr lvl="1"/>
            <a:r>
              <a:rPr lang="en-US" sz="2100" dirty="0"/>
              <a:t>(D) to provide the defendant with needed educational or vocational training, medical care, or other correctional treatment in the most effective manner</a:t>
            </a:r>
          </a:p>
          <a:p>
            <a:pPr eaLnBrk="1" hangingPunct="1">
              <a:lnSpc>
                <a:spcPct val="90000"/>
              </a:lnSpc>
            </a:pPr>
            <a:endParaRPr lang="en-US" altLang="en-US" dirty="0"/>
          </a:p>
        </p:txBody>
      </p:sp>
      <p:sp>
        <p:nvSpPr>
          <p:cNvPr id="2" name="Slide Number Placeholder 1">
            <a:extLst>
              <a:ext uri="{FF2B5EF4-FFF2-40B4-BE49-F238E27FC236}">
                <a16:creationId xmlns:a16="http://schemas.microsoft.com/office/drawing/2014/main" id="{C22326C4-AB88-2150-89FF-1A65669FD579}"/>
              </a:ext>
            </a:extLst>
          </p:cNvPr>
          <p:cNvSpPr>
            <a:spLocks noGrp="1"/>
          </p:cNvSpPr>
          <p:nvPr>
            <p:ph type="sldNum" sz="quarter" idx="12"/>
          </p:nvPr>
        </p:nvSpPr>
        <p:spPr/>
        <p:txBody>
          <a:bodyPr/>
          <a:lstStyle/>
          <a:p>
            <a:fld id="{43E3236E-8354-4469-A39B-052E70412384}" type="slidenum">
              <a:rPr lang="en-US" smtClean="0"/>
              <a:pPr/>
              <a:t>7</a:t>
            </a:fld>
            <a:endParaRPr lang="en-US" dirty="0"/>
          </a:p>
        </p:txBody>
      </p:sp>
    </p:spTree>
    <p:extLst>
      <p:ext uri="{BB962C8B-B14F-4D97-AF65-F5344CB8AC3E}">
        <p14:creationId xmlns:p14="http://schemas.microsoft.com/office/powerpoint/2010/main" val="167479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 calcmode="lin" valueType="num">
                                      <p:cBhvr additive="base">
                                        <p:cTn id="17" dur="500" fill="hold"/>
                                        <p:tgtEl>
                                          <p:spTgt spid="143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3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4339">
                                            <p:txEl>
                                              <p:pRg st="3" end="3"/>
                                            </p:txEl>
                                          </p:spTgt>
                                        </p:tgtEl>
                                        <p:attrNameLst>
                                          <p:attrName>style.visibility</p:attrName>
                                        </p:attrNameLst>
                                      </p:cBhvr>
                                      <p:to>
                                        <p:strVal val="visible"/>
                                      </p:to>
                                    </p:set>
                                    <p:anim calcmode="lin" valueType="num">
                                      <p:cBhvr additive="base">
                                        <p:cTn id="21" dur="500" fill="hold"/>
                                        <p:tgtEl>
                                          <p:spTgt spid="143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433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4339">
                                            <p:txEl>
                                              <p:pRg st="4" end="4"/>
                                            </p:txEl>
                                          </p:spTgt>
                                        </p:tgtEl>
                                        <p:attrNameLst>
                                          <p:attrName>style.visibility</p:attrName>
                                        </p:attrNameLst>
                                      </p:cBhvr>
                                      <p:to>
                                        <p:strVal val="visible"/>
                                      </p:to>
                                    </p:set>
                                    <p:anim calcmode="lin" valueType="num">
                                      <p:cBhvr additive="base">
                                        <p:cTn id="25" dur="500" fill="hold"/>
                                        <p:tgtEl>
                                          <p:spTgt spid="1433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33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4339">
                                            <p:txEl>
                                              <p:pRg st="5" end="5"/>
                                            </p:txEl>
                                          </p:spTgt>
                                        </p:tgtEl>
                                        <p:attrNameLst>
                                          <p:attrName>style.visibility</p:attrName>
                                        </p:attrNameLst>
                                      </p:cBhvr>
                                      <p:to>
                                        <p:strVal val="visible"/>
                                      </p:to>
                                    </p:set>
                                    <p:anim calcmode="lin" valueType="num">
                                      <p:cBhvr additive="base">
                                        <p:cTn id="29" dur="500" fill="hold"/>
                                        <p:tgtEl>
                                          <p:spTgt spid="14339">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43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31B92-C2A2-2A91-C2AA-103A47CF043A}"/>
            </a:ext>
          </a:extLst>
        </p:cNvPr>
        <p:cNvGrpSpPr/>
        <p:nvPr/>
      </p:nvGrpSpPr>
      <p:grpSpPr>
        <a:xfrm>
          <a:off x="0" y="0"/>
          <a:ext cx="0" cy="0"/>
          <a:chOff x="0" y="0"/>
          <a:chExt cx="0" cy="0"/>
        </a:xfrm>
      </p:grpSpPr>
      <p:sp>
        <p:nvSpPr>
          <p:cNvPr id="11266" name="Footer Placeholder 4">
            <a:extLst>
              <a:ext uri="{FF2B5EF4-FFF2-40B4-BE49-F238E27FC236}">
                <a16:creationId xmlns:a16="http://schemas.microsoft.com/office/drawing/2014/main" id="{8CE0BDAD-2B1E-C8A3-8F5F-2B0B155A84A8}"/>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 Copyright 2026.  Peter M. Shane All rights reserved. </a:t>
            </a:r>
          </a:p>
        </p:txBody>
      </p:sp>
      <p:sp>
        <p:nvSpPr>
          <p:cNvPr id="11267" name="Rectangle 2">
            <a:extLst>
              <a:ext uri="{FF2B5EF4-FFF2-40B4-BE49-F238E27FC236}">
                <a16:creationId xmlns:a16="http://schemas.microsoft.com/office/drawing/2014/main" id="{E12AFB11-6AB0-125C-C5F2-674DC71FFCB8}"/>
              </a:ext>
            </a:extLst>
          </p:cNvPr>
          <p:cNvSpPr>
            <a:spLocks noGrp="1" noChangeArrowheads="1"/>
          </p:cNvSpPr>
          <p:nvPr>
            <p:ph type="title"/>
          </p:nvPr>
        </p:nvSpPr>
        <p:spPr/>
        <p:txBody>
          <a:bodyPr/>
          <a:lstStyle/>
          <a:p>
            <a:pPr eaLnBrk="1" hangingPunct="1"/>
            <a:r>
              <a:rPr lang="en-US" altLang="en-US" i="1" dirty="0"/>
              <a:t>Mistretta v. U.S. </a:t>
            </a:r>
            <a:r>
              <a:rPr lang="en-US" altLang="en-US" dirty="0"/>
              <a:t>(1989)</a:t>
            </a:r>
          </a:p>
        </p:txBody>
      </p:sp>
      <p:sp>
        <p:nvSpPr>
          <p:cNvPr id="14339" name="Rectangle 3">
            <a:extLst>
              <a:ext uri="{FF2B5EF4-FFF2-40B4-BE49-F238E27FC236}">
                <a16:creationId xmlns:a16="http://schemas.microsoft.com/office/drawing/2014/main" id="{BFCF1ADA-6113-216D-0191-8E175C1710CB}"/>
              </a:ext>
            </a:extLst>
          </p:cNvPr>
          <p:cNvSpPr>
            <a:spLocks noGrp="1" noChangeArrowheads="1"/>
          </p:cNvSpPr>
          <p:nvPr>
            <p:ph type="body" idx="1"/>
          </p:nvPr>
        </p:nvSpPr>
        <p:spPr/>
        <p:txBody>
          <a:bodyPr/>
          <a:lstStyle/>
          <a:p>
            <a:pPr eaLnBrk="1" hangingPunct="1">
              <a:lnSpc>
                <a:spcPct val="90000"/>
              </a:lnSpc>
            </a:pPr>
            <a:r>
              <a:rPr lang="en-US" altLang="en-US" b="1" dirty="0"/>
              <a:t>Why approved:</a:t>
            </a:r>
          </a:p>
          <a:p>
            <a:pPr lvl="1">
              <a:lnSpc>
                <a:spcPct val="90000"/>
              </a:lnSpc>
            </a:pPr>
            <a:r>
              <a:rPr lang="en-US" altLang="en-US" dirty="0"/>
              <a:t>Congress sets policies, dictates tool (guideline system) for implementation, and general shape of system; also sets starting points for calculation </a:t>
            </a:r>
          </a:p>
          <a:p>
            <a:pPr lvl="1">
              <a:lnSpc>
                <a:spcPct val="90000"/>
              </a:lnSpc>
            </a:pPr>
            <a:r>
              <a:rPr lang="en-US" altLang="en-US" dirty="0"/>
              <a:t>Congress sets factors to be considered</a:t>
            </a:r>
          </a:p>
          <a:p>
            <a:pPr lvl="1">
              <a:lnSpc>
                <a:spcPct val="90000"/>
              </a:lnSpc>
            </a:pPr>
            <a:r>
              <a:rPr lang="en-US" altLang="en-US" dirty="0"/>
              <a:t>Task vested in commission represents detailed expert work appropriate for administrative body </a:t>
            </a:r>
          </a:p>
        </p:txBody>
      </p:sp>
      <p:sp>
        <p:nvSpPr>
          <p:cNvPr id="2" name="Slide Number Placeholder 1">
            <a:extLst>
              <a:ext uri="{FF2B5EF4-FFF2-40B4-BE49-F238E27FC236}">
                <a16:creationId xmlns:a16="http://schemas.microsoft.com/office/drawing/2014/main" id="{45BE4883-F4E3-5514-CA0E-B4F70B25AD84}"/>
              </a:ext>
            </a:extLst>
          </p:cNvPr>
          <p:cNvSpPr>
            <a:spLocks noGrp="1"/>
          </p:cNvSpPr>
          <p:nvPr>
            <p:ph type="sldNum" sz="quarter" idx="12"/>
          </p:nvPr>
        </p:nvSpPr>
        <p:spPr/>
        <p:txBody>
          <a:bodyPr/>
          <a:lstStyle/>
          <a:p>
            <a:fld id="{43E3236E-8354-4469-A39B-052E70412384}" type="slidenum">
              <a:rPr lang="en-US" smtClean="0"/>
              <a:pPr/>
              <a:t>8</a:t>
            </a:fld>
            <a:endParaRPr lang="en-US"/>
          </a:p>
        </p:txBody>
      </p:sp>
    </p:spTree>
    <p:extLst>
      <p:ext uri="{BB962C8B-B14F-4D97-AF65-F5344CB8AC3E}">
        <p14:creationId xmlns:p14="http://schemas.microsoft.com/office/powerpoint/2010/main" val="1172841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 calcmode="lin" valueType="num">
                                      <p:cBhvr additive="base">
                                        <p:cTn id="17" dur="500" fill="hold"/>
                                        <p:tgtEl>
                                          <p:spTgt spid="143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3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4339">
                                            <p:txEl>
                                              <p:pRg st="3" end="3"/>
                                            </p:txEl>
                                          </p:spTgt>
                                        </p:tgtEl>
                                        <p:attrNameLst>
                                          <p:attrName>style.visibility</p:attrName>
                                        </p:attrNameLst>
                                      </p:cBhvr>
                                      <p:to>
                                        <p:strVal val="visible"/>
                                      </p:to>
                                    </p:set>
                                    <p:anim calcmode="lin" valueType="num">
                                      <p:cBhvr additive="base">
                                        <p:cTn id="21" dur="500" fill="hold"/>
                                        <p:tgtEl>
                                          <p:spTgt spid="143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433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a:extLst>
              <a:ext uri="{FF2B5EF4-FFF2-40B4-BE49-F238E27FC236}">
                <a16:creationId xmlns:a16="http://schemas.microsoft.com/office/drawing/2014/main" id="{3F937AE3-08FF-5B4B-1501-EDCF1B3C162B}"/>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 Copyright 2026.  Peter M. Shane All rights reserved. </a:t>
            </a:r>
          </a:p>
        </p:txBody>
      </p:sp>
      <p:sp>
        <p:nvSpPr>
          <p:cNvPr id="12291" name="Rectangle 2">
            <a:extLst>
              <a:ext uri="{FF2B5EF4-FFF2-40B4-BE49-F238E27FC236}">
                <a16:creationId xmlns:a16="http://schemas.microsoft.com/office/drawing/2014/main" id="{78F70C44-034A-54B7-5CC3-A66210087A20}"/>
              </a:ext>
            </a:extLst>
          </p:cNvPr>
          <p:cNvSpPr>
            <a:spLocks noGrp="1" noChangeArrowheads="1"/>
          </p:cNvSpPr>
          <p:nvPr>
            <p:ph type="title"/>
          </p:nvPr>
        </p:nvSpPr>
        <p:spPr/>
        <p:txBody>
          <a:bodyPr/>
          <a:lstStyle/>
          <a:p>
            <a:pPr eaLnBrk="1" hangingPunct="1"/>
            <a:r>
              <a:rPr lang="en-US" altLang="en-US"/>
              <a:t>Scalia Dissent</a:t>
            </a:r>
          </a:p>
        </p:txBody>
      </p:sp>
      <p:sp>
        <p:nvSpPr>
          <p:cNvPr id="15363" name="Rectangle 3">
            <a:extLst>
              <a:ext uri="{FF2B5EF4-FFF2-40B4-BE49-F238E27FC236}">
                <a16:creationId xmlns:a16="http://schemas.microsoft.com/office/drawing/2014/main" id="{DFB4686A-447F-1309-092F-71492E49AD1A}"/>
              </a:ext>
            </a:extLst>
          </p:cNvPr>
          <p:cNvSpPr>
            <a:spLocks noGrp="1" noChangeArrowheads="1"/>
          </p:cNvSpPr>
          <p:nvPr>
            <p:ph type="body" idx="1"/>
          </p:nvPr>
        </p:nvSpPr>
        <p:spPr/>
        <p:txBody>
          <a:bodyPr/>
          <a:lstStyle/>
          <a:p>
            <a:r>
              <a:rPr lang="en-US" altLang="en-US" sz="3600" dirty="0"/>
              <a:t>Body does not make policy pursuant to administrative scheme; it makes law</a:t>
            </a:r>
          </a:p>
          <a:p>
            <a:r>
              <a:rPr lang="en-US" altLang="en-US" sz="3600" dirty="0"/>
              <a:t>Rules heavily laden with policy judgments</a:t>
            </a:r>
          </a:p>
          <a:p>
            <a:r>
              <a:rPr lang="en-US" altLang="en-US" sz="3600" dirty="0"/>
              <a:t>Issue not specificity of standards, but naked lawmaking status</a:t>
            </a:r>
          </a:p>
        </p:txBody>
      </p:sp>
      <p:sp>
        <p:nvSpPr>
          <p:cNvPr id="2" name="Slide Number Placeholder 1">
            <a:extLst>
              <a:ext uri="{FF2B5EF4-FFF2-40B4-BE49-F238E27FC236}">
                <a16:creationId xmlns:a16="http://schemas.microsoft.com/office/drawing/2014/main" id="{07127C93-8520-5281-4444-E792CE4835DD}"/>
              </a:ext>
            </a:extLst>
          </p:cNvPr>
          <p:cNvSpPr>
            <a:spLocks noGrp="1"/>
          </p:cNvSpPr>
          <p:nvPr>
            <p:ph type="sldNum" sz="quarter" idx="12"/>
          </p:nvPr>
        </p:nvSpPr>
        <p:spPr/>
        <p:txBody>
          <a:bodyPr/>
          <a:lstStyle/>
          <a:p>
            <a:fld id="{43E3236E-8354-4469-A39B-052E70412384}" type="slidenum">
              <a:rPr lang="en-US" smtClean="0"/>
              <a:pPr/>
              <a:t>9</a:t>
            </a:fld>
            <a:endParaRPr lang="en-US"/>
          </a:p>
        </p:txBody>
      </p:sp>
    </p:spTree>
    <p:extLst>
      <p:ext uri="{BB962C8B-B14F-4D97-AF65-F5344CB8AC3E}">
        <p14:creationId xmlns:p14="http://schemas.microsoft.com/office/powerpoint/2010/main" val="1083466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a:extLst>
              <a:ext uri="{FF2B5EF4-FFF2-40B4-BE49-F238E27FC236}">
                <a16:creationId xmlns:a16="http://schemas.microsoft.com/office/drawing/2014/main" id="{81DAB427-A24D-E1F8-80D6-AB9633DADD94}"/>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 Copyright 2026.  Peter M. Shane All rights reserved. </a:t>
            </a:r>
          </a:p>
        </p:txBody>
      </p:sp>
      <p:sp>
        <p:nvSpPr>
          <p:cNvPr id="10243" name="Rectangle 2">
            <a:extLst>
              <a:ext uri="{FF2B5EF4-FFF2-40B4-BE49-F238E27FC236}">
                <a16:creationId xmlns:a16="http://schemas.microsoft.com/office/drawing/2014/main" id="{5F7DE229-EFC5-ABD2-67B4-FBEF8E48F164}"/>
              </a:ext>
            </a:extLst>
          </p:cNvPr>
          <p:cNvSpPr>
            <a:spLocks noGrp="1" noChangeArrowheads="1"/>
          </p:cNvSpPr>
          <p:nvPr>
            <p:ph type="title"/>
          </p:nvPr>
        </p:nvSpPr>
        <p:spPr/>
        <p:txBody>
          <a:bodyPr/>
          <a:lstStyle/>
          <a:p>
            <a:pPr eaLnBrk="1" hangingPunct="1"/>
            <a:r>
              <a:rPr lang="en-US" altLang="en-US"/>
              <a:t>What About This?</a:t>
            </a:r>
          </a:p>
        </p:txBody>
      </p:sp>
      <p:sp>
        <p:nvSpPr>
          <p:cNvPr id="10244" name="Rectangle 3">
            <a:extLst>
              <a:ext uri="{FF2B5EF4-FFF2-40B4-BE49-F238E27FC236}">
                <a16:creationId xmlns:a16="http://schemas.microsoft.com/office/drawing/2014/main" id="{9DA57DD3-8028-ECE1-4649-E16B8F91805A}"/>
              </a:ext>
            </a:extLst>
          </p:cNvPr>
          <p:cNvSpPr>
            <a:spLocks noGrp="1" noChangeArrowheads="1"/>
          </p:cNvSpPr>
          <p:nvPr>
            <p:ph type="body" idx="1"/>
          </p:nvPr>
        </p:nvSpPr>
        <p:spPr/>
        <p:txBody>
          <a:bodyPr/>
          <a:lstStyle/>
          <a:p>
            <a:pPr eaLnBrk="1" hangingPunct="1">
              <a:lnSpc>
                <a:spcPct val="80000"/>
              </a:lnSpc>
              <a:buFontTx/>
              <a:buNone/>
            </a:pPr>
            <a:r>
              <a:rPr lang="en-US" altLang="en-US" sz="2400"/>
              <a:t>The President is authorized to determine which modes of antisocial conduct are sufficiently harmful to society or otherwise depraved to warrant the imposition of penal sanction and, for all such conduct, shall determine a minimum and maximum scope of liability depending on (a) the magnitude of the harms imposed, (b) the likelihood of rehabilitation, (c) the merits of incapacitating the particular individuals involved, (d) deterrence of future harmful conduct, and (e) vindicating a proportionate share of retributive justice.</a:t>
            </a:r>
          </a:p>
          <a:p>
            <a:pPr eaLnBrk="1" hangingPunct="1">
              <a:lnSpc>
                <a:spcPct val="80000"/>
              </a:lnSpc>
              <a:buFontTx/>
              <a:buNone/>
            </a:pPr>
            <a:endParaRPr lang="en-US" altLang="en-US" sz="2400"/>
          </a:p>
          <a:p>
            <a:pPr eaLnBrk="1" hangingPunct="1">
              <a:lnSpc>
                <a:spcPct val="80000"/>
              </a:lnSpc>
              <a:buFontTx/>
              <a:buNone/>
            </a:pPr>
            <a:r>
              <a:rPr lang="en-US" altLang="en-US" sz="2400"/>
              <a:t>Is </a:t>
            </a:r>
            <a:r>
              <a:rPr lang="en-US" altLang="en-US" sz="2400" i="1"/>
              <a:t>Mistretta</a:t>
            </a:r>
            <a:r>
              <a:rPr lang="en-US" altLang="en-US" sz="2400"/>
              <a:t> different??</a:t>
            </a:r>
          </a:p>
        </p:txBody>
      </p:sp>
      <p:sp>
        <p:nvSpPr>
          <p:cNvPr id="2" name="Slide Number Placeholder 1">
            <a:extLst>
              <a:ext uri="{FF2B5EF4-FFF2-40B4-BE49-F238E27FC236}">
                <a16:creationId xmlns:a16="http://schemas.microsoft.com/office/drawing/2014/main" id="{317E7FDA-8382-1344-CF96-E25C8D3109FD}"/>
              </a:ext>
            </a:extLst>
          </p:cNvPr>
          <p:cNvSpPr>
            <a:spLocks noGrp="1"/>
          </p:cNvSpPr>
          <p:nvPr>
            <p:ph type="sldNum" sz="quarter" idx="12"/>
          </p:nvPr>
        </p:nvSpPr>
        <p:spPr/>
        <p:txBody>
          <a:bodyPr/>
          <a:lstStyle/>
          <a:p>
            <a:fld id="{43E3236E-8354-4469-A39B-052E70412384}" type="slidenum">
              <a:rPr lang="en-US" smtClean="0"/>
              <a:pPr/>
              <a:t>10</a:t>
            </a:fld>
            <a:endParaRPr lang="en-US"/>
          </a:p>
        </p:txBody>
      </p:sp>
    </p:spTree>
    <p:extLst>
      <p:ext uri="{BB962C8B-B14F-4D97-AF65-F5344CB8AC3E}">
        <p14:creationId xmlns:p14="http://schemas.microsoft.com/office/powerpoint/2010/main" val="228058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6B60-EC5C-4F27-B3A9-0FD5C5B9B797}"/>
              </a:ext>
            </a:extLst>
          </p:cNvPr>
          <p:cNvSpPr>
            <a:spLocks noGrp="1"/>
          </p:cNvSpPr>
          <p:nvPr>
            <p:ph type="title"/>
          </p:nvPr>
        </p:nvSpPr>
        <p:spPr/>
        <p:txBody>
          <a:bodyPr/>
          <a:lstStyle/>
          <a:p>
            <a:r>
              <a:rPr lang="en-US" sz="3600" i="1" dirty="0"/>
              <a:t>Amalgamated Meat Cutters v. </a:t>
            </a:r>
            <a:br>
              <a:rPr lang="en-US" sz="3600" i="1" dirty="0"/>
            </a:br>
            <a:r>
              <a:rPr lang="en-US" sz="3600" i="1" dirty="0"/>
              <a:t>Connally </a:t>
            </a:r>
            <a:r>
              <a:rPr lang="en-US" sz="3600" dirty="0"/>
              <a:t>(D.C. </a:t>
            </a:r>
            <a:r>
              <a:rPr lang="en-US" sz="3600"/>
              <a:t>Cir. 1971</a:t>
            </a:r>
            <a:r>
              <a:rPr lang="en-US" sz="3600" dirty="0"/>
              <a:t>)</a:t>
            </a:r>
          </a:p>
        </p:txBody>
      </p:sp>
      <p:sp>
        <p:nvSpPr>
          <p:cNvPr id="3" name="Content Placeholder 2">
            <a:extLst>
              <a:ext uri="{FF2B5EF4-FFF2-40B4-BE49-F238E27FC236}">
                <a16:creationId xmlns:a16="http://schemas.microsoft.com/office/drawing/2014/main" id="{45C9BB9D-4DBB-C09C-1623-18BF516714AE}"/>
              </a:ext>
            </a:extLst>
          </p:cNvPr>
          <p:cNvSpPr>
            <a:spLocks noGrp="1"/>
          </p:cNvSpPr>
          <p:nvPr>
            <p:ph idx="1"/>
          </p:nvPr>
        </p:nvSpPr>
        <p:spPr/>
        <p:txBody>
          <a:bodyPr/>
          <a:lstStyle/>
          <a:p>
            <a:r>
              <a:rPr lang="en-US" sz="2400" b="1" dirty="0"/>
              <a:t>Action at Stake</a:t>
            </a:r>
            <a:r>
              <a:rPr lang="en-US" sz="2400" dirty="0"/>
              <a:t>: Setting prices, rents, wages, and salaries</a:t>
            </a:r>
          </a:p>
          <a:p>
            <a:r>
              <a:rPr lang="en-US" sz="2400" b="1" dirty="0"/>
              <a:t>Limits to Discretion: </a:t>
            </a:r>
            <a:r>
              <a:rPr lang="en-US" sz="2400" dirty="0"/>
              <a:t>The President is authorized to issue such orders and regulations as he may deem appropriate . . . at levels not less than those prevailing on May 25, 1970. Such orders and regulations may provide for the making of such adjustments as may be necessary to prevent gross inequities. </a:t>
            </a:r>
          </a:p>
          <a:p>
            <a:r>
              <a:rPr lang="en-US" sz="2400" b="1" dirty="0"/>
              <a:t>Why Approved</a:t>
            </a:r>
            <a:r>
              <a:rPr lang="en-US" sz="2400" dirty="0"/>
              <a:t>: Judge Leventhal upholds delegation based on a menu of factors – are each of these factors </a:t>
            </a:r>
            <a:r>
              <a:rPr lang="en-US" sz="2400" i="1" dirty="0"/>
              <a:t>measuring </a:t>
            </a:r>
            <a:r>
              <a:rPr lang="en-US" sz="2400" dirty="0"/>
              <a:t>the same thing?</a:t>
            </a:r>
            <a:endParaRPr lang="en-US" sz="2400" i="1" dirty="0"/>
          </a:p>
          <a:p>
            <a:endParaRPr lang="en-US" dirty="0"/>
          </a:p>
        </p:txBody>
      </p:sp>
      <p:sp>
        <p:nvSpPr>
          <p:cNvPr id="4" name="Footer Placeholder 3">
            <a:extLst>
              <a:ext uri="{FF2B5EF4-FFF2-40B4-BE49-F238E27FC236}">
                <a16:creationId xmlns:a16="http://schemas.microsoft.com/office/drawing/2014/main" id="{C785FB42-996C-64AC-7AFE-136034A474E2}"/>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CA65A002-B3D6-1692-0920-765E5DA0E463}"/>
              </a:ext>
            </a:extLst>
          </p:cNvPr>
          <p:cNvSpPr>
            <a:spLocks noGrp="1"/>
          </p:cNvSpPr>
          <p:nvPr>
            <p:ph type="sldNum" sz="quarter" idx="12"/>
          </p:nvPr>
        </p:nvSpPr>
        <p:spPr/>
        <p:txBody>
          <a:bodyPr/>
          <a:lstStyle/>
          <a:p>
            <a:fld id="{43E3236E-8354-4469-A39B-052E70412384}" type="slidenum">
              <a:rPr lang="en-US" smtClean="0"/>
              <a:pPr/>
              <a:t>11</a:t>
            </a:fld>
            <a:endParaRPr lang="en-US"/>
          </a:p>
        </p:txBody>
      </p:sp>
    </p:spTree>
    <p:extLst>
      <p:ext uri="{BB962C8B-B14F-4D97-AF65-F5344CB8AC3E}">
        <p14:creationId xmlns:p14="http://schemas.microsoft.com/office/powerpoint/2010/main" val="244886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BCD93-8FDE-28CD-8A4E-511393958410}"/>
              </a:ext>
            </a:extLst>
          </p:cNvPr>
          <p:cNvSpPr>
            <a:spLocks noGrp="1"/>
          </p:cNvSpPr>
          <p:nvPr>
            <p:ph type="title"/>
          </p:nvPr>
        </p:nvSpPr>
        <p:spPr/>
        <p:txBody>
          <a:bodyPr/>
          <a:lstStyle/>
          <a:p>
            <a:r>
              <a:rPr lang="en-US" sz="3600" dirty="0"/>
              <a:t>Factors Supporting Judge Leventhal’s Approach in </a:t>
            </a:r>
            <a:r>
              <a:rPr lang="en-US" sz="3600" i="1" dirty="0"/>
              <a:t>Meat Cutters</a:t>
            </a:r>
            <a:endParaRPr lang="en-US" sz="3600" dirty="0"/>
          </a:p>
        </p:txBody>
      </p:sp>
      <p:sp>
        <p:nvSpPr>
          <p:cNvPr id="3" name="Content Placeholder 2">
            <a:extLst>
              <a:ext uri="{FF2B5EF4-FFF2-40B4-BE49-F238E27FC236}">
                <a16:creationId xmlns:a16="http://schemas.microsoft.com/office/drawing/2014/main" id="{89D4EB92-4983-ED19-B822-E66C4634BE2B}"/>
              </a:ext>
            </a:extLst>
          </p:cNvPr>
          <p:cNvSpPr>
            <a:spLocks noGrp="1"/>
          </p:cNvSpPr>
          <p:nvPr>
            <p:ph idx="1"/>
          </p:nvPr>
        </p:nvSpPr>
        <p:spPr/>
        <p:txBody>
          <a:bodyPr/>
          <a:lstStyle/>
          <a:p>
            <a:pPr>
              <a:lnSpc>
                <a:spcPct val="80000"/>
              </a:lnSpc>
              <a:buFontTx/>
              <a:buNone/>
            </a:pPr>
            <a:r>
              <a:rPr lang="en-US" sz="2000" dirty="0"/>
              <a:t>The Statute is Not a Blank Check</a:t>
            </a:r>
          </a:p>
          <a:p>
            <a:pPr>
              <a:lnSpc>
                <a:spcPct val="80000"/>
              </a:lnSpc>
            </a:pPr>
            <a:r>
              <a:rPr lang="en-US" sz="2000" dirty="0"/>
              <a:t>Takes note of narrowing terms</a:t>
            </a:r>
          </a:p>
          <a:p>
            <a:pPr>
              <a:lnSpc>
                <a:spcPct val="80000"/>
              </a:lnSpc>
            </a:pPr>
            <a:r>
              <a:rPr lang="en-US" sz="2000" dirty="0"/>
              <a:t>The availability of the history of past price administrations to suggest the permissible range of current controls </a:t>
            </a:r>
          </a:p>
          <a:p>
            <a:pPr>
              <a:lnSpc>
                <a:spcPct val="80000"/>
              </a:lnSpc>
              <a:buFontTx/>
              <a:buNone/>
            </a:pPr>
            <a:r>
              <a:rPr lang="en-US" sz="2000" dirty="0"/>
              <a:t>The Statute Shouldn’t Make Us Nervous</a:t>
            </a:r>
          </a:p>
          <a:p>
            <a:pPr>
              <a:lnSpc>
                <a:spcPct val="80000"/>
              </a:lnSpc>
            </a:pPr>
            <a:r>
              <a:rPr lang="en-US" sz="2000" dirty="0"/>
              <a:t>The “product of reasoned analysis”</a:t>
            </a:r>
          </a:p>
          <a:p>
            <a:pPr>
              <a:lnSpc>
                <a:spcPct val="80000"/>
              </a:lnSpc>
            </a:pPr>
            <a:r>
              <a:rPr lang="en-US" sz="2000" dirty="0"/>
              <a:t>The relationship between the need for economic controls and our international trade posture </a:t>
            </a:r>
          </a:p>
          <a:p>
            <a:pPr>
              <a:lnSpc>
                <a:spcPct val="80000"/>
              </a:lnSpc>
            </a:pPr>
            <a:r>
              <a:rPr lang="en-US" sz="2000" dirty="0"/>
              <a:t>Short term nature of the broad authority conferred</a:t>
            </a:r>
          </a:p>
          <a:p>
            <a:pPr>
              <a:lnSpc>
                <a:spcPct val="80000"/>
              </a:lnSpc>
            </a:pPr>
            <a:r>
              <a:rPr lang="en-US" sz="2000" dirty="0"/>
              <a:t>Exigent circumstances requiring exceptional measures, even if no sudden or dramatic crisis</a:t>
            </a:r>
          </a:p>
          <a:p>
            <a:pPr>
              <a:lnSpc>
                <a:spcPct val="80000"/>
              </a:lnSpc>
            </a:pPr>
            <a:r>
              <a:rPr lang="en-US" sz="2000" b="1" i="1" dirty="0"/>
              <a:t>Implicit statutory requirements that the President regulate fairly and promulgate intelligible administrative policy to guide his subordinates' discretion</a:t>
            </a:r>
          </a:p>
          <a:p>
            <a:pPr>
              <a:lnSpc>
                <a:spcPct val="80000"/>
              </a:lnSpc>
            </a:pPr>
            <a:r>
              <a:rPr lang="en-US" sz="2000" dirty="0"/>
              <a:t>What Leventhal takes to be the availability of pre-enforcement judicial review to test the legality of implementing measures</a:t>
            </a:r>
          </a:p>
          <a:p>
            <a:endParaRPr lang="en-US" dirty="0"/>
          </a:p>
        </p:txBody>
      </p:sp>
      <p:sp>
        <p:nvSpPr>
          <p:cNvPr id="4" name="Footer Placeholder 3">
            <a:extLst>
              <a:ext uri="{FF2B5EF4-FFF2-40B4-BE49-F238E27FC236}">
                <a16:creationId xmlns:a16="http://schemas.microsoft.com/office/drawing/2014/main" id="{E0772B43-785E-8C98-CBE4-4A2B79783621}"/>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AD836A7E-0CB8-C3DE-D3D9-F6A92F29C54D}"/>
              </a:ext>
            </a:extLst>
          </p:cNvPr>
          <p:cNvSpPr>
            <a:spLocks noGrp="1"/>
          </p:cNvSpPr>
          <p:nvPr>
            <p:ph type="sldNum" sz="quarter" idx="12"/>
          </p:nvPr>
        </p:nvSpPr>
        <p:spPr/>
        <p:txBody>
          <a:bodyPr/>
          <a:lstStyle/>
          <a:p>
            <a:fld id="{43E3236E-8354-4469-A39B-052E70412384}" type="slidenum">
              <a:rPr lang="en-US" smtClean="0"/>
              <a:pPr/>
              <a:t>12</a:t>
            </a:fld>
            <a:endParaRPr lang="en-US"/>
          </a:p>
        </p:txBody>
      </p:sp>
    </p:spTree>
    <p:extLst>
      <p:ext uri="{BB962C8B-B14F-4D97-AF65-F5344CB8AC3E}">
        <p14:creationId xmlns:p14="http://schemas.microsoft.com/office/powerpoint/2010/main" val="3865329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CD896-7953-172E-0DCD-68031D7D722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3E38AD59-1DD8-BBC3-328E-5263DBB0A64C}"/>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4098" name="Rectangle 2">
            <a:extLst>
              <a:ext uri="{FF2B5EF4-FFF2-40B4-BE49-F238E27FC236}">
                <a16:creationId xmlns:a16="http://schemas.microsoft.com/office/drawing/2014/main" id="{9BA3B0C9-5E0B-48BA-DDB2-F28C77B0D3AA}"/>
              </a:ext>
            </a:extLst>
          </p:cNvPr>
          <p:cNvSpPr>
            <a:spLocks noGrp="1" noChangeArrowheads="1"/>
          </p:cNvSpPr>
          <p:nvPr>
            <p:ph type="title"/>
          </p:nvPr>
        </p:nvSpPr>
        <p:spPr/>
        <p:txBody>
          <a:bodyPr/>
          <a:lstStyle/>
          <a:p>
            <a:r>
              <a:rPr lang="en-US" dirty="0"/>
              <a:t>DHS Border Fence Authority</a:t>
            </a:r>
          </a:p>
        </p:txBody>
      </p:sp>
      <p:sp>
        <p:nvSpPr>
          <p:cNvPr id="4099" name="Rectangle 3">
            <a:extLst>
              <a:ext uri="{FF2B5EF4-FFF2-40B4-BE49-F238E27FC236}">
                <a16:creationId xmlns:a16="http://schemas.microsoft.com/office/drawing/2014/main" id="{3D82DC26-2A56-76D8-B344-60AD43BE6F69}"/>
              </a:ext>
            </a:extLst>
          </p:cNvPr>
          <p:cNvSpPr>
            <a:spLocks noGrp="1" noChangeArrowheads="1"/>
          </p:cNvSpPr>
          <p:nvPr>
            <p:ph type="body" idx="1"/>
          </p:nvPr>
        </p:nvSpPr>
        <p:spPr/>
        <p:txBody>
          <a:bodyPr/>
          <a:lstStyle/>
          <a:p>
            <a:pPr marL="0" indent="0">
              <a:buNone/>
            </a:pPr>
            <a:r>
              <a:rPr lang="en-US" sz="1800" dirty="0"/>
              <a:t>SEC. 102. WAIVER OF LEGAL REQUIREMENTS NECESSARY FOR IMPROVEMENT OF BARRIERS AT BORDERS; FEDERAL COURT REVIEW.</a:t>
            </a:r>
          </a:p>
          <a:p>
            <a:pPr marL="0" indent="0">
              <a:buNone/>
            </a:pPr>
            <a:r>
              <a:rPr lang="en-US" sz="1800" dirty="0"/>
              <a:t>Section 102(c) of the Illegal Immigration Reform and Immigrant Responsibility Act of 1996 (8 U.S.C. 1103 note) is amended to read as follows:</a:t>
            </a:r>
          </a:p>
          <a:p>
            <a:pPr marL="0" indent="0">
              <a:buNone/>
            </a:pPr>
            <a:r>
              <a:rPr lang="en-US" sz="1800" dirty="0"/>
              <a:t>“(c) WAIVER.—</a:t>
            </a:r>
          </a:p>
          <a:p>
            <a:pPr marL="0" indent="0">
              <a:buNone/>
            </a:pPr>
            <a:r>
              <a:rPr lang="en-US" sz="1800" dirty="0"/>
              <a:t>“(1) IN GENERAL.—Notwithstanding any other provision of law, the Secretary of Homeland Security shall have the authority to waive all legal requirements such Secretary, in such Secretary's sole discretion, determines necessary to ensure expeditious construction of the barriers and roads under this section. Any such decision by the Secretary shall be effective upon being published in the Federal Register.</a:t>
            </a:r>
          </a:p>
          <a:p>
            <a:pPr marL="0" indent="0">
              <a:buNone/>
            </a:pPr>
            <a:endParaRPr lang="en-US" sz="1800" dirty="0"/>
          </a:p>
          <a:p>
            <a:pPr marL="0" indent="0">
              <a:buNone/>
            </a:pPr>
            <a:r>
              <a:rPr lang="en-US" sz="1800" dirty="0"/>
              <a:t>EMERGENCY SUPPLEMENTAL APPROPRIATIONS ACT FOR DEFENSE, THE GLOBAL WAR ON TERROR, AND TSUNAMI RELIEF, 2005, PL 109–13, May 11, 2005, 119 Stat 231.</a:t>
            </a:r>
          </a:p>
          <a:p>
            <a:pPr>
              <a:lnSpc>
                <a:spcPct val="80000"/>
              </a:lnSpc>
            </a:pPr>
            <a:endParaRPr lang="en-US" sz="1600" dirty="0"/>
          </a:p>
        </p:txBody>
      </p:sp>
      <p:sp>
        <p:nvSpPr>
          <p:cNvPr id="2" name="Slide Number Placeholder 1">
            <a:extLst>
              <a:ext uri="{FF2B5EF4-FFF2-40B4-BE49-F238E27FC236}">
                <a16:creationId xmlns:a16="http://schemas.microsoft.com/office/drawing/2014/main" id="{CE24FDCE-FF52-BFCE-7ADD-A538C134AD24}"/>
              </a:ext>
            </a:extLst>
          </p:cNvPr>
          <p:cNvSpPr>
            <a:spLocks noGrp="1"/>
          </p:cNvSpPr>
          <p:nvPr>
            <p:ph type="sldNum" sz="quarter" idx="12"/>
          </p:nvPr>
        </p:nvSpPr>
        <p:spPr/>
        <p:txBody>
          <a:bodyPr/>
          <a:lstStyle/>
          <a:p>
            <a:fld id="{43E3236E-8354-4469-A39B-052E70412384}" type="slidenum">
              <a:rPr lang="en-US" smtClean="0"/>
              <a:pPr/>
              <a:t>13</a:t>
            </a:fld>
            <a:endParaRPr lang="en-US"/>
          </a:p>
        </p:txBody>
      </p:sp>
    </p:spTree>
    <p:extLst>
      <p:ext uri="{BB962C8B-B14F-4D97-AF65-F5344CB8AC3E}">
        <p14:creationId xmlns:p14="http://schemas.microsoft.com/office/powerpoint/2010/main" val="121389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as Tradeoffs</a:t>
            </a:r>
          </a:p>
        </p:txBody>
      </p:sp>
      <p:sp>
        <p:nvSpPr>
          <p:cNvPr id="3" name="Content Placeholder 2"/>
          <p:cNvSpPr>
            <a:spLocks noGrp="1"/>
          </p:cNvSpPr>
          <p:nvPr>
            <p:ph idx="1"/>
          </p:nvPr>
        </p:nvSpPr>
        <p:spPr/>
        <p:txBody>
          <a:bodyPr/>
          <a:lstStyle/>
          <a:p>
            <a:r>
              <a:rPr lang="en-US" dirty="0"/>
              <a:t>Implicit in the standards under which government programs are conducted are inevitable tradeoffs between competing values</a:t>
            </a:r>
          </a:p>
          <a:p>
            <a:pPr lvl="1"/>
            <a:r>
              <a:rPr lang="en-US" dirty="0"/>
              <a:t>Tradeoffs in the delegation on border fencing?</a:t>
            </a:r>
          </a:p>
          <a:p>
            <a:r>
              <a:rPr lang="en-US" dirty="0"/>
              <a:t>The more implementation discretion executive branch gets, the more it makes policy tradeoffs</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A7F72446-6854-2B58-07F2-2177365DB0E2}"/>
              </a:ext>
            </a:extLst>
          </p:cNvPr>
          <p:cNvSpPr>
            <a:spLocks noGrp="1"/>
          </p:cNvSpPr>
          <p:nvPr>
            <p:ph type="sldNum" sz="quarter" idx="12"/>
          </p:nvPr>
        </p:nvSpPr>
        <p:spPr/>
        <p:txBody>
          <a:bodyPr/>
          <a:lstStyle/>
          <a:p>
            <a:fld id="{43E3236E-8354-4469-A39B-052E70412384}" type="slidenum">
              <a:rPr lang="en-US" smtClean="0"/>
              <a:pPr/>
              <a:t>14</a:t>
            </a:fld>
            <a:endParaRPr lang="en-US"/>
          </a:p>
        </p:txBody>
      </p:sp>
    </p:spTree>
    <p:extLst>
      <p:ext uri="{BB962C8B-B14F-4D97-AF65-F5344CB8AC3E}">
        <p14:creationId xmlns:p14="http://schemas.microsoft.com/office/powerpoint/2010/main" val="400077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Why Would We Want Congress to Make the Tradeoffs?</a:t>
            </a:r>
          </a:p>
        </p:txBody>
      </p:sp>
      <p:sp>
        <p:nvSpPr>
          <p:cNvPr id="3" name="Content Placeholder 2"/>
          <p:cNvSpPr>
            <a:spLocks noGrp="1"/>
          </p:cNvSpPr>
          <p:nvPr>
            <p:ph idx="1"/>
          </p:nvPr>
        </p:nvSpPr>
        <p:spPr/>
        <p:txBody>
          <a:bodyPr/>
          <a:lstStyle/>
          <a:p>
            <a:pPr>
              <a:lnSpc>
                <a:spcPct val="90000"/>
              </a:lnSpc>
            </a:pPr>
            <a:r>
              <a:rPr lang="en-US" dirty="0"/>
              <a:t>Truer to the separation of powers?</a:t>
            </a:r>
          </a:p>
          <a:p>
            <a:pPr>
              <a:lnSpc>
                <a:spcPct val="90000"/>
              </a:lnSpc>
            </a:pPr>
            <a:r>
              <a:rPr lang="en-US" dirty="0"/>
              <a:t>Force contesting political factions to reach consensus</a:t>
            </a:r>
          </a:p>
          <a:p>
            <a:pPr>
              <a:lnSpc>
                <a:spcPct val="90000"/>
              </a:lnSpc>
            </a:pPr>
            <a:r>
              <a:rPr lang="en-US" i="1" dirty="0"/>
              <a:t>Perhaps</a:t>
            </a:r>
            <a:r>
              <a:rPr lang="en-US" dirty="0"/>
              <a:t> there would be greater electoral accountability for the outcome</a:t>
            </a:r>
          </a:p>
          <a:p>
            <a:pPr>
              <a:lnSpc>
                <a:spcPct val="90000"/>
              </a:lnSpc>
            </a:pPr>
            <a:r>
              <a:rPr lang="en-US" dirty="0"/>
              <a:t>Gives the agency a firmer sense of what it is supposed to do</a:t>
            </a:r>
          </a:p>
          <a:p>
            <a:pPr>
              <a:lnSpc>
                <a:spcPct val="90000"/>
              </a:lnSpc>
            </a:pPr>
            <a:r>
              <a:rPr lang="en-US" dirty="0"/>
              <a:t>We’d have less regulatory law?</a:t>
            </a:r>
          </a:p>
          <a:p>
            <a:pPr>
              <a:lnSpc>
                <a:spcPct val="90000"/>
              </a:lnSpc>
            </a:pPr>
            <a:r>
              <a:rPr lang="en-US" dirty="0"/>
              <a:t>Greater transparency?</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FBC4ACDF-8E37-2697-C4A0-F2499E689F4A}"/>
              </a:ext>
            </a:extLst>
          </p:cNvPr>
          <p:cNvSpPr>
            <a:spLocks noGrp="1"/>
          </p:cNvSpPr>
          <p:nvPr>
            <p:ph type="sldNum" sz="quarter" idx="12"/>
          </p:nvPr>
        </p:nvSpPr>
        <p:spPr/>
        <p:txBody>
          <a:bodyPr/>
          <a:lstStyle/>
          <a:p>
            <a:fld id="{43E3236E-8354-4469-A39B-052E70412384}" type="slidenum">
              <a:rPr lang="en-US" smtClean="0"/>
              <a:pPr/>
              <a:t>15</a:t>
            </a:fld>
            <a:endParaRPr lang="en-US"/>
          </a:p>
        </p:txBody>
      </p:sp>
    </p:spTree>
    <p:extLst>
      <p:ext uri="{BB962C8B-B14F-4D97-AF65-F5344CB8AC3E}">
        <p14:creationId xmlns:p14="http://schemas.microsoft.com/office/powerpoint/2010/main" val="47182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75E12-C6DB-A760-4337-D14C3D3BA791}"/>
              </a:ext>
            </a:extLst>
          </p:cNvPr>
          <p:cNvSpPr>
            <a:spLocks noGrp="1"/>
          </p:cNvSpPr>
          <p:nvPr>
            <p:ph type="title"/>
          </p:nvPr>
        </p:nvSpPr>
        <p:spPr/>
        <p:txBody>
          <a:bodyPr/>
          <a:lstStyle/>
          <a:p>
            <a:r>
              <a:rPr lang="en-US" dirty="0"/>
              <a:t>How to Set Limits</a:t>
            </a:r>
          </a:p>
        </p:txBody>
      </p:sp>
      <p:sp>
        <p:nvSpPr>
          <p:cNvPr id="3" name="Content Placeholder 2">
            <a:extLst>
              <a:ext uri="{FF2B5EF4-FFF2-40B4-BE49-F238E27FC236}">
                <a16:creationId xmlns:a16="http://schemas.microsoft.com/office/drawing/2014/main" id="{178B2A5B-4833-BDD1-0772-8B3E100C12D2}"/>
              </a:ext>
            </a:extLst>
          </p:cNvPr>
          <p:cNvSpPr>
            <a:spLocks noGrp="1"/>
          </p:cNvSpPr>
          <p:nvPr>
            <p:ph idx="1"/>
          </p:nvPr>
        </p:nvSpPr>
        <p:spPr/>
        <p:txBody>
          <a:bodyPr/>
          <a:lstStyle/>
          <a:p>
            <a:pPr>
              <a:spcBef>
                <a:spcPts val="0"/>
              </a:spcBef>
            </a:pPr>
            <a:r>
              <a:rPr lang="en-US" sz="2800" dirty="0"/>
              <a:t>Formalist: Define a bright-line-</a:t>
            </a:r>
            <a:r>
              <a:rPr lang="en-US" sz="2800" dirty="0" err="1"/>
              <a:t>ish</a:t>
            </a:r>
            <a:r>
              <a:rPr lang="en-US" sz="2800" dirty="0"/>
              <a:t> distinction between legislation and execution</a:t>
            </a:r>
          </a:p>
          <a:p>
            <a:pPr>
              <a:spcBef>
                <a:spcPts val="0"/>
              </a:spcBef>
            </a:pPr>
            <a:r>
              <a:rPr lang="en-US" sz="2800" dirty="0"/>
              <a:t>Balancing/Pragmatic: “Concepts of control and accountability define the constitutional requirement.”</a:t>
            </a:r>
          </a:p>
          <a:p>
            <a:pPr lvl="1">
              <a:spcBef>
                <a:spcPts val="0"/>
              </a:spcBef>
            </a:pPr>
            <a:r>
              <a:rPr lang="en-US" sz="2400" dirty="0"/>
              <a:t>How big a deal is the action at issue? (Scope</a:t>
            </a:r>
            <a:r>
              <a:rPr lang="en-US" sz="2400"/>
              <a:t>, Duration)</a:t>
            </a:r>
            <a:endParaRPr lang="en-US" sz="2400" dirty="0"/>
          </a:p>
          <a:p>
            <a:pPr lvl="1">
              <a:spcBef>
                <a:spcPts val="0"/>
              </a:spcBef>
            </a:pPr>
            <a:r>
              <a:rPr lang="en-US" sz="2400" dirty="0"/>
              <a:t>How broad is the delegation? How practicable would be a narrower delegation given the nature of the subject matter?</a:t>
            </a:r>
          </a:p>
          <a:p>
            <a:pPr lvl="1">
              <a:spcBef>
                <a:spcPts val="0"/>
              </a:spcBef>
            </a:pPr>
            <a:r>
              <a:rPr lang="en-US" sz="2400" dirty="0"/>
              <a:t>Guarantees of procedural rigor, fairness</a:t>
            </a:r>
          </a:p>
        </p:txBody>
      </p:sp>
      <p:sp>
        <p:nvSpPr>
          <p:cNvPr id="4" name="Footer Placeholder 3">
            <a:extLst>
              <a:ext uri="{FF2B5EF4-FFF2-40B4-BE49-F238E27FC236}">
                <a16:creationId xmlns:a16="http://schemas.microsoft.com/office/drawing/2014/main" id="{587D334F-F197-4470-D54D-1A66F79BE4D1}"/>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DA69CBD8-FF8E-FBC2-D692-8646B401300E}"/>
              </a:ext>
            </a:extLst>
          </p:cNvPr>
          <p:cNvSpPr>
            <a:spLocks noGrp="1"/>
          </p:cNvSpPr>
          <p:nvPr>
            <p:ph type="sldNum" sz="quarter" idx="12"/>
          </p:nvPr>
        </p:nvSpPr>
        <p:spPr/>
        <p:txBody>
          <a:bodyPr/>
          <a:lstStyle/>
          <a:p>
            <a:fld id="{43E3236E-8354-4469-A39B-052E70412384}" type="slidenum">
              <a:rPr lang="en-US" smtClean="0"/>
              <a:pPr/>
              <a:t>16</a:t>
            </a:fld>
            <a:endParaRPr lang="en-US"/>
          </a:p>
        </p:txBody>
      </p:sp>
    </p:spTree>
    <p:extLst>
      <p:ext uri="{BB962C8B-B14F-4D97-AF65-F5344CB8AC3E}">
        <p14:creationId xmlns:p14="http://schemas.microsoft.com/office/powerpoint/2010/main" val="3726109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p:cNvSpPr>
            <a:spLocks noGrp="1"/>
          </p:cNvSpPr>
          <p:nvPr>
            <p:ph type="ftr" sz="quarter" idx="11"/>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200"/>
              <a:t>© Copyright 2026.  Peter M. Shane All rights reserved. </a:t>
            </a:r>
            <a:endParaRPr lang="en-US" dirty="0"/>
          </a:p>
        </p:txBody>
      </p:sp>
      <p:sp>
        <p:nvSpPr>
          <p:cNvPr id="8195" name="Rectangle 2"/>
          <p:cNvSpPr>
            <a:spLocks noGrp="1" noChangeArrowheads="1"/>
          </p:cNvSpPr>
          <p:nvPr>
            <p:ph type="title"/>
          </p:nvPr>
        </p:nvSpPr>
        <p:spPr/>
        <p:txBody>
          <a:bodyPr/>
          <a:lstStyle/>
          <a:p>
            <a:r>
              <a:rPr lang="en-US" sz="4000" dirty="0"/>
              <a:t>Why then does Congress </a:t>
            </a:r>
            <a:br>
              <a:rPr lang="en-US" sz="4000" dirty="0"/>
            </a:br>
            <a:r>
              <a:rPr lang="en-US" sz="4000" dirty="0"/>
              <a:t>delegate broadly?</a:t>
            </a:r>
          </a:p>
        </p:txBody>
      </p:sp>
      <p:sp>
        <p:nvSpPr>
          <p:cNvPr id="15363" name="Rectangle 3"/>
          <p:cNvSpPr>
            <a:spLocks noGrp="1" noChangeArrowheads="1"/>
          </p:cNvSpPr>
          <p:nvPr>
            <p:ph type="body" idx="1"/>
          </p:nvPr>
        </p:nvSpPr>
        <p:spPr/>
        <p:txBody>
          <a:bodyPr/>
          <a:lstStyle/>
          <a:p>
            <a:pPr>
              <a:lnSpc>
                <a:spcPct val="80000"/>
              </a:lnSpc>
            </a:pPr>
            <a:endParaRPr lang="en-US" sz="2000" dirty="0"/>
          </a:p>
          <a:p>
            <a:pPr>
              <a:lnSpc>
                <a:spcPct val="80000"/>
              </a:lnSpc>
            </a:pPr>
            <a:r>
              <a:rPr lang="en-US" sz="2000" dirty="0"/>
              <a:t>Because the Executive can address a crisis with greater efficiency and faster?</a:t>
            </a:r>
          </a:p>
          <a:p>
            <a:pPr>
              <a:lnSpc>
                <a:spcPct val="80000"/>
              </a:lnSpc>
            </a:pPr>
            <a:r>
              <a:rPr lang="en-US" sz="2000" dirty="0"/>
              <a:t>Congress might want to enlist EB expertise, staff, resources</a:t>
            </a:r>
          </a:p>
          <a:p>
            <a:pPr>
              <a:lnSpc>
                <a:spcPct val="80000"/>
              </a:lnSpc>
            </a:pPr>
            <a:r>
              <a:rPr lang="en-US" sz="2000" dirty="0"/>
              <a:t>Policy outcomes have more of a “national” perspective, more coherent</a:t>
            </a:r>
          </a:p>
          <a:p>
            <a:pPr>
              <a:lnSpc>
                <a:spcPct val="80000"/>
              </a:lnSpc>
            </a:pPr>
            <a:r>
              <a:rPr lang="en-US" sz="2000" dirty="0"/>
              <a:t>Congress wants someone to start working on a problem even before its full contours are understood</a:t>
            </a:r>
          </a:p>
          <a:p>
            <a:pPr>
              <a:lnSpc>
                <a:spcPct val="80000"/>
              </a:lnSpc>
            </a:pPr>
            <a:r>
              <a:rPr lang="en-US" sz="2000" dirty="0"/>
              <a:t>Anything written into statute can be changed only by another statute</a:t>
            </a:r>
          </a:p>
          <a:p>
            <a:pPr>
              <a:lnSpc>
                <a:spcPct val="80000"/>
              </a:lnSpc>
            </a:pPr>
            <a:r>
              <a:rPr lang="en-US" sz="2000" dirty="0"/>
              <a:t>Greater transparency? </a:t>
            </a:r>
          </a:p>
          <a:p>
            <a:pPr>
              <a:lnSpc>
                <a:spcPct val="80000"/>
              </a:lnSpc>
            </a:pPr>
            <a:r>
              <a:rPr lang="en-US" sz="2000" b="1" i="1" u="sng" dirty="0"/>
              <a:t>Take the credit – pass the buck </a:t>
            </a:r>
            <a:r>
              <a:rPr lang="en-US" sz="2000" b="1" i="1" u="sng" dirty="0">
                <a:sym typeface="Wingdings" pitchFamily="2" charset="2"/>
              </a:rPr>
              <a:t></a:t>
            </a:r>
            <a:endParaRPr lang="en-US" sz="2000" b="1" i="1" u="sng" dirty="0"/>
          </a:p>
          <a:p>
            <a:pPr>
              <a:lnSpc>
                <a:spcPct val="80000"/>
              </a:lnSpc>
            </a:pPr>
            <a:r>
              <a:rPr lang="en-US" sz="2000" b="1" i="1" u="sng" dirty="0"/>
              <a:t>Some members may think they have a better shot at influencing the agency than persuading a majority of their colleagues </a:t>
            </a:r>
            <a:r>
              <a:rPr lang="en-US" sz="2000" b="1" i="1" u="sng" dirty="0">
                <a:sym typeface="Wingdings" pitchFamily="2" charset="2"/>
              </a:rPr>
              <a:t></a:t>
            </a:r>
            <a:endParaRPr lang="en-US" sz="2000" b="1" i="1" u="sng" dirty="0"/>
          </a:p>
          <a:p>
            <a:pPr lvl="1" eaLnBrk="1" hangingPunct="1">
              <a:lnSpc>
                <a:spcPct val="80000"/>
              </a:lnSpc>
            </a:pPr>
            <a:endParaRPr lang="en-US" sz="2000" dirty="0"/>
          </a:p>
          <a:p>
            <a:pPr eaLnBrk="1" hangingPunct="1">
              <a:lnSpc>
                <a:spcPct val="80000"/>
              </a:lnSpc>
            </a:pPr>
            <a:endParaRPr lang="en-US" sz="2400" dirty="0"/>
          </a:p>
        </p:txBody>
      </p:sp>
      <p:sp>
        <p:nvSpPr>
          <p:cNvPr id="2" name="Slide Number Placeholder 1">
            <a:extLst>
              <a:ext uri="{FF2B5EF4-FFF2-40B4-BE49-F238E27FC236}">
                <a16:creationId xmlns:a16="http://schemas.microsoft.com/office/drawing/2014/main" id="{7C334439-C1C4-7E25-1ECB-A37685BCCA56}"/>
              </a:ext>
            </a:extLst>
          </p:cNvPr>
          <p:cNvSpPr>
            <a:spLocks noGrp="1"/>
          </p:cNvSpPr>
          <p:nvPr>
            <p:ph type="sldNum" sz="quarter" idx="12"/>
          </p:nvPr>
        </p:nvSpPr>
        <p:spPr/>
        <p:txBody>
          <a:bodyPr/>
          <a:lstStyle/>
          <a:p>
            <a:fld id="{43E3236E-8354-4469-A39B-052E70412384}"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 calcmode="lin" valueType="num">
                                      <p:cBhvr additive="base">
                                        <p:cTn id="7" dur="500" fill="hold"/>
                                        <p:tgtEl>
                                          <p:spTgt spid="1536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 calcmode="lin" valueType="num">
                                      <p:cBhvr additive="base">
                                        <p:cTn id="13" dur="500" fill="hold"/>
                                        <p:tgtEl>
                                          <p:spTgt spid="1536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anim calcmode="lin" valueType="num">
                                      <p:cBhvr additive="base">
                                        <p:cTn id="19" dur="500" fill="hold"/>
                                        <p:tgtEl>
                                          <p:spTgt spid="153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363">
                                            <p:txEl>
                                              <p:pRg st="4" end="4"/>
                                            </p:txEl>
                                          </p:spTgt>
                                        </p:tgtEl>
                                        <p:attrNameLst>
                                          <p:attrName>style.visibility</p:attrName>
                                        </p:attrNameLst>
                                      </p:cBhvr>
                                      <p:to>
                                        <p:strVal val="visible"/>
                                      </p:to>
                                    </p:set>
                                    <p:anim calcmode="lin" valueType="num">
                                      <p:cBhvr additive="base">
                                        <p:cTn id="25" dur="500" fill="hold"/>
                                        <p:tgtEl>
                                          <p:spTgt spid="1536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36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5363">
                                            <p:txEl>
                                              <p:pRg st="5" end="5"/>
                                            </p:txEl>
                                          </p:spTgt>
                                        </p:tgtEl>
                                        <p:attrNameLst>
                                          <p:attrName>style.visibility</p:attrName>
                                        </p:attrNameLst>
                                      </p:cBhvr>
                                      <p:to>
                                        <p:strVal val="visible"/>
                                      </p:to>
                                    </p:set>
                                    <p:anim calcmode="lin" valueType="num">
                                      <p:cBhvr additive="base">
                                        <p:cTn id="31" dur="500" fill="hold"/>
                                        <p:tgtEl>
                                          <p:spTgt spid="1536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36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5363">
                                            <p:txEl>
                                              <p:pRg st="6" end="6"/>
                                            </p:txEl>
                                          </p:spTgt>
                                        </p:tgtEl>
                                        <p:attrNameLst>
                                          <p:attrName>style.visibility</p:attrName>
                                        </p:attrNameLst>
                                      </p:cBhvr>
                                      <p:to>
                                        <p:strVal val="visible"/>
                                      </p:to>
                                    </p:set>
                                    <p:anim calcmode="lin" valueType="num">
                                      <p:cBhvr additive="base">
                                        <p:cTn id="37" dur="500" fill="hold"/>
                                        <p:tgtEl>
                                          <p:spTgt spid="1536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36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5363">
                                            <p:txEl>
                                              <p:pRg st="7" end="7"/>
                                            </p:txEl>
                                          </p:spTgt>
                                        </p:tgtEl>
                                        <p:attrNameLst>
                                          <p:attrName>style.visibility</p:attrName>
                                        </p:attrNameLst>
                                      </p:cBhvr>
                                      <p:to>
                                        <p:strVal val="visible"/>
                                      </p:to>
                                    </p:set>
                                    <p:anim calcmode="lin" valueType="num">
                                      <p:cBhvr additive="base">
                                        <p:cTn id="43" dur="500" fill="hold"/>
                                        <p:tgtEl>
                                          <p:spTgt spid="1536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36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5363">
                                            <p:txEl>
                                              <p:pRg st="8" end="8"/>
                                            </p:txEl>
                                          </p:spTgt>
                                        </p:tgtEl>
                                        <p:attrNameLst>
                                          <p:attrName>style.visibility</p:attrName>
                                        </p:attrNameLst>
                                      </p:cBhvr>
                                      <p:to>
                                        <p:strVal val="visible"/>
                                      </p:to>
                                    </p:set>
                                    <p:anim calcmode="lin" valueType="num">
                                      <p:cBhvr additive="base">
                                        <p:cTn id="49" dur="500" fill="hold"/>
                                        <p:tgtEl>
                                          <p:spTgt spid="1536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536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1"/>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200"/>
              <a:t>© Copyright 2026.  Peter M. Shane All rights reserved. </a:t>
            </a:r>
            <a:endParaRPr lang="en-US" dirty="0"/>
          </a:p>
        </p:txBody>
      </p:sp>
      <p:sp>
        <p:nvSpPr>
          <p:cNvPr id="9219" name="Rectangle 2"/>
          <p:cNvSpPr>
            <a:spLocks noGrp="1" noChangeArrowheads="1"/>
          </p:cNvSpPr>
          <p:nvPr>
            <p:ph type="title"/>
          </p:nvPr>
        </p:nvSpPr>
        <p:spPr/>
        <p:txBody>
          <a:bodyPr/>
          <a:lstStyle/>
          <a:p>
            <a:pPr eaLnBrk="1" hangingPunct="1"/>
            <a:r>
              <a:rPr lang="en-US" sz="4000" dirty="0"/>
              <a:t>Why wouldn’t courts police </a:t>
            </a:r>
            <a:br>
              <a:rPr lang="en-US" sz="4000" dirty="0"/>
            </a:br>
            <a:r>
              <a:rPr lang="en-US" sz="4000" dirty="0"/>
              <a:t>more stringently? </a:t>
            </a:r>
          </a:p>
        </p:txBody>
      </p:sp>
      <p:sp>
        <p:nvSpPr>
          <p:cNvPr id="16387" name="Rectangle 3"/>
          <p:cNvSpPr>
            <a:spLocks noGrp="1" noChangeArrowheads="1"/>
          </p:cNvSpPr>
          <p:nvPr>
            <p:ph type="body" idx="1"/>
          </p:nvPr>
        </p:nvSpPr>
        <p:spPr/>
        <p:txBody>
          <a:bodyPr/>
          <a:lstStyle/>
          <a:p>
            <a:pPr eaLnBrk="1" hangingPunct="1">
              <a:lnSpc>
                <a:spcPct val="80000"/>
              </a:lnSpc>
            </a:pPr>
            <a:r>
              <a:rPr lang="en-US" sz="2800" dirty="0"/>
              <a:t>Why are courts exercising judicial restraint with regard to nondelegation?</a:t>
            </a:r>
          </a:p>
          <a:p>
            <a:pPr lvl="1" eaLnBrk="1" hangingPunct="1">
              <a:lnSpc>
                <a:spcPct val="80000"/>
              </a:lnSpc>
            </a:pPr>
            <a:r>
              <a:rPr lang="en-US" sz="2400" dirty="0"/>
              <a:t>Vague laws empower judicial interpretation</a:t>
            </a:r>
          </a:p>
          <a:p>
            <a:pPr lvl="1" eaLnBrk="1" hangingPunct="1">
              <a:lnSpc>
                <a:spcPct val="80000"/>
              </a:lnSpc>
            </a:pPr>
            <a:r>
              <a:rPr lang="en-US" sz="2400" dirty="0"/>
              <a:t>System has some accountability, judges not elected – who are they to interfere with Congress’s choices?</a:t>
            </a:r>
          </a:p>
          <a:p>
            <a:pPr lvl="1" eaLnBrk="1" hangingPunct="1">
              <a:lnSpc>
                <a:spcPct val="80000"/>
              </a:lnSpc>
            </a:pPr>
            <a:r>
              <a:rPr lang="en-US" sz="2400" dirty="0"/>
              <a:t>Courts can tear down, they cannot rewrite</a:t>
            </a:r>
          </a:p>
          <a:p>
            <a:pPr lvl="1" eaLnBrk="1" hangingPunct="1">
              <a:lnSpc>
                <a:spcPct val="80000"/>
              </a:lnSpc>
            </a:pPr>
            <a:r>
              <a:rPr lang="en-US" sz="2400" dirty="0"/>
              <a:t>Other doctrines are available to keep administrators in line</a:t>
            </a:r>
          </a:p>
          <a:p>
            <a:pPr lvl="1" eaLnBrk="1" hangingPunct="1">
              <a:lnSpc>
                <a:spcPct val="80000"/>
              </a:lnSpc>
            </a:pPr>
            <a:r>
              <a:rPr lang="en-US" sz="2400" dirty="0"/>
              <a:t>Not a usurpation of power by Congress</a:t>
            </a:r>
          </a:p>
          <a:p>
            <a:pPr lvl="1" eaLnBrk="1" hangingPunct="1">
              <a:lnSpc>
                <a:spcPct val="80000"/>
              </a:lnSpc>
            </a:pPr>
            <a:r>
              <a:rPr lang="en-US" sz="2400" dirty="0"/>
              <a:t>No measure of specificity sufficiently objective to sustain appropriate judicial judgment – any standard would be too subjective</a:t>
            </a:r>
          </a:p>
          <a:p>
            <a:pPr eaLnBrk="1" hangingPunct="1">
              <a:lnSpc>
                <a:spcPct val="80000"/>
              </a:lnSpc>
            </a:pPr>
            <a:endParaRPr lang="en-US" sz="2800" dirty="0"/>
          </a:p>
        </p:txBody>
      </p:sp>
      <p:sp>
        <p:nvSpPr>
          <p:cNvPr id="2" name="Slide Number Placeholder 1">
            <a:extLst>
              <a:ext uri="{FF2B5EF4-FFF2-40B4-BE49-F238E27FC236}">
                <a16:creationId xmlns:a16="http://schemas.microsoft.com/office/drawing/2014/main" id="{06F4978B-63D5-6062-21D3-79A85919E823}"/>
              </a:ext>
            </a:extLst>
          </p:cNvPr>
          <p:cNvSpPr>
            <a:spLocks noGrp="1"/>
          </p:cNvSpPr>
          <p:nvPr>
            <p:ph type="sldNum" sz="quarter" idx="12"/>
          </p:nvPr>
        </p:nvSpPr>
        <p:spPr/>
        <p:txBody>
          <a:bodyPr/>
          <a:lstStyle/>
          <a:p>
            <a:fld id="{43E3236E-8354-4469-A39B-052E70412384}"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 calcmode="lin" valueType="num">
                                      <p:cBhvr additive="base">
                                        <p:cTn id="17"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anim calcmode="lin" valueType="num">
                                      <p:cBhvr additive="base">
                                        <p:cTn id="21"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anim calcmode="lin" valueType="num">
                                      <p:cBhvr additive="base">
                                        <p:cTn id="25"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387">
                                            <p:txEl>
                                              <p:pRg st="5" end="5"/>
                                            </p:txEl>
                                          </p:spTgt>
                                        </p:tgtEl>
                                        <p:attrNameLst>
                                          <p:attrName>style.visibility</p:attrName>
                                        </p:attrNameLst>
                                      </p:cBhvr>
                                      <p:to>
                                        <p:strVal val="visible"/>
                                      </p:to>
                                    </p:set>
                                    <p:anim calcmode="lin" valueType="num">
                                      <p:cBhvr additive="base">
                                        <p:cTn id="29"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387">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387">
                                            <p:txEl>
                                              <p:pRg st="6" end="6"/>
                                            </p:txEl>
                                          </p:spTgt>
                                        </p:tgtEl>
                                        <p:attrNameLst>
                                          <p:attrName>style.visibility</p:attrName>
                                        </p:attrNameLst>
                                      </p:cBhvr>
                                      <p:to>
                                        <p:strVal val="visible"/>
                                      </p:to>
                                    </p:set>
                                    <p:anim calcmode="lin" valueType="num">
                                      <p:cBhvr additive="base">
                                        <p:cTn id="33" dur="500" fill="hold"/>
                                        <p:tgtEl>
                                          <p:spTgt spid="1638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3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6146" name="Rectangle 2"/>
          <p:cNvSpPr>
            <a:spLocks noGrp="1" noChangeArrowheads="1"/>
          </p:cNvSpPr>
          <p:nvPr>
            <p:ph type="title"/>
          </p:nvPr>
        </p:nvSpPr>
        <p:spPr/>
        <p:txBody>
          <a:bodyPr/>
          <a:lstStyle/>
          <a:p>
            <a:r>
              <a:rPr lang="en-US" sz="4000" i="1" dirty="0"/>
              <a:t>Whitman Trucking</a:t>
            </a:r>
            <a:r>
              <a:rPr lang="en-US" sz="4000" dirty="0"/>
              <a:t>:</a:t>
            </a:r>
            <a:br>
              <a:rPr lang="en-US" sz="4000" dirty="0"/>
            </a:br>
            <a:r>
              <a:rPr lang="en-US" sz="4000" dirty="0"/>
              <a:t>Challenge to Clean Air Act</a:t>
            </a:r>
          </a:p>
        </p:txBody>
      </p:sp>
      <p:sp>
        <p:nvSpPr>
          <p:cNvPr id="6147" name="Rectangle 3"/>
          <p:cNvSpPr>
            <a:spLocks noGrp="1" noChangeArrowheads="1"/>
          </p:cNvSpPr>
          <p:nvPr>
            <p:ph type="body" idx="1"/>
          </p:nvPr>
        </p:nvSpPr>
        <p:spPr/>
        <p:txBody>
          <a:bodyPr/>
          <a:lstStyle/>
          <a:p>
            <a:pPr>
              <a:lnSpc>
                <a:spcPct val="90000"/>
              </a:lnSpc>
            </a:pPr>
            <a:r>
              <a:rPr lang="en-US" sz="2800" dirty="0"/>
              <a:t>As applied to ozone and particulate matter (PM)</a:t>
            </a:r>
          </a:p>
          <a:p>
            <a:pPr>
              <a:lnSpc>
                <a:spcPct val="90000"/>
              </a:lnSpc>
            </a:pPr>
            <a:r>
              <a:rPr lang="en-US" sz="2800" dirty="0"/>
              <a:t>Regulate at level “requisite to protect the public health . . . with an adequate margin of safety” [77]</a:t>
            </a:r>
          </a:p>
          <a:p>
            <a:pPr>
              <a:lnSpc>
                <a:spcPct val="90000"/>
              </a:lnSpc>
            </a:pPr>
            <a:r>
              <a:rPr lang="en-US" sz="2800" dirty="0"/>
              <a:t>Ozone definitely and PM probably are best seen as “</a:t>
            </a:r>
            <a:r>
              <a:rPr lang="en-US" sz="2800" dirty="0" err="1"/>
              <a:t>nonthreshold</a:t>
            </a:r>
            <a:r>
              <a:rPr lang="en-US" sz="2800" dirty="0"/>
              <a:t> pollutants” – i.e., there is no safe exposure level &gt; 0</a:t>
            </a:r>
          </a:p>
          <a:p>
            <a:pPr>
              <a:lnSpc>
                <a:spcPct val="90000"/>
              </a:lnSpc>
            </a:pPr>
            <a:r>
              <a:rPr lang="en-US" sz="2800" dirty="0"/>
              <a:t>Zero exposure is not feasible</a:t>
            </a:r>
          </a:p>
          <a:p>
            <a:pPr>
              <a:lnSpc>
                <a:spcPct val="90000"/>
              </a:lnSpc>
            </a:pPr>
            <a:r>
              <a:rPr lang="en-US" sz="2800" dirty="0"/>
              <a:t>EPA:  Agency can set a level of exposure that is reasonable given severity of effects, likelihood of effects, and size of population affected</a:t>
            </a:r>
          </a:p>
        </p:txBody>
      </p:sp>
      <p:sp>
        <p:nvSpPr>
          <p:cNvPr id="2" name="Slide Number Placeholder 1">
            <a:extLst>
              <a:ext uri="{FF2B5EF4-FFF2-40B4-BE49-F238E27FC236}">
                <a16:creationId xmlns:a16="http://schemas.microsoft.com/office/drawing/2014/main" id="{F1C7B910-1E32-8E9C-74C5-AC1549833155}"/>
              </a:ext>
            </a:extLst>
          </p:cNvPr>
          <p:cNvSpPr>
            <a:spLocks noGrp="1"/>
          </p:cNvSpPr>
          <p:nvPr>
            <p:ph type="sldNum" sz="quarter" idx="12"/>
          </p:nvPr>
        </p:nvSpPr>
        <p:spPr/>
        <p:txBody>
          <a:bodyPr/>
          <a:lstStyle/>
          <a:p>
            <a:fld id="{43E3236E-8354-4469-A39B-052E70412384}" type="slidenum">
              <a:rPr lang="en-US" smtClean="0"/>
              <a:pPr/>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147">
                                            <p:txEl>
                                              <p:pRg st="3" end="3"/>
                                            </p:txEl>
                                          </p:spTgt>
                                        </p:tgtEl>
                                        <p:attrNameLst>
                                          <p:attrName>style.visibility</p:attrName>
                                        </p:attrNameLst>
                                      </p:cBhvr>
                                      <p:to>
                                        <p:strVal val="visible"/>
                                      </p:to>
                                    </p:set>
                                    <p:anim calcmode="lin" valueType="num">
                                      <p:cBhvr additive="base">
                                        <p:cTn id="23"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1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147">
                                            <p:txEl>
                                              <p:pRg st="4" end="4"/>
                                            </p:txEl>
                                          </p:spTgt>
                                        </p:tgtEl>
                                        <p:attrNameLst>
                                          <p:attrName>style.visibility</p:attrName>
                                        </p:attrNameLst>
                                      </p:cBhvr>
                                      <p:to>
                                        <p:strVal val="visible"/>
                                      </p:to>
                                    </p:set>
                                    <p:anim calcmode="lin" valueType="num">
                                      <p:cBhvr additive="base">
                                        <p:cTn id="29"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1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EPA Approach</a:t>
            </a:r>
          </a:p>
        </p:txBody>
      </p:sp>
      <p:sp>
        <p:nvSpPr>
          <p:cNvPr id="3" name="Content Placeholder 2"/>
          <p:cNvSpPr>
            <a:spLocks noGrp="1"/>
          </p:cNvSpPr>
          <p:nvPr>
            <p:ph idx="1"/>
          </p:nvPr>
        </p:nvSpPr>
        <p:spPr/>
        <p:txBody>
          <a:bodyPr/>
          <a:lstStyle/>
          <a:p>
            <a:pPr marL="0" indent="0">
              <a:buNone/>
            </a:pPr>
            <a:r>
              <a:rPr lang="en-US" sz="2000" dirty="0"/>
              <a:t>1.)  At the lowest long-term mean concentration observed in studies that showed a statistically significant relationship between pollution and adverse health effects </a:t>
            </a:r>
          </a:p>
          <a:p>
            <a:pPr marL="0" indent="0" algn="ctr">
              <a:buNone/>
            </a:pPr>
            <a:r>
              <a:rPr lang="en-US" sz="2000" dirty="0"/>
              <a:t>or</a:t>
            </a:r>
          </a:p>
          <a:p>
            <a:pPr marL="0" indent="0">
              <a:buNone/>
            </a:pPr>
            <a:r>
              <a:rPr lang="en-US" sz="2000" dirty="0"/>
              <a:t>2A.)  Above peak background levels of the relevant pollutant or its precursors that occur due to </a:t>
            </a:r>
            <a:r>
              <a:rPr lang="en-US" sz="2000" dirty="0" err="1"/>
              <a:t>nonanthropogenic</a:t>
            </a:r>
            <a:r>
              <a:rPr lang="en-US" sz="2000" dirty="0"/>
              <a:t> sources and </a:t>
            </a:r>
          </a:p>
          <a:p>
            <a:pPr marL="0" indent="0">
              <a:buNone/>
            </a:pPr>
            <a:r>
              <a:rPr lang="en-US" sz="2000" dirty="0"/>
              <a:t>2B.)  Below which, it is likely that adverse health effects will be transient, reversible, and endured by very few, if any, persons</a:t>
            </a:r>
          </a:p>
          <a:p>
            <a:pPr marL="0" indent="0" algn="ctr">
              <a:buNone/>
            </a:pPr>
            <a:r>
              <a:rPr lang="en-US" sz="2000" dirty="0"/>
              <a:t>and</a:t>
            </a:r>
          </a:p>
          <a:p>
            <a:pPr marL="0" indent="0">
              <a:buNone/>
            </a:pPr>
            <a:r>
              <a:rPr lang="en-US" sz="2000" dirty="0"/>
              <a:t>3.)  Based on latest scientific knowledge, and</a:t>
            </a:r>
          </a:p>
          <a:p>
            <a:pPr marL="0" indent="0">
              <a:buNone/>
            </a:pPr>
            <a:r>
              <a:rPr lang="en-US" sz="2000" dirty="0"/>
              <a:t>4.) Gauging seriousness of health effects with deference to the consensus of the relevant scientific community.</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5" name="Slide Number Placeholder 4">
            <a:extLst>
              <a:ext uri="{FF2B5EF4-FFF2-40B4-BE49-F238E27FC236}">
                <a16:creationId xmlns:a16="http://schemas.microsoft.com/office/drawing/2014/main" id="{190CAC82-F7F7-EEF4-2717-6E0D494F7CD7}"/>
              </a:ext>
            </a:extLst>
          </p:cNvPr>
          <p:cNvSpPr>
            <a:spLocks noGrp="1"/>
          </p:cNvSpPr>
          <p:nvPr>
            <p:ph type="sldNum" sz="quarter" idx="12"/>
          </p:nvPr>
        </p:nvSpPr>
        <p:spPr/>
        <p:txBody>
          <a:bodyPr/>
          <a:lstStyle/>
          <a:p>
            <a:fld id="{43E3236E-8354-4469-A39B-052E70412384}" type="slidenum">
              <a:rPr lang="en-US" smtClean="0"/>
              <a:pPr/>
              <a:t>20</a:t>
            </a:fld>
            <a:endParaRPr lang="en-US"/>
          </a:p>
        </p:txBody>
      </p:sp>
    </p:spTree>
    <p:extLst>
      <p:ext uri="{BB962C8B-B14F-4D97-AF65-F5344CB8AC3E}">
        <p14:creationId xmlns:p14="http://schemas.microsoft.com/office/powerpoint/2010/main" val="91158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Visualizing the EPA Approach</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847088402"/>
              </p:ext>
            </p:extLst>
          </p:nvPr>
        </p:nvGraphicFramePr>
        <p:xfrm>
          <a:off x="457200" y="1371600"/>
          <a:ext cx="8229600" cy="466344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r>
                        <a:rPr lang="en-US" sz="3200" dirty="0">
                          <a:solidFill>
                            <a:schemeClr val="tx1"/>
                          </a:solidFill>
                        </a:rPr>
                        <a:t>Likely that adverse health effects will be long-term, irreversible, and /widespread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370840">
                <a:tc>
                  <a:txBody>
                    <a:bodyPr/>
                    <a:lstStyle/>
                    <a:p>
                      <a:r>
                        <a:rPr lang="en-US" sz="3200" b="1" dirty="0"/>
                        <a:t>Likely that adverse health effects will be transient, reversible, and endured by very few, if any, persons(Limit set in this zone)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70840">
                <a:tc>
                  <a:txBody>
                    <a:bodyPr/>
                    <a:lstStyle/>
                    <a:p>
                      <a:r>
                        <a:rPr lang="en-US" sz="3200" b="1" dirty="0"/>
                        <a:t>Background levels of the relevant pollutant or its precursors that occur due to sources other than human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0002"/>
                  </a:ext>
                </a:extLst>
              </a:tr>
            </a:tbl>
          </a:graphicData>
        </a:graphic>
      </p:graphicFrame>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3" name="Slide Number Placeholder 2">
            <a:extLst>
              <a:ext uri="{FF2B5EF4-FFF2-40B4-BE49-F238E27FC236}">
                <a16:creationId xmlns:a16="http://schemas.microsoft.com/office/drawing/2014/main" id="{542A17B6-C98F-9531-A58E-039F8653C1FE}"/>
              </a:ext>
            </a:extLst>
          </p:cNvPr>
          <p:cNvSpPr>
            <a:spLocks noGrp="1"/>
          </p:cNvSpPr>
          <p:nvPr>
            <p:ph type="sldNum" sz="quarter" idx="12"/>
          </p:nvPr>
        </p:nvSpPr>
        <p:spPr/>
        <p:txBody>
          <a:bodyPr/>
          <a:lstStyle/>
          <a:p>
            <a:fld id="{43E3236E-8354-4469-A39B-052E70412384}" type="slidenum">
              <a:rPr lang="en-US" smtClean="0"/>
              <a:pPr/>
              <a:t>21</a:t>
            </a:fld>
            <a:endParaRPr lang="en-US"/>
          </a:p>
        </p:txBody>
      </p:sp>
    </p:spTree>
    <p:extLst>
      <p:ext uri="{BB962C8B-B14F-4D97-AF65-F5344CB8AC3E}">
        <p14:creationId xmlns:p14="http://schemas.microsoft.com/office/powerpoint/2010/main" val="4119301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AB59-8837-B672-2AD2-BA581F5E2455}"/>
              </a:ext>
            </a:extLst>
          </p:cNvPr>
          <p:cNvSpPr>
            <a:spLocks noGrp="1"/>
          </p:cNvSpPr>
          <p:nvPr>
            <p:ph type="title"/>
          </p:nvPr>
        </p:nvSpPr>
        <p:spPr/>
        <p:txBody>
          <a:bodyPr/>
          <a:lstStyle/>
          <a:p>
            <a:r>
              <a:rPr lang="en-US" sz="4000" dirty="0"/>
              <a:t>Why may economic factors not</a:t>
            </a:r>
            <a:br>
              <a:rPr lang="en-US" sz="4000" dirty="0"/>
            </a:br>
            <a:r>
              <a:rPr lang="en-US" sz="4000" dirty="0"/>
              <a:t>be considered?</a:t>
            </a:r>
          </a:p>
        </p:txBody>
      </p:sp>
      <p:sp>
        <p:nvSpPr>
          <p:cNvPr id="3" name="Content Placeholder 2">
            <a:extLst>
              <a:ext uri="{FF2B5EF4-FFF2-40B4-BE49-F238E27FC236}">
                <a16:creationId xmlns:a16="http://schemas.microsoft.com/office/drawing/2014/main" id="{297C7479-4BDF-6ABE-2B20-960E350A5779}"/>
              </a:ext>
            </a:extLst>
          </p:cNvPr>
          <p:cNvSpPr>
            <a:spLocks noGrp="1"/>
          </p:cNvSpPr>
          <p:nvPr>
            <p:ph idx="1"/>
          </p:nvPr>
        </p:nvSpPr>
        <p:spPr/>
        <p:txBody>
          <a:bodyPr/>
          <a:lstStyle/>
          <a:p>
            <a:r>
              <a:rPr lang="en-US" dirty="0"/>
              <a:t>Plain language of CAA is directive and makes no mention of costs</a:t>
            </a:r>
          </a:p>
          <a:p>
            <a:r>
              <a:rPr lang="en-US" dirty="0"/>
              <a:t>No other provision of the Act clearly authorizes costs to be weighed in standards</a:t>
            </a:r>
          </a:p>
          <a:p>
            <a:r>
              <a:rPr lang="en-US" dirty="0"/>
              <a:t>“No elephants in mouseholes”</a:t>
            </a:r>
          </a:p>
          <a:p>
            <a:r>
              <a:rPr lang="en-US" dirty="0"/>
              <a:t>No room for constitutional avoidance when there is no ambiguity in the statute</a:t>
            </a:r>
          </a:p>
        </p:txBody>
      </p:sp>
      <p:sp>
        <p:nvSpPr>
          <p:cNvPr id="4" name="Footer Placeholder 3">
            <a:extLst>
              <a:ext uri="{FF2B5EF4-FFF2-40B4-BE49-F238E27FC236}">
                <a16:creationId xmlns:a16="http://schemas.microsoft.com/office/drawing/2014/main" id="{9B19C527-EDD0-1C67-42D5-FD3F35BE1AAF}"/>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41D86C36-F339-6852-7CDE-5A011F7B23CD}"/>
              </a:ext>
            </a:extLst>
          </p:cNvPr>
          <p:cNvSpPr>
            <a:spLocks noGrp="1"/>
          </p:cNvSpPr>
          <p:nvPr>
            <p:ph type="sldNum" sz="quarter" idx="12"/>
          </p:nvPr>
        </p:nvSpPr>
        <p:spPr/>
        <p:txBody>
          <a:bodyPr/>
          <a:lstStyle/>
          <a:p>
            <a:fld id="{43E3236E-8354-4469-A39B-052E70412384}" type="slidenum">
              <a:rPr lang="en-US" smtClean="0"/>
              <a:pPr/>
              <a:t>22</a:t>
            </a:fld>
            <a:endParaRPr lang="en-US"/>
          </a:p>
        </p:txBody>
      </p:sp>
    </p:spTree>
    <p:extLst>
      <p:ext uri="{BB962C8B-B14F-4D97-AF65-F5344CB8AC3E}">
        <p14:creationId xmlns:p14="http://schemas.microsoft.com/office/powerpoint/2010/main" val="247666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D.C. Circuit Reaction</a:t>
            </a:r>
          </a:p>
        </p:txBody>
      </p:sp>
      <p:sp>
        <p:nvSpPr>
          <p:cNvPr id="3" name="Content Placeholder 2"/>
          <p:cNvSpPr>
            <a:spLocks noGrp="1"/>
          </p:cNvSpPr>
          <p:nvPr>
            <p:ph idx="1"/>
          </p:nvPr>
        </p:nvSpPr>
        <p:spPr>
          <a:xfrm>
            <a:off x="533400" y="1447800"/>
            <a:ext cx="8229600" cy="4525963"/>
          </a:xfrm>
        </p:spPr>
        <p:txBody>
          <a:bodyPr/>
          <a:lstStyle/>
          <a:p>
            <a:pPr>
              <a:spcBef>
                <a:spcPts val="0"/>
              </a:spcBef>
            </a:pPr>
            <a:r>
              <a:rPr lang="en-US" sz="3600" dirty="0"/>
              <a:t>In the D.C. Circuit</a:t>
            </a:r>
          </a:p>
          <a:p>
            <a:pPr lvl="1">
              <a:spcBef>
                <a:spcPts val="0"/>
              </a:spcBef>
            </a:pPr>
            <a:r>
              <a:rPr lang="en-US" sz="3200" dirty="0"/>
              <a:t>EPA rule inadequate to save statute from nondelegation challenge because EPA didn’t provide any actual limits within which EPA must choose a permissible level</a:t>
            </a:r>
          </a:p>
          <a:p>
            <a:pPr lvl="1">
              <a:spcBef>
                <a:spcPts val="0"/>
              </a:spcBef>
            </a:pPr>
            <a:r>
              <a:rPr lang="en-US" sz="3200" dirty="0"/>
              <a:t>EPA can save constitutionality of program by providing such limits to its discretion</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5" name="Slide Number Placeholder 4">
            <a:extLst>
              <a:ext uri="{FF2B5EF4-FFF2-40B4-BE49-F238E27FC236}">
                <a16:creationId xmlns:a16="http://schemas.microsoft.com/office/drawing/2014/main" id="{A594E37D-83C5-7ED6-0037-7BD699672B84}"/>
              </a:ext>
            </a:extLst>
          </p:cNvPr>
          <p:cNvSpPr>
            <a:spLocks noGrp="1"/>
          </p:cNvSpPr>
          <p:nvPr>
            <p:ph type="sldNum" sz="quarter" idx="12"/>
          </p:nvPr>
        </p:nvSpPr>
        <p:spPr/>
        <p:txBody>
          <a:bodyPr/>
          <a:lstStyle/>
          <a:p>
            <a:fld id="{43E3236E-8354-4469-A39B-052E70412384}" type="slidenum">
              <a:rPr lang="en-US" smtClean="0"/>
              <a:pPr/>
              <a:t>23</a:t>
            </a:fld>
            <a:endParaRPr lang="en-US"/>
          </a:p>
        </p:txBody>
      </p:sp>
    </p:spTree>
    <p:extLst>
      <p:ext uri="{BB962C8B-B14F-4D97-AF65-F5344CB8AC3E}">
        <p14:creationId xmlns:p14="http://schemas.microsoft.com/office/powerpoint/2010/main" val="346229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How Does D.C. Panel Fit Its Holding to the </a:t>
            </a:r>
            <a:r>
              <a:rPr lang="en-US" sz="3600" dirty="0" err="1"/>
              <a:t>Nondelegation</a:t>
            </a:r>
            <a:r>
              <a:rPr lang="en-US" sz="3600" dirty="0"/>
              <a:t> Doctrine?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3937873"/>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dirty="0">
                          <a:solidFill>
                            <a:schemeClr val="tx1"/>
                          </a:solidFill>
                        </a:rPr>
                        <a:t>Purposes of</a:t>
                      </a:r>
                      <a:r>
                        <a:rPr lang="en-US" baseline="0" dirty="0">
                          <a:solidFill>
                            <a:schemeClr val="tx1"/>
                          </a:solidFill>
                        </a:rPr>
                        <a:t> Doctrine</a:t>
                      </a:r>
                      <a:endParaRPr lang="en-US" dirty="0">
                        <a:solidFill>
                          <a:schemeClr val="tx1"/>
                        </a:solidFill>
                      </a:endParaRPr>
                    </a:p>
                  </a:txBody>
                  <a:tcPr/>
                </a:tc>
                <a:tc>
                  <a:txBody>
                    <a:bodyPr/>
                    <a:lstStyle/>
                    <a:p>
                      <a:pPr algn="ctr"/>
                      <a:r>
                        <a:rPr lang="en-US" dirty="0">
                          <a:solidFill>
                            <a:schemeClr val="tx1"/>
                          </a:solidFill>
                        </a:rPr>
                        <a:t>Does</a:t>
                      </a:r>
                      <a:r>
                        <a:rPr lang="en-US" baseline="0" dirty="0">
                          <a:solidFill>
                            <a:schemeClr val="tx1"/>
                          </a:solidFill>
                        </a:rPr>
                        <a:t> Allowing the Agency to Provide a Determinate Discretion-Limiting Principle Fulfill This Purpose?</a:t>
                      </a:r>
                      <a:endParaRPr lang="en-US" dirty="0">
                        <a:solidFill>
                          <a:schemeClr val="tx1"/>
                        </a:solidFill>
                      </a:endParaRPr>
                    </a:p>
                  </a:txBody>
                  <a:tcPr/>
                </a:tc>
                <a:extLst>
                  <a:ext uri="{0D108BD9-81ED-4DB2-BD59-A6C34878D82A}">
                    <a16:rowId xmlns:a16="http://schemas.microsoft.com/office/drawing/2014/main" val="10000"/>
                  </a:ext>
                </a:extLst>
              </a:tr>
              <a:tr h="370840">
                <a:tc>
                  <a:txBody>
                    <a:bodyPr/>
                    <a:lstStyle/>
                    <a:p>
                      <a:pPr marL="457200" indent="-457200">
                        <a:buFont typeface="Arial" panose="020B0604020202020204" pitchFamily="34" charset="0"/>
                        <a:buChar char="•"/>
                      </a:pPr>
                      <a:r>
                        <a:rPr lang="en-US" sz="2400" dirty="0"/>
                        <a:t>To prevent</a:t>
                      </a:r>
                      <a:r>
                        <a:rPr lang="en-US" sz="2400" baseline="0" dirty="0"/>
                        <a:t> arbitrary agency action</a:t>
                      </a:r>
                      <a:endParaRPr lang="en-US" sz="2400" dirty="0"/>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pPr marL="457200" indent="-457200">
                        <a:buFont typeface="Arial" panose="020B0604020202020204" pitchFamily="34" charset="0"/>
                        <a:buChar char="•"/>
                      </a:pPr>
                      <a:r>
                        <a:rPr lang="en-US" sz="2400" dirty="0"/>
                        <a:t>To facilitate meaningful judicial</a:t>
                      </a:r>
                      <a:r>
                        <a:rPr lang="en-US" sz="2400" baseline="0" dirty="0"/>
                        <a:t> review</a:t>
                      </a:r>
                      <a:endParaRPr lang="en-US" sz="2400" dirty="0"/>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pPr marL="457200" indent="-457200">
                        <a:buFont typeface="Arial" panose="020B0604020202020204" pitchFamily="34" charset="0"/>
                        <a:buChar char="•"/>
                      </a:pPr>
                      <a:r>
                        <a:rPr lang="en-US" sz="2400" dirty="0"/>
                        <a:t>To repose fundamental policy choices in Congress</a:t>
                      </a:r>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3" name="Slide Number Placeholder 2">
            <a:extLst>
              <a:ext uri="{FF2B5EF4-FFF2-40B4-BE49-F238E27FC236}">
                <a16:creationId xmlns:a16="http://schemas.microsoft.com/office/drawing/2014/main" id="{6CD1DE9E-522E-FDC4-BB0F-E435DBE38052}"/>
              </a:ext>
            </a:extLst>
          </p:cNvPr>
          <p:cNvSpPr>
            <a:spLocks noGrp="1"/>
          </p:cNvSpPr>
          <p:nvPr>
            <p:ph type="sldNum" sz="quarter" idx="12"/>
          </p:nvPr>
        </p:nvSpPr>
        <p:spPr/>
        <p:txBody>
          <a:bodyPr/>
          <a:lstStyle/>
          <a:p>
            <a:fld id="{43E3236E-8354-4469-A39B-052E70412384}" type="slidenum">
              <a:rPr lang="en-US" smtClean="0"/>
              <a:pPr/>
              <a:t>24</a:t>
            </a:fld>
            <a:endParaRPr lang="en-US"/>
          </a:p>
        </p:txBody>
      </p:sp>
    </p:spTree>
    <p:extLst>
      <p:ext uri="{BB962C8B-B14F-4D97-AF65-F5344CB8AC3E}">
        <p14:creationId xmlns:p14="http://schemas.microsoft.com/office/powerpoint/2010/main" val="881512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How Does D.C. Panel Fit Its Holding to the </a:t>
            </a:r>
            <a:r>
              <a:rPr lang="en-US" sz="3600" dirty="0" err="1"/>
              <a:t>Nondelegation</a:t>
            </a:r>
            <a:r>
              <a:rPr lang="en-US" sz="3600" dirty="0"/>
              <a:t> Doctrine?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59549769"/>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dirty="0">
                          <a:solidFill>
                            <a:schemeClr val="tx1"/>
                          </a:solidFill>
                        </a:rPr>
                        <a:t>Purposes of</a:t>
                      </a:r>
                      <a:r>
                        <a:rPr lang="en-US" baseline="0" dirty="0">
                          <a:solidFill>
                            <a:schemeClr val="tx1"/>
                          </a:solidFill>
                        </a:rPr>
                        <a:t> Doctrine</a:t>
                      </a:r>
                      <a:endParaRPr lang="en-US" dirty="0">
                        <a:solidFill>
                          <a:schemeClr val="tx1"/>
                        </a:solidFill>
                      </a:endParaRPr>
                    </a:p>
                  </a:txBody>
                  <a:tcPr/>
                </a:tc>
                <a:tc>
                  <a:txBody>
                    <a:bodyPr/>
                    <a:lstStyle/>
                    <a:p>
                      <a:pPr algn="ctr"/>
                      <a:r>
                        <a:rPr lang="en-US" dirty="0">
                          <a:solidFill>
                            <a:schemeClr val="tx1"/>
                          </a:solidFill>
                        </a:rPr>
                        <a:t>Does</a:t>
                      </a:r>
                      <a:r>
                        <a:rPr lang="en-US" baseline="0" dirty="0">
                          <a:solidFill>
                            <a:schemeClr val="tx1"/>
                          </a:solidFill>
                        </a:rPr>
                        <a:t> Allowing the Agency to Provide a Determinate Principle to Limit Its Discretion Under a Vague Statute Fulfill This Purpose?</a:t>
                      </a:r>
                      <a:endParaRPr lang="en-US" dirty="0">
                        <a:solidFill>
                          <a:schemeClr val="tx1"/>
                        </a:solidFill>
                      </a:endParaRPr>
                    </a:p>
                  </a:txBody>
                  <a:tcPr/>
                </a:tc>
                <a:extLst>
                  <a:ext uri="{0D108BD9-81ED-4DB2-BD59-A6C34878D82A}">
                    <a16:rowId xmlns:a16="http://schemas.microsoft.com/office/drawing/2014/main" val="10000"/>
                  </a:ext>
                </a:extLst>
              </a:tr>
              <a:tr h="370840">
                <a:tc>
                  <a:txBody>
                    <a:bodyPr/>
                    <a:lstStyle/>
                    <a:p>
                      <a:pPr marL="457200" indent="-457200">
                        <a:buFont typeface="Arial" panose="020B0604020202020204" pitchFamily="34" charset="0"/>
                        <a:buChar char="•"/>
                      </a:pPr>
                      <a:r>
                        <a:rPr lang="en-US" sz="2400" dirty="0"/>
                        <a:t>To prevent</a:t>
                      </a:r>
                      <a:r>
                        <a:rPr lang="en-US" sz="2400" baseline="0" dirty="0"/>
                        <a:t> arbitrary agency action</a:t>
                      </a:r>
                      <a:endParaRPr lang="en-US" sz="2400" dirty="0"/>
                    </a:p>
                  </a:txBody>
                  <a:tcPr/>
                </a:tc>
                <a:tc>
                  <a:txBody>
                    <a:bodyPr/>
                    <a:lstStyle/>
                    <a:p>
                      <a:pPr algn="ctr"/>
                      <a:r>
                        <a:rPr lang="en-US" sz="2800" dirty="0"/>
                        <a:t>YES</a:t>
                      </a:r>
                    </a:p>
                  </a:txBody>
                  <a:tcPr/>
                </a:tc>
                <a:extLst>
                  <a:ext uri="{0D108BD9-81ED-4DB2-BD59-A6C34878D82A}">
                    <a16:rowId xmlns:a16="http://schemas.microsoft.com/office/drawing/2014/main" val="10001"/>
                  </a:ext>
                </a:extLst>
              </a:tr>
              <a:tr h="370840">
                <a:tc>
                  <a:txBody>
                    <a:bodyPr/>
                    <a:lstStyle/>
                    <a:p>
                      <a:pPr marL="457200" indent="-457200">
                        <a:buFont typeface="Arial" panose="020B0604020202020204" pitchFamily="34" charset="0"/>
                        <a:buChar char="•"/>
                      </a:pPr>
                      <a:r>
                        <a:rPr lang="en-US" sz="2400" dirty="0"/>
                        <a:t>To facilitate meaningful judicial</a:t>
                      </a:r>
                      <a:r>
                        <a:rPr lang="en-US" sz="2400" baseline="0" dirty="0"/>
                        <a:t> review</a:t>
                      </a:r>
                      <a:endParaRPr lang="en-US" sz="2400" dirty="0"/>
                    </a:p>
                  </a:txBody>
                  <a:tcPr/>
                </a:tc>
                <a:tc>
                  <a:txBody>
                    <a:bodyPr/>
                    <a:lstStyle/>
                    <a:p>
                      <a:pPr algn="ctr"/>
                      <a:r>
                        <a:rPr lang="en-US" sz="2800" dirty="0"/>
                        <a:t>YES</a:t>
                      </a:r>
                    </a:p>
                  </a:txBody>
                  <a:tcPr/>
                </a:tc>
                <a:extLst>
                  <a:ext uri="{0D108BD9-81ED-4DB2-BD59-A6C34878D82A}">
                    <a16:rowId xmlns:a16="http://schemas.microsoft.com/office/drawing/2014/main" val="10002"/>
                  </a:ext>
                </a:extLst>
              </a:tr>
              <a:tr h="370840">
                <a:tc>
                  <a:txBody>
                    <a:bodyPr/>
                    <a:lstStyle/>
                    <a:p>
                      <a:pPr marL="457200" indent="-457200">
                        <a:buFont typeface="Arial" panose="020B0604020202020204" pitchFamily="34" charset="0"/>
                        <a:buChar char="•"/>
                      </a:pPr>
                      <a:r>
                        <a:rPr lang="en-US" sz="2400" dirty="0"/>
                        <a:t>To repose fundamental policy choices in Congress</a:t>
                      </a:r>
                    </a:p>
                  </a:txBody>
                  <a:tcPr/>
                </a:tc>
                <a:tc>
                  <a:txBody>
                    <a:bodyPr/>
                    <a:lstStyle/>
                    <a:p>
                      <a:pPr algn="ctr"/>
                      <a:r>
                        <a:rPr lang="en-US" sz="2800" dirty="0"/>
                        <a:t>NO</a:t>
                      </a:r>
                    </a:p>
                  </a:txBody>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3" name="Slide Number Placeholder 2">
            <a:extLst>
              <a:ext uri="{FF2B5EF4-FFF2-40B4-BE49-F238E27FC236}">
                <a16:creationId xmlns:a16="http://schemas.microsoft.com/office/drawing/2014/main" id="{C0CAE40F-0396-A2BB-DB16-CD5071732A82}"/>
              </a:ext>
            </a:extLst>
          </p:cNvPr>
          <p:cNvSpPr>
            <a:spLocks noGrp="1"/>
          </p:cNvSpPr>
          <p:nvPr>
            <p:ph type="sldNum" sz="quarter" idx="12"/>
          </p:nvPr>
        </p:nvSpPr>
        <p:spPr/>
        <p:txBody>
          <a:bodyPr/>
          <a:lstStyle/>
          <a:p>
            <a:fld id="{43E3236E-8354-4469-A39B-052E70412384}" type="slidenum">
              <a:rPr lang="en-US" smtClean="0"/>
              <a:pPr/>
              <a:t>25</a:t>
            </a:fld>
            <a:endParaRPr lang="en-US"/>
          </a:p>
        </p:txBody>
      </p:sp>
    </p:spTree>
    <p:extLst>
      <p:ext uri="{BB962C8B-B14F-4D97-AF65-F5344CB8AC3E}">
        <p14:creationId xmlns:p14="http://schemas.microsoft.com/office/powerpoint/2010/main" val="3287930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Supreme Court Upholds EPA</a:t>
            </a:r>
          </a:p>
        </p:txBody>
      </p:sp>
      <p:sp>
        <p:nvSpPr>
          <p:cNvPr id="3" name="Content Placeholder 2"/>
          <p:cNvSpPr>
            <a:spLocks noGrp="1"/>
          </p:cNvSpPr>
          <p:nvPr>
            <p:ph idx="1"/>
          </p:nvPr>
        </p:nvSpPr>
        <p:spPr/>
        <p:txBody>
          <a:bodyPr/>
          <a:lstStyle/>
          <a:p>
            <a:r>
              <a:rPr lang="en-US" sz="4000" dirty="0"/>
              <a:t>Unconstitutional statutes cannot be saved by agency restrictions on their own discretion (77)</a:t>
            </a:r>
          </a:p>
          <a:p>
            <a:r>
              <a:rPr lang="en-US" sz="4000" dirty="0"/>
              <a:t>Statute here sufficiently determinate as compared to precedent cases</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5" name="Slide Number Placeholder 4">
            <a:extLst>
              <a:ext uri="{FF2B5EF4-FFF2-40B4-BE49-F238E27FC236}">
                <a16:creationId xmlns:a16="http://schemas.microsoft.com/office/drawing/2014/main" id="{0932B4F9-99FA-A7DC-556B-B1582C0E4F4E}"/>
              </a:ext>
            </a:extLst>
          </p:cNvPr>
          <p:cNvSpPr>
            <a:spLocks noGrp="1"/>
          </p:cNvSpPr>
          <p:nvPr>
            <p:ph type="sldNum" sz="quarter" idx="12"/>
          </p:nvPr>
        </p:nvSpPr>
        <p:spPr/>
        <p:txBody>
          <a:bodyPr/>
          <a:lstStyle/>
          <a:p>
            <a:fld id="{43E3236E-8354-4469-A39B-052E70412384}" type="slidenum">
              <a:rPr lang="en-US" smtClean="0"/>
              <a:pPr/>
              <a:t>26</a:t>
            </a:fld>
            <a:endParaRPr lang="en-US"/>
          </a:p>
        </p:txBody>
      </p:sp>
    </p:spTree>
    <p:extLst>
      <p:ext uri="{BB962C8B-B14F-4D97-AF65-F5344CB8AC3E}">
        <p14:creationId xmlns:p14="http://schemas.microsoft.com/office/powerpoint/2010/main" val="344393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Gundy v. United States </a:t>
            </a:r>
            <a:r>
              <a:rPr lang="en-US" dirty="0"/>
              <a:t>(2019)</a:t>
            </a:r>
          </a:p>
        </p:txBody>
      </p:sp>
      <p:sp>
        <p:nvSpPr>
          <p:cNvPr id="3" name="Content Placeholder 2"/>
          <p:cNvSpPr>
            <a:spLocks noGrp="1"/>
          </p:cNvSpPr>
          <p:nvPr>
            <p:ph idx="1"/>
          </p:nvPr>
        </p:nvSpPr>
        <p:spPr/>
        <p:txBody>
          <a:bodyPr/>
          <a:lstStyle/>
          <a:p>
            <a:r>
              <a:rPr lang="en-US" sz="2800" b="1" dirty="0"/>
              <a:t>Limit on Discretion:</a:t>
            </a:r>
          </a:p>
          <a:p>
            <a:pPr lvl="1"/>
            <a:r>
              <a:rPr lang="en-US" sz="2400" dirty="0"/>
              <a:t>SCOTUS already interpreted SORNA as expecting application to pre-enactment offenders</a:t>
            </a:r>
          </a:p>
          <a:p>
            <a:pPr lvl="1"/>
            <a:r>
              <a:rPr lang="en-US" sz="2400" dirty="0"/>
              <a:t>Given that Congress might have thought instant registration of all such offenders impossible, implicit requirement for AG was to apply SORNA to pre-Act offenders as soon as feasible, accounting for any problems in requiring such registrations</a:t>
            </a:r>
          </a:p>
          <a:p>
            <a:pPr lvl="1"/>
            <a:r>
              <a:rPr lang="en-US" sz="2400" dirty="0"/>
              <a:t>Interpretation based on purpose, history and text of the Act</a:t>
            </a:r>
          </a:p>
          <a:p>
            <a:pPr lvl="1"/>
            <a:r>
              <a:rPr lang="en-US" sz="2400" dirty="0"/>
              <a:t>Feasibility = administrative, temporary authority</a:t>
            </a:r>
          </a:p>
          <a:p>
            <a:endParaRPr lang="en-US" dirty="0"/>
          </a:p>
          <a:p>
            <a:pPr lvl="1"/>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65DA0A92-3258-BDE2-5DE7-4E50E9FB9D77}"/>
              </a:ext>
            </a:extLst>
          </p:cNvPr>
          <p:cNvSpPr>
            <a:spLocks noGrp="1"/>
          </p:cNvSpPr>
          <p:nvPr>
            <p:ph type="sldNum" sz="quarter" idx="12"/>
          </p:nvPr>
        </p:nvSpPr>
        <p:spPr/>
        <p:txBody>
          <a:bodyPr/>
          <a:lstStyle/>
          <a:p>
            <a:fld id="{43E3236E-8354-4469-A39B-052E70412384}" type="slidenum">
              <a:rPr lang="en-US" smtClean="0"/>
              <a:pPr/>
              <a:t>27</a:t>
            </a:fld>
            <a:endParaRPr lang="en-US"/>
          </a:p>
        </p:txBody>
      </p:sp>
    </p:spTree>
    <p:extLst>
      <p:ext uri="{BB962C8B-B14F-4D97-AF65-F5344CB8AC3E}">
        <p14:creationId xmlns:p14="http://schemas.microsoft.com/office/powerpoint/2010/main" val="152482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147B-1254-3F4E-6BD9-368D4D6C6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AEB52-24C5-F7EF-7D54-EEA8CA1B4677}"/>
              </a:ext>
            </a:extLst>
          </p:cNvPr>
          <p:cNvSpPr>
            <a:spLocks noGrp="1"/>
          </p:cNvSpPr>
          <p:nvPr>
            <p:ph type="title"/>
          </p:nvPr>
        </p:nvSpPr>
        <p:spPr/>
        <p:txBody>
          <a:bodyPr/>
          <a:lstStyle/>
          <a:p>
            <a:r>
              <a:rPr lang="en-US" i="1" dirty="0"/>
              <a:t>Gundy v. United States </a:t>
            </a:r>
            <a:r>
              <a:rPr lang="en-US" dirty="0"/>
              <a:t>(2019)</a:t>
            </a:r>
          </a:p>
        </p:txBody>
      </p:sp>
      <p:sp>
        <p:nvSpPr>
          <p:cNvPr id="3" name="Content Placeholder 2">
            <a:extLst>
              <a:ext uri="{FF2B5EF4-FFF2-40B4-BE49-F238E27FC236}">
                <a16:creationId xmlns:a16="http://schemas.microsoft.com/office/drawing/2014/main" id="{6E6F3EC3-B8ED-EAF1-2B0B-EB63B242BFEB}"/>
              </a:ext>
            </a:extLst>
          </p:cNvPr>
          <p:cNvSpPr>
            <a:spLocks noGrp="1"/>
          </p:cNvSpPr>
          <p:nvPr>
            <p:ph idx="1"/>
          </p:nvPr>
        </p:nvSpPr>
        <p:spPr/>
        <p:txBody>
          <a:bodyPr/>
          <a:lstStyle/>
          <a:p>
            <a:r>
              <a:rPr lang="en-US" b="1" dirty="0"/>
              <a:t>Why permissible:</a:t>
            </a:r>
          </a:p>
          <a:p>
            <a:pPr lvl="1"/>
            <a:r>
              <a:rPr lang="en-US" dirty="0"/>
              <a:t>Plurality: Statutory authority limited by intelligible principle</a:t>
            </a:r>
          </a:p>
          <a:p>
            <a:pPr lvl="1"/>
            <a:r>
              <a:rPr lang="en-US" dirty="0"/>
              <a:t>Alito: No worse than earlier cases, but willing to reconsider the standard</a:t>
            </a:r>
          </a:p>
          <a:p>
            <a:endParaRPr lang="en-US" dirty="0"/>
          </a:p>
          <a:p>
            <a:pPr lvl="1"/>
            <a:endParaRPr lang="en-US" dirty="0"/>
          </a:p>
        </p:txBody>
      </p:sp>
      <p:sp>
        <p:nvSpPr>
          <p:cNvPr id="4" name="Footer Placeholder 3">
            <a:extLst>
              <a:ext uri="{FF2B5EF4-FFF2-40B4-BE49-F238E27FC236}">
                <a16:creationId xmlns:a16="http://schemas.microsoft.com/office/drawing/2014/main" id="{F1E86209-7C86-17D3-07B1-710FC9C376E5}"/>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3AADD37B-F4E7-5C7E-12E9-FE2D672ECBDA}"/>
              </a:ext>
            </a:extLst>
          </p:cNvPr>
          <p:cNvSpPr>
            <a:spLocks noGrp="1"/>
          </p:cNvSpPr>
          <p:nvPr>
            <p:ph type="sldNum" sz="quarter" idx="12"/>
          </p:nvPr>
        </p:nvSpPr>
        <p:spPr/>
        <p:txBody>
          <a:bodyPr/>
          <a:lstStyle/>
          <a:p>
            <a:fld id="{43E3236E-8354-4469-A39B-052E70412384}" type="slidenum">
              <a:rPr lang="en-US" smtClean="0"/>
              <a:pPr/>
              <a:t>28</a:t>
            </a:fld>
            <a:endParaRPr lang="en-US"/>
          </a:p>
        </p:txBody>
      </p:sp>
    </p:spTree>
    <p:extLst>
      <p:ext uri="{BB962C8B-B14F-4D97-AF65-F5344CB8AC3E}">
        <p14:creationId xmlns:p14="http://schemas.microsoft.com/office/powerpoint/2010/main" val="3233246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AD75A-319E-0FC0-3EA6-0619B97EA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305ED-0CA1-397F-1C9B-2CA234B779A5}"/>
              </a:ext>
            </a:extLst>
          </p:cNvPr>
          <p:cNvSpPr>
            <a:spLocks noGrp="1"/>
          </p:cNvSpPr>
          <p:nvPr>
            <p:ph type="title"/>
          </p:nvPr>
        </p:nvSpPr>
        <p:spPr/>
        <p:txBody>
          <a:bodyPr/>
          <a:lstStyle/>
          <a:p>
            <a:r>
              <a:rPr lang="en-US" dirty="0"/>
              <a:t>The Gorsuch Dissent</a:t>
            </a:r>
          </a:p>
        </p:txBody>
      </p:sp>
      <p:sp>
        <p:nvSpPr>
          <p:cNvPr id="3" name="Content Placeholder 2">
            <a:extLst>
              <a:ext uri="{FF2B5EF4-FFF2-40B4-BE49-F238E27FC236}">
                <a16:creationId xmlns:a16="http://schemas.microsoft.com/office/drawing/2014/main" id="{CD4B1A14-F1F8-DE10-F5A9-0127E77C0EB0}"/>
              </a:ext>
            </a:extLst>
          </p:cNvPr>
          <p:cNvSpPr>
            <a:spLocks noGrp="1"/>
          </p:cNvSpPr>
          <p:nvPr>
            <p:ph idx="1"/>
          </p:nvPr>
        </p:nvSpPr>
        <p:spPr/>
        <p:txBody>
          <a:bodyPr/>
          <a:lstStyle/>
          <a:p>
            <a:r>
              <a:rPr lang="en-US" dirty="0"/>
              <a:t>No textual limit on the AG’s authority</a:t>
            </a:r>
          </a:p>
          <a:p>
            <a:r>
              <a:rPr lang="en-US" dirty="0"/>
              <a:t>Framers had distinct categorical understanding of legislative, executive, judicial power</a:t>
            </a:r>
          </a:p>
          <a:p>
            <a:r>
              <a:rPr lang="en-US" dirty="0"/>
              <a:t>Permissible grants of power to executive</a:t>
            </a:r>
          </a:p>
          <a:p>
            <a:pPr lvl="1">
              <a:spcBef>
                <a:spcPts val="0"/>
              </a:spcBef>
            </a:pPr>
            <a:r>
              <a:rPr lang="en-US" dirty="0"/>
              <a:t>“To fill up the details”</a:t>
            </a:r>
          </a:p>
          <a:p>
            <a:pPr lvl="1">
              <a:spcBef>
                <a:spcPts val="0"/>
              </a:spcBef>
            </a:pPr>
            <a:r>
              <a:rPr lang="en-US" dirty="0"/>
              <a:t>To find contingent facts</a:t>
            </a:r>
          </a:p>
          <a:p>
            <a:pPr lvl="1">
              <a:spcBef>
                <a:spcPts val="0"/>
              </a:spcBef>
            </a:pPr>
            <a:r>
              <a:rPr lang="en-US" dirty="0"/>
              <a:t>To add to discretion Executive already has under Article II</a:t>
            </a:r>
          </a:p>
          <a:p>
            <a:pPr lvl="1"/>
            <a:endParaRPr lang="en-US" dirty="0"/>
          </a:p>
        </p:txBody>
      </p:sp>
      <p:sp>
        <p:nvSpPr>
          <p:cNvPr id="4" name="Footer Placeholder 3">
            <a:extLst>
              <a:ext uri="{FF2B5EF4-FFF2-40B4-BE49-F238E27FC236}">
                <a16:creationId xmlns:a16="http://schemas.microsoft.com/office/drawing/2014/main" id="{0C6CEA54-F760-3AF1-2B82-C4A17E28B908}"/>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35532C54-E083-3537-249F-C0916672F82D}"/>
              </a:ext>
            </a:extLst>
          </p:cNvPr>
          <p:cNvSpPr>
            <a:spLocks noGrp="1"/>
          </p:cNvSpPr>
          <p:nvPr>
            <p:ph type="sldNum" sz="quarter" idx="12"/>
          </p:nvPr>
        </p:nvSpPr>
        <p:spPr/>
        <p:txBody>
          <a:bodyPr/>
          <a:lstStyle/>
          <a:p>
            <a:fld id="{43E3236E-8354-4469-A39B-052E70412384}" type="slidenum">
              <a:rPr lang="en-US" smtClean="0"/>
              <a:pPr/>
              <a:t>29</a:t>
            </a:fld>
            <a:endParaRPr lang="en-US"/>
          </a:p>
        </p:txBody>
      </p:sp>
    </p:spTree>
    <p:extLst>
      <p:ext uri="{BB962C8B-B14F-4D97-AF65-F5344CB8AC3E}">
        <p14:creationId xmlns:p14="http://schemas.microsoft.com/office/powerpoint/2010/main" val="17021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7DF4C-42CF-96FD-C7C4-EBFC1A07A2B7}"/>
              </a:ext>
            </a:extLst>
          </p:cNvPr>
          <p:cNvSpPr>
            <a:spLocks noGrp="1"/>
          </p:cNvSpPr>
          <p:nvPr>
            <p:ph type="title"/>
          </p:nvPr>
        </p:nvSpPr>
        <p:spPr/>
        <p:txBody>
          <a:bodyPr/>
          <a:lstStyle/>
          <a:p>
            <a:r>
              <a:rPr lang="en-US" dirty="0"/>
              <a:t>Parrillo on History</a:t>
            </a:r>
          </a:p>
        </p:txBody>
      </p:sp>
      <p:sp>
        <p:nvSpPr>
          <p:cNvPr id="3" name="Content Placeholder 2">
            <a:extLst>
              <a:ext uri="{FF2B5EF4-FFF2-40B4-BE49-F238E27FC236}">
                <a16:creationId xmlns:a16="http://schemas.microsoft.com/office/drawing/2014/main" id="{56B1FB65-8391-F038-278B-A9251C70BCAD}"/>
              </a:ext>
            </a:extLst>
          </p:cNvPr>
          <p:cNvSpPr>
            <a:spLocks noGrp="1"/>
          </p:cNvSpPr>
          <p:nvPr>
            <p:ph idx="1"/>
          </p:nvPr>
        </p:nvSpPr>
        <p:spPr/>
        <p:txBody>
          <a:bodyPr/>
          <a:lstStyle/>
          <a:p>
            <a:r>
              <a:rPr lang="en-US" dirty="0"/>
              <a:t>Early congressional practice shows repeated willingness to give President or administrators significant rulemaking discretion</a:t>
            </a:r>
          </a:p>
          <a:p>
            <a:pPr>
              <a:spcBef>
                <a:spcPts val="0"/>
              </a:spcBef>
            </a:pPr>
            <a:r>
              <a:rPr lang="en-US" b="1" dirty="0"/>
              <a:t>Riposte</a:t>
            </a:r>
            <a:r>
              <a:rPr lang="en-US" dirty="0"/>
              <a:t>? Early examples either non-coercive, foreign affairs-related, or based on fact-finding</a:t>
            </a:r>
          </a:p>
          <a:p>
            <a:pPr>
              <a:spcBef>
                <a:spcPts val="0"/>
              </a:spcBef>
            </a:pPr>
            <a:r>
              <a:rPr lang="en-US" b="1" dirty="0"/>
              <a:t>Surrebuttal</a:t>
            </a:r>
            <a:r>
              <a:rPr lang="en-US" dirty="0"/>
              <a:t>? No one argued for such “exceptions” during the Founding era</a:t>
            </a:r>
          </a:p>
        </p:txBody>
      </p:sp>
      <p:sp>
        <p:nvSpPr>
          <p:cNvPr id="4" name="Footer Placeholder 3">
            <a:extLst>
              <a:ext uri="{FF2B5EF4-FFF2-40B4-BE49-F238E27FC236}">
                <a16:creationId xmlns:a16="http://schemas.microsoft.com/office/drawing/2014/main" id="{C9B4642A-A3B0-8B56-6FB1-889587DA723C}"/>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1250690-F077-5B02-92C2-6EBEFF94E645}"/>
              </a:ext>
            </a:extLst>
          </p:cNvPr>
          <p:cNvSpPr>
            <a:spLocks noGrp="1"/>
          </p:cNvSpPr>
          <p:nvPr>
            <p:ph type="sldNum" sz="quarter" idx="12"/>
          </p:nvPr>
        </p:nvSpPr>
        <p:spPr/>
        <p:txBody>
          <a:bodyPr/>
          <a:lstStyle/>
          <a:p>
            <a:fld id="{43E3236E-8354-4469-A39B-052E70412384}" type="slidenum">
              <a:rPr lang="en-US" smtClean="0"/>
              <a:pPr/>
              <a:t>30</a:t>
            </a:fld>
            <a:endParaRPr lang="en-US"/>
          </a:p>
        </p:txBody>
      </p:sp>
    </p:spTree>
    <p:extLst>
      <p:ext uri="{BB962C8B-B14F-4D97-AF65-F5344CB8AC3E}">
        <p14:creationId xmlns:p14="http://schemas.microsoft.com/office/powerpoint/2010/main" val="3695833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69997-7B49-E33C-B8D3-DCFF69E02023}"/>
              </a:ext>
            </a:extLst>
          </p:cNvPr>
          <p:cNvSpPr>
            <a:spLocks noGrp="1"/>
          </p:cNvSpPr>
          <p:nvPr>
            <p:ph type="title"/>
          </p:nvPr>
        </p:nvSpPr>
        <p:spPr/>
        <p:txBody>
          <a:bodyPr/>
          <a:lstStyle/>
          <a:p>
            <a:r>
              <a:rPr lang="en-US" sz="3600" dirty="0"/>
              <a:t>Other Defenses of Broad Delegations</a:t>
            </a:r>
          </a:p>
        </p:txBody>
      </p:sp>
      <p:sp>
        <p:nvSpPr>
          <p:cNvPr id="3" name="Content Placeholder 2">
            <a:extLst>
              <a:ext uri="{FF2B5EF4-FFF2-40B4-BE49-F238E27FC236}">
                <a16:creationId xmlns:a16="http://schemas.microsoft.com/office/drawing/2014/main" id="{07AEB5BF-3C3B-9FD4-0ECA-F7DDB2483B43}"/>
              </a:ext>
            </a:extLst>
          </p:cNvPr>
          <p:cNvSpPr>
            <a:spLocks noGrp="1"/>
          </p:cNvSpPr>
          <p:nvPr>
            <p:ph idx="1"/>
          </p:nvPr>
        </p:nvSpPr>
        <p:spPr/>
        <p:txBody>
          <a:bodyPr/>
          <a:lstStyle/>
          <a:p>
            <a:r>
              <a:rPr lang="en-US" sz="2800" dirty="0"/>
              <a:t>Broadening scope of permissible executive branch discretion allows greater room to implement voter preferences expressed in POTUS elections – Mashaw</a:t>
            </a:r>
          </a:p>
          <a:p>
            <a:r>
              <a:rPr lang="en-US" sz="2800" dirty="0"/>
              <a:t>Spence and Cross</a:t>
            </a:r>
          </a:p>
          <a:p>
            <a:pPr lvl="1"/>
            <a:r>
              <a:rPr lang="en-US" sz="2400" dirty="0"/>
              <a:t>Too hard for Congress to legislate with specificity, especially with regard to updates</a:t>
            </a:r>
          </a:p>
          <a:p>
            <a:pPr lvl="1"/>
            <a:r>
              <a:rPr lang="en-US" sz="2400" dirty="0"/>
              <a:t>Interstitial questions will have to be addressed by agencies or courts, and agencies are more democratic, expert, harder to manipulate than courts</a:t>
            </a:r>
          </a:p>
        </p:txBody>
      </p:sp>
      <p:sp>
        <p:nvSpPr>
          <p:cNvPr id="4" name="Footer Placeholder 3">
            <a:extLst>
              <a:ext uri="{FF2B5EF4-FFF2-40B4-BE49-F238E27FC236}">
                <a16:creationId xmlns:a16="http://schemas.microsoft.com/office/drawing/2014/main" id="{479C8814-BA9E-CD96-7423-481BBBB54AE0}"/>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3F60649E-90BF-F3FD-0DA9-6D48BEC14CFD}"/>
              </a:ext>
            </a:extLst>
          </p:cNvPr>
          <p:cNvSpPr>
            <a:spLocks noGrp="1"/>
          </p:cNvSpPr>
          <p:nvPr>
            <p:ph type="sldNum" sz="quarter" idx="12"/>
          </p:nvPr>
        </p:nvSpPr>
        <p:spPr/>
        <p:txBody>
          <a:bodyPr/>
          <a:lstStyle/>
          <a:p>
            <a:fld id="{43E3236E-8354-4469-A39B-052E70412384}" type="slidenum">
              <a:rPr lang="en-US" smtClean="0"/>
              <a:pPr/>
              <a:t>31</a:t>
            </a:fld>
            <a:endParaRPr lang="en-US"/>
          </a:p>
        </p:txBody>
      </p:sp>
    </p:spTree>
    <p:extLst>
      <p:ext uri="{BB962C8B-B14F-4D97-AF65-F5344CB8AC3E}">
        <p14:creationId xmlns:p14="http://schemas.microsoft.com/office/powerpoint/2010/main" val="2834655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9218" name="Rectangle 2"/>
          <p:cNvSpPr>
            <a:spLocks noGrp="1" noChangeArrowheads="1"/>
          </p:cNvSpPr>
          <p:nvPr>
            <p:ph type="title"/>
          </p:nvPr>
        </p:nvSpPr>
        <p:spPr/>
        <p:txBody>
          <a:bodyPr/>
          <a:lstStyle/>
          <a:p>
            <a:r>
              <a:rPr lang="en-US" sz="2400" b="1" dirty="0"/>
              <a:t>Nondelegation Doctrine Illustrates</a:t>
            </a:r>
            <a:br>
              <a:rPr lang="en-US" sz="2400" b="1" dirty="0"/>
            </a:br>
            <a:r>
              <a:rPr lang="en-US" sz="2400" b="1" dirty="0"/>
              <a:t>Impossibility of Maximizing All Public Values at Once</a:t>
            </a:r>
          </a:p>
        </p:txBody>
      </p:sp>
      <p:sp>
        <p:nvSpPr>
          <p:cNvPr id="9219" name="Rectangle 3"/>
          <p:cNvSpPr>
            <a:spLocks noGrp="1" noChangeArrowheads="1"/>
          </p:cNvSpPr>
          <p:nvPr>
            <p:ph type="body" idx="1"/>
          </p:nvPr>
        </p:nvSpPr>
        <p:spPr/>
        <p:txBody>
          <a:bodyPr/>
          <a:lstStyle/>
          <a:p>
            <a:pPr>
              <a:lnSpc>
                <a:spcPct val="80000"/>
              </a:lnSpc>
            </a:pPr>
            <a:r>
              <a:rPr lang="en-US" sz="2000" dirty="0"/>
              <a:t>Relaxing the nondelegation requirement encourages Congress to transfer difficult questions to more focused, more expert, and perhaps more transparent administrators . . .</a:t>
            </a:r>
          </a:p>
          <a:p>
            <a:pPr>
              <a:lnSpc>
                <a:spcPct val="80000"/>
              </a:lnSpc>
            </a:pPr>
            <a:r>
              <a:rPr lang="en-US" sz="2000" dirty="0"/>
              <a:t>But may render Congressional elections less meaningful as a mechanism of political accountability.</a:t>
            </a:r>
          </a:p>
          <a:p>
            <a:pPr>
              <a:lnSpc>
                <a:spcPct val="80000"/>
              </a:lnSpc>
            </a:pPr>
            <a:r>
              <a:rPr lang="en-US" sz="2000" dirty="0"/>
              <a:t>Relaxing the nondelegation requirement allows Congress to respond more quickly to serious social problems that might not otherwise be addressed as effectively without government action . . .</a:t>
            </a:r>
          </a:p>
          <a:p>
            <a:pPr>
              <a:lnSpc>
                <a:spcPct val="80000"/>
              </a:lnSpc>
            </a:pPr>
            <a:r>
              <a:rPr lang="en-US" sz="2000" dirty="0"/>
              <a:t>But creates a temptation for Congress to respond to problems only symbolically and before real political consensus behind solutions has formed.</a:t>
            </a:r>
          </a:p>
          <a:p>
            <a:pPr>
              <a:lnSpc>
                <a:spcPct val="80000"/>
              </a:lnSpc>
            </a:pPr>
            <a:r>
              <a:rPr lang="en-US" sz="2000" dirty="0"/>
              <a:t>A more robust nondelegation doctrine might help reinforce the traditional role of the legislator . . .</a:t>
            </a:r>
          </a:p>
          <a:p>
            <a:pPr>
              <a:lnSpc>
                <a:spcPct val="80000"/>
              </a:lnSpc>
            </a:pPr>
            <a:r>
              <a:rPr lang="en-US" sz="2000" dirty="0"/>
              <a:t>But tempt judges into an activist role that departs from the traditional province of the judiciary.</a:t>
            </a:r>
          </a:p>
        </p:txBody>
      </p:sp>
      <p:sp>
        <p:nvSpPr>
          <p:cNvPr id="2" name="Slide Number Placeholder 1">
            <a:extLst>
              <a:ext uri="{FF2B5EF4-FFF2-40B4-BE49-F238E27FC236}">
                <a16:creationId xmlns:a16="http://schemas.microsoft.com/office/drawing/2014/main" id="{949CE316-C9D4-E0CA-1428-785ABB9D12C6}"/>
              </a:ext>
            </a:extLst>
          </p:cNvPr>
          <p:cNvSpPr>
            <a:spLocks noGrp="1"/>
          </p:cNvSpPr>
          <p:nvPr>
            <p:ph type="sldNum" sz="quarter" idx="12"/>
          </p:nvPr>
        </p:nvSpPr>
        <p:spPr/>
        <p:txBody>
          <a:bodyPr/>
          <a:lstStyle/>
          <a:p>
            <a:fld id="{43E3236E-8354-4469-A39B-052E70412384}" type="slidenum">
              <a:rPr lang="en-US" smtClean="0"/>
              <a:pPr/>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9">
                                            <p:txEl>
                                              <p:pRg st="4" end="4"/>
                                            </p:txEl>
                                          </p:spTgt>
                                        </p:tgtEl>
                                        <p:attrNameLst>
                                          <p:attrName>style.visibility</p:attrName>
                                        </p:attrNameLst>
                                      </p:cBhvr>
                                      <p:to>
                                        <p:strVal val="visible"/>
                                      </p:to>
                                    </p:set>
                                    <p:anim calcmode="lin" valueType="num">
                                      <p:cBhvr additive="base">
                                        <p:cTn id="31" dur="500" fill="hold"/>
                                        <p:tgtEl>
                                          <p:spTgt spid="92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2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219">
                                            <p:txEl>
                                              <p:pRg st="5" end="5"/>
                                            </p:txEl>
                                          </p:spTgt>
                                        </p:tgtEl>
                                        <p:attrNameLst>
                                          <p:attrName>style.visibility</p:attrName>
                                        </p:attrNameLst>
                                      </p:cBhvr>
                                      <p:to>
                                        <p:strVal val="visible"/>
                                      </p:to>
                                    </p:set>
                                    <p:anim calcmode="lin" valueType="num">
                                      <p:cBhvr additive="base">
                                        <p:cTn id="37" dur="500" fill="hold"/>
                                        <p:tgtEl>
                                          <p:spTgt spid="921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21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2360</TotalTime>
  <Words>2781</Words>
  <Application>Microsoft Office PowerPoint</Application>
  <PresentationFormat>On-screen Show (4:3)</PresentationFormat>
  <Paragraphs>256</Paragraphs>
  <Slides>32</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Wingdings</vt:lpstr>
      <vt:lpstr>Default Design</vt:lpstr>
      <vt:lpstr>Recap of Class 7</vt:lpstr>
      <vt:lpstr>Recap of Class 7 (Cont’d)</vt:lpstr>
      <vt:lpstr>Zone of discretion</vt:lpstr>
      <vt:lpstr>Yakus v. U.S. (1944)</vt:lpstr>
      <vt:lpstr>Policies of the EPCA</vt:lpstr>
      <vt:lpstr>And Why Permissible?</vt:lpstr>
      <vt:lpstr>Mistretta v. U.S. (1989)</vt:lpstr>
      <vt:lpstr>Mistretta v. U.S. (1989)</vt:lpstr>
      <vt:lpstr>Scalia Dissent</vt:lpstr>
      <vt:lpstr>What About This?</vt:lpstr>
      <vt:lpstr>Amalgamated Meat Cutters v.  Connally (D.C. Cir. 1971)</vt:lpstr>
      <vt:lpstr>Factors Supporting Judge Leventhal’s Approach in Meat Cutters</vt:lpstr>
      <vt:lpstr>DHS Border Fence Authority</vt:lpstr>
      <vt:lpstr>Policy as Tradeoffs</vt:lpstr>
      <vt:lpstr>Why Would We Want Congress to Make the Tradeoffs?</vt:lpstr>
      <vt:lpstr>How to Set Limits</vt:lpstr>
      <vt:lpstr>Why then does Congress  delegate broadly?</vt:lpstr>
      <vt:lpstr>Why wouldn’t courts police  more stringently? </vt:lpstr>
      <vt:lpstr>Whitman Trucking: Challenge to Clean Air Act</vt:lpstr>
      <vt:lpstr>EPA Approach</vt:lpstr>
      <vt:lpstr>Visualizing the EPA Approach</vt:lpstr>
      <vt:lpstr>Why may economic factors not be considered?</vt:lpstr>
      <vt:lpstr>D.C. Circuit Reaction</vt:lpstr>
      <vt:lpstr>How Does D.C. Panel Fit Its Holding to the Nondelegation Doctrine?</vt:lpstr>
      <vt:lpstr>How Does D.C. Panel Fit Its Holding to the Nondelegation Doctrine?</vt:lpstr>
      <vt:lpstr>Supreme Court Upholds EPA</vt:lpstr>
      <vt:lpstr>Gundy v. United States (2019)</vt:lpstr>
      <vt:lpstr>Gundy v. United States (2019)</vt:lpstr>
      <vt:lpstr>The Gorsuch Dissent</vt:lpstr>
      <vt:lpstr>Parrillo on History</vt:lpstr>
      <vt:lpstr>Other Defenses of Broad Delegations</vt:lpstr>
      <vt:lpstr>Nondelegation Doctrine Illustrates Impossibility of Maximizing All Public Values at Once</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ID Act</dc:title>
  <dc:creator>Peter Shand</dc:creator>
  <cp:lastModifiedBy>Shane, Peter</cp:lastModifiedBy>
  <cp:revision>46</cp:revision>
  <cp:lastPrinted>2014-09-02T15:37:02Z</cp:lastPrinted>
  <dcterms:created xsi:type="dcterms:W3CDTF">2008-12-22T21:50:38Z</dcterms:created>
  <dcterms:modified xsi:type="dcterms:W3CDTF">2026-09-25T14:49:21Z</dcterms:modified>
</cp:coreProperties>
</file>