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 id="258" r:id="rId3"/>
    <p:sldId id="259" r:id="rId4"/>
    <p:sldId id="277" r:id="rId5"/>
    <p:sldId id="278" r:id="rId6"/>
    <p:sldId id="279" r:id="rId7"/>
    <p:sldId id="261" r:id="rId8"/>
    <p:sldId id="260" r:id="rId9"/>
    <p:sldId id="267" r:id="rId10"/>
    <p:sldId id="270" r:id="rId11"/>
    <p:sldId id="264" r:id="rId12"/>
    <p:sldId id="263" r:id="rId13"/>
    <p:sldId id="272" r:id="rId14"/>
    <p:sldId id="273" r:id="rId15"/>
    <p:sldId id="274" r:id="rId16"/>
    <p:sldId id="271" r:id="rId17"/>
    <p:sldId id="266" r:id="rId18"/>
    <p:sldId id="268" r:id="rId19"/>
    <p:sldId id="275" r:id="rId20"/>
    <p:sldId id="276" r:id="rId2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5" d="100"/>
          <a:sy n="105" d="100"/>
        </p:scale>
        <p:origin x="1794" y="96"/>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1219200" y="3886200"/>
            <a:ext cx="6858000" cy="990600"/>
          </a:xfrm>
        </p:spPr>
        <p:txBody>
          <a:bodyPr anchor="t" anchorCtr="0"/>
          <a:lstStyle>
            <a:lvl1pPr algn="r">
              <a:defRPr sz="3200">
                <a:solidFill>
                  <a:schemeClr val="tx1"/>
                </a:solidFill>
              </a:defRPr>
            </a:lvl1pPr>
          </a:lstStyle>
          <a:p>
            <a:r>
              <a:rPr kumimoji="0" lang="en-US"/>
              <a:t>Click to edit Master title style</a:t>
            </a:r>
          </a:p>
        </p:txBody>
      </p:sp>
      <p:sp>
        <p:nvSpPr>
          <p:cNvPr id="9" name="Subtitle 8"/>
          <p:cNvSpPr>
            <a:spLocks noGrp="1"/>
          </p:cNvSpPr>
          <p:nvPr>
            <p:ph type="subTitle" idx="1"/>
          </p:nvPr>
        </p:nvSpPr>
        <p:spPr>
          <a:xfrm>
            <a:off x="1219200" y="5124450"/>
            <a:ext cx="6858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6400800" y="6355080"/>
            <a:ext cx="2286000" cy="365760"/>
          </a:xfrm>
        </p:spPr>
        <p:txBody>
          <a:bodyPr/>
          <a:lstStyle>
            <a:lvl1pPr>
              <a:defRPr sz="1400"/>
            </a:lvl1pPr>
          </a:lstStyle>
          <a:p>
            <a:fld id="{8B999E3D-45A9-497C-BEB0-B4F0C3D298AF}" type="datetimeFigureOut">
              <a:rPr lang="en-US" smtClean="0">
                <a:solidFill>
                  <a:srgbClr val="464653"/>
                </a:solidFill>
              </a:rPr>
              <a:pPr/>
              <a:t>10/6/2026</a:t>
            </a:fld>
            <a:endParaRPr lang="en-US">
              <a:solidFill>
                <a:srgbClr val="464653"/>
              </a:solidFill>
            </a:endParaRPr>
          </a:p>
        </p:txBody>
      </p:sp>
      <p:sp>
        <p:nvSpPr>
          <p:cNvPr id="17" name="Footer Placeholder 16"/>
          <p:cNvSpPr>
            <a:spLocks noGrp="1"/>
          </p:cNvSpPr>
          <p:nvPr>
            <p:ph type="ftr" sz="quarter" idx="11"/>
          </p:nvPr>
        </p:nvSpPr>
        <p:spPr>
          <a:xfrm>
            <a:off x="2898648" y="6355080"/>
            <a:ext cx="3474720" cy="365760"/>
          </a:xfrm>
        </p:spPr>
        <p:txBody>
          <a:bodyPr/>
          <a:lstStyle/>
          <a:p>
            <a:endParaRPr lang="en-US">
              <a:solidFill>
                <a:srgbClr val="464653"/>
              </a:solidFill>
            </a:endParaRPr>
          </a:p>
        </p:txBody>
      </p:sp>
      <p:sp>
        <p:nvSpPr>
          <p:cNvPr id="29" name="Slide Number Placeholder 28"/>
          <p:cNvSpPr>
            <a:spLocks noGrp="1"/>
          </p:cNvSpPr>
          <p:nvPr>
            <p:ph type="sldNum" sz="quarter" idx="12"/>
          </p:nvPr>
        </p:nvSpPr>
        <p:spPr>
          <a:xfrm>
            <a:off x="1216152" y="6355080"/>
            <a:ext cx="1219200" cy="365760"/>
          </a:xfrm>
        </p:spPr>
        <p:txBody>
          <a:bodyPr/>
          <a:lstStyle/>
          <a:p>
            <a:fld id="{994B729A-5F0B-4B52-BE6D-A579B7D0035B}" type="slidenum">
              <a:rPr lang="en-US" smtClean="0">
                <a:solidFill>
                  <a:srgbClr val="464653"/>
                </a:solidFill>
              </a:rPr>
              <a:pPr/>
              <a:t>‹#›</a:t>
            </a:fld>
            <a:endParaRPr lang="en-US">
              <a:solidFill>
                <a:srgbClr val="464653"/>
              </a:solidFill>
            </a:endParaRPr>
          </a:p>
        </p:txBody>
      </p:sp>
      <p:sp>
        <p:nvSpPr>
          <p:cNvPr id="21" name="Rectangle 20"/>
          <p:cNvSpPr/>
          <p:nvPr/>
        </p:nvSpPr>
        <p:spPr>
          <a:xfrm>
            <a:off x="904875" y="3648075"/>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33" name="Rectangle 32"/>
          <p:cNvSpPr/>
          <p:nvPr/>
        </p:nvSpPr>
        <p:spPr>
          <a:xfrm>
            <a:off x="914400" y="5048250"/>
            <a:ext cx="73152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22" name="Rectangle 21"/>
          <p:cNvSpPr/>
          <p:nvPr/>
        </p:nvSpPr>
        <p:spPr>
          <a:xfrm>
            <a:off x="904875" y="3648075"/>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32" name="Rectangle 31"/>
          <p:cNvSpPr/>
          <p:nvPr/>
        </p:nvSpPr>
        <p:spPr>
          <a:xfrm>
            <a:off x="914400" y="5048250"/>
            <a:ext cx="2286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Tree>
    <p:extLst>
      <p:ext uri="{BB962C8B-B14F-4D97-AF65-F5344CB8AC3E}">
        <p14:creationId xmlns:p14="http://schemas.microsoft.com/office/powerpoint/2010/main" val="9464086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Date Placeholder 3"/>
          <p:cNvSpPr>
            <a:spLocks noGrp="1"/>
          </p:cNvSpPr>
          <p:nvPr>
            <p:ph type="dt" sz="half" idx="10"/>
          </p:nvPr>
        </p:nvSpPr>
        <p:spPr/>
        <p:txBody>
          <a:bodyPr/>
          <a:lstStyle/>
          <a:p>
            <a:fld id="{8B999E3D-45A9-497C-BEB0-B4F0C3D298AF}" type="datetimeFigureOut">
              <a:rPr lang="en-US" smtClean="0">
                <a:solidFill>
                  <a:srgbClr val="464653"/>
                </a:solidFill>
              </a:rPr>
              <a:pPr/>
              <a:t>10/6/2026</a:t>
            </a:fld>
            <a:endParaRPr lang="en-US">
              <a:solidFill>
                <a:srgbClr val="464653"/>
              </a:solidFill>
            </a:endParaRPr>
          </a:p>
        </p:txBody>
      </p:sp>
      <p:sp>
        <p:nvSpPr>
          <p:cNvPr id="5" name="Footer Placeholder 4"/>
          <p:cNvSpPr>
            <a:spLocks noGrp="1"/>
          </p:cNvSpPr>
          <p:nvPr>
            <p:ph type="ftr" sz="quarter" idx="11"/>
          </p:nvPr>
        </p:nvSpPr>
        <p:spPr/>
        <p:txBody>
          <a:bodyPr/>
          <a:lstStyle/>
          <a:p>
            <a:endParaRPr lang="en-US">
              <a:solidFill>
                <a:srgbClr val="464653"/>
              </a:solidFill>
            </a:endParaRPr>
          </a:p>
        </p:txBody>
      </p:sp>
      <p:sp>
        <p:nvSpPr>
          <p:cNvPr id="6" name="Slide Number Placeholder 5"/>
          <p:cNvSpPr>
            <a:spLocks noGrp="1"/>
          </p:cNvSpPr>
          <p:nvPr>
            <p:ph type="sldNum" sz="quarter" idx="12"/>
          </p:nvPr>
        </p:nvSpPr>
        <p:spPr/>
        <p:txBody>
          <a:bodyPr/>
          <a:lstStyle/>
          <a:p>
            <a:fld id="{994B729A-5F0B-4B52-BE6D-A579B7D0035B}" type="slidenum">
              <a:rPr lang="en-US" smtClean="0">
                <a:solidFill>
                  <a:srgbClr val="464653"/>
                </a:solidFill>
              </a:rPr>
              <a:pPr/>
              <a:t>‹#›</a:t>
            </a:fld>
            <a:endParaRPr lang="en-US">
              <a:solidFill>
                <a:srgbClr val="464653"/>
              </a:solidFill>
            </a:endParaRPr>
          </a:p>
        </p:txBody>
      </p:sp>
      <p:sp>
        <p:nvSpPr>
          <p:cNvPr id="8" name="Content Placeholder 7"/>
          <p:cNvSpPr>
            <a:spLocks noGrp="1"/>
          </p:cNvSpPr>
          <p:nvPr>
            <p:ph sz="quarter" idx="1"/>
          </p:nvPr>
        </p:nvSpPr>
        <p:spPr>
          <a:xfrm>
            <a:off x="457200" y="1219200"/>
            <a:ext cx="8229600"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5177662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219200" y="2971800"/>
            <a:ext cx="6858000" cy="1066800"/>
          </a:xfrm>
        </p:spPr>
        <p:txBody>
          <a:bodyPr anchor="t" anchorCtr="0"/>
          <a:lstStyle>
            <a:lvl1pPr algn="r">
              <a:buNone/>
              <a:defRPr sz="3200" b="0" cap="none" baseline="0"/>
            </a:lvl1pPr>
          </a:lstStyle>
          <a:p>
            <a:r>
              <a:rPr kumimoji="0" lang="en-US"/>
              <a:t>Click to edit Master title style</a:t>
            </a:r>
          </a:p>
        </p:txBody>
      </p:sp>
      <p:sp>
        <p:nvSpPr>
          <p:cNvPr id="3" name="Text Placeholder 2"/>
          <p:cNvSpPr>
            <a:spLocks noGrp="1"/>
          </p:cNvSpPr>
          <p:nvPr>
            <p:ph type="body" idx="1"/>
          </p:nvPr>
        </p:nvSpPr>
        <p:spPr>
          <a:xfrm>
            <a:off x="1295400" y="4267200"/>
            <a:ext cx="6781800" cy="1143000"/>
          </a:xfrm>
        </p:spPr>
        <p:txBody>
          <a:bodyPr anchor="t" anchorCtr="0"/>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a:xfrm>
            <a:off x="6400800" y="6355080"/>
            <a:ext cx="2286000" cy="365760"/>
          </a:xfrm>
        </p:spPr>
        <p:txBody>
          <a:bodyPr/>
          <a:lstStyle/>
          <a:p>
            <a:fld id="{8B999E3D-45A9-497C-BEB0-B4F0C3D298AF}" type="datetimeFigureOut">
              <a:rPr lang="en-US" smtClean="0">
                <a:solidFill>
                  <a:srgbClr val="DDE9EC"/>
                </a:solidFill>
              </a:rPr>
              <a:pPr/>
              <a:t>10/6/2026</a:t>
            </a:fld>
            <a:endParaRPr lang="en-US">
              <a:solidFill>
                <a:srgbClr val="DDE9EC"/>
              </a:solidFill>
            </a:endParaRPr>
          </a:p>
        </p:txBody>
      </p:sp>
      <p:sp>
        <p:nvSpPr>
          <p:cNvPr id="5" name="Footer Placeholder 4"/>
          <p:cNvSpPr>
            <a:spLocks noGrp="1"/>
          </p:cNvSpPr>
          <p:nvPr>
            <p:ph type="ftr" sz="quarter" idx="11"/>
          </p:nvPr>
        </p:nvSpPr>
        <p:spPr>
          <a:xfrm>
            <a:off x="2898648" y="6355080"/>
            <a:ext cx="3474720" cy="365760"/>
          </a:xfrm>
        </p:spPr>
        <p:txBody>
          <a:bodyPr/>
          <a:lstStyle/>
          <a:p>
            <a:endParaRPr lang="en-US">
              <a:solidFill>
                <a:srgbClr val="DDE9EC"/>
              </a:solidFill>
            </a:endParaRPr>
          </a:p>
        </p:txBody>
      </p:sp>
      <p:sp>
        <p:nvSpPr>
          <p:cNvPr id="6" name="Slide Number Placeholder 5"/>
          <p:cNvSpPr>
            <a:spLocks noGrp="1"/>
          </p:cNvSpPr>
          <p:nvPr>
            <p:ph type="sldNum" sz="quarter" idx="12"/>
          </p:nvPr>
        </p:nvSpPr>
        <p:spPr>
          <a:xfrm>
            <a:off x="1069848" y="6355080"/>
            <a:ext cx="1520952" cy="365760"/>
          </a:xfrm>
        </p:spPr>
        <p:txBody>
          <a:bodyPr/>
          <a:lstStyle/>
          <a:p>
            <a:fld id="{994B729A-5F0B-4B52-BE6D-A579B7D0035B}" type="slidenum">
              <a:rPr lang="en-US" smtClean="0">
                <a:solidFill>
                  <a:srgbClr val="DDE9EC"/>
                </a:solidFill>
              </a:rPr>
              <a:pPr/>
              <a:t>‹#›</a:t>
            </a:fld>
            <a:endParaRPr lang="en-US">
              <a:solidFill>
                <a:srgbClr val="DDE9EC"/>
              </a:solidFill>
            </a:endParaRPr>
          </a:p>
        </p:txBody>
      </p:sp>
      <p:sp>
        <p:nvSpPr>
          <p:cNvPr id="7" name="Rectangle 6"/>
          <p:cNvSpPr/>
          <p:nvPr/>
        </p:nvSpPr>
        <p:spPr>
          <a:xfrm>
            <a:off x="914400" y="2819400"/>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8" name="Rectangle 7"/>
          <p:cNvSpPr/>
          <p:nvPr/>
        </p:nvSpPr>
        <p:spPr>
          <a:xfrm>
            <a:off x="914400" y="2819400"/>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Tree>
    <p:extLst>
      <p:ext uri="{BB962C8B-B14F-4D97-AF65-F5344CB8AC3E}">
        <p14:creationId xmlns:p14="http://schemas.microsoft.com/office/powerpoint/2010/main" val="45579266"/>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5" name="Date Placeholder 4"/>
          <p:cNvSpPr>
            <a:spLocks noGrp="1"/>
          </p:cNvSpPr>
          <p:nvPr>
            <p:ph type="dt" sz="half" idx="10"/>
          </p:nvPr>
        </p:nvSpPr>
        <p:spPr/>
        <p:txBody>
          <a:bodyPr/>
          <a:lstStyle/>
          <a:p>
            <a:fld id="{8B999E3D-45A9-497C-BEB0-B4F0C3D298AF}" type="datetimeFigureOut">
              <a:rPr lang="en-US" smtClean="0">
                <a:solidFill>
                  <a:srgbClr val="464653"/>
                </a:solidFill>
              </a:rPr>
              <a:pPr/>
              <a:t>10/6/2026</a:t>
            </a:fld>
            <a:endParaRPr lang="en-US">
              <a:solidFill>
                <a:srgbClr val="464653"/>
              </a:solidFill>
            </a:endParaRPr>
          </a:p>
        </p:txBody>
      </p:sp>
      <p:sp>
        <p:nvSpPr>
          <p:cNvPr id="6" name="Footer Placeholder 5"/>
          <p:cNvSpPr>
            <a:spLocks noGrp="1"/>
          </p:cNvSpPr>
          <p:nvPr>
            <p:ph type="ftr" sz="quarter" idx="11"/>
          </p:nvPr>
        </p:nvSpPr>
        <p:spPr/>
        <p:txBody>
          <a:bodyPr/>
          <a:lstStyle/>
          <a:p>
            <a:endParaRPr lang="en-US">
              <a:solidFill>
                <a:srgbClr val="464653"/>
              </a:solidFill>
            </a:endParaRPr>
          </a:p>
        </p:txBody>
      </p:sp>
      <p:sp>
        <p:nvSpPr>
          <p:cNvPr id="7" name="Slide Number Placeholder 6"/>
          <p:cNvSpPr>
            <a:spLocks noGrp="1"/>
          </p:cNvSpPr>
          <p:nvPr>
            <p:ph type="sldNum" sz="quarter" idx="12"/>
          </p:nvPr>
        </p:nvSpPr>
        <p:spPr/>
        <p:txBody>
          <a:bodyPr/>
          <a:lstStyle/>
          <a:p>
            <a:fld id="{994B729A-5F0B-4B52-BE6D-A579B7D0035B}" type="slidenum">
              <a:rPr lang="en-US" smtClean="0">
                <a:solidFill>
                  <a:srgbClr val="464653"/>
                </a:solidFill>
              </a:rPr>
              <a:pPr/>
              <a:t>‹#›</a:t>
            </a:fld>
            <a:endParaRPr lang="en-US">
              <a:solidFill>
                <a:srgbClr val="464653"/>
              </a:solidFill>
            </a:endParaRPr>
          </a:p>
        </p:txBody>
      </p:sp>
      <p:sp>
        <p:nvSpPr>
          <p:cNvPr id="9" name="Content Placeholder 8"/>
          <p:cNvSpPr>
            <a:spLocks noGrp="1"/>
          </p:cNvSpPr>
          <p:nvPr>
            <p:ph sz="quarter" idx="1"/>
          </p:nvPr>
        </p:nvSpPr>
        <p:spPr>
          <a:xfrm>
            <a:off x="457200" y="1219200"/>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632198" y="1216152"/>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27076659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nchor="ctr"/>
          <a:lstStyle>
            <a:lvl1pPr>
              <a:defRPr/>
            </a:lvl1pPr>
          </a:lstStyle>
          <a:p>
            <a:r>
              <a:rPr kumimoji="0" lang="en-US"/>
              <a:t>Click to edit Master title style</a:t>
            </a:r>
          </a:p>
        </p:txBody>
      </p:sp>
      <p:sp>
        <p:nvSpPr>
          <p:cNvPr id="3" name="Text Placeholder 2"/>
          <p:cNvSpPr>
            <a:spLocks noGrp="1"/>
          </p:cNvSpPr>
          <p:nvPr>
            <p:ph type="body" idx="1"/>
          </p:nvPr>
        </p:nvSpPr>
        <p:spPr>
          <a:xfrm>
            <a:off x="457200" y="1285875"/>
            <a:ext cx="4040188" cy="68580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8200" y="1295400"/>
            <a:ext cx="4041775" cy="68580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fld id="{8B999E3D-45A9-497C-BEB0-B4F0C3D298AF}" type="datetimeFigureOut">
              <a:rPr lang="en-US" smtClean="0">
                <a:solidFill>
                  <a:srgbClr val="464653"/>
                </a:solidFill>
              </a:rPr>
              <a:pPr/>
              <a:t>10/6/2026</a:t>
            </a:fld>
            <a:endParaRPr lang="en-US">
              <a:solidFill>
                <a:srgbClr val="464653"/>
              </a:solidFill>
            </a:endParaRPr>
          </a:p>
        </p:txBody>
      </p:sp>
      <p:sp>
        <p:nvSpPr>
          <p:cNvPr id="8" name="Footer Placeholder 7"/>
          <p:cNvSpPr>
            <a:spLocks noGrp="1"/>
          </p:cNvSpPr>
          <p:nvPr>
            <p:ph type="ftr" sz="quarter" idx="11"/>
          </p:nvPr>
        </p:nvSpPr>
        <p:spPr/>
        <p:txBody>
          <a:bodyPr/>
          <a:lstStyle/>
          <a:p>
            <a:endParaRPr lang="en-US">
              <a:solidFill>
                <a:srgbClr val="464653"/>
              </a:solidFill>
            </a:endParaRPr>
          </a:p>
        </p:txBody>
      </p:sp>
      <p:sp>
        <p:nvSpPr>
          <p:cNvPr id="9" name="Slide Number Placeholder 8"/>
          <p:cNvSpPr>
            <a:spLocks noGrp="1"/>
          </p:cNvSpPr>
          <p:nvPr>
            <p:ph type="sldNum" sz="quarter" idx="12"/>
          </p:nvPr>
        </p:nvSpPr>
        <p:spPr/>
        <p:txBody>
          <a:bodyPr/>
          <a:lstStyle/>
          <a:p>
            <a:fld id="{994B729A-5F0B-4B52-BE6D-A579B7D0035B}" type="slidenum">
              <a:rPr lang="en-US" smtClean="0">
                <a:solidFill>
                  <a:srgbClr val="464653"/>
                </a:solidFill>
              </a:rPr>
              <a:pPr/>
              <a:t>‹#›</a:t>
            </a:fld>
            <a:endParaRPr lang="en-US">
              <a:solidFill>
                <a:srgbClr val="464653"/>
              </a:solidFill>
            </a:endParaRPr>
          </a:p>
        </p:txBody>
      </p:sp>
      <p:sp>
        <p:nvSpPr>
          <p:cNvPr id="11" name="Content Placeholder 10"/>
          <p:cNvSpPr>
            <a:spLocks noGrp="1"/>
          </p:cNvSpPr>
          <p:nvPr>
            <p:ph sz="quarter" idx="2"/>
          </p:nvPr>
        </p:nvSpPr>
        <p:spPr>
          <a:xfrm>
            <a:off x="457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648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26082400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8B999E3D-45A9-497C-BEB0-B4F0C3D298AF}" type="datetimeFigureOut">
              <a:rPr lang="en-US" smtClean="0">
                <a:solidFill>
                  <a:srgbClr val="464653"/>
                </a:solidFill>
              </a:rPr>
              <a:pPr/>
              <a:t>10/6/2026</a:t>
            </a:fld>
            <a:endParaRPr lang="en-US">
              <a:solidFill>
                <a:srgbClr val="464653"/>
              </a:solidFill>
            </a:endParaRPr>
          </a:p>
        </p:txBody>
      </p:sp>
      <p:sp>
        <p:nvSpPr>
          <p:cNvPr id="4" name="Footer Placeholder 3"/>
          <p:cNvSpPr>
            <a:spLocks noGrp="1"/>
          </p:cNvSpPr>
          <p:nvPr>
            <p:ph type="ftr" sz="quarter" idx="11"/>
          </p:nvPr>
        </p:nvSpPr>
        <p:spPr/>
        <p:txBody>
          <a:bodyPr/>
          <a:lstStyle/>
          <a:p>
            <a:endParaRPr lang="en-US">
              <a:solidFill>
                <a:srgbClr val="464653"/>
              </a:solidFill>
            </a:endParaRPr>
          </a:p>
        </p:txBody>
      </p:sp>
      <p:sp>
        <p:nvSpPr>
          <p:cNvPr id="5" name="Slide Number Placeholder 4"/>
          <p:cNvSpPr>
            <a:spLocks noGrp="1"/>
          </p:cNvSpPr>
          <p:nvPr>
            <p:ph type="sldNum" sz="quarter" idx="12"/>
          </p:nvPr>
        </p:nvSpPr>
        <p:spPr/>
        <p:txBody>
          <a:bodyPr/>
          <a:lstStyle/>
          <a:p>
            <a:fld id="{994B729A-5F0B-4B52-BE6D-A579B7D0035B}" type="slidenum">
              <a:rPr lang="en-US" smtClean="0">
                <a:solidFill>
                  <a:srgbClr val="464653"/>
                </a:solidFill>
              </a:rPr>
              <a:pPr/>
              <a:t>‹#›</a:t>
            </a:fld>
            <a:endParaRPr lang="en-US">
              <a:solidFill>
                <a:srgbClr val="464653"/>
              </a:solidFill>
            </a:endParaRPr>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Tree>
    <p:extLst>
      <p:ext uri="{BB962C8B-B14F-4D97-AF65-F5344CB8AC3E}">
        <p14:creationId xmlns:p14="http://schemas.microsoft.com/office/powerpoint/2010/main" val="38360660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B999E3D-45A9-497C-BEB0-B4F0C3D298AF}" type="datetimeFigureOut">
              <a:rPr lang="en-US" smtClean="0">
                <a:solidFill>
                  <a:srgbClr val="464653"/>
                </a:solidFill>
              </a:rPr>
              <a:pPr/>
              <a:t>10/6/2026</a:t>
            </a:fld>
            <a:endParaRPr lang="en-US">
              <a:solidFill>
                <a:srgbClr val="464653"/>
              </a:solidFill>
            </a:endParaRPr>
          </a:p>
        </p:txBody>
      </p:sp>
      <p:sp>
        <p:nvSpPr>
          <p:cNvPr id="3" name="Footer Placeholder 2"/>
          <p:cNvSpPr>
            <a:spLocks noGrp="1"/>
          </p:cNvSpPr>
          <p:nvPr>
            <p:ph type="ftr" sz="quarter" idx="11"/>
          </p:nvPr>
        </p:nvSpPr>
        <p:spPr/>
        <p:txBody>
          <a:bodyPr/>
          <a:lstStyle/>
          <a:p>
            <a:endParaRPr lang="en-US">
              <a:solidFill>
                <a:srgbClr val="464653"/>
              </a:solidFill>
            </a:endParaRPr>
          </a:p>
        </p:txBody>
      </p:sp>
      <p:sp>
        <p:nvSpPr>
          <p:cNvPr id="4" name="Slide Number Placeholder 3"/>
          <p:cNvSpPr>
            <a:spLocks noGrp="1"/>
          </p:cNvSpPr>
          <p:nvPr>
            <p:ph type="sldNum" sz="quarter" idx="12"/>
          </p:nvPr>
        </p:nvSpPr>
        <p:spPr/>
        <p:txBody>
          <a:bodyPr/>
          <a:lstStyle/>
          <a:p>
            <a:fld id="{994B729A-5F0B-4B52-BE6D-A579B7D0035B}" type="slidenum">
              <a:rPr lang="en-US" smtClean="0">
                <a:solidFill>
                  <a:srgbClr val="464653"/>
                </a:solidFill>
              </a:rPr>
              <a:pPr/>
              <a:t>‹#›</a:t>
            </a:fld>
            <a:endParaRPr lang="en-US">
              <a:solidFill>
                <a:srgbClr val="464653"/>
              </a:solidFill>
            </a:endParaRPr>
          </a:p>
        </p:txBody>
      </p:sp>
      <p:sp>
        <p:nvSpPr>
          <p:cNvPr id="5" name="Straight Connector 4"/>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lang="en-US">
              <a:solidFill>
                <a:prstClr val="black"/>
              </a:solidFill>
            </a:endParaRPr>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Tree>
    <p:extLst>
      <p:ext uri="{BB962C8B-B14F-4D97-AF65-F5344CB8AC3E}">
        <p14:creationId xmlns:p14="http://schemas.microsoft.com/office/powerpoint/2010/main" val="1466947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24600" y="304800"/>
            <a:ext cx="2514600" cy="838200"/>
          </a:xfrm>
        </p:spPr>
        <p:txBody>
          <a:bodyPr anchor="b" anchorCtr="0">
            <a:noAutofit/>
          </a:bodyPr>
          <a:lstStyle>
            <a:lvl1pPr algn="l">
              <a:buNone/>
              <a:defRPr sz="2000" b="1">
                <a:solidFill>
                  <a:schemeClr val="tx2"/>
                </a:solidFill>
                <a:latin typeface="+mn-lt"/>
                <a:ea typeface="+mn-ea"/>
                <a:cs typeface="+mn-cs"/>
              </a:defRPr>
            </a:lvl1pPr>
          </a:lstStyle>
          <a:p>
            <a:r>
              <a:rPr kumimoji="0" lang="en-US"/>
              <a:t>Click to edit Master title style</a:t>
            </a:r>
          </a:p>
        </p:txBody>
      </p:sp>
      <p:sp>
        <p:nvSpPr>
          <p:cNvPr id="3" name="Text Placeholder 2"/>
          <p:cNvSpPr>
            <a:spLocks noGrp="1"/>
          </p:cNvSpPr>
          <p:nvPr>
            <p:ph type="body" idx="2"/>
          </p:nvPr>
        </p:nvSpPr>
        <p:spPr>
          <a:xfrm>
            <a:off x="6324600" y="1219200"/>
            <a:ext cx="25146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8B999E3D-45A9-497C-BEB0-B4F0C3D298AF}" type="datetimeFigureOut">
              <a:rPr lang="en-US" smtClean="0">
                <a:solidFill>
                  <a:srgbClr val="464653"/>
                </a:solidFill>
              </a:rPr>
              <a:pPr/>
              <a:t>10/6/2026</a:t>
            </a:fld>
            <a:endParaRPr lang="en-US">
              <a:solidFill>
                <a:srgbClr val="464653"/>
              </a:solidFill>
            </a:endParaRPr>
          </a:p>
        </p:txBody>
      </p:sp>
      <p:sp>
        <p:nvSpPr>
          <p:cNvPr id="6" name="Footer Placeholder 5"/>
          <p:cNvSpPr>
            <a:spLocks noGrp="1"/>
          </p:cNvSpPr>
          <p:nvPr>
            <p:ph type="ftr" sz="quarter" idx="11"/>
          </p:nvPr>
        </p:nvSpPr>
        <p:spPr/>
        <p:txBody>
          <a:bodyPr/>
          <a:lstStyle/>
          <a:p>
            <a:endParaRPr lang="en-US">
              <a:solidFill>
                <a:srgbClr val="464653"/>
              </a:solidFill>
            </a:endParaRPr>
          </a:p>
        </p:txBody>
      </p:sp>
      <p:sp>
        <p:nvSpPr>
          <p:cNvPr id="7" name="Slide Number Placeholder 6"/>
          <p:cNvSpPr>
            <a:spLocks noGrp="1"/>
          </p:cNvSpPr>
          <p:nvPr>
            <p:ph type="sldNum" sz="quarter" idx="12"/>
          </p:nvPr>
        </p:nvSpPr>
        <p:spPr/>
        <p:txBody>
          <a:bodyPr/>
          <a:lstStyle/>
          <a:p>
            <a:fld id="{994B729A-5F0B-4B52-BE6D-A579B7D0035B}" type="slidenum">
              <a:rPr lang="en-US" smtClean="0">
                <a:solidFill>
                  <a:srgbClr val="464653"/>
                </a:solidFill>
              </a:rPr>
              <a:pPr/>
              <a:t>‹#›</a:t>
            </a:fld>
            <a:endParaRPr lang="en-US">
              <a:solidFill>
                <a:srgbClr val="464653"/>
              </a:solidFill>
            </a:endParaRPr>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lang="en-US">
              <a:solidFill>
                <a:prstClr val="black"/>
              </a:solidFill>
            </a:endParaRPr>
          </a:p>
        </p:txBody>
      </p:sp>
      <p:sp>
        <p:nvSpPr>
          <p:cNvPr id="10" name="Straight Connector 9"/>
          <p:cNvSpPr>
            <a:spLocks noChangeShapeType="1"/>
          </p:cNvSpPr>
          <p:nvPr/>
        </p:nvSpPr>
        <p:spPr bwMode="auto">
          <a:xfrm rot="5400000">
            <a:off x="3160645"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lang="en-US" dirty="0">
              <a:solidFill>
                <a:prstClr val="black"/>
              </a:solidFill>
            </a:endParaRPr>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12" name="Content Placeholder 11"/>
          <p:cNvSpPr>
            <a:spLocks noGrp="1"/>
          </p:cNvSpPr>
          <p:nvPr>
            <p:ph sz="quarter" idx="1"/>
          </p:nvPr>
        </p:nvSpPr>
        <p:spPr>
          <a:xfrm>
            <a:off x="304800" y="304800"/>
            <a:ext cx="5715000" cy="5715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8806495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500856"/>
            <a:ext cx="8229600" cy="674688"/>
          </a:xfrm>
          <a:ln>
            <a:solidFill>
              <a:schemeClr val="accent1"/>
            </a:solidFill>
          </a:ln>
        </p:spPr>
        <p:txBody>
          <a:bodyPr lIns="274320" anchor="ctr"/>
          <a:lstStyle>
            <a:lvl1pPr algn="r">
              <a:buNone/>
              <a:defRPr sz="2000" b="0">
                <a:solidFill>
                  <a:schemeClr val="tx1"/>
                </a:solidFill>
              </a:defRPr>
            </a:lvl1pPr>
          </a:lstStyle>
          <a:p>
            <a:r>
              <a:rPr kumimoji="0" lang="en-US"/>
              <a:t>Click to edit Master title style</a:t>
            </a:r>
          </a:p>
        </p:txBody>
      </p:sp>
      <p:sp>
        <p:nvSpPr>
          <p:cNvPr id="3" name="Picture Placeholder 2"/>
          <p:cNvSpPr>
            <a:spLocks noGrp="1"/>
          </p:cNvSpPr>
          <p:nvPr>
            <p:ph type="pic" idx="1"/>
          </p:nvPr>
        </p:nvSpPr>
        <p:spPr>
          <a:xfrm>
            <a:off x="457200" y="1905000"/>
            <a:ext cx="8229600" cy="4270248"/>
          </a:xfrm>
          <a:solidFill>
            <a:schemeClr val="tx1">
              <a:shade val="50000"/>
            </a:schemeClr>
          </a:solidFill>
          <a:ln>
            <a:noFill/>
          </a:ln>
          <a:effectLst/>
        </p:spPr>
        <p:txBody>
          <a:bodyPr/>
          <a:lstStyle>
            <a:lvl1pPr marL="0" indent="0">
              <a:spcBef>
                <a:spcPts val="600"/>
              </a:spcBef>
              <a:buNone/>
              <a:defRPr sz="3200"/>
            </a:lvl1pPr>
          </a:lstStyle>
          <a:p>
            <a:r>
              <a:rPr kumimoji="0" lang="en-US"/>
              <a:t>Click icon to add picture</a:t>
            </a:r>
            <a:endParaRPr kumimoji="0" lang="en-US" dirty="0"/>
          </a:p>
        </p:txBody>
      </p:sp>
      <p:sp>
        <p:nvSpPr>
          <p:cNvPr id="4" name="Text Placeholder 3"/>
          <p:cNvSpPr>
            <a:spLocks noGrp="1"/>
          </p:cNvSpPr>
          <p:nvPr>
            <p:ph type="body" sz="half" idx="2"/>
          </p:nvPr>
        </p:nvSpPr>
        <p:spPr>
          <a:xfrm>
            <a:off x="457200" y="1219200"/>
            <a:ext cx="8229600" cy="53340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8B999E3D-45A9-497C-BEB0-B4F0C3D298AF}" type="datetimeFigureOut">
              <a:rPr lang="en-US" smtClean="0">
                <a:solidFill>
                  <a:srgbClr val="DDE9EC"/>
                </a:solidFill>
              </a:rPr>
              <a:pPr/>
              <a:t>10/6/2026</a:t>
            </a:fld>
            <a:endParaRPr lang="en-US">
              <a:solidFill>
                <a:srgbClr val="DDE9EC"/>
              </a:solidFill>
            </a:endParaRPr>
          </a:p>
        </p:txBody>
      </p:sp>
      <p:sp>
        <p:nvSpPr>
          <p:cNvPr id="6" name="Footer Placeholder 5"/>
          <p:cNvSpPr>
            <a:spLocks noGrp="1"/>
          </p:cNvSpPr>
          <p:nvPr>
            <p:ph type="ftr" sz="quarter" idx="11"/>
          </p:nvPr>
        </p:nvSpPr>
        <p:spPr/>
        <p:txBody>
          <a:bodyPr/>
          <a:lstStyle/>
          <a:p>
            <a:endParaRPr lang="en-US">
              <a:solidFill>
                <a:srgbClr val="DDE9EC"/>
              </a:solidFill>
            </a:endParaRPr>
          </a:p>
        </p:txBody>
      </p:sp>
      <p:sp>
        <p:nvSpPr>
          <p:cNvPr id="7" name="Slide Number Placeholder 6"/>
          <p:cNvSpPr>
            <a:spLocks noGrp="1"/>
          </p:cNvSpPr>
          <p:nvPr>
            <p:ph type="sldNum" sz="quarter" idx="12"/>
          </p:nvPr>
        </p:nvSpPr>
        <p:spPr/>
        <p:txBody>
          <a:bodyPr/>
          <a:lstStyle/>
          <a:p>
            <a:fld id="{994B729A-5F0B-4B52-BE6D-A579B7D0035B}" type="slidenum">
              <a:rPr lang="en-US" smtClean="0">
                <a:solidFill>
                  <a:srgbClr val="DDE9EC"/>
                </a:solidFill>
              </a:rPr>
              <a:pPr/>
              <a:t>‹#›</a:t>
            </a:fld>
            <a:endParaRPr lang="en-US">
              <a:solidFill>
                <a:srgbClr val="DDE9EC"/>
              </a:solidFill>
            </a:endParaRPr>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lang="en-US">
              <a:solidFill>
                <a:prstClr val="white"/>
              </a:solidFill>
            </a:endParaRPr>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10" name="Rectangle 9"/>
          <p:cNvSpPr/>
          <p:nvPr/>
        </p:nvSpPr>
        <p:spPr>
          <a:xfrm>
            <a:off x="457200" y="500856"/>
            <a:ext cx="18288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Tree>
    <p:extLst>
      <p:ext uri="{BB962C8B-B14F-4D97-AF65-F5344CB8AC3E}">
        <p14:creationId xmlns:p14="http://schemas.microsoft.com/office/powerpoint/2010/main" val="1554599753"/>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8B999E3D-45A9-497C-BEB0-B4F0C3D298AF}" type="datetimeFigureOut">
              <a:rPr lang="en-US" smtClean="0">
                <a:solidFill>
                  <a:srgbClr val="464653"/>
                </a:solidFill>
              </a:rPr>
              <a:pPr/>
              <a:t>10/6/2026</a:t>
            </a:fld>
            <a:endParaRPr lang="en-US">
              <a:solidFill>
                <a:srgbClr val="464653"/>
              </a:solidFill>
            </a:endParaRPr>
          </a:p>
        </p:txBody>
      </p:sp>
      <p:sp>
        <p:nvSpPr>
          <p:cNvPr id="5" name="Footer Placeholder 4"/>
          <p:cNvSpPr>
            <a:spLocks noGrp="1"/>
          </p:cNvSpPr>
          <p:nvPr>
            <p:ph type="ftr" sz="quarter" idx="11"/>
          </p:nvPr>
        </p:nvSpPr>
        <p:spPr/>
        <p:txBody>
          <a:bodyPr/>
          <a:lstStyle/>
          <a:p>
            <a:endParaRPr lang="en-US">
              <a:solidFill>
                <a:srgbClr val="464653"/>
              </a:solidFill>
            </a:endParaRPr>
          </a:p>
        </p:txBody>
      </p:sp>
      <p:sp>
        <p:nvSpPr>
          <p:cNvPr id="6" name="Slide Number Placeholder 5"/>
          <p:cNvSpPr>
            <a:spLocks noGrp="1"/>
          </p:cNvSpPr>
          <p:nvPr>
            <p:ph type="sldNum" sz="quarter" idx="12"/>
          </p:nvPr>
        </p:nvSpPr>
        <p:spPr/>
        <p:txBody>
          <a:bodyPr/>
          <a:lstStyle/>
          <a:p>
            <a:fld id="{994B729A-5F0B-4B52-BE6D-A579B7D0035B}" type="slidenum">
              <a:rPr lang="en-US" smtClean="0">
                <a:solidFill>
                  <a:srgbClr val="464653"/>
                </a:solidFill>
              </a:rPr>
              <a:pPr/>
              <a:t>‹#›</a:t>
            </a:fld>
            <a:endParaRPr lang="en-US">
              <a:solidFill>
                <a:srgbClr val="464653"/>
              </a:solidFill>
            </a:endParaRPr>
          </a:p>
        </p:txBody>
      </p:sp>
    </p:spTree>
    <p:extLst>
      <p:ext uri="{BB962C8B-B14F-4D97-AF65-F5344CB8AC3E}">
        <p14:creationId xmlns:p14="http://schemas.microsoft.com/office/powerpoint/2010/main" val="37475602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8B999E3D-45A9-497C-BEB0-B4F0C3D298AF}" type="datetimeFigureOut">
              <a:rPr lang="en-US" smtClean="0">
                <a:solidFill>
                  <a:srgbClr val="464653"/>
                </a:solidFill>
              </a:rPr>
              <a:pPr/>
              <a:t>10/6/2026</a:t>
            </a:fld>
            <a:endParaRPr lang="en-US">
              <a:solidFill>
                <a:srgbClr val="464653"/>
              </a:solidFill>
            </a:endParaRPr>
          </a:p>
        </p:txBody>
      </p:sp>
      <p:sp>
        <p:nvSpPr>
          <p:cNvPr id="5" name="Footer Placeholder 4"/>
          <p:cNvSpPr>
            <a:spLocks noGrp="1"/>
          </p:cNvSpPr>
          <p:nvPr>
            <p:ph type="ftr" sz="quarter" idx="11"/>
          </p:nvPr>
        </p:nvSpPr>
        <p:spPr/>
        <p:txBody>
          <a:bodyPr/>
          <a:lstStyle/>
          <a:p>
            <a:endParaRPr lang="en-US">
              <a:solidFill>
                <a:srgbClr val="464653"/>
              </a:solidFill>
            </a:endParaRPr>
          </a:p>
        </p:txBody>
      </p:sp>
      <p:sp>
        <p:nvSpPr>
          <p:cNvPr id="6" name="Slide Number Placeholder 5"/>
          <p:cNvSpPr>
            <a:spLocks noGrp="1"/>
          </p:cNvSpPr>
          <p:nvPr>
            <p:ph type="sldNum" sz="quarter" idx="12"/>
          </p:nvPr>
        </p:nvSpPr>
        <p:spPr/>
        <p:txBody>
          <a:bodyPr/>
          <a:lstStyle/>
          <a:p>
            <a:fld id="{994B729A-5F0B-4B52-BE6D-A579B7D0035B}" type="slidenum">
              <a:rPr lang="en-US" smtClean="0">
                <a:solidFill>
                  <a:srgbClr val="464653"/>
                </a:solidFill>
              </a:rPr>
              <a:pPr/>
              <a:t>‹#›</a:t>
            </a:fld>
            <a:endParaRPr lang="en-US">
              <a:solidFill>
                <a:srgbClr val="464653"/>
              </a:solidFill>
            </a:endParaRPr>
          </a:p>
        </p:txBody>
      </p:sp>
      <p:sp>
        <p:nvSpPr>
          <p:cNvPr id="7" name="Straight Connector 6"/>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lang="en-US">
              <a:solidFill>
                <a:prstClr val="black"/>
              </a:solidFill>
            </a:endParaRPr>
          </a:p>
        </p:txBody>
      </p:sp>
      <p:sp>
        <p:nvSpPr>
          <p:cNvPr id="8" name="Isosceles Triangle 7"/>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9" name="Straight Connector 8"/>
          <p:cNvSpPr>
            <a:spLocks noChangeShapeType="1"/>
          </p:cNvSpPr>
          <p:nvPr/>
        </p:nvSpPr>
        <p:spPr bwMode="auto">
          <a:xfrm rot="5400000">
            <a:off x="3629607"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lang="en-US">
              <a:solidFill>
                <a:prstClr val="black"/>
              </a:solidFill>
            </a:endParaRPr>
          </a:p>
        </p:txBody>
      </p:sp>
    </p:spTree>
    <p:extLst>
      <p:ext uri="{BB962C8B-B14F-4D97-AF65-F5344CB8AC3E}">
        <p14:creationId xmlns:p14="http://schemas.microsoft.com/office/powerpoint/2010/main" val="7545119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1524000" y="190500"/>
            <a:ext cx="7010400" cy="1527175"/>
          </a:xfrm>
        </p:spPr>
        <p:txBody>
          <a:bodyPr/>
          <a:lstStyle/>
          <a:p>
            <a:r>
              <a:rPr lang="en-US"/>
              <a:t>Click to edit Master title style</a:t>
            </a:r>
          </a:p>
        </p:txBody>
      </p:sp>
      <p:sp>
        <p:nvSpPr>
          <p:cNvPr id="3" name="Table Placeholder 2"/>
          <p:cNvSpPr>
            <a:spLocks noGrp="1"/>
          </p:cNvSpPr>
          <p:nvPr>
            <p:ph type="tbl" idx="1"/>
          </p:nvPr>
        </p:nvSpPr>
        <p:spPr>
          <a:xfrm>
            <a:off x="1524000" y="1905000"/>
            <a:ext cx="7010400" cy="4114800"/>
          </a:xfrm>
        </p:spPr>
        <p:txBody>
          <a:bodyPr>
            <a:normAutofit/>
          </a:bodyPr>
          <a:lstStyle/>
          <a:p>
            <a:pPr lvl="0"/>
            <a:endParaRPr lang="en-US" noProof="0"/>
          </a:p>
        </p:txBody>
      </p:sp>
      <p:sp>
        <p:nvSpPr>
          <p:cNvPr id="4" name="Date Placeholder 13"/>
          <p:cNvSpPr>
            <a:spLocks noGrp="1"/>
          </p:cNvSpPr>
          <p:nvPr>
            <p:ph type="dt" sz="half" idx="10"/>
          </p:nvPr>
        </p:nvSpPr>
        <p:spPr/>
        <p:txBody>
          <a:bodyPr/>
          <a:lstStyle>
            <a:lvl1pPr>
              <a:defRPr/>
            </a:lvl1pPr>
          </a:lstStyle>
          <a:p>
            <a:pPr>
              <a:defRPr/>
            </a:pPr>
            <a:endParaRPr lang="en-US">
              <a:solidFill>
                <a:srgbClr val="464653"/>
              </a:solidFill>
            </a:endParaRPr>
          </a:p>
        </p:txBody>
      </p:sp>
      <p:sp>
        <p:nvSpPr>
          <p:cNvPr id="5" name="Footer Placeholder 2"/>
          <p:cNvSpPr>
            <a:spLocks noGrp="1"/>
          </p:cNvSpPr>
          <p:nvPr>
            <p:ph type="ftr" sz="quarter" idx="11"/>
          </p:nvPr>
        </p:nvSpPr>
        <p:spPr/>
        <p:txBody>
          <a:bodyPr/>
          <a:lstStyle>
            <a:lvl1pPr>
              <a:defRPr/>
            </a:lvl1pPr>
          </a:lstStyle>
          <a:p>
            <a:pPr>
              <a:defRPr/>
            </a:pPr>
            <a:endParaRPr lang="en-US">
              <a:solidFill>
                <a:srgbClr val="464653"/>
              </a:solidFill>
            </a:endParaRPr>
          </a:p>
        </p:txBody>
      </p:sp>
      <p:sp>
        <p:nvSpPr>
          <p:cNvPr id="6" name="Slide Number Placeholder 22"/>
          <p:cNvSpPr>
            <a:spLocks noGrp="1"/>
          </p:cNvSpPr>
          <p:nvPr>
            <p:ph type="sldNum" sz="quarter" idx="12"/>
          </p:nvPr>
        </p:nvSpPr>
        <p:spPr/>
        <p:txBody>
          <a:bodyPr/>
          <a:lstStyle>
            <a:lvl1pPr>
              <a:defRPr/>
            </a:lvl1pPr>
          </a:lstStyle>
          <a:p>
            <a:pPr>
              <a:defRPr/>
            </a:pPr>
            <a:fld id="{DF14308C-09F3-41F1-86D1-785A210D56D2}" type="slidenum">
              <a:rPr lang="en-US">
                <a:solidFill>
                  <a:srgbClr val="464653"/>
                </a:solidFill>
              </a:rPr>
              <a:pPr>
                <a:defRPr/>
              </a:pPr>
              <a:t>‹#›</a:t>
            </a:fld>
            <a:endParaRPr lang="en-US">
              <a:solidFill>
                <a:srgbClr val="464653"/>
              </a:solidFill>
            </a:endParaRPr>
          </a:p>
        </p:txBody>
      </p:sp>
    </p:spTree>
    <p:extLst>
      <p:ext uri="{BB962C8B-B14F-4D97-AF65-F5344CB8AC3E}">
        <p14:creationId xmlns:p14="http://schemas.microsoft.com/office/powerpoint/2010/main" val="36481203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457200" y="152400"/>
            <a:ext cx="8229600" cy="990600"/>
          </a:xfrm>
          <a:prstGeom prst="rect">
            <a:avLst/>
          </a:prstGeom>
        </p:spPr>
        <p:txBody>
          <a:bodyPr vert="horz" anchor="b" anchorCtr="0">
            <a:normAutofit/>
          </a:bodyPr>
          <a:lstStyle/>
          <a:p>
            <a:r>
              <a:rPr kumimoji="0" lang="en-US"/>
              <a:t>Click to edit Master title style</a:t>
            </a:r>
          </a:p>
        </p:txBody>
      </p:sp>
      <p:sp>
        <p:nvSpPr>
          <p:cNvPr id="13" name="Text Placeholder 12"/>
          <p:cNvSpPr>
            <a:spLocks noGrp="1"/>
          </p:cNvSpPr>
          <p:nvPr>
            <p:ph type="body" idx="1"/>
          </p:nvPr>
        </p:nvSpPr>
        <p:spPr>
          <a:xfrm>
            <a:off x="457200" y="1219200"/>
            <a:ext cx="8229600" cy="4910328"/>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400800" y="6356350"/>
            <a:ext cx="2289048" cy="365760"/>
          </a:xfrm>
          <a:prstGeom prst="rect">
            <a:avLst/>
          </a:prstGeom>
        </p:spPr>
        <p:txBody>
          <a:bodyPr vert="horz"/>
          <a:lstStyle>
            <a:lvl1pPr algn="l" eaLnBrk="1" latinLnBrk="0" hangingPunct="1">
              <a:defRPr kumimoji="0" sz="1400">
                <a:solidFill>
                  <a:schemeClr val="tx2"/>
                </a:solidFill>
              </a:defRPr>
            </a:lvl1pPr>
          </a:lstStyle>
          <a:p>
            <a:fld id="{8B999E3D-45A9-497C-BEB0-B4F0C3D298AF}" type="datetimeFigureOut">
              <a:rPr lang="en-US" smtClean="0">
                <a:solidFill>
                  <a:srgbClr val="464653"/>
                </a:solidFill>
              </a:rPr>
              <a:pPr/>
              <a:t>10/6/2026</a:t>
            </a:fld>
            <a:endParaRPr lang="en-US">
              <a:solidFill>
                <a:srgbClr val="464653"/>
              </a:solidFill>
            </a:endParaRPr>
          </a:p>
        </p:txBody>
      </p:sp>
      <p:sp>
        <p:nvSpPr>
          <p:cNvPr id="3" name="Footer Placeholder 2"/>
          <p:cNvSpPr>
            <a:spLocks noGrp="1"/>
          </p:cNvSpPr>
          <p:nvPr>
            <p:ph type="ftr" sz="quarter" idx="3"/>
          </p:nvPr>
        </p:nvSpPr>
        <p:spPr>
          <a:xfrm>
            <a:off x="2898648" y="6356350"/>
            <a:ext cx="3505200" cy="365760"/>
          </a:xfrm>
          <a:prstGeom prst="rect">
            <a:avLst/>
          </a:prstGeom>
        </p:spPr>
        <p:txBody>
          <a:bodyPr vert="horz"/>
          <a:lstStyle>
            <a:lvl1pPr algn="r" eaLnBrk="1" latinLnBrk="0" hangingPunct="1">
              <a:defRPr kumimoji="0" sz="1400">
                <a:solidFill>
                  <a:schemeClr val="tx2"/>
                </a:solidFill>
              </a:defRPr>
            </a:lvl1pPr>
          </a:lstStyle>
          <a:p>
            <a:endParaRPr lang="en-US">
              <a:solidFill>
                <a:srgbClr val="464653"/>
              </a:solidFill>
            </a:endParaRPr>
          </a:p>
        </p:txBody>
      </p:sp>
      <p:sp>
        <p:nvSpPr>
          <p:cNvPr id="23" name="Slide Number Placeholder 22"/>
          <p:cNvSpPr>
            <a:spLocks noGrp="1"/>
          </p:cNvSpPr>
          <p:nvPr>
            <p:ph type="sldNum" sz="quarter" idx="4"/>
          </p:nvPr>
        </p:nvSpPr>
        <p:spPr>
          <a:xfrm>
            <a:off x="612648" y="6356350"/>
            <a:ext cx="1981200" cy="365760"/>
          </a:xfrm>
          <a:prstGeom prst="rect">
            <a:avLst/>
          </a:prstGeom>
        </p:spPr>
        <p:txBody>
          <a:bodyPr vert="horz"/>
          <a:lstStyle>
            <a:lvl1pPr algn="l" eaLnBrk="1" latinLnBrk="0" hangingPunct="1">
              <a:defRPr kumimoji="0" sz="1400">
                <a:solidFill>
                  <a:schemeClr val="tx2"/>
                </a:solidFill>
              </a:defRPr>
            </a:lvl1pPr>
          </a:lstStyle>
          <a:p>
            <a:fld id="{994B729A-5F0B-4B52-BE6D-A579B7D0035B}" type="slidenum">
              <a:rPr lang="en-US" smtClean="0">
                <a:solidFill>
                  <a:srgbClr val="464653"/>
                </a:solidFill>
              </a:rPr>
              <a:pPr/>
              <a:t>‹#›</a:t>
            </a:fld>
            <a:endParaRPr lang="en-US">
              <a:solidFill>
                <a:srgbClr val="464653"/>
              </a:solidFill>
            </a:endParaRPr>
          </a:p>
        </p:txBody>
      </p:sp>
      <p:sp>
        <p:nvSpPr>
          <p:cNvPr id="28" name="Straight Connector 2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lang="en-US">
              <a:solidFill>
                <a:prstClr val="black"/>
              </a:solidFill>
            </a:endParaRPr>
          </a:p>
        </p:txBody>
      </p:sp>
      <p:sp>
        <p:nvSpPr>
          <p:cNvPr id="29" name="Straight Connector 28"/>
          <p:cNvSpPr>
            <a:spLocks noChangeShapeType="1"/>
          </p:cNvSpPr>
          <p:nvPr/>
        </p:nvSpPr>
        <p:spPr bwMode="auto">
          <a:xfrm>
            <a:off x="457200" y="1143000"/>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lang="en-US">
              <a:solidFill>
                <a:prstClr val="black"/>
              </a:solidFill>
            </a:endParaRPr>
          </a:p>
        </p:txBody>
      </p:sp>
      <p:sp>
        <p:nvSpPr>
          <p:cNvPr id="10" name="Isosceles Triangle 9"/>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Tree>
    <p:extLst>
      <p:ext uri="{BB962C8B-B14F-4D97-AF65-F5344CB8AC3E}">
        <p14:creationId xmlns:p14="http://schemas.microsoft.com/office/powerpoint/2010/main" val="16932248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rtl="0" eaLnBrk="1" latinLnBrk="0" hangingPunct="1">
        <a:spcBef>
          <a:spcPct val="0"/>
        </a:spcBef>
        <a:buNone/>
        <a:defRPr kumimoji="0" sz="320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3"/>
          <p:cNvSpPr>
            <a:spLocks noGrp="1"/>
          </p:cNvSpPr>
          <p:nvPr>
            <p:ph type="ctrTitle"/>
          </p:nvPr>
        </p:nvSpPr>
        <p:spPr/>
        <p:txBody>
          <a:bodyPr/>
          <a:lstStyle/>
          <a:p>
            <a:pPr eaLnBrk="1" hangingPunct="1"/>
            <a:r>
              <a:rPr lang="en-US" dirty="0"/>
              <a:t>Class 13: The </a:t>
            </a:r>
            <a:r>
              <a:rPr lang="en-US" dirty="0" err="1"/>
              <a:t>parol</a:t>
            </a:r>
            <a:r>
              <a:rPr lang="en-US" dirty="0"/>
              <a:t> evidence rule</a:t>
            </a:r>
          </a:p>
        </p:txBody>
      </p:sp>
      <p:sp>
        <p:nvSpPr>
          <p:cNvPr id="10243" name="Subtitle 4"/>
          <p:cNvSpPr>
            <a:spLocks noGrp="1"/>
          </p:cNvSpPr>
          <p:nvPr>
            <p:ph type="subTitle" idx="1"/>
          </p:nvPr>
        </p:nvSpPr>
        <p:spPr/>
        <p:txBody>
          <a:bodyPr>
            <a:normAutofit/>
          </a:bodyPr>
          <a:lstStyle/>
          <a:p>
            <a:pPr eaLnBrk="1" fontAlgn="auto" hangingPunct="1">
              <a:spcAft>
                <a:spcPts val="0"/>
              </a:spcAft>
              <a:buFont typeface="Wingdings 3"/>
              <a:buNone/>
              <a:defRPr/>
            </a:pPr>
            <a:endParaRPr lang="en-US" dirty="0"/>
          </a:p>
        </p:txBody>
      </p:sp>
    </p:spTree>
    <p:extLst>
      <p:ext uri="{BB962C8B-B14F-4D97-AF65-F5344CB8AC3E}">
        <p14:creationId xmlns:p14="http://schemas.microsoft.com/office/powerpoint/2010/main" val="15507827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Key questions</a:t>
            </a:r>
          </a:p>
        </p:txBody>
      </p:sp>
      <p:sp>
        <p:nvSpPr>
          <p:cNvPr id="5" name="Content Placeholder 4"/>
          <p:cNvSpPr>
            <a:spLocks noGrp="1"/>
          </p:cNvSpPr>
          <p:nvPr>
            <p:ph sz="quarter" idx="1"/>
          </p:nvPr>
        </p:nvSpPr>
        <p:spPr/>
        <p:txBody>
          <a:bodyPr/>
          <a:lstStyle/>
          <a:p>
            <a:r>
              <a:rPr lang="en-US" dirty="0"/>
              <a:t>Is there an enforceable promise?</a:t>
            </a:r>
          </a:p>
          <a:p>
            <a:r>
              <a:rPr lang="en-US" b="1" dirty="0"/>
              <a:t>Has it been performed?</a:t>
            </a:r>
          </a:p>
          <a:p>
            <a:pPr lvl="1"/>
            <a:r>
              <a:rPr lang="en-US" b="1" dirty="0"/>
              <a:t>Sources </a:t>
            </a:r>
            <a:r>
              <a:rPr lang="en-US" b="1"/>
              <a:t>of terms</a:t>
            </a:r>
            <a:endParaRPr lang="en-US" b="1" dirty="0"/>
          </a:p>
          <a:p>
            <a:pPr lvl="1"/>
            <a:r>
              <a:rPr lang="en-US" dirty="0"/>
              <a:t>Rules of construction</a:t>
            </a:r>
          </a:p>
          <a:p>
            <a:pPr lvl="1"/>
            <a:r>
              <a:rPr lang="en-US" dirty="0"/>
              <a:t>Hierarchy of sources</a:t>
            </a:r>
          </a:p>
          <a:p>
            <a:r>
              <a:rPr lang="en-US" dirty="0"/>
              <a:t>Has performance been excused?</a:t>
            </a:r>
          </a:p>
          <a:p>
            <a:r>
              <a:rPr lang="en-US" dirty="0"/>
              <a:t>How should it be enforced?</a:t>
            </a:r>
          </a:p>
        </p:txBody>
      </p:sp>
    </p:spTree>
    <p:extLst>
      <p:ext uri="{BB962C8B-B14F-4D97-AF65-F5344CB8AC3E}">
        <p14:creationId xmlns:p14="http://schemas.microsoft.com/office/powerpoint/2010/main" val="10356770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p:txBody>
          <a:bodyPr/>
          <a:lstStyle/>
          <a:p>
            <a:pPr eaLnBrk="1" hangingPunct="1"/>
            <a:r>
              <a:rPr lang="en-US"/>
              <a:t>Topics</a:t>
            </a:r>
          </a:p>
        </p:txBody>
      </p:sp>
      <p:sp>
        <p:nvSpPr>
          <p:cNvPr id="10243" name="Content Placeholder 2"/>
          <p:cNvSpPr>
            <a:spLocks noGrp="1"/>
          </p:cNvSpPr>
          <p:nvPr>
            <p:ph sz="quarter" idx="1"/>
          </p:nvPr>
        </p:nvSpPr>
        <p:spPr>
          <a:xfrm>
            <a:off x="457200" y="1219200"/>
            <a:ext cx="8229600" cy="4937125"/>
          </a:xfrm>
        </p:spPr>
        <p:txBody>
          <a:bodyPr/>
          <a:lstStyle/>
          <a:p>
            <a:pPr eaLnBrk="1" hangingPunct="1"/>
            <a:r>
              <a:rPr lang="en-US" dirty="0"/>
              <a:t>Potential sources of terms</a:t>
            </a:r>
          </a:p>
          <a:p>
            <a:pPr eaLnBrk="1" hangingPunct="1"/>
            <a:r>
              <a:rPr lang="en-US" dirty="0"/>
              <a:t>Overview of rules on extrinsic evidence</a:t>
            </a:r>
          </a:p>
          <a:p>
            <a:r>
              <a:rPr lang="en-US" dirty="0"/>
              <a:t>The </a:t>
            </a:r>
            <a:r>
              <a:rPr lang="en-US" dirty="0" err="1"/>
              <a:t>parol</a:t>
            </a:r>
            <a:r>
              <a:rPr lang="en-US" dirty="0"/>
              <a:t> evidence rule and its terminology</a:t>
            </a:r>
          </a:p>
          <a:p>
            <a:r>
              <a:rPr lang="en-US" dirty="0"/>
              <a:t>Effect of merger/integration clauses</a:t>
            </a:r>
          </a:p>
          <a:p>
            <a:r>
              <a:rPr lang="en-US" dirty="0"/>
              <a:t>Consumer contracts</a:t>
            </a:r>
          </a:p>
          <a:p>
            <a:pPr eaLnBrk="1" hangingPunct="1"/>
            <a:r>
              <a:rPr lang="en-US" dirty="0"/>
              <a:t>Policy considerations</a:t>
            </a:r>
          </a:p>
          <a:p>
            <a:pPr eaLnBrk="1" hangingPunct="1"/>
            <a:r>
              <a:rPr lang="en-US" dirty="0"/>
              <a:t>Fraud and the </a:t>
            </a:r>
            <a:r>
              <a:rPr lang="en-US" dirty="0" err="1"/>
              <a:t>parol</a:t>
            </a:r>
            <a:r>
              <a:rPr lang="en-US" dirty="0"/>
              <a:t> evidence rule</a:t>
            </a:r>
          </a:p>
          <a:p>
            <a:r>
              <a:rPr lang="en-US" dirty="0"/>
              <a:t>Foreign and international law</a:t>
            </a:r>
          </a:p>
          <a:p>
            <a:pPr eaLnBrk="1" hangingPunct="1"/>
            <a:endParaRPr lang="en-US" dirty="0"/>
          </a:p>
        </p:txBody>
      </p:sp>
    </p:spTree>
    <p:extLst>
      <p:ext uri="{BB962C8B-B14F-4D97-AF65-F5344CB8AC3E}">
        <p14:creationId xmlns:p14="http://schemas.microsoft.com/office/powerpoint/2010/main" val="5527459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76E502-F6E0-6EF7-3D0F-A548E5FCCE90}"/>
              </a:ext>
            </a:extLst>
          </p:cNvPr>
          <p:cNvSpPr>
            <a:spLocks noGrp="1"/>
          </p:cNvSpPr>
          <p:nvPr>
            <p:ph type="title"/>
          </p:nvPr>
        </p:nvSpPr>
        <p:spPr/>
        <p:txBody>
          <a:bodyPr/>
          <a:lstStyle/>
          <a:p>
            <a:r>
              <a:rPr lang="en-US" dirty="0"/>
              <a:t>Potential sources of terms</a:t>
            </a:r>
          </a:p>
        </p:txBody>
      </p:sp>
      <p:sp>
        <p:nvSpPr>
          <p:cNvPr id="3" name="Content Placeholder 2">
            <a:extLst>
              <a:ext uri="{FF2B5EF4-FFF2-40B4-BE49-F238E27FC236}">
                <a16:creationId xmlns:a16="http://schemas.microsoft.com/office/drawing/2014/main" id="{7E8D5BC6-429E-F4E2-C814-0F9814F998A7}"/>
              </a:ext>
            </a:extLst>
          </p:cNvPr>
          <p:cNvSpPr>
            <a:spLocks noGrp="1"/>
          </p:cNvSpPr>
          <p:nvPr>
            <p:ph sz="quarter" idx="1"/>
          </p:nvPr>
        </p:nvSpPr>
        <p:spPr/>
        <p:txBody>
          <a:bodyPr/>
          <a:lstStyle/>
          <a:p>
            <a:r>
              <a:rPr lang="en-US" dirty="0"/>
              <a:t>Express terms</a:t>
            </a:r>
          </a:p>
          <a:p>
            <a:pPr lvl="1"/>
            <a:r>
              <a:rPr lang="en-US" dirty="0"/>
              <a:t>Writings</a:t>
            </a:r>
          </a:p>
          <a:p>
            <a:pPr lvl="1"/>
            <a:r>
              <a:rPr lang="en-US" dirty="0"/>
              <a:t>Extrinsic evidence of parties’ agreement</a:t>
            </a:r>
          </a:p>
          <a:p>
            <a:r>
              <a:rPr lang="en-US" dirty="0"/>
              <a:t>Terms implied by law</a:t>
            </a:r>
          </a:p>
          <a:p>
            <a:r>
              <a:rPr lang="en-US" dirty="0"/>
              <a:t>Custom</a:t>
            </a:r>
          </a:p>
          <a:p>
            <a:r>
              <a:rPr lang="en-US" dirty="0"/>
              <a:t>Course of dealing</a:t>
            </a:r>
          </a:p>
          <a:p>
            <a:r>
              <a:rPr lang="en-US" dirty="0"/>
              <a:t>Course of performance</a:t>
            </a:r>
          </a:p>
          <a:p>
            <a:endParaRPr lang="en-US" dirty="0"/>
          </a:p>
          <a:p>
            <a:pPr marL="0" indent="0">
              <a:buNone/>
            </a:pPr>
            <a:r>
              <a:rPr lang="en-US" dirty="0"/>
              <a:t>* Note potential procedural implications </a:t>
            </a:r>
            <a:r>
              <a:rPr lang="en-US"/>
              <a:t>of considering extrinsic </a:t>
            </a:r>
            <a:r>
              <a:rPr lang="en-US" dirty="0"/>
              <a:t>evidence.</a:t>
            </a:r>
          </a:p>
        </p:txBody>
      </p:sp>
    </p:spTree>
    <p:extLst>
      <p:ext uri="{BB962C8B-B14F-4D97-AF65-F5344CB8AC3E}">
        <p14:creationId xmlns:p14="http://schemas.microsoft.com/office/powerpoint/2010/main" val="5546302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err="1"/>
              <a:t>Bayliner</a:t>
            </a:r>
            <a:r>
              <a:rPr lang="en-US" dirty="0"/>
              <a:t> Marine Corp. v. Crow (4)</a:t>
            </a:r>
          </a:p>
        </p:txBody>
      </p:sp>
      <p:sp>
        <p:nvSpPr>
          <p:cNvPr id="3" name="Content Placeholder 2"/>
          <p:cNvSpPr>
            <a:spLocks noGrp="1"/>
          </p:cNvSpPr>
          <p:nvPr>
            <p:ph sz="quarter" idx="1"/>
          </p:nvPr>
        </p:nvSpPr>
        <p:spPr/>
        <p:txBody>
          <a:bodyPr/>
          <a:lstStyle/>
          <a:p>
            <a:r>
              <a:rPr lang="en-US" dirty="0"/>
              <a:t>What happened in this case?</a:t>
            </a:r>
          </a:p>
          <a:p>
            <a:r>
              <a:rPr lang="en-US" dirty="0"/>
              <a:t>Was there an enforceable promise?  Why?</a:t>
            </a:r>
          </a:p>
          <a:p>
            <a:pPr lvl="1"/>
            <a:r>
              <a:rPr lang="en-US" dirty="0"/>
              <a:t>What rules were applied? </a:t>
            </a:r>
          </a:p>
          <a:p>
            <a:pPr marL="274320" lvl="1" indent="0">
              <a:buNone/>
            </a:pPr>
            <a:endParaRPr lang="en-US" dirty="0"/>
          </a:p>
          <a:p>
            <a:r>
              <a:rPr lang="en-GB" dirty="0"/>
              <a:t>What if the salesperson had said: “in my opinion, this boat will go 30 miles per hour, no trouble”?</a:t>
            </a:r>
          </a:p>
          <a:p>
            <a:r>
              <a:rPr lang="en-GB" dirty="0"/>
              <a:t>What if there was no statement regarding speed but the boat had a maximum speed of two miles per hour?</a:t>
            </a:r>
            <a:endParaRPr lang="en-US" dirty="0"/>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30301906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UCC § 2-314</a:t>
            </a:r>
            <a:br>
              <a:rPr lang="en-US" dirty="0"/>
            </a:br>
            <a:r>
              <a:rPr lang="en-US" dirty="0"/>
              <a:t>IMPLIED WARRANTY: MERCHANTABILITY</a:t>
            </a:r>
          </a:p>
        </p:txBody>
      </p:sp>
      <p:sp>
        <p:nvSpPr>
          <p:cNvPr id="3" name="Content Placeholder 2"/>
          <p:cNvSpPr>
            <a:spLocks noGrp="1"/>
          </p:cNvSpPr>
          <p:nvPr>
            <p:ph sz="quarter" idx="1"/>
          </p:nvPr>
        </p:nvSpPr>
        <p:spPr>
          <a:xfrm>
            <a:off x="457200" y="1219200"/>
            <a:ext cx="8610600" cy="5105400"/>
          </a:xfrm>
        </p:spPr>
        <p:txBody>
          <a:bodyPr>
            <a:noAutofit/>
          </a:bodyPr>
          <a:lstStyle/>
          <a:p>
            <a:pPr marL="0" indent="0">
              <a:buNone/>
            </a:pPr>
            <a:r>
              <a:rPr lang="en-US" sz="1900" dirty="0"/>
              <a:t>(1) Unless excluded or modified (Section 2-316), a warranty that the goods shall be merchantable is implied in a contract for their sale if the seller is a merchant with respect to goods of that kind.  Under this section the serving for value of food or drink to be consumed either on the premises or elsewhere is a sale.</a:t>
            </a:r>
          </a:p>
          <a:p>
            <a:endParaRPr lang="en-US" sz="1900" dirty="0"/>
          </a:p>
          <a:p>
            <a:pPr marL="0" indent="0">
              <a:buNone/>
            </a:pPr>
            <a:r>
              <a:rPr lang="en-US" sz="1900" dirty="0"/>
              <a:t>(2) Goods to be merchantable must be at least such as</a:t>
            </a:r>
          </a:p>
          <a:p>
            <a:pPr marL="0" indent="0">
              <a:buNone/>
            </a:pPr>
            <a:r>
              <a:rPr lang="en-US" sz="1900" dirty="0"/>
              <a:t>(a) pass without objection in the trade under the contract description;  and</a:t>
            </a:r>
          </a:p>
          <a:p>
            <a:pPr marL="0" indent="0">
              <a:buNone/>
            </a:pPr>
            <a:r>
              <a:rPr lang="en-US" sz="1900" dirty="0"/>
              <a:t>(b) in the case of fungible goods, are of fair average quality within the description;  and</a:t>
            </a:r>
          </a:p>
          <a:p>
            <a:pPr marL="0" indent="0">
              <a:buNone/>
            </a:pPr>
            <a:r>
              <a:rPr lang="en-US" sz="1900" dirty="0"/>
              <a:t>(c) are fit for the ordinary purposes for which such goods are used;  and</a:t>
            </a:r>
          </a:p>
          <a:p>
            <a:pPr marL="0" indent="0">
              <a:buNone/>
            </a:pPr>
            <a:r>
              <a:rPr lang="en-US" sz="1900" dirty="0"/>
              <a:t>(d) run, within the variations permitted by the agreement, of even kind,  quality and quantity within each unit and among all units involved;  and</a:t>
            </a:r>
          </a:p>
          <a:p>
            <a:pPr marL="0" indent="0">
              <a:buNone/>
            </a:pPr>
            <a:r>
              <a:rPr lang="en-US" sz="1900" dirty="0"/>
              <a:t>(e) are adequately contained, packaged, and labeled as the agreement may require; and</a:t>
            </a:r>
          </a:p>
          <a:p>
            <a:pPr marL="0" indent="0">
              <a:buNone/>
            </a:pPr>
            <a:r>
              <a:rPr lang="en-US" sz="1900" dirty="0"/>
              <a:t>(f) conform to the promise or affirmations of fact made on the container or label if any.</a:t>
            </a:r>
          </a:p>
        </p:txBody>
      </p:sp>
    </p:spTree>
    <p:extLst>
      <p:ext uri="{BB962C8B-B14F-4D97-AF65-F5344CB8AC3E}">
        <p14:creationId xmlns:p14="http://schemas.microsoft.com/office/powerpoint/2010/main" val="12044479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Overview of rules on extrinsic evidence</a:t>
            </a:r>
          </a:p>
        </p:txBody>
      </p:sp>
      <p:sp>
        <p:nvSpPr>
          <p:cNvPr id="3" name="Content Placeholder 2"/>
          <p:cNvSpPr>
            <a:spLocks noGrp="1"/>
          </p:cNvSpPr>
          <p:nvPr>
            <p:ph sz="quarter" idx="1"/>
          </p:nvPr>
        </p:nvSpPr>
        <p:spPr>
          <a:xfrm>
            <a:off x="457200" y="1219200"/>
            <a:ext cx="8229600" cy="5029200"/>
          </a:xfrm>
        </p:spPr>
        <p:txBody>
          <a:bodyPr>
            <a:normAutofit fontScale="25000" lnSpcReduction="20000"/>
          </a:bodyPr>
          <a:lstStyle/>
          <a:p>
            <a:pPr marL="0" indent="0">
              <a:buNone/>
            </a:pPr>
            <a:r>
              <a:rPr lang="en-US" sz="8400" dirty="0"/>
              <a:t>Extrinsic evidence </a:t>
            </a:r>
            <a:r>
              <a:rPr lang="en-US" sz="8400" i="1" dirty="0"/>
              <a:t>cannot</a:t>
            </a:r>
            <a:r>
              <a:rPr lang="en-US" sz="8400" dirty="0"/>
              <a:t> be used to:</a:t>
            </a:r>
          </a:p>
          <a:p>
            <a:pPr lvl="0"/>
            <a:r>
              <a:rPr lang="en-US" sz="8400" dirty="0"/>
              <a:t>Vary/contradict integrated [final] written agreements</a:t>
            </a:r>
          </a:p>
          <a:p>
            <a:pPr lvl="0"/>
            <a:r>
              <a:rPr lang="en-US" sz="8400" dirty="0"/>
              <a:t>Add to/supplement completely integrated [final, complete and exclusive] written agreements within their scope</a:t>
            </a:r>
          </a:p>
          <a:p>
            <a:pPr lvl="0">
              <a:buClr>
                <a:srgbClr val="727CA3"/>
              </a:buClr>
            </a:pPr>
            <a:r>
              <a:rPr lang="en-US" sz="8400" dirty="0">
                <a:solidFill>
                  <a:prstClr val="black"/>
                </a:solidFill>
              </a:rPr>
              <a:t>Explain unambiguous agreements</a:t>
            </a:r>
          </a:p>
          <a:p>
            <a:pPr marL="0" indent="0">
              <a:buNone/>
            </a:pPr>
            <a:endParaRPr lang="en-US" sz="8400" dirty="0"/>
          </a:p>
          <a:p>
            <a:pPr marL="0" indent="0">
              <a:buNone/>
            </a:pPr>
            <a:r>
              <a:rPr lang="en-US" sz="8400" dirty="0"/>
              <a:t>Extrinsic evidence </a:t>
            </a:r>
            <a:r>
              <a:rPr lang="en-US" sz="8400" i="1" dirty="0"/>
              <a:t>can</a:t>
            </a:r>
            <a:r>
              <a:rPr lang="en-US" sz="8400" dirty="0"/>
              <a:t> be used to:</a:t>
            </a:r>
          </a:p>
          <a:p>
            <a:pPr lvl="0"/>
            <a:r>
              <a:rPr lang="en-US" sz="8400" dirty="0"/>
              <a:t>Invalidate a written agreement</a:t>
            </a:r>
          </a:p>
          <a:p>
            <a:pPr lvl="0"/>
            <a:r>
              <a:rPr lang="en-US" sz="8400" dirty="0"/>
              <a:t>Reform a written agreement</a:t>
            </a:r>
          </a:p>
          <a:p>
            <a:r>
              <a:rPr lang="en-US" sz="8400" dirty="0"/>
              <a:t>Show grounds for granting a remedy</a:t>
            </a:r>
          </a:p>
          <a:p>
            <a:pPr lvl="0"/>
            <a:r>
              <a:rPr lang="en-US" sz="8400" dirty="0"/>
              <a:t>Establish a collateral agreement which either is beyond the scope of or for some other reason might naturally be omitted from the writing</a:t>
            </a:r>
          </a:p>
          <a:p>
            <a:r>
              <a:rPr lang="en-US" sz="8400" dirty="0"/>
              <a:t>Establish the meaning of ambiguous writings</a:t>
            </a:r>
          </a:p>
          <a:p>
            <a:r>
              <a:rPr lang="en-US" sz="8400" dirty="0"/>
              <a:t>Establish meaning, supplement or qualify, if the evidence relates to commercial context</a:t>
            </a:r>
          </a:p>
          <a:p>
            <a:r>
              <a:rPr lang="en-US" sz="8400" dirty="0"/>
              <a:t>Establish that performance is subject to a condition</a:t>
            </a:r>
          </a:p>
          <a:p>
            <a:endParaRPr lang="en-US" sz="2200" dirty="0"/>
          </a:p>
          <a:p>
            <a:endParaRPr lang="en-US" sz="2400" dirty="0"/>
          </a:p>
          <a:p>
            <a:pPr lvl="0"/>
            <a:endParaRPr lang="en-US" dirty="0"/>
          </a:p>
          <a:p>
            <a:endParaRPr lang="en-US" dirty="0"/>
          </a:p>
        </p:txBody>
      </p:sp>
    </p:spTree>
    <p:extLst>
      <p:ext uri="{BB962C8B-B14F-4D97-AF65-F5344CB8AC3E}">
        <p14:creationId xmlns:p14="http://schemas.microsoft.com/office/powerpoint/2010/main" val="40583375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685800"/>
          </a:xfrm>
        </p:spPr>
        <p:txBody>
          <a:bodyPr>
            <a:normAutofit fontScale="90000"/>
          </a:bodyPr>
          <a:lstStyle/>
          <a:p>
            <a:r>
              <a:rPr lang="en-US" dirty="0"/>
              <a:t>The parol evidence rule and its terminology</a:t>
            </a:r>
          </a:p>
        </p:txBody>
      </p:sp>
      <p:graphicFrame>
        <p:nvGraphicFramePr>
          <p:cNvPr id="5" name="Table 4"/>
          <p:cNvGraphicFramePr>
            <a:graphicFrameLocks noGrp="1"/>
          </p:cNvGraphicFramePr>
          <p:nvPr>
            <p:extLst>
              <p:ext uri="{D42A27DB-BD31-4B8C-83A1-F6EECF244321}">
                <p14:modId xmlns:p14="http://schemas.microsoft.com/office/powerpoint/2010/main" val="3677501797"/>
              </p:ext>
            </p:extLst>
          </p:nvPr>
        </p:nvGraphicFramePr>
        <p:xfrm>
          <a:off x="228600" y="990600"/>
          <a:ext cx="8762999" cy="5577972"/>
        </p:xfrm>
        <a:graphic>
          <a:graphicData uri="http://schemas.openxmlformats.org/drawingml/2006/table">
            <a:tbl>
              <a:tblPr firstRow="1" bandRow="1">
                <a:tableStyleId>{5C22544A-7EE6-4342-B048-85BDC9FD1C3A}</a:tableStyleId>
              </a:tblPr>
              <a:tblGrid>
                <a:gridCol w="2645434">
                  <a:extLst>
                    <a:ext uri="{9D8B030D-6E8A-4147-A177-3AD203B41FA5}">
                      <a16:colId xmlns:a16="http://schemas.microsoft.com/office/drawing/2014/main" val="20000"/>
                    </a:ext>
                  </a:extLst>
                </a:gridCol>
                <a:gridCol w="1984075">
                  <a:extLst>
                    <a:ext uri="{9D8B030D-6E8A-4147-A177-3AD203B41FA5}">
                      <a16:colId xmlns:a16="http://schemas.microsoft.com/office/drawing/2014/main" val="20001"/>
                    </a:ext>
                  </a:extLst>
                </a:gridCol>
                <a:gridCol w="4133490">
                  <a:extLst>
                    <a:ext uri="{9D8B030D-6E8A-4147-A177-3AD203B41FA5}">
                      <a16:colId xmlns:a16="http://schemas.microsoft.com/office/drawing/2014/main" val="20002"/>
                    </a:ext>
                  </a:extLst>
                </a:gridCol>
              </a:tblGrid>
              <a:tr h="427696">
                <a:tc>
                  <a:txBody>
                    <a:bodyPr/>
                    <a:lstStyle/>
                    <a:p>
                      <a:pPr marL="0" marR="0" algn="ctr">
                        <a:lnSpc>
                          <a:spcPct val="115000"/>
                        </a:lnSpc>
                        <a:spcBef>
                          <a:spcPts val="0"/>
                        </a:spcBef>
                        <a:spcAft>
                          <a:spcPts val="0"/>
                        </a:spcAft>
                      </a:pPr>
                      <a:r>
                        <a:rPr lang="en-US" sz="1800" dirty="0">
                          <a:effectLst/>
                          <a:latin typeface="+mn-lt"/>
                          <a:ea typeface="Times New Roman"/>
                          <a:cs typeface="Times New Roman"/>
                        </a:rPr>
                        <a:t>Restatement Terminology</a:t>
                      </a:r>
                    </a:p>
                  </a:txBody>
                  <a:tcPr marL="0" marR="0" marT="0" marB="0"/>
                </a:tc>
                <a:tc>
                  <a:txBody>
                    <a:bodyPr/>
                    <a:lstStyle/>
                    <a:p>
                      <a:pPr marL="0" marR="0" algn="ctr">
                        <a:lnSpc>
                          <a:spcPct val="115000"/>
                        </a:lnSpc>
                        <a:spcBef>
                          <a:spcPts val="0"/>
                        </a:spcBef>
                        <a:spcAft>
                          <a:spcPts val="0"/>
                        </a:spcAft>
                      </a:pPr>
                      <a:r>
                        <a:rPr lang="en-US" sz="1800" dirty="0">
                          <a:effectLst/>
                          <a:latin typeface="+mn-lt"/>
                          <a:ea typeface="Times New Roman"/>
                          <a:cs typeface="Times New Roman"/>
                        </a:rPr>
                        <a:t>Definitions</a:t>
                      </a:r>
                      <a:r>
                        <a:rPr lang="en-US" sz="1800" baseline="0" dirty="0">
                          <a:effectLst/>
                          <a:latin typeface="+mn-lt"/>
                          <a:ea typeface="Times New Roman"/>
                          <a:cs typeface="Times New Roman"/>
                        </a:rPr>
                        <a:t>/</a:t>
                      </a:r>
                    </a:p>
                    <a:p>
                      <a:pPr marL="0" marR="0" algn="ctr">
                        <a:lnSpc>
                          <a:spcPct val="115000"/>
                        </a:lnSpc>
                        <a:spcBef>
                          <a:spcPts val="0"/>
                        </a:spcBef>
                        <a:spcAft>
                          <a:spcPts val="0"/>
                        </a:spcAft>
                      </a:pPr>
                      <a:r>
                        <a:rPr lang="en-US" sz="1800" baseline="0" dirty="0">
                          <a:effectLst/>
                          <a:latin typeface="+mn-lt"/>
                          <a:ea typeface="Times New Roman"/>
                          <a:cs typeface="Times New Roman"/>
                        </a:rPr>
                        <a:t>UCC 2-202  Terminology</a:t>
                      </a:r>
                      <a:endParaRPr lang="en-US" sz="1800" dirty="0">
                        <a:effectLst/>
                        <a:latin typeface="+mn-lt"/>
                        <a:ea typeface="Times New Roman"/>
                        <a:cs typeface="Times New Roman"/>
                      </a:endParaRPr>
                    </a:p>
                  </a:txBody>
                  <a:tcPr marL="0" marR="0" marT="0" marB="0"/>
                </a:tc>
                <a:tc>
                  <a:txBody>
                    <a:bodyPr/>
                    <a:lstStyle/>
                    <a:p>
                      <a:pPr marL="0" marR="0" algn="ctr">
                        <a:lnSpc>
                          <a:spcPct val="115000"/>
                        </a:lnSpc>
                        <a:spcBef>
                          <a:spcPts val="0"/>
                        </a:spcBef>
                        <a:spcAft>
                          <a:spcPts val="0"/>
                        </a:spcAft>
                      </a:pPr>
                      <a:r>
                        <a:rPr lang="en-US" sz="1800" dirty="0">
                          <a:effectLst/>
                          <a:latin typeface="+mn-lt"/>
                          <a:ea typeface="Times New Roman"/>
                          <a:cs typeface="Times New Roman"/>
                        </a:rPr>
                        <a:t>Effect of Writing</a:t>
                      </a:r>
                    </a:p>
                  </a:txBody>
                  <a:tcPr marL="0" marR="0" marT="0" marB="0"/>
                </a:tc>
                <a:extLst>
                  <a:ext uri="{0D108BD9-81ED-4DB2-BD59-A6C34878D82A}">
                    <a16:rowId xmlns:a16="http://schemas.microsoft.com/office/drawing/2014/main" val="10000"/>
                  </a:ext>
                </a:extLst>
              </a:tr>
              <a:tr h="427696">
                <a:tc>
                  <a:txBody>
                    <a:bodyPr/>
                    <a:lstStyle/>
                    <a:p>
                      <a:pPr marL="0" marR="0">
                        <a:lnSpc>
                          <a:spcPct val="115000"/>
                        </a:lnSpc>
                        <a:spcBef>
                          <a:spcPts val="0"/>
                        </a:spcBef>
                        <a:spcAft>
                          <a:spcPts val="0"/>
                        </a:spcAft>
                      </a:pPr>
                      <a:r>
                        <a:rPr lang="en-US" sz="1800" dirty="0" err="1">
                          <a:effectLst/>
                          <a:latin typeface="+mn-lt"/>
                          <a:ea typeface="Times New Roman"/>
                          <a:cs typeface="Times New Roman"/>
                        </a:rPr>
                        <a:t>Unintegrated</a:t>
                      </a:r>
                      <a:endParaRPr lang="en-US" sz="1800" dirty="0">
                        <a:effectLst/>
                        <a:latin typeface="+mn-lt"/>
                        <a:ea typeface="Times New Roman"/>
                        <a:cs typeface="Times New Roman"/>
                      </a:endParaRPr>
                    </a:p>
                  </a:txBody>
                  <a:tcPr marL="0" marR="0" marT="0" marB="0"/>
                </a:tc>
                <a:tc>
                  <a:txBody>
                    <a:bodyPr/>
                    <a:lstStyle/>
                    <a:p>
                      <a:pPr marL="0" marR="0">
                        <a:lnSpc>
                          <a:spcPct val="115000"/>
                        </a:lnSpc>
                        <a:spcBef>
                          <a:spcPts val="0"/>
                        </a:spcBef>
                        <a:spcAft>
                          <a:spcPts val="0"/>
                        </a:spcAft>
                      </a:pPr>
                      <a:r>
                        <a:rPr lang="en-US" sz="1800" dirty="0">
                          <a:effectLst/>
                          <a:latin typeface="+mn-lt"/>
                          <a:ea typeface="Times New Roman"/>
                          <a:cs typeface="Times New Roman"/>
                        </a:rPr>
                        <a:t> </a:t>
                      </a:r>
                    </a:p>
                  </a:txBody>
                  <a:tcPr marL="0" marR="0" marT="0" marB="0"/>
                </a:tc>
                <a:tc>
                  <a:txBody>
                    <a:bodyPr/>
                    <a:lstStyle/>
                    <a:p>
                      <a:pPr marL="0" marR="0">
                        <a:lnSpc>
                          <a:spcPct val="115000"/>
                        </a:lnSpc>
                        <a:spcBef>
                          <a:spcPts val="0"/>
                        </a:spcBef>
                        <a:spcAft>
                          <a:spcPts val="0"/>
                        </a:spcAft>
                      </a:pPr>
                      <a:r>
                        <a:rPr lang="en-US" sz="1800">
                          <a:effectLst/>
                          <a:latin typeface="+mn-lt"/>
                          <a:ea typeface="Times New Roman"/>
                          <a:cs typeface="Times New Roman"/>
                        </a:rPr>
                        <a:t> </a:t>
                      </a:r>
                    </a:p>
                  </a:txBody>
                  <a:tcPr marL="0" marR="0" marT="0" marB="0"/>
                </a:tc>
                <a:extLst>
                  <a:ext uri="{0D108BD9-81ED-4DB2-BD59-A6C34878D82A}">
                    <a16:rowId xmlns:a16="http://schemas.microsoft.com/office/drawing/2014/main" val="10001"/>
                  </a:ext>
                </a:extLst>
              </a:tr>
              <a:tr h="2131100">
                <a:tc>
                  <a:txBody>
                    <a:bodyPr/>
                    <a:lstStyle/>
                    <a:p>
                      <a:pPr marL="0" marR="0">
                        <a:lnSpc>
                          <a:spcPct val="115000"/>
                        </a:lnSpc>
                        <a:spcBef>
                          <a:spcPts val="0"/>
                        </a:spcBef>
                        <a:spcAft>
                          <a:spcPts val="0"/>
                        </a:spcAft>
                      </a:pPr>
                      <a:r>
                        <a:rPr lang="en-US" sz="1800">
                          <a:effectLst/>
                          <a:latin typeface="+mn-lt"/>
                          <a:ea typeface="Times New Roman"/>
                          <a:cs typeface="Times New Roman"/>
                        </a:rPr>
                        <a:t>Partially integrated</a:t>
                      </a:r>
                    </a:p>
                  </a:txBody>
                  <a:tcPr marL="0" marR="0" marT="0" marB="0"/>
                </a:tc>
                <a:tc>
                  <a:txBody>
                    <a:bodyPr/>
                    <a:lstStyle/>
                    <a:p>
                      <a:pPr marL="0" marR="0">
                        <a:lnSpc>
                          <a:spcPct val="115000"/>
                        </a:lnSpc>
                        <a:spcBef>
                          <a:spcPts val="0"/>
                        </a:spcBef>
                        <a:spcAft>
                          <a:spcPts val="0"/>
                        </a:spcAft>
                      </a:pPr>
                      <a:r>
                        <a:rPr lang="en-US" sz="1800" dirty="0">
                          <a:effectLst/>
                          <a:latin typeface="+mn-lt"/>
                          <a:ea typeface="Times New Roman"/>
                          <a:cs typeface="Times New Roman"/>
                        </a:rPr>
                        <a:t>Final</a:t>
                      </a:r>
                    </a:p>
                  </a:txBody>
                  <a:tcPr marL="0" marR="0" marT="0" marB="0"/>
                </a:tc>
                <a:tc>
                  <a:txBody>
                    <a:bodyPr/>
                    <a:lstStyle/>
                    <a:p>
                      <a:pPr marL="342900" marR="0" lvl="0" indent="-228600">
                        <a:lnSpc>
                          <a:spcPct val="115000"/>
                        </a:lnSpc>
                        <a:spcBef>
                          <a:spcPts val="0"/>
                        </a:spcBef>
                        <a:spcAft>
                          <a:spcPts val="0"/>
                        </a:spcAft>
                        <a:buFont typeface="Times New Roman"/>
                        <a:buChar char="•"/>
                        <a:tabLst/>
                      </a:pPr>
                      <a:r>
                        <a:rPr lang="en-US" sz="1800" dirty="0">
                          <a:effectLst/>
                          <a:latin typeface="+mn-lt"/>
                          <a:ea typeface="Times New Roman"/>
                          <a:cs typeface="Times New Roman"/>
                        </a:rPr>
                        <a:t>Discharges prior inconsistent / contradictory agreements: 213(1), 215.</a:t>
                      </a:r>
                    </a:p>
                    <a:p>
                      <a:pPr marL="342900" marR="0" lvl="0" indent="-228600">
                        <a:lnSpc>
                          <a:spcPct val="115000"/>
                        </a:lnSpc>
                        <a:spcBef>
                          <a:spcPts val="0"/>
                        </a:spcBef>
                        <a:spcAft>
                          <a:spcPts val="0"/>
                        </a:spcAft>
                        <a:buFont typeface="Times New Roman"/>
                        <a:buChar char="•"/>
                        <a:tabLst/>
                      </a:pPr>
                      <a:r>
                        <a:rPr lang="en-US" sz="1800" dirty="0">
                          <a:effectLst/>
                          <a:latin typeface="+mn-lt"/>
                          <a:ea typeface="Times New Roman"/>
                          <a:cs typeface="Times New Roman"/>
                        </a:rPr>
                        <a:t>Can be supplemented by consistent additional terms: 216(1).</a:t>
                      </a:r>
                    </a:p>
                  </a:txBody>
                  <a:tcPr marL="0" marR="0" marT="0" marB="0"/>
                </a:tc>
                <a:extLst>
                  <a:ext uri="{0D108BD9-81ED-4DB2-BD59-A6C34878D82A}">
                    <a16:rowId xmlns:a16="http://schemas.microsoft.com/office/drawing/2014/main" val="10002"/>
                  </a:ext>
                </a:extLst>
              </a:tr>
              <a:tr h="2097092">
                <a:tc>
                  <a:txBody>
                    <a:bodyPr/>
                    <a:lstStyle/>
                    <a:p>
                      <a:pPr marL="0" marR="0">
                        <a:lnSpc>
                          <a:spcPct val="115000"/>
                        </a:lnSpc>
                        <a:spcBef>
                          <a:spcPts val="0"/>
                        </a:spcBef>
                        <a:spcAft>
                          <a:spcPts val="0"/>
                        </a:spcAft>
                      </a:pPr>
                      <a:r>
                        <a:rPr lang="en-US" sz="1800">
                          <a:effectLst/>
                          <a:latin typeface="+mn-lt"/>
                          <a:ea typeface="Times New Roman"/>
                          <a:cs typeface="Times New Roman"/>
                        </a:rPr>
                        <a:t>Completely integrated</a:t>
                      </a:r>
                    </a:p>
                  </a:txBody>
                  <a:tcPr marL="0" marR="0" marT="0" marB="0"/>
                </a:tc>
                <a:tc>
                  <a:txBody>
                    <a:bodyPr/>
                    <a:lstStyle/>
                    <a:p>
                      <a:pPr marL="0" marR="0">
                        <a:lnSpc>
                          <a:spcPct val="115000"/>
                        </a:lnSpc>
                        <a:spcBef>
                          <a:spcPts val="0"/>
                        </a:spcBef>
                        <a:spcAft>
                          <a:spcPts val="0"/>
                        </a:spcAft>
                      </a:pPr>
                      <a:r>
                        <a:rPr lang="en-US" sz="1800" dirty="0">
                          <a:effectLst/>
                          <a:latin typeface="+mn-lt"/>
                          <a:ea typeface="Times New Roman"/>
                          <a:cs typeface="Times New Roman"/>
                        </a:rPr>
                        <a:t>Final, Complete and Exclusive</a:t>
                      </a:r>
                    </a:p>
                  </a:txBody>
                  <a:tcPr marL="0" marR="0" marT="0" marB="0"/>
                </a:tc>
                <a:tc>
                  <a:txBody>
                    <a:bodyPr/>
                    <a:lstStyle/>
                    <a:p>
                      <a:pPr marL="342900" marR="0" lvl="0" indent="-228600">
                        <a:lnSpc>
                          <a:spcPct val="115000"/>
                        </a:lnSpc>
                        <a:spcBef>
                          <a:spcPts val="0"/>
                        </a:spcBef>
                        <a:spcAft>
                          <a:spcPts val="0"/>
                        </a:spcAft>
                        <a:buFont typeface="Times New Roman"/>
                        <a:buChar char="•"/>
                        <a:tabLst/>
                      </a:pPr>
                      <a:r>
                        <a:rPr lang="en-US" sz="1800" dirty="0">
                          <a:effectLst/>
                          <a:latin typeface="+mn-lt"/>
                          <a:ea typeface="Times New Roman"/>
                          <a:cs typeface="Times New Roman"/>
                        </a:rPr>
                        <a:t>Discharges prior inconsistent / contradictory</a:t>
                      </a:r>
                      <a:r>
                        <a:rPr lang="en-US" sz="1800" baseline="0" dirty="0">
                          <a:effectLst/>
                          <a:latin typeface="+mn-lt"/>
                          <a:ea typeface="Times New Roman"/>
                          <a:cs typeface="Times New Roman"/>
                        </a:rPr>
                        <a:t> </a:t>
                      </a:r>
                      <a:r>
                        <a:rPr lang="en-US" sz="1800" dirty="0">
                          <a:effectLst/>
                          <a:latin typeface="+mn-lt"/>
                          <a:ea typeface="Times New Roman"/>
                          <a:cs typeface="Times New Roman"/>
                        </a:rPr>
                        <a:t>agreements: 213(1),</a:t>
                      </a:r>
                      <a:r>
                        <a:rPr lang="en-US" sz="1800" baseline="0" dirty="0">
                          <a:effectLst/>
                          <a:latin typeface="+mn-lt"/>
                          <a:ea typeface="Times New Roman"/>
                          <a:cs typeface="Times New Roman"/>
                        </a:rPr>
                        <a:t> 215.</a:t>
                      </a:r>
                      <a:endParaRPr lang="en-US" sz="1800" dirty="0">
                        <a:effectLst/>
                        <a:latin typeface="+mn-lt"/>
                        <a:ea typeface="Times New Roman"/>
                        <a:cs typeface="Times New Roman"/>
                      </a:endParaRPr>
                    </a:p>
                    <a:p>
                      <a:pPr marL="342900" marR="0" lvl="0" indent="-228600">
                        <a:lnSpc>
                          <a:spcPct val="115000"/>
                        </a:lnSpc>
                        <a:spcBef>
                          <a:spcPts val="0"/>
                        </a:spcBef>
                        <a:spcAft>
                          <a:spcPts val="0"/>
                        </a:spcAft>
                        <a:buFont typeface="Times New Roman"/>
                        <a:buChar char="•"/>
                        <a:tabLst/>
                      </a:pPr>
                      <a:r>
                        <a:rPr lang="en-US" sz="1800" dirty="0">
                          <a:effectLst/>
                          <a:latin typeface="+mn-lt"/>
                          <a:ea typeface="Times New Roman"/>
                          <a:cs typeface="Times New Roman"/>
                        </a:rPr>
                        <a:t>Discharges prior consistent agreements within its scope: 213(2).</a:t>
                      </a:r>
                    </a:p>
                    <a:p>
                      <a:pPr marL="342900" marR="0" lvl="0" indent="-228600">
                        <a:lnSpc>
                          <a:spcPct val="115000"/>
                        </a:lnSpc>
                        <a:spcBef>
                          <a:spcPts val="0"/>
                        </a:spcBef>
                        <a:spcAft>
                          <a:spcPts val="0"/>
                        </a:spcAft>
                        <a:buFont typeface="Times New Roman"/>
                        <a:buChar char="•"/>
                        <a:tabLst/>
                      </a:pPr>
                      <a:r>
                        <a:rPr lang="en-US" sz="1800" dirty="0">
                          <a:effectLst/>
                          <a:latin typeface="+mn-lt"/>
                          <a:ea typeface="Times New Roman"/>
                          <a:cs typeface="Times New Roman"/>
                        </a:rPr>
                        <a:t>Cannot be supplemented by consistent additional terms: 216(1).</a:t>
                      </a:r>
                    </a:p>
                  </a:txBody>
                  <a:tcPr marL="0" marR="0" marT="0" marB="0"/>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42816705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Effect of merger/integration clauses</a:t>
            </a:r>
          </a:p>
        </p:txBody>
      </p:sp>
      <p:sp>
        <p:nvSpPr>
          <p:cNvPr id="3" name="Content Placeholder 2"/>
          <p:cNvSpPr>
            <a:spLocks noGrp="1"/>
          </p:cNvSpPr>
          <p:nvPr>
            <p:ph sz="quarter" idx="1"/>
          </p:nvPr>
        </p:nvSpPr>
        <p:spPr/>
        <p:txBody>
          <a:bodyPr>
            <a:normAutofit/>
          </a:bodyPr>
          <a:lstStyle/>
          <a:p>
            <a:pPr marL="273050" lvl="1">
              <a:spcBef>
                <a:spcPts val="600"/>
              </a:spcBef>
              <a:buClr>
                <a:schemeClr val="accent1"/>
              </a:buClr>
            </a:pPr>
            <a:r>
              <a:rPr lang="en-US" sz="2600" dirty="0">
                <a:solidFill>
                  <a:schemeClr val="tx1"/>
                </a:solidFill>
              </a:rPr>
              <a:t>Sample merger/integration clause:</a:t>
            </a:r>
          </a:p>
          <a:p>
            <a:pPr marL="274637" lvl="2" indent="0">
              <a:spcBef>
                <a:spcPts val="600"/>
              </a:spcBef>
              <a:buClr>
                <a:schemeClr val="accent1"/>
              </a:buClr>
              <a:buNone/>
            </a:pPr>
            <a:r>
              <a:rPr lang="en-US" sz="2400" dirty="0"/>
              <a:t>“This Agreement represents the entire agreement between the parties regarding the subject matter herein. There are no representations, warranties, other statements or understandings other than those expressly set forth in the Agreement.”</a:t>
            </a:r>
          </a:p>
          <a:p>
            <a:endParaRPr lang="en-US" dirty="0"/>
          </a:p>
          <a:p>
            <a:r>
              <a:rPr lang="en-US" dirty="0"/>
              <a:t>A merger clause is relevant in determining the extent of integration but is not dispositive.</a:t>
            </a:r>
          </a:p>
          <a:p>
            <a:r>
              <a:rPr lang="en-US" dirty="0"/>
              <a:t>Recall that parol evidence can be used to challenge the validity of even a completely integrated agreement.</a:t>
            </a:r>
          </a:p>
        </p:txBody>
      </p:sp>
    </p:spTree>
    <p:extLst>
      <p:ext uri="{BB962C8B-B14F-4D97-AF65-F5344CB8AC3E}">
        <p14:creationId xmlns:p14="http://schemas.microsoft.com/office/powerpoint/2010/main" val="38515557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Contentious issues</a:t>
            </a:r>
          </a:p>
        </p:txBody>
      </p:sp>
      <p:sp>
        <p:nvSpPr>
          <p:cNvPr id="3" name="Content Placeholder 2"/>
          <p:cNvSpPr>
            <a:spLocks noGrp="1"/>
          </p:cNvSpPr>
          <p:nvPr>
            <p:ph sz="quarter" idx="1"/>
          </p:nvPr>
        </p:nvSpPr>
        <p:spPr/>
        <p:txBody>
          <a:bodyPr/>
          <a:lstStyle/>
          <a:p>
            <a:r>
              <a:rPr lang="en-US" dirty="0"/>
              <a:t>Does/should the </a:t>
            </a:r>
            <a:r>
              <a:rPr lang="en-US" dirty="0" err="1"/>
              <a:t>parol</a:t>
            </a:r>
            <a:r>
              <a:rPr lang="en-US" dirty="0"/>
              <a:t> evidence rule apply to consumer contracts?</a:t>
            </a:r>
          </a:p>
          <a:p>
            <a:r>
              <a:rPr lang="en-US" dirty="0"/>
              <a:t>Can extrinsic evidence be used to determine whether and to what extent a writing is integrated?</a:t>
            </a:r>
          </a:p>
          <a:p>
            <a:r>
              <a:rPr lang="en-US" dirty="0"/>
              <a:t>Can extrinsic evidence be used to determine whether a writing is ambiguous?</a:t>
            </a:r>
          </a:p>
          <a:p>
            <a:r>
              <a:rPr lang="en-US" dirty="0"/>
              <a:t>Can evidence of commercial context always be used to explain or supplement a writing? </a:t>
            </a:r>
          </a:p>
          <a:p>
            <a:endParaRPr lang="en-US" dirty="0"/>
          </a:p>
        </p:txBody>
      </p:sp>
    </p:spTree>
    <p:extLst>
      <p:ext uri="{BB962C8B-B14F-4D97-AF65-F5344CB8AC3E}">
        <p14:creationId xmlns:p14="http://schemas.microsoft.com/office/powerpoint/2010/main" val="10069182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Consumer contracts – RLCC</a:t>
            </a:r>
          </a:p>
        </p:txBody>
      </p:sp>
      <p:sp>
        <p:nvSpPr>
          <p:cNvPr id="3" name="Content Placeholder 2"/>
          <p:cNvSpPr>
            <a:spLocks noGrp="1"/>
          </p:cNvSpPr>
          <p:nvPr>
            <p:ph sz="quarter" idx="1"/>
          </p:nvPr>
        </p:nvSpPr>
        <p:spPr/>
        <p:txBody>
          <a:bodyPr>
            <a:normAutofit/>
          </a:bodyPr>
          <a:lstStyle/>
          <a:p>
            <a:pPr marL="0" indent="0">
              <a:buNone/>
            </a:pPr>
            <a:r>
              <a:rPr lang="en-US" dirty="0"/>
              <a:t>§ 9 Standard Contract Terms and the </a:t>
            </a:r>
            <a:r>
              <a:rPr lang="en-US" dirty="0" err="1"/>
              <a:t>Parol</a:t>
            </a:r>
            <a:r>
              <a:rPr lang="en-US" dirty="0"/>
              <a:t> Evidence Rule</a:t>
            </a:r>
          </a:p>
          <a:p>
            <a:pPr marL="0" indent="0">
              <a:buNone/>
            </a:pPr>
            <a:endParaRPr lang="en-US" dirty="0"/>
          </a:p>
          <a:p>
            <a:pPr marL="0" indent="0">
              <a:buNone/>
            </a:pPr>
            <a:r>
              <a:rPr lang="en-US" dirty="0"/>
              <a:t>A standard contract term that contradicts, unreasonably limits, or fails to give the effect reasonably expected by the consumer to a prior affirmation of fact or promise by the business does not constitute a final expression of the agreement regarding the subject matter of that term and does not have the effect under the </a:t>
            </a:r>
            <a:r>
              <a:rPr lang="en-US" dirty="0" err="1"/>
              <a:t>parol</a:t>
            </a:r>
            <a:r>
              <a:rPr lang="en-US" dirty="0"/>
              <a:t> evidence rule of discharging obligations that would otherwise arise as a result of the prior affirmation of fact or promise.</a:t>
            </a:r>
          </a:p>
          <a:p>
            <a:pPr marL="0" indent="0">
              <a:buNone/>
            </a:pPr>
            <a:endParaRPr lang="en-US" dirty="0"/>
          </a:p>
          <a:p>
            <a:pPr marL="0" indent="0">
              <a:buNone/>
            </a:pPr>
            <a:endParaRPr lang="en-US" dirty="0"/>
          </a:p>
          <a:p>
            <a:pPr marL="0" indent="0">
              <a:buNone/>
            </a:pPr>
            <a:endParaRPr lang="en-US" dirty="0"/>
          </a:p>
        </p:txBody>
      </p:sp>
    </p:spTree>
    <p:extLst>
      <p:ext uri="{BB962C8B-B14F-4D97-AF65-F5344CB8AC3E}">
        <p14:creationId xmlns:p14="http://schemas.microsoft.com/office/powerpoint/2010/main" val="5218630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Policy considerations</a:t>
            </a:r>
          </a:p>
        </p:txBody>
      </p:sp>
      <p:sp>
        <p:nvSpPr>
          <p:cNvPr id="3" name="Content Placeholder 2"/>
          <p:cNvSpPr>
            <a:spLocks noGrp="1"/>
          </p:cNvSpPr>
          <p:nvPr>
            <p:ph sz="quarter" idx="1"/>
          </p:nvPr>
        </p:nvSpPr>
        <p:spPr/>
        <p:txBody>
          <a:bodyPr>
            <a:normAutofit lnSpcReduction="10000"/>
          </a:bodyPr>
          <a:lstStyle/>
          <a:p>
            <a:pPr marL="0" indent="0">
              <a:buNone/>
            </a:pPr>
            <a:r>
              <a:rPr lang="en-US" dirty="0"/>
              <a:t>Benefits include:</a:t>
            </a:r>
          </a:p>
          <a:p>
            <a:r>
              <a:rPr lang="en-US" dirty="0"/>
              <a:t>Cautionary effect</a:t>
            </a:r>
          </a:p>
          <a:p>
            <a:r>
              <a:rPr lang="en-US" dirty="0"/>
              <a:t>Reduced risk of interpretive error</a:t>
            </a:r>
          </a:p>
          <a:p>
            <a:pPr lvl="1"/>
            <a:r>
              <a:rPr lang="en-US" dirty="0"/>
              <a:t>Relative ease of interpreting writings</a:t>
            </a:r>
          </a:p>
          <a:p>
            <a:pPr lvl="1"/>
            <a:r>
              <a:rPr lang="en-US" dirty="0"/>
              <a:t>Biased juries</a:t>
            </a:r>
          </a:p>
          <a:p>
            <a:r>
              <a:rPr lang="en-US" dirty="0"/>
              <a:t>Reduced reading costs</a:t>
            </a:r>
          </a:p>
          <a:p>
            <a:r>
              <a:rPr lang="en-US" dirty="0"/>
              <a:t>Reduced litigation costs</a:t>
            </a:r>
          </a:p>
          <a:p>
            <a:endParaRPr lang="en-US" dirty="0"/>
          </a:p>
          <a:p>
            <a:pPr marL="0" indent="0">
              <a:buNone/>
            </a:pPr>
            <a:r>
              <a:rPr lang="en-US" dirty="0"/>
              <a:t>Competing considerations:</a:t>
            </a:r>
          </a:p>
          <a:p>
            <a:r>
              <a:rPr lang="en-US" dirty="0"/>
              <a:t>Increased drafting costs</a:t>
            </a:r>
          </a:p>
          <a:p>
            <a:r>
              <a:rPr lang="en-US" dirty="0"/>
              <a:t>Frustration of intentions of unsophisticated parties</a:t>
            </a:r>
          </a:p>
          <a:p>
            <a:endParaRPr lang="en-US" dirty="0"/>
          </a:p>
        </p:txBody>
      </p:sp>
    </p:spTree>
    <p:extLst>
      <p:ext uri="{BB962C8B-B14F-4D97-AF65-F5344CB8AC3E}">
        <p14:creationId xmlns:p14="http://schemas.microsoft.com/office/powerpoint/2010/main" val="5576323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err="1"/>
              <a:t>Psenicska</a:t>
            </a:r>
            <a:r>
              <a:rPr lang="en-US" dirty="0"/>
              <a:t> v. Twentieth Century Fox Film</a:t>
            </a:r>
          </a:p>
        </p:txBody>
      </p:sp>
      <p:sp>
        <p:nvSpPr>
          <p:cNvPr id="3" name="Content Placeholder 2"/>
          <p:cNvSpPr>
            <a:spLocks noGrp="1"/>
          </p:cNvSpPr>
          <p:nvPr>
            <p:ph sz="quarter" idx="1"/>
          </p:nvPr>
        </p:nvSpPr>
        <p:spPr/>
        <p:txBody>
          <a:bodyPr/>
          <a:lstStyle/>
          <a:p>
            <a:r>
              <a:rPr lang="en-US" dirty="0"/>
              <a:t>What were the plaintiffs’ claims?</a:t>
            </a:r>
          </a:p>
          <a:p>
            <a:r>
              <a:rPr lang="en-US" dirty="0"/>
              <a:t>Did the Release bar the plaintiffs’ claims?</a:t>
            </a:r>
          </a:p>
          <a:p>
            <a:r>
              <a:rPr lang="en-US" dirty="0"/>
              <a:t>What was the basis for the claim of fraudulent inducement?</a:t>
            </a:r>
          </a:p>
          <a:p>
            <a:r>
              <a:rPr lang="en-US" dirty="0"/>
              <a:t>Did the </a:t>
            </a:r>
            <a:r>
              <a:rPr lang="en-US" dirty="0" err="1"/>
              <a:t>parol</a:t>
            </a:r>
            <a:r>
              <a:rPr lang="en-US" dirty="0"/>
              <a:t> evidence rule bar the claim of fraud?</a:t>
            </a:r>
          </a:p>
          <a:p>
            <a:r>
              <a:rPr lang="en-US" dirty="0"/>
              <a:t>What provisions limited liability for fraud?</a:t>
            </a:r>
          </a:p>
          <a:p>
            <a:r>
              <a:rPr lang="en-US" dirty="0"/>
              <a:t>Did the plaintiffs assent to those provisions?</a:t>
            </a:r>
          </a:p>
          <a:p>
            <a:r>
              <a:rPr lang="en-US" dirty="0"/>
              <a:t>Are there legitimate reasons for Twentieth Century Fox to use such provisions?</a:t>
            </a:r>
          </a:p>
        </p:txBody>
      </p:sp>
    </p:spTree>
    <p:extLst>
      <p:ext uri="{BB962C8B-B14F-4D97-AF65-F5344CB8AC3E}">
        <p14:creationId xmlns:p14="http://schemas.microsoft.com/office/powerpoint/2010/main" val="18482726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Disclaimers of liability for misrepresentation</a:t>
            </a:r>
          </a:p>
        </p:txBody>
      </p:sp>
      <p:sp>
        <p:nvSpPr>
          <p:cNvPr id="3" name="Content Placeholder 2"/>
          <p:cNvSpPr>
            <a:spLocks noGrp="1"/>
          </p:cNvSpPr>
          <p:nvPr>
            <p:ph sz="quarter" idx="1"/>
          </p:nvPr>
        </p:nvSpPr>
        <p:spPr/>
        <p:txBody>
          <a:bodyPr>
            <a:normAutofit/>
          </a:bodyPr>
          <a:lstStyle/>
          <a:p>
            <a:r>
              <a:rPr lang="en-US" dirty="0"/>
              <a:t>Merger clause: </a:t>
            </a:r>
          </a:p>
          <a:p>
            <a:pPr marL="274638" lvl="1" indent="0">
              <a:buNone/>
            </a:pPr>
            <a:r>
              <a:rPr lang="en-US" dirty="0"/>
              <a:t>“This Agreement represents the entire agreement between the parties regarding the subject matter herein. There are no representations, warranties, other statements or understandings other than those expressly set forth in the Agreement.”</a:t>
            </a:r>
          </a:p>
          <a:p>
            <a:r>
              <a:rPr lang="en-US" dirty="0"/>
              <a:t>Statement of non-reliance:</a:t>
            </a:r>
          </a:p>
          <a:p>
            <a:pPr marL="274638" lvl="1" indent="0">
              <a:buNone/>
            </a:pPr>
            <a:r>
              <a:rPr lang="en-US" dirty="0"/>
              <a:t>“Participant is not relying upon any promises or statements made by anyone about [the nature of the Film]”</a:t>
            </a:r>
          </a:p>
          <a:p>
            <a:r>
              <a:rPr lang="en-US" dirty="0"/>
              <a:t>Waiver of right to sue:</a:t>
            </a:r>
          </a:p>
          <a:p>
            <a:pPr marL="274638" lvl="1" indent="0">
              <a:buNone/>
            </a:pPr>
            <a:r>
              <a:rPr lang="en-US" dirty="0"/>
              <a:t>“Participant waives and agrees not to bring any claims that include assertions of fraud [(such as any alleged deception or surprise about this film)].”</a:t>
            </a:r>
          </a:p>
          <a:p>
            <a:pPr marL="0" indent="0">
              <a:buNone/>
            </a:pPr>
            <a:endParaRPr lang="en-US" dirty="0"/>
          </a:p>
          <a:p>
            <a:endParaRPr lang="en-US" dirty="0"/>
          </a:p>
        </p:txBody>
      </p:sp>
    </p:spTree>
    <p:extLst>
      <p:ext uri="{BB962C8B-B14F-4D97-AF65-F5344CB8AC3E}">
        <p14:creationId xmlns:p14="http://schemas.microsoft.com/office/powerpoint/2010/main" val="41416214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Should it be possible to contract out of liability for fraud?</a:t>
            </a:r>
          </a:p>
        </p:txBody>
      </p:sp>
      <p:sp>
        <p:nvSpPr>
          <p:cNvPr id="3" name="Content Placeholder 2"/>
          <p:cNvSpPr>
            <a:spLocks noGrp="1"/>
          </p:cNvSpPr>
          <p:nvPr>
            <p:ph sz="quarter" idx="1"/>
          </p:nvPr>
        </p:nvSpPr>
        <p:spPr/>
        <p:txBody>
          <a:bodyPr/>
          <a:lstStyle/>
          <a:p>
            <a:r>
              <a:rPr lang="en-US" dirty="0"/>
              <a:t>It is typically both fair and efficient for the maker of a representation to bear the risk of known inaccuracies because they can mitigate the risk at low cost.</a:t>
            </a:r>
          </a:p>
          <a:p>
            <a:r>
              <a:rPr lang="en-US" dirty="0"/>
              <a:t>Respect for party autonomy favors enforcement of contracts opting out of liability.</a:t>
            </a:r>
          </a:p>
          <a:p>
            <a:r>
              <a:rPr lang="en-US" dirty="0"/>
              <a:t>It may be efficient to limit liability for fraud in order to:</a:t>
            </a:r>
          </a:p>
          <a:p>
            <a:pPr lvl="1"/>
            <a:r>
              <a:rPr lang="en-US" dirty="0"/>
              <a:t>Limit litigation costs (especially if non-legal sanctions are potent)</a:t>
            </a:r>
          </a:p>
          <a:p>
            <a:pPr lvl="1"/>
            <a:r>
              <a:rPr lang="en-US" dirty="0"/>
              <a:t>Limit agency costs</a:t>
            </a:r>
          </a:p>
        </p:txBody>
      </p:sp>
    </p:spTree>
    <p:extLst>
      <p:ext uri="{BB962C8B-B14F-4D97-AF65-F5344CB8AC3E}">
        <p14:creationId xmlns:p14="http://schemas.microsoft.com/office/powerpoint/2010/main" val="20290068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Gianni v. R. Russell &amp; Co. (Supp)</a:t>
            </a:r>
          </a:p>
        </p:txBody>
      </p:sp>
      <p:sp>
        <p:nvSpPr>
          <p:cNvPr id="3" name="Content Placeholder 2"/>
          <p:cNvSpPr>
            <a:spLocks noGrp="1"/>
          </p:cNvSpPr>
          <p:nvPr>
            <p:ph sz="quarter" idx="1"/>
          </p:nvPr>
        </p:nvSpPr>
        <p:spPr>
          <a:xfrm>
            <a:off x="457200" y="1219200"/>
            <a:ext cx="8458200" cy="4937760"/>
          </a:xfrm>
        </p:spPr>
        <p:txBody>
          <a:bodyPr>
            <a:normAutofit/>
          </a:bodyPr>
          <a:lstStyle/>
          <a:p>
            <a:r>
              <a:rPr lang="en-US" dirty="0"/>
              <a:t>How did the plaintiff want to use the </a:t>
            </a:r>
            <a:r>
              <a:rPr lang="en-US" dirty="0" err="1"/>
              <a:t>parol</a:t>
            </a:r>
            <a:r>
              <a:rPr lang="en-US" dirty="0"/>
              <a:t> evidence?</a:t>
            </a:r>
          </a:p>
          <a:p>
            <a:r>
              <a:rPr lang="en-US" dirty="0"/>
              <a:t>Was the lease integrated? To what extent?</a:t>
            </a:r>
          </a:p>
          <a:p>
            <a:pPr lvl="1"/>
            <a:r>
              <a:rPr lang="en-US" dirty="0"/>
              <a:t>How did the court determine that?</a:t>
            </a:r>
          </a:p>
          <a:p>
            <a:pPr lvl="1"/>
            <a:r>
              <a:rPr lang="en-US" dirty="0"/>
              <a:t>Is this consistent with Restatement § 214?</a:t>
            </a:r>
          </a:p>
          <a:p>
            <a:r>
              <a:rPr lang="en-US" dirty="0"/>
              <a:t>What if the promise had been set out in a letter sent before the lease was signed? </a:t>
            </a:r>
          </a:p>
          <a:p>
            <a:r>
              <a:rPr lang="en-US" dirty="0"/>
              <a:t>What if the letter had been sent after the lease was signed?</a:t>
            </a:r>
          </a:p>
          <a:p>
            <a:r>
              <a:rPr lang="en-US" dirty="0"/>
              <a:t>Since the evidence of the promise apparently was credible, what is the policy justification for this result? </a:t>
            </a:r>
          </a:p>
          <a:p>
            <a:r>
              <a:rPr lang="en-US" dirty="0"/>
              <a:t>What incentives does this ruling create for parties like Gianni?</a:t>
            </a:r>
          </a:p>
          <a:p>
            <a:endParaRPr lang="en-US" dirty="0"/>
          </a:p>
          <a:p>
            <a:endParaRPr lang="en-US" dirty="0"/>
          </a:p>
        </p:txBody>
      </p:sp>
    </p:spTree>
    <p:extLst>
      <p:ext uri="{BB962C8B-B14F-4D97-AF65-F5344CB8AC3E}">
        <p14:creationId xmlns:p14="http://schemas.microsoft.com/office/powerpoint/2010/main" val="22086556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Masterson v. Sine (536)</a:t>
            </a:r>
          </a:p>
        </p:txBody>
      </p:sp>
      <p:sp>
        <p:nvSpPr>
          <p:cNvPr id="3" name="Content Placeholder 2"/>
          <p:cNvSpPr>
            <a:spLocks noGrp="1"/>
          </p:cNvSpPr>
          <p:nvPr>
            <p:ph sz="quarter" idx="1"/>
          </p:nvPr>
        </p:nvSpPr>
        <p:spPr/>
        <p:txBody>
          <a:bodyPr/>
          <a:lstStyle/>
          <a:p>
            <a:r>
              <a:rPr lang="en-US" dirty="0"/>
              <a:t>How was the trustee’s </a:t>
            </a:r>
            <a:r>
              <a:rPr lang="en-US" dirty="0" err="1"/>
              <a:t>parol</a:t>
            </a:r>
            <a:r>
              <a:rPr lang="en-US" dirty="0"/>
              <a:t> evidence used?</a:t>
            </a:r>
          </a:p>
          <a:p>
            <a:r>
              <a:rPr lang="en-US" dirty="0"/>
              <a:t>How was the </a:t>
            </a:r>
            <a:r>
              <a:rPr lang="en-US" dirty="0" err="1"/>
              <a:t>Mastersons</a:t>
            </a:r>
            <a:r>
              <a:rPr lang="en-US" dirty="0"/>
              <a:t>’ </a:t>
            </a:r>
            <a:r>
              <a:rPr lang="en-US" dirty="0" err="1"/>
              <a:t>parol</a:t>
            </a:r>
            <a:r>
              <a:rPr lang="en-US" dirty="0"/>
              <a:t> evidence to be used?</a:t>
            </a:r>
          </a:p>
          <a:p>
            <a:pPr lvl="1"/>
            <a:r>
              <a:rPr lang="en-US" sz="2600" dirty="0">
                <a:solidFill>
                  <a:schemeClr val="tx1"/>
                </a:solidFill>
              </a:rPr>
              <a:t>According to </a:t>
            </a:r>
            <a:r>
              <a:rPr lang="en-US" sz="2600" dirty="0" err="1">
                <a:solidFill>
                  <a:schemeClr val="tx1"/>
                </a:solidFill>
              </a:rPr>
              <a:t>Traynor</a:t>
            </a:r>
            <a:r>
              <a:rPr lang="en-US" sz="2600" dirty="0">
                <a:solidFill>
                  <a:schemeClr val="tx1"/>
                </a:solidFill>
              </a:rPr>
              <a:t>?</a:t>
            </a:r>
          </a:p>
          <a:p>
            <a:pPr lvl="1"/>
            <a:r>
              <a:rPr lang="en-US" sz="2600" dirty="0">
                <a:solidFill>
                  <a:schemeClr val="tx1"/>
                </a:solidFill>
              </a:rPr>
              <a:t>According to Burke?</a:t>
            </a:r>
          </a:p>
          <a:p>
            <a:r>
              <a:rPr lang="en-US" dirty="0"/>
              <a:t>Was the deed integrated? To what extent? How did the court determine that?</a:t>
            </a:r>
          </a:p>
          <a:p>
            <a:r>
              <a:rPr lang="en-US" dirty="0"/>
              <a:t>What policy concerns does the majority’s ruling raise?</a:t>
            </a:r>
          </a:p>
          <a:p>
            <a:r>
              <a:rPr lang="en-US" dirty="0"/>
              <a:t>How can parties in California preclude consideration of </a:t>
            </a:r>
            <a:r>
              <a:rPr lang="en-US" dirty="0" err="1"/>
              <a:t>parol</a:t>
            </a:r>
            <a:r>
              <a:rPr lang="en-US" dirty="0"/>
              <a:t> evidence?</a:t>
            </a:r>
          </a:p>
          <a:p>
            <a:endParaRPr lang="en-US" dirty="0"/>
          </a:p>
          <a:p>
            <a:endParaRPr lang="en-US" dirty="0"/>
          </a:p>
        </p:txBody>
      </p:sp>
    </p:spTree>
    <p:extLst>
      <p:ext uri="{BB962C8B-B14F-4D97-AF65-F5344CB8AC3E}">
        <p14:creationId xmlns:p14="http://schemas.microsoft.com/office/powerpoint/2010/main" val="35411744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Bollinger v. Central Pennsylvania Quarry (543)</a:t>
            </a:r>
          </a:p>
        </p:txBody>
      </p:sp>
      <p:sp>
        <p:nvSpPr>
          <p:cNvPr id="3" name="Content Placeholder 2"/>
          <p:cNvSpPr>
            <a:spLocks noGrp="1"/>
          </p:cNvSpPr>
          <p:nvPr>
            <p:ph sz="quarter" idx="1"/>
          </p:nvPr>
        </p:nvSpPr>
        <p:spPr/>
        <p:txBody>
          <a:bodyPr/>
          <a:lstStyle/>
          <a:p>
            <a:r>
              <a:rPr lang="en-US" dirty="0"/>
              <a:t>How did the plaintiff want to use the </a:t>
            </a:r>
            <a:r>
              <a:rPr lang="en-US" dirty="0" err="1"/>
              <a:t>parol</a:t>
            </a:r>
            <a:r>
              <a:rPr lang="en-US" dirty="0"/>
              <a:t> evidence?</a:t>
            </a:r>
          </a:p>
          <a:p>
            <a:r>
              <a:rPr lang="en-US" dirty="0"/>
              <a:t>Was the agreement integrated? To what extent?</a:t>
            </a:r>
          </a:p>
          <a:p>
            <a:r>
              <a:rPr lang="en-US" dirty="0"/>
              <a:t>Why was the evidence not barred by the </a:t>
            </a:r>
            <a:r>
              <a:rPr lang="en-US" dirty="0" err="1"/>
              <a:t>parol</a:t>
            </a:r>
            <a:r>
              <a:rPr lang="en-US" dirty="0"/>
              <a:t> evidence rule?</a:t>
            </a:r>
          </a:p>
          <a:p>
            <a:r>
              <a:rPr lang="en-US" dirty="0"/>
              <a:t>What is the policy justification for this exception?</a:t>
            </a:r>
          </a:p>
        </p:txBody>
      </p:sp>
    </p:spTree>
    <p:extLst>
      <p:ext uri="{BB962C8B-B14F-4D97-AF65-F5344CB8AC3E}">
        <p14:creationId xmlns:p14="http://schemas.microsoft.com/office/powerpoint/2010/main" val="20044860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International approaches</a:t>
            </a:r>
          </a:p>
        </p:txBody>
      </p:sp>
      <p:sp>
        <p:nvSpPr>
          <p:cNvPr id="3" name="Content Placeholder 2"/>
          <p:cNvSpPr>
            <a:spLocks noGrp="1"/>
          </p:cNvSpPr>
          <p:nvPr>
            <p:ph sz="quarter" idx="1"/>
          </p:nvPr>
        </p:nvSpPr>
        <p:spPr/>
        <p:txBody>
          <a:bodyPr>
            <a:normAutofit/>
          </a:bodyPr>
          <a:lstStyle/>
          <a:p>
            <a:r>
              <a:rPr lang="en-US" dirty="0"/>
              <a:t>CISG Article 8(3) contains no </a:t>
            </a:r>
            <a:r>
              <a:rPr lang="en-US" dirty="0" err="1"/>
              <a:t>parol</a:t>
            </a:r>
            <a:r>
              <a:rPr lang="en-US" dirty="0"/>
              <a:t> evidence rule.</a:t>
            </a:r>
          </a:p>
          <a:p>
            <a:pPr lvl="1"/>
            <a:r>
              <a:rPr lang="en-US" dirty="0"/>
              <a:t>CISG applies to international sales of goods between parties whose places of business are in different states when either both states are parties to the CISG or when the contract is governed by the law of a party to the CISG</a:t>
            </a:r>
            <a:r>
              <a:rPr lang="en-US"/>
              <a:t>.  </a:t>
            </a:r>
          </a:p>
          <a:p>
            <a:pPr lvl="1"/>
            <a:r>
              <a:rPr lang="en-US"/>
              <a:t>The </a:t>
            </a:r>
            <a:r>
              <a:rPr lang="en-US" dirty="0"/>
              <a:t>US has ratified CISG.</a:t>
            </a:r>
          </a:p>
          <a:p>
            <a:r>
              <a:rPr lang="en-US" dirty="0"/>
              <a:t>In English law the </a:t>
            </a:r>
            <a:r>
              <a:rPr lang="en-US" dirty="0" err="1"/>
              <a:t>parol</a:t>
            </a:r>
            <a:r>
              <a:rPr lang="en-US" dirty="0"/>
              <a:t> evidence rule is more like a rebuttable presumption that the written document contains a complete statement of the terms. </a:t>
            </a:r>
          </a:p>
          <a:p>
            <a:pPr marL="0" indent="0">
              <a:buNone/>
            </a:pPr>
            <a:endParaRPr lang="en-US" dirty="0"/>
          </a:p>
          <a:p>
            <a:pPr marL="0" indent="0">
              <a:buNone/>
            </a:pPr>
            <a:endParaRPr lang="en-US" dirty="0"/>
          </a:p>
          <a:p>
            <a:pPr marL="0" indent="0">
              <a:buNone/>
            </a:pPr>
            <a:endParaRPr lang="en-US" dirty="0"/>
          </a:p>
        </p:txBody>
      </p:sp>
    </p:spTree>
    <p:extLst>
      <p:ext uri="{BB962C8B-B14F-4D97-AF65-F5344CB8AC3E}">
        <p14:creationId xmlns:p14="http://schemas.microsoft.com/office/powerpoint/2010/main" val="3391317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5074D1-BFEB-4CC5-FF38-2332E5D1111C}"/>
              </a:ext>
            </a:extLst>
          </p:cNvPr>
          <p:cNvSpPr>
            <a:spLocks noGrp="1"/>
          </p:cNvSpPr>
          <p:nvPr>
            <p:ph type="title"/>
          </p:nvPr>
        </p:nvSpPr>
        <p:spPr/>
        <p:txBody>
          <a:bodyPr>
            <a:normAutofit fontScale="90000"/>
          </a:bodyPr>
          <a:lstStyle/>
          <a:p>
            <a:r>
              <a:rPr lang="en-US" dirty="0"/>
              <a:t>Teevee Toons v. Gerhard Schubert (Supp.)</a:t>
            </a:r>
          </a:p>
        </p:txBody>
      </p:sp>
      <p:sp>
        <p:nvSpPr>
          <p:cNvPr id="3" name="Content Placeholder 2">
            <a:extLst>
              <a:ext uri="{FF2B5EF4-FFF2-40B4-BE49-F238E27FC236}">
                <a16:creationId xmlns:a16="http://schemas.microsoft.com/office/drawing/2014/main" id="{7C72C27B-C82D-7F95-A6CE-37484836C2C6}"/>
              </a:ext>
            </a:extLst>
          </p:cNvPr>
          <p:cNvSpPr>
            <a:spLocks noGrp="1"/>
          </p:cNvSpPr>
          <p:nvPr>
            <p:ph sz="quarter" idx="1"/>
          </p:nvPr>
        </p:nvSpPr>
        <p:spPr/>
        <p:txBody>
          <a:bodyPr/>
          <a:lstStyle/>
          <a:p>
            <a:r>
              <a:rPr lang="en-US" dirty="0"/>
              <a:t>Why did the CISG apply?</a:t>
            </a:r>
          </a:p>
          <a:p>
            <a:r>
              <a:rPr lang="en-US" dirty="0"/>
              <a:t>What obligations did TVT wish to enforce?</a:t>
            </a:r>
          </a:p>
          <a:p>
            <a:r>
              <a:rPr lang="en-US" dirty="0"/>
              <a:t>Were they consistent with the written agreement?</a:t>
            </a:r>
          </a:p>
          <a:p>
            <a:r>
              <a:rPr lang="en-US" dirty="0"/>
              <a:t>What was the </a:t>
            </a:r>
            <a:r>
              <a:rPr lang="en-US" dirty="0" err="1"/>
              <a:t>parol</a:t>
            </a:r>
            <a:r>
              <a:rPr lang="en-US" dirty="0"/>
              <a:t> evidence?</a:t>
            </a:r>
          </a:p>
          <a:p>
            <a:r>
              <a:rPr lang="en-US" dirty="0"/>
              <a:t>How did TVT seek to use the </a:t>
            </a:r>
            <a:r>
              <a:rPr lang="en-US" dirty="0" err="1"/>
              <a:t>parol</a:t>
            </a:r>
            <a:r>
              <a:rPr lang="en-US" dirty="0"/>
              <a:t> evidence?</a:t>
            </a:r>
          </a:p>
          <a:p>
            <a:r>
              <a:rPr lang="en-US" dirty="0"/>
              <a:t>How would the case be resolved under New York law?</a:t>
            </a:r>
          </a:p>
          <a:p>
            <a:r>
              <a:rPr lang="en-US" dirty="0"/>
              <a:t>What did the court decide?</a:t>
            </a:r>
          </a:p>
          <a:p>
            <a:r>
              <a:rPr lang="en-US" dirty="0"/>
              <a:t>Is the outcome consistent with the parties’ intentions?</a:t>
            </a:r>
          </a:p>
          <a:p>
            <a:r>
              <a:rPr lang="en-US" dirty="0"/>
              <a:t>How could the parties have precluded consideration of </a:t>
            </a:r>
            <a:r>
              <a:rPr lang="en-US" dirty="0" err="1"/>
              <a:t>parol</a:t>
            </a:r>
            <a:r>
              <a:rPr lang="en-US" dirty="0"/>
              <a:t> evidence?</a:t>
            </a:r>
          </a:p>
          <a:p>
            <a:endParaRPr lang="en-US" dirty="0"/>
          </a:p>
          <a:p>
            <a:endParaRPr lang="en-US" dirty="0"/>
          </a:p>
          <a:p>
            <a:endParaRPr lang="en-US" dirty="0"/>
          </a:p>
        </p:txBody>
      </p:sp>
    </p:spTree>
    <p:extLst>
      <p:ext uri="{BB962C8B-B14F-4D97-AF65-F5344CB8AC3E}">
        <p14:creationId xmlns:p14="http://schemas.microsoft.com/office/powerpoint/2010/main" val="375694575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gin">
  <a:themeElements>
    <a:clrScheme name="Origin">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2313</TotalTime>
  <Words>1516</Words>
  <Application>Microsoft Office PowerPoint</Application>
  <PresentationFormat>On-screen Show (4:3)</PresentationFormat>
  <Paragraphs>168</Paragraphs>
  <Slides>20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Bookman Old Style</vt:lpstr>
      <vt:lpstr>Gill Sans MT</vt:lpstr>
      <vt:lpstr>Times New Roman</vt:lpstr>
      <vt:lpstr>Wingdings</vt:lpstr>
      <vt:lpstr>Wingdings 3</vt:lpstr>
      <vt:lpstr>Origin</vt:lpstr>
      <vt:lpstr>Class 13: The parol evidence rule</vt:lpstr>
      <vt:lpstr>Key questions</vt:lpstr>
      <vt:lpstr>Topics</vt:lpstr>
      <vt:lpstr>Potential sources of terms</vt:lpstr>
      <vt:lpstr>Bayliner Marine Corp. v. Crow (4)</vt:lpstr>
      <vt:lpstr>UCC § 2-314 IMPLIED WARRANTY: MERCHANTABILITY</vt:lpstr>
      <vt:lpstr>Overview of rules on extrinsic evidence</vt:lpstr>
      <vt:lpstr>The parol evidence rule and its terminology</vt:lpstr>
      <vt:lpstr>Effect of merger/integration clauses</vt:lpstr>
      <vt:lpstr>Contentious issues</vt:lpstr>
      <vt:lpstr>Consumer contracts – RLCC</vt:lpstr>
      <vt:lpstr>Policy considerations</vt:lpstr>
      <vt:lpstr>Psenicska v. Twentieth Century Fox Film</vt:lpstr>
      <vt:lpstr>Disclaimers of liability for misrepresentation</vt:lpstr>
      <vt:lpstr>Should it be possible to contract out of liability for fraud?</vt:lpstr>
      <vt:lpstr>Gianni v. R. Russell &amp; Co. (Supp)</vt:lpstr>
      <vt:lpstr>Masterson v. Sine (536)</vt:lpstr>
      <vt:lpstr>Bollinger v. Central Pennsylvania Quarry (543)</vt:lpstr>
      <vt:lpstr>International approaches</vt:lpstr>
      <vt:lpstr>Teevee Toons v. Gerhard Schubert (Supp.)</vt:lpstr>
    </vt:vector>
  </TitlesOfParts>
  <Company>NYU School of Law</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Class 13: The parol evidence rule</dc:title>
  <dc:creator>Davis, Kevin</dc:creator>
  <cp:lastModifiedBy>Davis, Kevin</cp:lastModifiedBy>
  <cp:revision>48</cp:revision>
  <dcterms:created xsi:type="dcterms:W3CDTF">2014-10-10T15:44:41Z</dcterms:created>
  <dcterms:modified xsi:type="dcterms:W3CDTF">2026-10-06T14:50:39Z</dcterms:modified>
</cp:coreProperties>
</file>