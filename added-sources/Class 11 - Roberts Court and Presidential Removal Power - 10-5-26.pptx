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310" r:id="rId2"/>
    <p:sldId id="344" r:id="rId3"/>
    <p:sldId id="328" r:id="rId4"/>
    <p:sldId id="278" r:id="rId5"/>
    <p:sldId id="329" r:id="rId6"/>
    <p:sldId id="330" r:id="rId7"/>
    <p:sldId id="331" r:id="rId8"/>
    <p:sldId id="267" r:id="rId9"/>
    <p:sldId id="335" r:id="rId10"/>
    <p:sldId id="336" r:id="rId11"/>
    <p:sldId id="337" r:id="rId12"/>
    <p:sldId id="338" r:id="rId13"/>
    <p:sldId id="339" r:id="rId14"/>
    <p:sldId id="290" r:id="rId15"/>
    <p:sldId id="340" r:id="rId16"/>
    <p:sldId id="341" r:id="rId17"/>
    <p:sldId id="268" r:id="rId18"/>
    <p:sldId id="269" r:id="rId19"/>
    <p:sldId id="270" r:id="rId20"/>
    <p:sldId id="276" r:id="rId21"/>
    <p:sldId id="272" r:id="rId22"/>
    <p:sldId id="273" r:id="rId23"/>
    <p:sldId id="279" r:id="rId24"/>
    <p:sldId id="274" r:id="rId25"/>
    <p:sldId id="257" r:id="rId26"/>
    <p:sldId id="258" r:id="rId27"/>
    <p:sldId id="259" r:id="rId28"/>
    <p:sldId id="260" r:id="rId29"/>
    <p:sldId id="261" r:id="rId30"/>
    <p:sldId id="263" r:id="rId31"/>
    <p:sldId id="345" r:id="rId32"/>
    <p:sldId id="280" r:id="rId33"/>
    <p:sldId id="264" r:id="rId34"/>
    <p:sldId id="262" r:id="rId35"/>
    <p:sldId id="265" r:id="rId36"/>
    <p:sldId id="281" r:id="rId37"/>
    <p:sldId id="282" r:id="rId38"/>
    <p:sldId id="283" r:id="rId39"/>
    <p:sldId id="284" r:id="rId40"/>
    <p:sldId id="266" r:id="rId41"/>
    <p:sldId id="308" r:id="rId42"/>
    <p:sldId id="309" r:id="rId4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60" autoAdjust="0"/>
    <p:restoredTop sz="94660"/>
  </p:normalViewPr>
  <p:slideViewPr>
    <p:cSldViewPr>
      <p:cViewPr varScale="1">
        <p:scale>
          <a:sx n="105" d="100"/>
          <a:sy n="105" d="100"/>
        </p:scale>
        <p:origin x="177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39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250B9B-E883-4A7B-84BE-5544FADD1EF6}" type="doc">
      <dgm:prSet loTypeId="urn:microsoft.com/office/officeart/2005/8/layout/pyramid1" loCatId="pyramid" qsTypeId="urn:microsoft.com/office/officeart/2005/8/quickstyle/simple1#1" qsCatId="simple" csTypeId="urn:microsoft.com/office/officeart/2005/8/colors/accent1_2#1" csCatId="accent1" phldr="1"/>
      <dgm:spPr/>
    </dgm:pt>
    <dgm:pt modelId="{C5E3C542-8991-428F-BB58-B99A2DCF4B98}">
      <dgm:prSet phldrT="[Text]"/>
      <dgm:spPr/>
      <dgm:t>
        <a:bodyPr/>
        <a:lstStyle/>
        <a:p>
          <a:r>
            <a:rPr lang="en-US" dirty="0"/>
            <a:t>POTUS</a:t>
          </a:r>
        </a:p>
      </dgm:t>
    </dgm:pt>
    <dgm:pt modelId="{9CA9AD79-21E1-421E-883E-2071B44F97F8}" type="parTrans" cxnId="{45C42BCB-6AD1-4A9F-8605-CFDA5DF51E21}">
      <dgm:prSet/>
      <dgm:spPr/>
      <dgm:t>
        <a:bodyPr/>
        <a:lstStyle/>
        <a:p>
          <a:endParaRPr lang="en-US"/>
        </a:p>
      </dgm:t>
    </dgm:pt>
    <dgm:pt modelId="{99CBF3DD-B369-437D-AFED-D1F0BCA6E882}" type="sibTrans" cxnId="{45C42BCB-6AD1-4A9F-8605-CFDA5DF51E21}">
      <dgm:prSet/>
      <dgm:spPr/>
      <dgm:t>
        <a:bodyPr/>
        <a:lstStyle/>
        <a:p>
          <a:endParaRPr lang="en-US"/>
        </a:p>
      </dgm:t>
    </dgm:pt>
    <dgm:pt modelId="{59FCD068-34AA-4B33-BFBA-743F477E8FE7}">
      <dgm:prSet phldrT="[Text]"/>
      <dgm:spPr>
        <a:solidFill>
          <a:srgbClr val="FFFF00"/>
        </a:solidFill>
      </dgm:spPr>
      <dgm:t>
        <a:bodyPr/>
        <a:lstStyle/>
        <a:p>
          <a:r>
            <a:rPr lang="en-US" dirty="0"/>
            <a:t>SEC</a:t>
          </a:r>
        </a:p>
      </dgm:t>
    </dgm:pt>
    <dgm:pt modelId="{88D10191-B58F-4F5D-B88E-3BC5B5FFFA2D}" type="parTrans" cxnId="{407F6218-6F8C-4947-801A-BB7090C82889}">
      <dgm:prSet/>
      <dgm:spPr/>
      <dgm:t>
        <a:bodyPr/>
        <a:lstStyle/>
        <a:p>
          <a:endParaRPr lang="en-US"/>
        </a:p>
      </dgm:t>
    </dgm:pt>
    <dgm:pt modelId="{9B4A12A2-8E30-42A3-9C84-82AFD9ADFACE}" type="sibTrans" cxnId="{407F6218-6F8C-4947-801A-BB7090C82889}">
      <dgm:prSet/>
      <dgm:spPr/>
      <dgm:t>
        <a:bodyPr/>
        <a:lstStyle/>
        <a:p>
          <a:endParaRPr lang="en-US"/>
        </a:p>
      </dgm:t>
    </dgm:pt>
    <dgm:pt modelId="{44BE1F33-37CF-4D48-87C0-6E8EF7352644}">
      <dgm:prSet phldrT="[Text]"/>
      <dgm:spPr>
        <a:solidFill>
          <a:srgbClr val="FF0000"/>
        </a:solidFill>
      </dgm:spPr>
      <dgm:t>
        <a:bodyPr/>
        <a:lstStyle/>
        <a:p>
          <a:r>
            <a:rPr lang="en-US" dirty="0"/>
            <a:t>PCAOB</a:t>
          </a:r>
        </a:p>
      </dgm:t>
    </dgm:pt>
    <dgm:pt modelId="{F429D6F1-4742-48B2-830C-A47CED35FB3A}" type="parTrans" cxnId="{7AF79744-14DF-4247-854E-3483B44D95D8}">
      <dgm:prSet/>
      <dgm:spPr/>
      <dgm:t>
        <a:bodyPr/>
        <a:lstStyle/>
        <a:p>
          <a:endParaRPr lang="en-US"/>
        </a:p>
      </dgm:t>
    </dgm:pt>
    <dgm:pt modelId="{9DC70E35-B15F-4543-B874-1AA455AAD6CB}" type="sibTrans" cxnId="{7AF79744-14DF-4247-854E-3483B44D95D8}">
      <dgm:prSet/>
      <dgm:spPr/>
      <dgm:t>
        <a:bodyPr/>
        <a:lstStyle/>
        <a:p>
          <a:endParaRPr lang="en-US"/>
        </a:p>
      </dgm:t>
    </dgm:pt>
    <dgm:pt modelId="{03192270-6F27-4F63-8CFA-6D1EDAF1183B}" type="pres">
      <dgm:prSet presAssocID="{37250B9B-E883-4A7B-84BE-5544FADD1EF6}" presName="Name0" presStyleCnt="0">
        <dgm:presLayoutVars>
          <dgm:dir/>
          <dgm:animLvl val="lvl"/>
          <dgm:resizeHandles val="exact"/>
        </dgm:presLayoutVars>
      </dgm:prSet>
      <dgm:spPr/>
    </dgm:pt>
    <dgm:pt modelId="{E3B7CA39-B9E1-4196-A611-BCCF14B3C0E7}" type="pres">
      <dgm:prSet presAssocID="{C5E3C542-8991-428F-BB58-B99A2DCF4B98}" presName="Name8" presStyleCnt="0"/>
      <dgm:spPr/>
    </dgm:pt>
    <dgm:pt modelId="{583F826E-375D-468D-83FF-CBB57985D0EB}" type="pres">
      <dgm:prSet presAssocID="{C5E3C542-8991-428F-BB58-B99A2DCF4B98}" presName="level" presStyleLbl="node1" presStyleIdx="0" presStyleCnt="3">
        <dgm:presLayoutVars>
          <dgm:chMax val="1"/>
          <dgm:bulletEnabled val="1"/>
        </dgm:presLayoutVars>
      </dgm:prSet>
      <dgm:spPr/>
    </dgm:pt>
    <dgm:pt modelId="{8EF5ABA1-6C5D-487C-A4FE-D6FC223A994D}" type="pres">
      <dgm:prSet presAssocID="{C5E3C542-8991-428F-BB58-B99A2DCF4B98}" presName="levelTx" presStyleLbl="revTx" presStyleIdx="0" presStyleCnt="0">
        <dgm:presLayoutVars>
          <dgm:chMax val="1"/>
          <dgm:bulletEnabled val="1"/>
        </dgm:presLayoutVars>
      </dgm:prSet>
      <dgm:spPr/>
    </dgm:pt>
    <dgm:pt modelId="{320DBEEB-265F-477E-AC82-844BAF950E0C}" type="pres">
      <dgm:prSet presAssocID="{59FCD068-34AA-4B33-BFBA-743F477E8FE7}" presName="Name8" presStyleCnt="0"/>
      <dgm:spPr/>
    </dgm:pt>
    <dgm:pt modelId="{B940B8F4-16EA-4A91-8389-26A2ADB94B95}" type="pres">
      <dgm:prSet presAssocID="{59FCD068-34AA-4B33-BFBA-743F477E8FE7}" presName="level" presStyleLbl="node1" presStyleIdx="1" presStyleCnt="3">
        <dgm:presLayoutVars>
          <dgm:chMax val="1"/>
          <dgm:bulletEnabled val="1"/>
        </dgm:presLayoutVars>
      </dgm:prSet>
      <dgm:spPr/>
    </dgm:pt>
    <dgm:pt modelId="{754F5437-D076-4E05-8C56-12CDC3587E4D}" type="pres">
      <dgm:prSet presAssocID="{59FCD068-34AA-4B33-BFBA-743F477E8FE7}" presName="levelTx" presStyleLbl="revTx" presStyleIdx="0" presStyleCnt="0">
        <dgm:presLayoutVars>
          <dgm:chMax val="1"/>
          <dgm:bulletEnabled val="1"/>
        </dgm:presLayoutVars>
      </dgm:prSet>
      <dgm:spPr/>
    </dgm:pt>
    <dgm:pt modelId="{454D1F58-2A9D-406D-BEE6-8F0C51F73C24}" type="pres">
      <dgm:prSet presAssocID="{44BE1F33-37CF-4D48-87C0-6E8EF7352644}" presName="Name8" presStyleCnt="0"/>
      <dgm:spPr/>
    </dgm:pt>
    <dgm:pt modelId="{2508A67A-B6CD-4BAB-98DE-C83C35574213}" type="pres">
      <dgm:prSet presAssocID="{44BE1F33-37CF-4D48-87C0-6E8EF7352644}" presName="level" presStyleLbl="node1" presStyleIdx="2" presStyleCnt="3">
        <dgm:presLayoutVars>
          <dgm:chMax val="1"/>
          <dgm:bulletEnabled val="1"/>
        </dgm:presLayoutVars>
      </dgm:prSet>
      <dgm:spPr/>
    </dgm:pt>
    <dgm:pt modelId="{557A250E-083A-41F7-B31F-871DE91F35F5}" type="pres">
      <dgm:prSet presAssocID="{44BE1F33-37CF-4D48-87C0-6E8EF7352644}" presName="levelTx" presStyleLbl="revTx" presStyleIdx="0" presStyleCnt="0">
        <dgm:presLayoutVars>
          <dgm:chMax val="1"/>
          <dgm:bulletEnabled val="1"/>
        </dgm:presLayoutVars>
      </dgm:prSet>
      <dgm:spPr/>
    </dgm:pt>
  </dgm:ptLst>
  <dgm:cxnLst>
    <dgm:cxn modelId="{DB54E207-9F1A-4C7A-8ACA-F322D76CC117}" type="presOf" srcId="{37250B9B-E883-4A7B-84BE-5544FADD1EF6}" destId="{03192270-6F27-4F63-8CFA-6D1EDAF1183B}" srcOrd="0" destOrd="0" presId="urn:microsoft.com/office/officeart/2005/8/layout/pyramid1"/>
    <dgm:cxn modelId="{407F6218-6F8C-4947-801A-BB7090C82889}" srcId="{37250B9B-E883-4A7B-84BE-5544FADD1EF6}" destId="{59FCD068-34AA-4B33-BFBA-743F477E8FE7}" srcOrd="1" destOrd="0" parTransId="{88D10191-B58F-4F5D-B88E-3BC5B5FFFA2D}" sibTransId="{9B4A12A2-8E30-42A3-9C84-82AFD9ADFACE}"/>
    <dgm:cxn modelId="{2FDAA52F-6B99-4E99-ACA2-226D3323E7C6}" type="presOf" srcId="{44BE1F33-37CF-4D48-87C0-6E8EF7352644}" destId="{557A250E-083A-41F7-B31F-871DE91F35F5}" srcOrd="1" destOrd="0" presId="urn:microsoft.com/office/officeart/2005/8/layout/pyramid1"/>
    <dgm:cxn modelId="{7AF79744-14DF-4247-854E-3483B44D95D8}" srcId="{37250B9B-E883-4A7B-84BE-5544FADD1EF6}" destId="{44BE1F33-37CF-4D48-87C0-6E8EF7352644}" srcOrd="2" destOrd="0" parTransId="{F429D6F1-4742-48B2-830C-A47CED35FB3A}" sibTransId="{9DC70E35-B15F-4543-B874-1AA455AAD6CB}"/>
    <dgm:cxn modelId="{88E5F273-9DF9-4ADB-9980-B40E713F3F23}" type="presOf" srcId="{59FCD068-34AA-4B33-BFBA-743F477E8FE7}" destId="{754F5437-D076-4E05-8C56-12CDC3587E4D}" srcOrd="1" destOrd="0" presId="urn:microsoft.com/office/officeart/2005/8/layout/pyramid1"/>
    <dgm:cxn modelId="{8E525C9E-F24B-4A30-BC2D-0B37D3F360BD}" type="presOf" srcId="{C5E3C542-8991-428F-BB58-B99A2DCF4B98}" destId="{8EF5ABA1-6C5D-487C-A4FE-D6FC223A994D}" srcOrd="1" destOrd="0" presId="urn:microsoft.com/office/officeart/2005/8/layout/pyramid1"/>
    <dgm:cxn modelId="{429C86A7-366F-4C79-97CA-F8952EE8BC96}" type="presOf" srcId="{C5E3C542-8991-428F-BB58-B99A2DCF4B98}" destId="{583F826E-375D-468D-83FF-CBB57985D0EB}" srcOrd="0" destOrd="0" presId="urn:microsoft.com/office/officeart/2005/8/layout/pyramid1"/>
    <dgm:cxn modelId="{45C42BCB-6AD1-4A9F-8605-CFDA5DF51E21}" srcId="{37250B9B-E883-4A7B-84BE-5544FADD1EF6}" destId="{C5E3C542-8991-428F-BB58-B99A2DCF4B98}" srcOrd="0" destOrd="0" parTransId="{9CA9AD79-21E1-421E-883E-2071B44F97F8}" sibTransId="{99CBF3DD-B369-437D-AFED-D1F0BCA6E882}"/>
    <dgm:cxn modelId="{D31205D6-230E-43DF-9632-A392BFC41A60}" type="presOf" srcId="{44BE1F33-37CF-4D48-87C0-6E8EF7352644}" destId="{2508A67A-B6CD-4BAB-98DE-C83C35574213}" srcOrd="0" destOrd="0" presId="urn:microsoft.com/office/officeart/2005/8/layout/pyramid1"/>
    <dgm:cxn modelId="{45E059E8-E423-4201-BA2E-7CA3B102D928}" type="presOf" srcId="{59FCD068-34AA-4B33-BFBA-743F477E8FE7}" destId="{B940B8F4-16EA-4A91-8389-26A2ADB94B95}" srcOrd="0" destOrd="0" presId="urn:microsoft.com/office/officeart/2005/8/layout/pyramid1"/>
    <dgm:cxn modelId="{D41D0CFB-9168-4915-BF93-F3642A9B848A}" type="presParOf" srcId="{03192270-6F27-4F63-8CFA-6D1EDAF1183B}" destId="{E3B7CA39-B9E1-4196-A611-BCCF14B3C0E7}" srcOrd="0" destOrd="0" presId="urn:microsoft.com/office/officeart/2005/8/layout/pyramid1"/>
    <dgm:cxn modelId="{871328C1-3C05-4B10-B4F2-D037295F979A}" type="presParOf" srcId="{E3B7CA39-B9E1-4196-A611-BCCF14B3C0E7}" destId="{583F826E-375D-468D-83FF-CBB57985D0EB}" srcOrd="0" destOrd="0" presId="urn:microsoft.com/office/officeart/2005/8/layout/pyramid1"/>
    <dgm:cxn modelId="{7F7F0417-8869-4109-9EE2-17A522B654E3}" type="presParOf" srcId="{E3B7CA39-B9E1-4196-A611-BCCF14B3C0E7}" destId="{8EF5ABA1-6C5D-487C-A4FE-D6FC223A994D}" srcOrd="1" destOrd="0" presId="urn:microsoft.com/office/officeart/2005/8/layout/pyramid1"/>
    <dgm:cxn modelId="{EE2E1D42-B98C-4D7D-A29A-CF636625D8C4}" type="presParOf" srcId="{03192270-6F27-4F63-8CFA-6D1EDAF1183B}" destId="{320DBEEB-265F-477E-AC82-844BAF950E0C}" srcOrd="1" destOrd="0" presId="urn:microsoft.com/office/officeart/2005/8/layout/pyramid1"/>
    <dgm:cxn modelId="{2D5F1BE0-019D-4751-92ED-84EFC37F41D4}" type="presParOf" srcId="{320DBEEB-265F-477E-AC82-844BAF950E0C}" destId="{B940B8F4-16EA-4A91-8389-26A2ADB94B95}" srcOrd="0" destOrd="0" presId="urn:microsoft.com/office/officeart/2005/8/layout/pyramid1"/>
    <dgm:cxn modelId="{E9F8294A-A9D5-4969-B6B2-B91A2C54F4DA}" type="presParOf" srcId="{320DBEEB-265F-477E-AC82-844BAF950E0C}" destId="{754F5437-D076-4E05-8C56-12CDC3587E4D}" srcOrd="1" destOrd="0" presId="urn:microsoft.com/office/officeart/2005/8/layout/pyramid1"/>
    <dgm:cxn modelId="{BDF97FED-D7F9-4E90-BFDD-E41D3C28D9DF}" type="presParOf" srcId="{03192270-6F27-4F63-8CFA-6D1EDAF1183B}" destId="{454D1F58-2A9D-406D-BEE6-8F0C51F73C24}" srcOrd="2" destOrd="0" presId="urn:microsoft.com/office/officeart/2005/8/layout/pyramid1"/>
    <dgm:cxn modelId="{6D26C460-B406-4DDC-B4A1-39353EC07B99}" type="presParOf" srcId="{454D1F58-2A9D-406D-BEE6-8F0C51F73C24}" destId="{2508A67A-B6CD-4BAB-98DE-C83C35574213}" srcOrd="0" destOrd="0" presId="urn:microsoft.com/office/officeart/2005/8/layout/pyramid1"/>
    <dgm:cxn modelId="{0C6C2910-950F-4B95-B558-0FF7A113F297}" type="presParOf" srcId="{454D1F58-2A9D-406D-BEE6-8F0C51F73C24}" destId="{557A250E-083A-41F7-B31F-871DE91F35F5}"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3F826E-375D-468D-83FF-CBB57985D0EB}">
      <dsp:nvSpPr>
        <dsp:cNvPr id="0" name=""/>
        <dsp:cNvSpPr/>
      </dsp:nvSpPr>
      <dsp:spPr>
        <a:xfrm>
          <a:off x="2743200" y="0"/>
          <a:ext cx="2743199" cy="1508654"/>
        </a:xfrm>
        <a:prstGeom prst="trapezoid">
          <a:avLst>
            <a:gd name="adj" fmla="val 90915"/>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30" tIns="74930" rIns="74930" bIns="74930" numCol="1" spcCol="1270" anchor="ctr" anchorCtr="0">
          <a:noAutofit/>
        </a:bodyPr>
        <a:lstStyle/>
        <a:p>
          <a:pPr marL="0" lvl="0" indent="0" algn="ctr" defTabSz="2622550">
            <a:lnSpc>
              <a:spcPct val="90000"/>
            </a:lnSpc>
            <a:spcBef>
              <a:spcPct val="0"/>
            </a:spcBef>
            <a:spcAft>
              <a:spcPct val="35000"/>
            </a:spcAft>
            <a:buNone/>
          </a:pPr>
          <a:r>
            <a:rPr lang="en-US" sz="5900" kern="1200" dirty="0"/>
            <a:t>POTUS</a:t>
          </a:r>
        </a:p>
      </dsp:txBody>
      <dsp:txXfrm>
        <a:off x="2743200" y="0"/>
        <a:ext cx="2743199" cy="1508654"/>
      </dsp:txXfrm>
    </dsp:sp>
    <dsp:sp modelId="{B940B8F4-16EA-4A91-8389-26A2ADB94B95}">
      <dsp:nvSpPr>
        <dsp:cNvPr id="0" name=""/>
        <dsp:cNvSpPr/>
      </dsp:nvSpPr>
      <dsp:spPr>
        <a:xfrm>
          <a:off x="1371600" y="1508654"/>
          <a:ext cx="5486399" cy="1508654"/>
        </a:xfrm>
        <a:prstGeom prst="trapezoid">
          <a:avLst>
            <a:gd name="adj" fmla="val 90915"/>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30" tIns="74930" rIns="74930" bIns="74930" numCol="1" spcCol="1270" anchor="ctr" anchorCtr="0">
          <a:noAutofit/>
        </a:bodyPr>
        <a:lstStyle/>
        <a:p>
          <a:pPr marL="0" lvl="0" indent="0" algn="ctr" defTabSz="2622550">
            <a:lnSpc>
              <a:spcPct val="90000"/>
            </a:lnSpc>
            <a:spcBef>
              <a:spcPct val="0"/>
            </a:spcBef>
            <a:spcAft>
              <a:spcPct val="35000"/>
            </a:spcAft>
            <a:buNone/>
          </a:pPr>
          <a:r>
            <a:rPr lang="en-US" sz="5900" kern="1200" dirty="0"/>
            <a:t>SEC</a:t>
          </a:r>
        </a:p>
      </dsp:txBody>
      <dsp:txXfrm>
        <a:off x="2331720" y="1508654"/>
        <a:ext cx="3566160" cy="1508654"/>
      </dsp:txXfrm>
    </dsp:sp>
    <dsp:sp modelId="{2508A67A-B6CD-4BAB-98DE-C83C35574213}">
      <dsp:nvSpPr>
        <dsp:cNvPr id="0" name=""/>
        <dsp:cNvSpPr/>
      </dsp:nvSpPr>
      <dsp:spPr>
        <a:xfrm>
          <a:off x="0" y="3017308"/>
          <a:ext cx="8229600" cy="1508654"/>
        </a:xfrm>
        <a:prstGeom prst="trapezoid">
          <a:avLst>
            <a:gd name="adj" fmla="val 90915"/>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30" tIns="74930" rIns="74930" bIns="74930" numCol="1" spcCol="1270" anchor="ctr" anchorCtr="0">
          <a:noAutofit/>
        </a:bodyPr>
        <a:lstStyle/>
        <a:p>
          <a:pPr marL="0" lvl="0" indent="0" algn="ctr" defTabSz="2622550">
            <a:lnSpc>
              <a:spcPct val="90000"/>
            </a:lnSpc>
            <a:spcBef>
              <a:spcPct val="0"/>
            </a:spcBef>
            <a:spcAft>
              <a:spcPct val="35000"/>
            </a:spcAft>
            <a:buNone/>
          </a:pPr>
          <a:r>
            <a:rPr lang="en-US" sz="5900" kern="1200" dirty="0"/>
            <a:t>PCAOB</a:t>
          </a:r>
        </a:p>
      </dsp:txBody>
      <dsp:txXfrm>
        <a:off x="1440179" y="3017308"/>
        <a:ext cx="5349240" cy="1508654"/>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23F8EF8-F1CF-0648-A309-417F6BE321F2}" type="datetimeFigureOut">
              <a:rPr lang="en-US" smtClean="0"/>
              <a:t>10/5/2026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45EA8D-DF43-EE48-85C9-D80F92DB1E06}" type="slidenum">
              <a:rPr lang="en-US" smtClean="0"/>
              <a:t>‹#›</a:t>
            </a:fld>
            <a:endParaRPr lang="en-US"/>
          </a:p>
        </p:txBody>
      </p:sp>
    </p:spTree>
    <p:extLst>
      <p:ext uri="{BB962C8B-B14F-4D97-AF65-F5344CB8AC3E}">
        <p14:creationId xmlns:p14="http://schemas.microsoft.com/office/powerpoint/2010/main" val="67253585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51F5135-7C21-4C14-8F9D-FFD980592FAA}" type="datetimeFigureOut">
              <a:rPr lang="en-US" smtClean="0"/>
              <a:t>10/5/2026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519E1F-7057-4E1A-8E5E-3602E916EAEB}" type="slidenum">
              <a:rPr lang="en-US" smtClean="0"/>
              <a:t>‹#›</a:t>
            </a:fld>
            <a:endParaRPr lang="en-US"/>
          </a:p>
        </p:txBody>
      </p:sp>
    </p:spTree>
    <p:extLst>
      <p:ext uri="{BB962C8B-B14F-4D97-AF65-F5344CB8AC3E}">
        <p14:creationId xmlns:p14="http://schemas.microsoft.com/office/powerpoint/2010/main" val="35319298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3E65FDD8-837A-437E-A6A0-31E76283ED54}" type="slidenum">
              <a:rPr lang="en-US"/>
              <a:pPr/>
              <a:t>‹#›</a:t>
            </a:fld>
            <a:endParaRPr lang="en-US"/>
          </a:p>
        </p:txBody>
      </p:sp>
    </p:spTree>
    <p:extLst>
      <p:ext uri="{BB962C8B-B14F-4D97-AF65-F5344CB8AC3E}">
        <p14:creationId xmlns:p14="http://schemas.microsoft.com/office/powerpoint/2010/main" val="90986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dirty="0"/>
          </a:p>
        </p:txBody>
      </p:sp>
      <p:sp>
        <p:nvSpPr>
          <p:cNvPr id="6" name="Slide Number Placeholder 5"/>
          <p:cNvSpPr>
            <a:spLocks noGrp="1"/>
          </p:cNvSpPr>
          <p:nvPr>
            <p:ph type="sldNum" sz="quarter" idx="12"/>
          </p:nvPr>
        </p:nvSpPr>
        <p:spPr/>
        <p:txBody>
          <a:bodyPr/>
          <a:lstStyle>
            <a:lvl1pPr>
              <a:defRPr/>
            </a:lvl1pPr>
          </a:lstStyle>
          <a:p>
            <a:fld id="{19243C18-CE1F-4D3B-ABA9-FEC66CF84D9A}" type="slidenum">
              <a:rPr lang="en-US"/>
              <a:pPr/>
              <a:t>‹#›</a:t>
            </a:fld>
            <a:endParaRPr lang="en-US"/>
          </a:p>
        </p:txBody>
      </p:sp>
    </p:spTree>
    <p:extLst>
      <p:ext uri="{BB962C8B-B14F-4D97-AF65-F5344CB8AC3E}">
        <p14:creationId xmlns:p14="http://schemas.microsoft.com/office/powerpoint/2010/main" val="3438861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2F3E6D19-F27E-4F57-B700-8AC3DE9BB4A0}" type="slidenum">
              <a:rPr lang="en-US"/>
              <a:pPr/>
              <a:t>‹#›</a:t>
            </a:fld>
            <a:endParaRPr lang="en-US"/>
          </a:p>
        </p:txBody>
      </p:sp>
    </p:spTree>
    <p:extLst>
      <p:ext uri="{BB962C8B-B14F-4D97-AF65-F5344CB8AC3E}">
        <p14:creationId xmlns:p14="http://schemas.microsoft.com/office/powerpoint/2010/main" val="2406309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7" name="Slide Number Placeholder 6"/>
          <p:cNvSpPr>
            <a:spLocks noGrp="1"/>
          </p:cNvSpPr>
          <p:nvPr>
            <p:ph type="sldNum" sz="quarter" idx="12"/>
          </p:nvPr>
        </p:nvSpPr>
        <p:spPr/>
        <p:txBody>
          <a:bodyPr/>
          <a:lstStyle>
            <a:lvl1pPr>
              <a:defRPr/>
            </a:lvl1pPr>
          </a:lstStyle>
          <a:p>
            <a:fld id="{07C46A64-928E-49DD-9554-16CFE76635CF}" type="slidenum">
              <a:rPr lang="en-US"/>
              <a:pPr/>
              <a:t>‹#›</a:t>
            </a:fld>
            <a:endParaRPr lang="en-US"/>
          </a:p>
        </p:txBody>
      </p:sp>
    </p:spTree>
    <p:extLst>
      <p:ext uri="{BB962C8B-B14F-4D97-AF65-F5344CB8AC3E}">
        <p14:creationId xmlns:p14="http://schemas.microsoft.com/office/powerpoint/2010/main" val="3547362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9" name="Slide Number Placeholder 8"/>
          <p:cNvSpPr>
            <a:spLocks noGrp="1"/>
          </p:cNvSpPr>
          <p:nvPr>
            <p:ph type="sldNum" sz="quarter" idx="12"/>
          </p:nvPr>
        </p:nvSpPr>
        <p:spPr/>
        <p:txBody>
          <a:bodyPr/>
          <a:lstStyle>
            <a:lvl1pPr>
              <a:defRPr/>
            </a:lvl1pPr>
          </a:lstStyle>
          <a:p>
            <a:fld id="{72564262-6812-4591-A777-49F168F6E828}" type="slidenum">
              <a:rPr lang="en-US"/>
              <a:pPr/>
              <a:t>‹#›</a:t>
            </a:fld>
            <a:endParaRPr lang="en-US"/>
          </a:p>
        </p:txBody>
      </p:sp>
    </p:spTree>
    <p:extLst>
      <p:ext uri="{BB962C8B-B14F-4D97-AF65-F5344CB8AC3E}">
        <p14:creationId xmlns:p14="http://schemas.microsoft.com/office/powerpoint/2010/main" val="9384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5" name="Slide Number Placeholder 4"/>
          <p:cNvSpPr>
            <a:spLocks noGrp="1"/>
          </p:cNvSpPr>
          <p:nvPr>
            <p:ph type="sldNum" sz="quarter" idx="12"/>
          </p:nvPr>
        </p:nvSpPr>
        <p:spPr/>
        <p:txBody>
          <a:bodyPr/>
          <a:lstStyle>
            <a:lvl1pPr>
              <a:defRPr/>
            </a:lvl1pPr>
          </a:lstStyle>
          <a:p>
            <a:fld id="{9B38D8D8-5B67-4842-967A-6FAB0E351C26}" type="slidenum">
              <a:rPr lang="en-US"/>
              <a:pPr/>
              <a:t>‹#›</a:t>
            </a:fld>
            <a:endParaRPr lang="en-US"/>
          </a:p>
        </p:txBody>
      </p:sp>
    </p:spTree>
    <p:extLst>
      <p:ext uri="{BB962C8B-B14F-4D97-AF65-F5344CB8AC3E}">
        <p14:creationId xmlns:p14="http://schemas.microsoft.com/office/powerpoint/2010/main" val="26126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4" name="Slide Number Placeholder 3"/>
          <p:cNvSpPr>
            <a:spLocks noGrp="1"/>
          </p:cNvSpPr>
          <p:nvPr>
            <p:ph type="sldNum" sz="quarter" idx="12"/>
          </p:nvPr>
        </p:nvSpPr>
        <p:spPr/>
        <p:txBody>
          <a:bodyPr/>
          <a:lstStyle>
            <a:lvl1pPr>
              <a:defRPr/>
            </a:lvl1pPr>
          </a:lstStyle>
          <a:p>
            <a:fld id="{A0F2A934-F737-4621-B0D0-A905B241C65C}" type="slidenum">
              <a:rPr lang="en-US"/>
              <a:pPr/>
              <a:t>‹#›</a:t>
            </a:fld>
            <a:endParaRPr lang="en-US"/>
          </a:p>
        </p:txBody>
      </p:sp>
    </p:spTree>
    <p:extLst>
      <p:ext uri="{BB962C8B-B14F-4D97-AF65-F5344CB8AC3E}">
        <p14:creationId xmlns:p14="http://schemas.microsoft.com/office/powerpoint/2010/main" val="4221241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7" name="Slide Number Placeholder 6"/>
          <p:cNvSpPr>
            <a:spLocks noGrp="1"/>
          </p:cNvSpPr>
          <p:nvPr>
            <p:ph type="sldNum" sz="quarter" idx="12"/>
          </p:nvPr>
        </p:nvSpPr>
        <p:spPr/>
        <p:txBody>
          <a:bodyPr/>
          <a:lstStyle>
            <a:lvl1pPr>
              <a:defRPr/>
            </a:lvl1pPr>
          </a:lstStyle>
          <a:p>
            <a:fld id="{46E43A18-D4A9-4465-8AA1-E69D68473390}" type="slidenum">
              <a:rPr lang="en-US"/>
              <a:pPr/>
              <a:t>‹#›</a:t>
            </a:fld>
            <a:endParaRPr lang="en-US"/>
          </a:p>
        </p:txBody>
      </p:sp>
    </p:spTree>
    <p:extLst>
      <p:ext uri="{BB962C8B-B14F-4D97-AF65-F5344CB8AC3E}">
        <p14:creationId xmlns:p14="http://schemas.microsoft.com/office/powerpoint/2010/main" val="2743628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7" name="Slide Number Placeholder 6"/>
          <p:cNvSpPr>
            <a:spLocks noGrp="1"/>
          </p:cNvSpPr>
          <p:nvPr>
            <p:ph type="sldNum" sz="quarter" idx="12"/>
          </p:nvPr>
        </p:nvSpPr>
        <p:spPr/>
        <p:txBody>
          <a:bodyPr/>
          <a:lstStyle>
            <a:lvl1pPr>
              <a:defRPr/>
            </a:lvl1pPr>
          </a:lstStyle>
          <a:p>
            <a:fld id="{143BBA3E-9997-4030-8D5A-FEAF2B5C4282}" type="slidenum">
              <a:rPr lang="en-US"/>
              <a:pPr/>
              <a:t>‹#›</a:t>
            </a:fld>
            <a:endParaRPr lang="en-US"/>
          </a:p>
        </p:txBody>
      </p:sp>
    </p:spTree>
    <p:extLst>
      <p:ext uri="{BB962C8B-B14F-4D97-AF65-F5344CB8AC3E}">
        <p14:creationId xmlns:p14="http://schemas.microsoft.com/office/powerpoint/2010/main" val="3543168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A4C093F1-AEFF-412C-AA2D-F3E7BB153D7A}" type="slidenum">
              <a:rPr lang="en-US"/>
              <a:pPr/>
              <a:t>‹#›</a:t>
            </a:fld>
            <a:endParaRPr lang="en-US"/>
          </a:p>
        </p:txBody>
      </p:sp>
    </p:spTree>
    <p:extLst>
      <p:ext uri="{BB962C8B-B14F-4D97-AF65-F5344CB8AC3E}">
        <p14:creationId xmlns:p14="http://schemas.microsoft.com/office/powerpoint/2010/main" val="407413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p:txBody>
          <a:bodyPr/>
          <a:lstStyle>
            <a:lvl1pPr>
              <a:defRPr/>
            </a:lvl1pPr>
          </a:lstStyle>
          <a:p>
            <a:fld id="{A8DE9784-64B9-4C2C-8A08-4D29B7A1F68D}" type="slidenum">
              <a:rPr lang="en-US"/>
              <a:pPr/>
              <a:t>‹#›</a:t>
            </a:fld>
            <a:endParaRPr lang="en-US"/>
          </a:p>
        </p:txBody>
      </p:sp>
    </p:spTree>
    <p:extLst>
      <p:ext uri="{BB962C8B-B14F-4D97-AF65-F5344CB8AC3E}">
        <p14:creationId xmlns:p14="http://schemas.microsoft.com/office/powerpoint/2010/main" val="3099259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SmartArt Placeholder 2"/>
          <p:cNvSpPr>
            <a:spLocks noGrp="1"/>
          </p:cNvSpPr>
          <p:nvPr>
            <p:ph type="dgm" idx="1"/>
          </p:nvPr>
        </p:nvSpPr>
        <p:spPr>
          <a:xfrm>
            <a:off x="457200" y="1600200"/>
            <a:ext cx="8229600" cy="4525963"/>
          </a:xfrm>
        </p:spPr>
        <p:txBody>
          <a:bodyPr/>
          <a:lstStyle/>
          <a:p>
            <a:endParaRPr lang="en-US"/>
          </a:p>
        </p:txBody>
      </p:sp>
      <p:sp>
        <p:nvSpPr>
          <p:cNvPr id="4" name="Date Placeholder 3"/>
          <p:cNvSpPr>
            <a:spLocks noGrp="1"/>
          </p:cNvSpPr>
          <p:nvPr>
            <p:ph type="dt" sz="half" idx="10"/>
          </p:nvPr>
        </p:nvSpPr>
        <p:spPr>
          <a:xfrm>
            <a:off x="457200" y="6245225"/>
            <a:ext cx="2133600" cy="476250"/>
          </a:xfrm>
        </p:spPr>
        <p:txBody>
          <a:bodyPr/>
          <a:lstStyle>
            <a:lvl1pPr>
              <a:defRPr/>
            </a:lvl1pPr>
          </a:lstStyle>
          <a:p>
            <a:endParaRPr lang="en-US"/>
          </a:p>
        </p:txBody>
      </p:sp>
      <p:sp>
        <p:nvSpPr>
          <p:cNvPr id="5" name="Footer Placeholder 4"/>
          <p:cNvSpPr>
            <a:spLocks noGrp="1"/>
          </p:cNvSpPr>
          <p:nvPr>
            <p:ph type="ftr" sz="quarter" idx="11"/>
          </p:nvPr>
        </p:nvSpPr>
        <p:spPr>
          <a:xfrm>
            <a:off x="3124200" y="6245225"/>
            <a:ext cx="2895600" cy="476250"/>
          </a:xfrm>
        </p:spPr>
        <p:txBody>
          <a:bodyPr/>
          <a:lstStyle>
            <a:lvl1pPr>
              <a:defRPr sz="1400"/>
            </a:lvl1pPr>
          </a:lstStyle>
          <a:p>
            <a:r>
              <a:rPr lang="en-US"/>
              <a:t>© Copyright 2026.  Peter M. Shane All rights reserved. </a:t>
            </a:r>
            <a:endParaRPr lang="en-US" sz="1200"/>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fld id="{E2993DED-4195-41F6-8A1C-8E35CC2AA82F}" type="slidenum">
              <a:rPr lang="en-US"/>
              <a:pPr/>
              <a:t>‹#›</a:t>
            </a:fld>
            <a:endParaRPr lang="en-US"/>
          </a:p>
        </p:txBody>
      </p:sp>
    </p:spTree>
    <p:extLst>
      <p:ext uri="{BB962C8B-B14F-4D97-AF65-F5344CB8AC3E}">
        <p14:creationId xmlns:p14="http://schemas.microsoft.com/office/powerpoint/2010/main" val="2679104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vl1pPr>
          </a:lstStyle>
          <a:p>
            <a:r>
              <a:rPr lang="en-US" sz="1400"/>
              <a:t>© Copyright 2026.  Peter M. Shane All rights reserved. </a:t>
            </a: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D40B5A1A-985F-4397-BA77-DE1D212F5B3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379F-321F-73E0-52C4-7B11EA6CEA91}"/>
              </a:ext>
            </a:extLst>
          </p:cNvPr>
          <p:cNvSpPr>
            <a:spLocks noGrp="1"/>
          </p:cNvSpPr>
          <p:nvPr>
            <p:ph type="title"/>
          </p:nvPr>
        </p:nvSpPr>
        <p:spPr/>
        <p:txBody>
          <a:bodyPr/>
          <a:lstStyle/>
          <a:p>
            <a:r>
              <a:rPr lang="en-US" dirty="0"/>
              <a:t>Recap of Class 10</a:t>
            </a:r>
          </a:p>
        </p:txBody>
      </p:sp>
      <p:sp>
        <p:nvSpPr>
          <p:cNvPr id="3" name="Content Placeholder 2">
            <a:extLst>
              <a:ext uri="{FF2B5EF4-FFF2-40B4-BE49-F238E27FC236}">
                <a16:creationId xmlns:a16="http://schemas.microsoft.com/office/drawing/2014/main" id="{78BC9699-22FE-D9F9-C951-7E5CF3F9C02E}"/>
              </a:ext>
            </a:extLst>
          </p:cNvPr>
          <p:cNvSpPr>
            <a:spLocks noGrp="1"/>
          </p:cNvSpPr>
          <p:nvPr>
            <p:ph idx="1"/>
          </p:nvPr>
        </p:nvSpPr>
        <p:spPr/>
        <p:txBody>
          <a:bodyPr/>
          <a:lstStyle/>
          <a:p>
            <a:pPr>
              <a:spcBef>
                <a:spcPts val="0"/>
              </a:spcBef>
            </a:pPr>
            <a:r>
              <a:rPr lang="en-US" sz="2600" dirty="0"/>
              <a:t>Discussed Court’s approaches to defining “officers,” “principal” v. “inferior” officers, and “employees”</a:t>
            </a:r>
          </a:p>
          <a:p>
            <a:pPr>
              <a:spcBef>
                <a:spcPts val="0"/>
              </a:spcBef>
            </a:pPr>
            <a:r>
              <a:rPr lang="en-US" sz="2600" i="1" dirty="0"/>
              <a:t>Arthrex</a:t>
            </a:r>
            <a:r>
              <a:rPr lang="en-US" sz="2600" dirty="0"/>
              <a:t>: Rendering adjudicative decisions that represent the “final word” of the executive branch is inconsistent with the status of “inferior” officer</a:t>
            </a:r>
            <a:endParaRPr lang="en-US" sz="2600" i="1" dirty="0"/>
          </a:p>
          <a:p>
            <a:pPr>
              <a:spcBef>
                <a:spcPts val="0"/>
              </a:spcBef>
            </a:pPr>
            <a:r>
              <a:rPr lang="en-US" sz="2600" dirty="0"/>
              <a:t>Highlighted </a:t>
            </a:r>
            <a:r>
              <a:rPr lang="en-US" sz="2600" i="1" dirty="0"/>
              <a:t>Arthrex’</a:t>
            </a:r>
            <a:r>
              <a:rPr lang="en-US" sz="2600" dirty="0"/>
              <a:t>s chain of command theory and the uncertainty surrounding interbranch appointments</a:t>
            </a:r>
          </a:p>
          <a:p>
            <a:pPr>
              <a:spcBef>
                <a:spcPts val="0"/>
              </a:spcBef>
            </a:pPr>
            <a:r>
              <a:rPr lang="en-US" sz="2600" dirty="0"/>
              <a:t>Discussed actual holding of </a:t>
            </a:r>
            <a:r>
              <a:rPr lang="en-US" sz="2600" i="1" dirty="0"/>
              <a:t>Myers</a:t>
            </a:r>
            <a:r>
              <a:rPr lang="en-US" sz="2600" dirty="0"/>
              <a:t> and Taft’s historical and functional arguments for a broad reading of POTUS removal power</a:t>
            </a:r>
          </a:p>
        </p:txBody>
      </p:sp>
      <p:sp>
        <p:nvSpPr>
          <p:cNvPr id="4" name="Footer Placeholder 3">
            <a:extLst>
              <a:ext uri="{FF2B5EF4-FFF2-40B4-BE49-F238E27FC236}">
                <a16:creationId xmlns:a16="http://schemas.microsoft.com/office/drawing/2014/main" id="{B306A05D-1F9D-6A69-184C-E8D55DFA099B}"/>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7E23393A-8CCF-AFFB-4C20-5B154E93CC9C}"/>
              </a:ext>
            </a:extLst>
          </p:cNvPr>
          <p:cNvSpPr>
            <a:spLocks noGrp="1"/>
          </p:cNvSpPr>
          <p:nvPr>
            <p:ph type="sldNum" sz="quarter" idx="12"/>
          </p:nvPr>
        </p:nvSpPr>
        <p:spPr/>
        <p:txBody>
          <a:bodyPr/>
          <a:lstStyle/>
          <a:p>
            <a:fld id="{19243C18-CE1F-4D3B-ABA9-FEC66CF84D9A}" type="slidenum">
              <a:rPr lang="en-US" smtClean="0"/>
              <a:pPr/>
              <a:t>1</a:t>
            </a:fld>
            <a:endParaRPr lang="en-US"/>
          </a:p>
        </p:txBody>
      </p:sp>
    </p:spTree>
    <p:extLst>
      <p:ext uri="{BB962C8B-B14F-4D97-AF65-F5344CB8AC3E}">
        <p14:creationId xmlns:p14="http://schemas.microsoft.com/office/powerpoint/2010/main" val="4249940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D2A06-BF61-E5B9-5C14-88BBE14F6B05}"/>
              </a:ext>
            </a:extLst>
          </p:cNvPr>
          <p:cNvSpPr>
            <a:spLocks noGrp="1"/>
          </p:cNvSpPr>
          <p:nvPr>
            <p:ph type="title"/>
          </p:nvPr>
        </p:nvSpPr>
        <p:spPr/>
        <p:txBody>
          <a:bodyPr/>
          <a:lstStyle/>
          <a:p>
            <a:r>
              <a:rPr lang="en-US" sz="4000" dirty="0"/>
              <a:t>Putting Together </a:t>
            </a:r>
            <a:r>
              <a:rPr lang="en-US" sz="4000" i="1" dirty="0"/>
              <a:t>Myers</a:t>
            </a:r>
            <a:r>
              <a:rPr lang="en-US" sz="4000" dirty="0"/>
              <a:t> </a:t>
            </a:r>
            <a:br>
              <a:rPr lang="en-US" sz="4000" dirty="0"/>
            </a:br>
            <a:r>
              <a:rPr lang="en-US" sz="4000" dirty="0"/>
              <a:t>Holding and Dicta</a:t>
            </a:r>
          </a:p>
        </p:txBody>
      </p:sp>
      <p:sp>
        <p:nvSpPr>
          <p:cNvPr id="3" name="Content Placeholder 2">
            <a:extLst>
              <a:ext uri="{FF2B5EF4-FFF2-40B4-BE49-F238E27FC236}">
                <a16:creationId xmlns:a16="http://schemas.microsoft.com/office/drawing/2014/main" id="{0069727C-9BE1-80C3-150A-DEB28AF0F64A}"/>
              </a:ext>
            </a:extLst>
          </p:cNvPr>
          <p:cNvSpPr>
            <a:spLocks noGrp="1"/>
          </p:cNvSpPr>
          <p:nvPr>
            <p:ph idx="1"/>
          </p:nvPr>
        </p:nvSpPr>
        <p:spPr/>
        <p:txBody>
          <a:bodyPr/>
          <a:lstStyle/>
          <a:p>
            <a:r>
              <a:rPr lang="en-US" dirty="0"/>
              <a:t>Congress may not insist on a Senate role in removing PAS appointees</a:t>
            </a:r>
          </a:p>
          <a:p>
            <a:endParaRPr lang="en-US" dirty="0"/>
          </a:p>
        </p:txBody>
      </p:sp>
      <p:sp>
        <p:nvSpPr>
          <p:cNvPr id="4" name="Footer Placeholder 3">
            <a:extLst>
              <a:ext uri="{FF2B5EF4-FFF2-40B4-BE49-F238E27FC236}">
                <a16:creationId xmlns:a16="http://schemas.microsoft.com/office/drawing/2014/main" id="{451D59EB-C46A-71F2-4A51-5BC07BBAEDF6}"/>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B2AEDFBA-51A4-4DDE-9397-826CEEDFA1D7}"/>
              </a:ext>
            </a:extLst>
          </p:cNvPr>
          <p:cNvSpPr>
            <a:spLocks noGrp="1"/>
          </p:cNvSpPr>
          <p:nvPr>
            <p:ph type="sldNum" sz="quarter" idx="12"/>
          </p:nvPr>
        </p:nvSpPr>
        <p:spPr/>
        <p:txBody>
          <a:bodyPr/>
          <a:lstStyle/>
          <a:p>
            <a:fld id="{19243C18-CE1F-4D3B-ABA9-FEC66CF84D9A}" type="slidenum">
              <a:rPr lang="en-US" smtClean="0"/>
              <a:pPr/>
              <a:t>2</a:t>
            </a:fld>
            <a:endParaRPr lang="en-US"/>
          </a:p>
        </p:txBody>
      </p:sp>
      <p:graphicFrame>
        <p:nvGraphicFramePr>
          <p:cNvPr id="7" name="Table 6">
            <a:extLst>
              <a:ext uri="{FF2B5EF4-FFF2-40B4-BE49-F238E27FC236}">
                <a16:creationId xmlns:a16="http://schemas.microsoft.com/office/drawing/2014/main" id="{8083AD7B-42BA-E52D-14C8-1B80A6AE8739}"/>
              </a:ext>
            </a:extLst>
          </p:cNvPr>
          <p:cNvGraphicFramePr>
            <a:graphicFrameLocks noGrp="1"/>
          </p:cNvGraphicFramePr>
          <p:nvPr>
            <p:extLst>
              <p:ext uri="{D42A27DB-BD31-4B8C-83A1-F6EECF244321}">
                <p14:modId xmlns:p14="http://schemas.microsoft.com/office/powerpoint/2010/main" val="3801890115"/>
              </p:ext>
            </p:extLst>
          </p:nvPr>
        </p:nvGraphicFramePr>
        <p:xfrm>
          <a:off x="914400" y="2819400"/>
          <a:ext cx="7391400" cy="3205480"/>
        </p:xfrm>
        <a:graphic>
          <a:graphicData uri="http://schemas.openxmlformats.org/drawingml/2006/table">
            <a:tbl>
              <a:tblPr firstRow="1" bandRow="1">
                <a:tableStyleId>{5C22544A-7EE6-4342-B048-85BDC9FD1C3A}</a:tableStyleId>
              </a:tblPr>
              <a:tblGrid>
                <a:gridCol w="3695700">
                  <a:extLst>
                    <a:ext uri="{9D8B030D-6E8A-4147-A177-3AD203B41FA5}">
                      <a16:colId xmlns:a16="http://schemas.microsoft.com/office/drawing/2014/main" val="881237659"/>
                    </a:ext>
                  </a:extLst>
                </a:gridCol>
                <a:gridCol w="3695700">
                  <a:extLst>
                    <a:ext uri="{9D8B030D-6E8A-4147-A177-3AD203B41FA5}">
                      <a16:colId xmlns:a16="http://schemas.microsoft.com/office/drawing/2014/main" val="251749562"/>
                    </a:ext>
                  </a:extLst>
                </a:gridCol>
              </a:tblGrid>
              <a:tr h="370840">
                <a:tc>
                  <a:txBody>
                    <a:bodyPr/>
                    <a:lstStyle/>
                    <a:p>
                      <a:r>
                        <a:rPr lang="en-US" b="0" dirty="0">
                          <a:solidFill>
                            <a:schemeClr val="tx1"/>
                          </a:solidFill>
                        </a:rPr>
                        <a:t>Status of Officer</a:t>
                      </a:r>
                    </a:p>
                  </a:txBody>
                  <a:tcPr/>
                </a:tc>
                <a:tc>
                  <a:txBody>
                    <a:bodyPr/>
                    <a:lstStyle/>
                    <a:p>
                      <a:r>
                        <a:rPr lang="en-US" b="0" dirty="0">
                          <a:solidFill>
                            <a:schemeClr val="tx1"/>
                          </a:solidFill>
                        </a:rPr>
                        <a:t>Taft’s View on Removability by the President</a:t>
                      </a:r>
                    </a:p>
                  </a:txBody>
                  <a:tcPr/>
                </a:tc>
                <a:extLst>
                  <a:ext uri="{0D108BD9-81ED-4DB2-BD59-A6C34878D82A}">
                    <a16:rowId xmlns:a16="http://schemas.microsoft.com/office/drawing/2014/main" val="3467047623"/>
                  </a:ext>
                </a:extLst>
              </a:tr>
              <a:tr h="370840">
                <a:tc>
                  <a:txBody>
                    <a:bodyPr/>
                    <a:lstStyle/>
                    <a:p>
                      <a:r>
                        <a:rPr lang="en-US" dirty="0"/>
                        <a:t>Principal Officer </a:t>
                      </a:r>
                    </a:p>
                  </a:txBody>
                  <a:tcPr/>
                </a:tc>
                <a:tc>
                  <a:txBody>
                    <a:bodyPr/>
                    <a:lstStyle/>
                    <a:p>
                      <a:r>
                        <a:rPr lang="en-US" dirty="0"/>
                        <a:t>Must be removable at will</a:t>
                      </a:r>
                    </a:p>
                  </a:txBody>
                  <a:tcPr/>
                </a:tc>
                <a:extLst>
                  <a:ext uri="{0D108BD9-81ED-4DB2-BD59-A6C34878D82A}">
                    <a16:rowId xmlns:a16="http://schemas.microsoft.com/office/drawing/2014/main" val="716843950"/>
                  </a:ext>
                </a:extLst>
              </a:tr>
              <a:tr h="370840">
                <a:tc>
                  <a:txBody>
                    <a:bodyPr/>
                    <a:lstStyle/>
                    <a:p>
                      <a:r>
                        <a:rPr lang="en-US" dirty="0"/>
                        <a:t>Inferior officer appointed by the President with advice and consent</a:t>
                      </a:r>
                    </a:p>
                  </a:txBody>
                  <a:tcPr/>
                </a:tc>
                <a:tc>
                  <a:txBody>
                    <a:bodyPr/>
                    <a:lstStyle/>
                    <a:p>
                      <a:r>
                        <a:rPr lang="en-US" dirty="0"/>
                        <a:t>Must be removable at will</a:t>
                      </a:r>
                    </a:p>
                  </a:txBody>
                  <a:tcPr/>
                </a:tc>
                <a:extLst>
                  <a:ext uri="{0D108BD9-81ED-4DB2-BD59-A6C34878D82A}">
                    <a16:rowId xmlns:a16="http://schemas.microsoft.com/office/drawing/2014/main" val="2869467966"/>
                  </a:ext>
                </a:extLst>
              </a:tr>
              <a:tr h="370840">
                <a:tc>
                  <a:txBody>
                    <a:bodyPr/>
                    <a:lstStyle/>
                    <a:p>
                      <a:r>
                        <a:rPr lang="en-US" dirty="0"/>
                        <a:t>Inferior officer appointed by the President unilaterally</a:t>
                      </a:r>
                    </a:p>
                  </a:txBody>
                  <a:tcPr/>
                </a:tc>
                <a:tc>
                  <a:txBody>
                    <a:bodyPr/>
                    <a:lstStyle/>
                    <a:p>
                      <a:r>
                        <a:rPr lang="en-US" dirty="0"/>
                        <a:t>Leans towards removal at will, but leaves it undecided</a:t>
                      </a:r>
                    </a:p>
                  </a:txBody>
                  <a:tcPr/>
                </a:tc>
                <a:extLst>
                  <a:ext uri="{0D108BD9-81ED-4DB2-BD59-A6C34878D82A}">
                    <a16:rowId xmlns:a16="http://schemas.microsoft.com/office/drawing/2014/main" val="2809057010"/>
                  </a:ext>
                </a:extLst>
              </a:tr>
              <a:tr h="370840">
                <a:tc>
                  <a:txBody>
                    <a:bodyPr/>
                    <a:lstStyle/>
                    <a:p>
                      <a:r>
                        <a:rPr lang="en-US" dirty="0"/>
                        <a:t>Inferior officer appointed by heads of departments or courts</a:t>
                      </a:r>
                    </a:p>
                  </a:txBody>
                  <a:tcPr/>
                </a:tc>
                <a:tc>
                  <a:txBody>
                    <a:bodyPr/>
                    <a:lstStyle/>
                    <a:p>
                      <a:r>
                        <a:rPr lang="en-US" dirty="0"/>
                        <a:t>Removal power goes with appointing official and may be limited by statutory conditions</a:t>
                      </a:r>
                    </a:p>
                  </a:txBody>
                  <a:tcPr/>
                </a:tc>
                <a:extLst>
                  <a:ext uri="{0D108BD9-81ED-4DB2-BD59-A6C34878D82A}">
                    <a16:rowId xmlns:a16="http://schemas.microsoft.com/office/drawing/2014/main" val="2735598264"/>
                  </a:ext>
                </a:extLst>
              </a:tr>
            </a:tbl>
          </a:graphicData>
        </a:graphic>
      </p:graphicFrame>
    </p:spTree>
    <p:extLst>
      <p:ext uri="{BB962C8B-B14F-4D97-AF65-F5344CB8AC3E}">
        <p14:creationId xmlns:p14="http://schemas.microsoft.com/office/powerpoint/2010/main" val="2309126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Footer Placeholder 4">
            <a:extLst>
              <a:ext uri="{FF2B5EF4-FFF2-40B4-BE49-F238E27FC236}">
                <a16:creationId xmlns:a16="http://schemas.microsoft.com/office/drawing/2014/main" id="{B8251EFB-4774-448A-C535-8522B77A91E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22530" name="Rectangle 2">
            <a:extLst>
              <a:ext uri="{FF2B5EF4-FFF2-40B4-BE49-F238E27FC236}">
                <a16:creationId xmlns:a16="http://schemas.microsoft.com/office/drawing/2014/main" id="{D9180448-47E0-AA6F-C9CB-CB2739C34C90}"/>
              </a:ext>
            </a:extLst>
          </p:cNvPr>
          <p:cNvSpPr>
            <a:spLocks noGrp="1" noChangeArrowheads="1"/>
          </p:cNvSpPr>
          <p:nvPr>
            <p:ph type="title"/>
          </p:nvPr>
        </p:nvSpPr>
        <p:spPr/>
        <p:txBody>
          <a:bodyPr/>
          <a:lstStyle/>
          <a:p>
            <a:pPr eaLnBrk="1" hangingPunct="1"/>
            <a:r>
              <a:rPr lang="en-US" altLang="en-US" i="1" dirty="0"/>
              <a:t>Humphrey’s Executor</a:t>
            </a:r>
          </a:p>
        </p:txBody>
      </p:sp>
      <p:sp>
        <p:nvSpPr>
          <p:cNvPr id="22531" name="Rectangle 3">
            <a:extLst>
              <a:ext uri="{FF2B5EF4-FFF2-40B4-BE49-F238E27FC236}">
                <a16:creationId xmlns:a16="http://schemas.microsoft.com/office/drawing/2014/main" id="{33B60C98-6301-47C4-5DEE-54E4A6BDC3F5}"/>
              </a:ext>
            </a:extLst>
          </p:cNvPr>
          <p:cNvSpPr>
            <a:spLocks noGrp="1" noChangeArrowheads="1"/>
          </p:cNvSpPr>
          <p:nvPr>
            <p:ph type="body" idx="1"/>
          </p:nvPr>
        </p:nvSpPr>
        <p:spPr>
          <a:xfrm>
            <a:off x="474406" y="1371600"/>
            <a:ext cx="8229600" cy="4525963"/>
          </a:xfrm>
        </p:spPr>
        <p:txBody>
          <a:bodyPr/>
          <a:lstStyle/>
          <a:p>
            <a:pPr eaLnBrk="1" hangingPunct="1">
              <a:lnSpc>
                <a:spcPct val="90000"/>
              </a:lnSpc>
            </a:pPr>
            <a:r>
              <a:rPr lang="en-US" altLang="en-US" sz="2800" dirty="0"/>
              <a:t>Congress held to be allowed to limit the President’s removal power over FTC members to good cause</a:t>
            </a:r>
          </a:p>
          <a:p>
            <a:pPr eaLnBrk="1" hangingPunct="1">
              <a:lnSpc>
                <a:spcPct val="90000"/>
              </a:lnSpc>
            </a:pPr>
            <a:r>
              <a:rPr lang="en-US" altLang="en-US" sz="2800" dirty="0"/>
              <a:t>Unanimous decision of an ideologically diverse, intellectually heavyweight Court</a:t>
            </a:r>
          </a:p>
          <a:p>
            <a:pPr eaLnBrk="1" hangingPunct="1">
              <a:lnSpc>
                <a:spcPct val="90000"/>
              </a:lnSpc>
            </a:pPr>
            <a:r>
              <a:rPr lang="en-US" altLang="en-US" sz="2800" dirty="0"/>
              <a:t>Court’s framework – puzzling language on 187</a:t>
            </a:r>
          </a:p>
          <a:p>
            <a:pPr lvl="1" eaLnBrk="1" hangingPunct="1">
              <a:lnSpc>
                <a:spcPct val="90000"/>
              </a:lnSpc>
              <a:spcBef>
                <a:spcPts val="0"/>
              </a:spcBef>
            </a:pPr>
            <a:r>
              <a:rPr lang="en-US" altLang="en-US" dirty="0"/>
              <a:t>Postmaster = purely executive (no legislative or judicial power)</a:t>
            </a:r>
          </a:p>
          <a:p>
            <a:pPr lvl="1" eaLnBrk="1" hangingPunct="1">
              <a:lnSpc>
                <a:spcPct val="90000"/>
              </a:lnSpc>
              <a:spcBef>
                <a:spcPts val="0"/>
              </a:spcBef>
            </a:pPr>
            <a:r>
              <a:rPr lang="en-US" altLang="en-US" dirty="0"/>
              <a:t>FTC has quasi-leg powers and quasi-judicial powers</a:t>
            </a:r>
          </a:p>
          <a:p>
            <a:pPr lvl="1" eaLnBrk="1" hangingPunct="1">
              <a:lnSpc>
                <a:spcPct val="90000"/>
              </a:lnSpc>
              <a:spcBef>
                <a:spcPts val="0"/>
              </a:spcBef>
            </a:pPr>
            <a:r>
              <a:rPr lang="en-US" altLang="en-US" i="1" dirty="0"/>
              <a:t>Myers</a:t>
            </a:r>
            <a:r>
              <a:rPr lang="en-US" altLang="en-US" dirty="0"/>
              <a:t> limited to purely executive officers</a:t>
            </a:r>
          </a:p>
        </p:txBody>
      </p:sp>
      <p:sp>
        <p:nvSpPr>
          <p:cNvPr id="22532" name="Slide Number Placeholder 1">
            <a:extLst>
              <a:ext uri="{FF2B5EF4-FFF2-40B4-BE49-F238E27FC236}">
                <a16:creationId xmlns:a16="http://schemas.microsoft.com/office/drawing/2014/main" id="{0DF88190-9F56-00E5-FDA7-28CCA53BA23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C99E384-CF75-4384-9AAD-1A1B47AD8471}" type="slidenum">
              <a:rPr lang="en-US" altLang="en-US" sz="1400" smtClean="0"/>
              <a:pPr>
                <a:spcBef>
                  <a:spcPct val="0"/>
                </a:spcBef>
                <a:buFontTx/>
                <a:buNone/>
              </a:pPr>
              <a:t>3</a:t>
            </a:fld>
            <a:endParaRPr lang="en-US" altLang="en-US" sz="1400" dirty="0"/>
          </a:p>
        </p:txBody>
      </p:sp>
    </p:spTree>
    <p:extLst>
      <p:ext uri="{BB962C8B-B14F-4D97-AF65-F5344CB8AC3E}">
        <p14:creationId xmlns:p14="http://schemas.microsoft.com/office/powerpoint/2010/main" val="4293876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187D01D9-976F-2573-8FAF-6624B5AB94A1}"/>
              </a:ext>
            </a:extLst>
          </p:cNvPr>
          <p:cNvSpPr>
            <a:spLocks noGrp="1" noChangeArrowheads="1"/>
          </p:cNvSpPr>
          <p:nvPr>
            <p:ph type="title"/>
          </p:nvPr>
        </p:nvSpPr>
        <p:spPr/>
        <p:txBody>
          <a:bodyPr/>
          <a:lstStyle/>
          <a:p>
            <a:r>
              <a:rPr lang="en-US" altLang="en-US"/>
              <a:t>Unraveling the Puzzle?</a:t>
            </a:r>
          </a:p>
        </p:txBody>
      </p:sp>
      <p:sp>
        <p:nvSpPr>
          <p:cNvPr id="23554" name="Content Placeholder 2">
            <a:extLst>
              <a:ext uri="{FF2B5EF4-FFF2-40B4-BE49-F238E27FC236}">
                <a16:creationId xmlns:a16="http://schemas.microsoft.com/office/drawing/2014/main" id="{B3D76D19-9DC3-ACC6-85C7-0A6268765CE7}"/>
              </a:ext>
            </a:extLst>
          </p:cNvPr>
          <p:cNvSpPr>
            <a:spLocks noGrp="1" noChangeArrowheads="1"/>
          </p:cNvSpPr>
          <p:nvPr>
            <p:ph idx="1"/>
          </p:nvPr>
        </p:nvSpPr>
        <p:spPr/>
        <p:txBody>
          <a:bodyPr/>
          <a:lstStyle/>
          <a:p>
            <a:pPr marL="0" indent="0">
              <a:buFontTx/>
              <a:buNone/>
            </a:pPr>
            <a:r>
              <a:rPr lang="en-US" altLang="en-US" sz="2600"/>
              <a:t>“Such a body cannot in any proper sense be characterized as an arm or an eye of the executive. Its duties are performed without executive leave, and, in the contemplation of the statute, must be free from executive control. To the extent that it exercises any </a:t>
            </a:r>
            <a:r>
              <a:rPr lang="en-US" altLang="en-US" sz="2600" u="sng"/>
              <a:t>executive function</a:t>
            </a:r>
            <a:r>
              <a:rPr lang="en-US" altLang="en-US" sz="2600"/>
              <a:t> -- as distinguished from </a:t>
            </a:r>
            <a:r>
              <a:rPr lang="en-US" altLang="en-US" sz="2600" u="sng"/>
              <a:t>executive power in the constitutional sense </a:t>
            </a:r>
            <a:r>
              <a:rPr lang="en-US" altLang="en-US" sz="2600"/>
              <a:t>-- it does so in the discharge and effectuation of its quasi-legislative or quasi-judicial powers, or as an agency of the legislative or judicial departments of the Government.”</a:t>
            </a:r>
          </a:p>
          <a:p>
            <a:pPr marL="0" indent="0">
              <a:buFontTx/>
              <a:buNone/>
            </a:pPr>
            <a:endParaRPr lang="en-US" altLang="en-US"/>
          </a:p>
        </p:txBody>
      </p:sp>
      <p:sp>
        <p:nvSpPr>
          <p:cNvPr id="23555" name="Footer Placeholder 3">
            <a:extLst>
              <a:ext uri="{FF2B5EF4-FFF2-40B4-BE49-F238E27FC236}">
                <a16:creationId xmlns:a16="http://schemas.microsoft.com/office/drawing/2014/main" id="{DCDC2A06-DD38-70DF-B24B-90D8B54FE55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23556" name="Slide Number Placeholder 4">
            <a:extLst>
              <a:ext uri="{FF2B5EF4-FFF2-40B4-BE49-F238E27FC236}">
                <a16:creationId xmlns:a16="http://schemas.microsoft.com/office/drawing/2014/main" id="{3ECE0429-82BB-2CCC-CE45-4F54A34B81A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1DF08C4-87C8-4A0A-9B3E-234A578DFC7B}" type="slidenum">
              <a:rPr lang="en-US" altLang="en-US" sz="1400" smtClean="0"/>
              <a:pPr>
                <a:spcBef>
                  <a:spcPct val="0"/>
                </a:spcBef>
                <a:buFontTx/>
                <a:buNone/>
              </a:pPr>
              <a:t>4</a:t>
            </a:fld>
            <a:endParaRPr lang="en-US" altLang="en-US" sz="1400"/>
          </a:p>
        </p:txBody>
      </p:sp>
    </p:spTree>
    <p:extLst>
      <p:ext uri="{BB962C8B-B14F-4D97-AF65-F5344CB8AC3E}">
        <p14:creationId xmlns:p14="http://schemas.microsoft.com/office/powerpoint/2010/main" val="78736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Footer Placeholder 4">
            <a:extLst>
              <a:ext uri="{FF2B5EF4-FFF2-40B4-BE49-F238E27FC236}">
                <a16:creationId xmlns:a16="http://schemas.microsoft.com/office/drawing/2014/main" id="{C58432CD-2B4A-E585-1CE2-36456901EE0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24578" name="Rectangle 2">
            <a:extLst>
              <a:ext uri="{FF2B5EF4-FFF2-40B4-BE49-F238E27FC236}">
                <a16:creationId xmlns:a16="http://schemas.microsoft.com/office/drawing/2014/main" id="{90064ACF-5A75-5C46-D2D3-7D2AF7FB5FB0}"/>
              </a:ext>
            </a:extLst>
          </p:cNvPr>
          <p:cNvSpPr>
            <a:spLocks noGrp="1" noChangeArrowheads="1"/>
          </p:cNvSpPr>
          <p:nvPr>
            <p:ph type="title"/>
          </p:nvPr>
        </p:nvSpPr>
        <p:spPr/>
        <p:txBody>
          <a:bodyPr/>
          <a:lstStyle/>
          <a:p>
            <a:pPr eaLnBrk="1" hangingPunct="1"/>
            <a:r>
              <a:rPr lang="en-US" altLang="en-US" dirty="0"/>
              <a:t>Analyzing </a:t>
            </a:r>
            <a:r>
              <a:rPr lang="en-US" altLang="en-US" i="1" dirty="0"/>
              <a:t>Bowsher </a:t>
            </a:r>
            <a:r>
              <a:rPr lang="en-US" altLang="en-US" dirty="0"/>
              <a:t>[192]</a:t>
            </a:r>
            <a:endParaRPr lang="en-US" altLang="en-US" sz="2800" dirty="0"/>
          </a:p>
        </p:txBody>
      </p:sp>
      <p:sp>
        <p:nvSpPr>
          <p:cNvPr id="5123" name="Rectangle 3">
            <a:extLst>
              <a:ext uri="{FF2B5EF4-FFF2-40B4-BE49-F238E27FC236}">
                <a16:creationId xmlns:a16="http://schemas.microsoft.com/office/drawing/2014/main" id="{74981D3E-C87E-0EF5-B961-9A1333CB7BCE}"/>
              </a:ext>
            </a:extLst>
          </p:cNvPr>
          <p:cNvSpPr>
            <a:spLocks noGrp="1" noChangeArrowheads="1"/>
          </p:cNvSpPr>
          <p:nvPr>
            <p:ph type="body" idx="1"/>
          </p:nvPr>
        </p:nvSpPr>
        <p:spPr/>
        <p:txBody>
          <a:bodyPr/>
          <a:lstStyle/>
          <a:p>
            <a:pPr eaLnBrk="1" hangingPunct="1"/>
            <a:r>
              <a:rPr lang="en-US" altLang="en-US" sz="2800" dirty="0"/>
              <a:t>Under statute, CG could be removed either by impeachment (House majority + 2/3 of Senators) OR by statute (majority of both Houses + President OR 2/3 of both Houses after a veto)</a:t>
            </a:r>
          </a:p>
          <a:p>
            <a:pPr eaLnBrk="1" hangingPunct="1"/>
            <a:r>
              <a:rPr lang="en-US" altLang="en-US" sz="2800" dirty="0"/>
              <a:t>President’s legal obligations can only be created by:</a:t>
            </a:r>
          </a:p>
          <a:p>
            <a:pPr lvl="1" eaLnBrk="1" hangingPunct="1"/>
            <a:r>
              <a:rPr lang="en-US" altLang="en-US" sz="2400" dirty="0"/>
              <a:t>Congress (through legislation)</a:t>
            </a:r>
          </a:p>
          <a:p>
            <a:pPr lvl="1" eaLnBrk="1" hangingPunct="1"/>
            <a:r>
              <a:rPr lang="en-US" altLang="en-US" sz="2400" dirty="0"/>
              <a:t>Courts</a:t>
            </a:r>
          </a:p>
          <a:p>
            <a:pPr lvl="1" eaLnBrk="1" hangingPunct="1"/>
            <a:r>
              <a:rPr lang="en-US" altLang="en-US" sz="2400" dirty="0"/>
              <a:t>Officers of the United States </a:t>
            </a:r>
          </a:p>
        </p:txBody>
      </p:sp>
      <p:sp>
        <p:nvSpPr>
          <p:cNvPr id="24580" name="Slide Number Placeholder 1">
            <a:extLst>
              <a:ext uri="{FF2B5EF4-FFF2-40B4-BE49-F238E27FC236}">
                <a16:creationId xmlns:a16="http://schemas.microsoft.com/office/drawing/2014/main" id="{EA757D3C-165A-B938-DFCC-C025945513C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2072A32-97E5-4359-8C27-9B38B68A13B9}" type="slidenum">
              <a:rPr lang="en-US" altLang="en-US" sz="1400" smtClean="0"/>
              <a:pPr>
                <a:spcBef>
                  <a:spcPct val="0"/>
                </a:spcBef>
                <a:buFontTx/>
                <a:buNone/>
              </a:pPr>
              <a:t>5</a:t>
            </a:fld>
            <a:endParaRPr lang="en-US" altLang="en-US" sz="1400"/>
          </a:p>
        </p:txBody>
      </p:sp>
    </p:spTree>
    <p:extLst>
      <p:ext uri="{BB962C8B-B14F-4D97-AF65-F5344CB8AC3E}">
        <p14:creationId xmlns:p14="http://schemas.microsoft.com/office/powerpoint/2010/main" val="11149280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 calcmode="lin" valueType="num">
                                      <p:cBhvr additive="base">
                                        <p:cTn id="17" dur="500" fill="hold"/>
                                        <p:tgtEl>
                                          <p:spTgt spid="512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12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5123">
                                            <p:txEl>
                                              <p:pRg st="3" end="3"/>
                                            </p:txEl>
                                          </p:spTgt>
                                        </p:tgtEl>
                                        <p:attrNameLst>
                                          <p:attrName>style.visibility</p:attrName>
                                        </p:attrNameLst>
                                      </p:cBhvr>
                                      <p:to>
                                        <p:strVal val="visible"/>
                                      </p:to>
                                    </p:set>
                                    <p:anim calcmode="lin" valueType="num">
                                      <p:cBhvr additive="base">
                                        <p:cTn id="21" dur="500" fill="hold"/>
                                        <p:tgtEl>
                                          <p:spTgt spid="512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12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5123">
                                            <p:txEl>
                                              <p:pRg st="4" end="4"/>
                                            </p:txEl>
                                          </p:spTgt>
                                        </p:tgtEl>
                                        <p:attrNameLst>
                                          <p:attrName>style.visibility</p:attrName>
                                        </p:attrNameLst>
                                      </p:cBhvr>
                                      <p:to>
                                        <p:strVal val="visible"/>
                                      </p:to>
                                    </p:set>
                                    <p:anim calcmode="lin" valueType="num">
                                      <p:cBhvr additive="base">
                                        <p:cTn id="25" dur="500" fill="hold"/>
                                        <p:tgtEl>
                                          <p:spTgt spid="512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12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4">
            <a:extLst>
              <a:ext uri="{FF2B5EF4-FFF2-40B4-BE49-F238E27FC236}">
                <a16:creationId xmlns:a16="http://schemas.microsoft.com/office/drawing/2014/main" id="{B649BEB5-E34C-4540-4EAA-E4B888BFEF6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25602" name="Rectangle 2">
            <a:extLst>
              <a:ext uri="{FF2B5EF4-FFF2-40B4-BE49-F238E27FC236}">
                <a16:creationId xmlns:a16="http://schemas.microsoft.com/office/drawing/2014/main" id="{7250A5AE-EA82-3A68-D9D3-555892E84712}"/>
              </a:ext>
            </a:extLst>
          </p:cNvPr>
          <p:cNvSpPr>
            <a:spLocks noGrp="1" noChangeArrowheads="1"/>
          </p:cNvSpPr>
          <p:nvPr>
            <p:ph type="title"/>
          </p:nvPr>
        </p:nvSpPr>
        <p:spPr/>
        <p:txBody>
          <a:bodyPr/>
          <a:lstStyle/>
          <a:p>
            <a:pPr eaLnBrk="1" hangingPunct="1"/>
            <a:r>
              <a:rPr lang="en-US" altLang="en-US"/>
              <a:t>Congress’s Plea</a:t>
            </a:r>
          </a:p>
        </p:txBody>
      </p:sp>
      <p:sp>
        <p:nvSpPr>
          <p:cNvPr id="25603" name="Rectangle 3">
            <a:extLst>
              <a:ext uri="{FF2B5EF4-FFF2-40B4-BE49-F238E27FC236}">
                <a16:creationId xmlns:a16="http://schemas.microsoft.com/office/drawing/2014/main" id="{7033BCC5-B08E-AB77-F1F3-E51FB6E687B5}"/>
              </a:ext>
            </a:extLst>
          </p:cNvPr>
          <p:cNvSpPr>
            <a:spLocks noGrp="1" noChangeArrowheads="1"/>
          </p:cNvSpPr>
          <p:nvPr>
            <p:ph type="body" idx="1"/>
          </p:nvPr>
        </p:nvSpPr>
        <p:spPr/>
        <p:txBody>
          <a:bodyPr/>
          <a:lstStyle/>
          <a:p>
            <a:pPr eaLnBrk="1" hangingPunct="1">
              <a:spcBef>
                <a:spcPts val="0"/>
              </a:spcBef>
            </a:pPr>
            <a:r>
              <a:rPr lang="en-US" altLang="en-US" sz="2400" dirty="0"/>
              <a:t>Why read the constitutional provision of impeachment power as EXCLUSIVE when:</a:t>
            </a:r>
          </a:p>
          <a:p>
            <a:pPr lvl="1" eaLnBrk="1" hangingPunct="1">
              <a:spcBef>
                <a:spcPts val="0"/>
              </a:spcBef>
            </a:pPr>
            <a:r>
              <a:rPr lang="en-US" altLang="en-US" sz="2200" dirty="0"/>
              <a:t>The Constitution does not explicitly state that Congress has no other means of removing officers of the United States from their position </a:t>
            </a:r>
          </a:p>
          <a:p>
            <a:pPr lvl="1" eaLnBrk="1" hangingPunct="1">
              <a:spcBef>
                <a:spcPts val="0"/>
              </a:spcBef>
            </a:pPr>
            <a:r>
              <a:rPr lang="en-US" altLang="en-US" sz="2200" dirty="0"/>
              <a:t>The Constitution allows Congress to make all laws N &amp; P for carrying into execution ANY powers vested in the government</a:t>
            </a:r>
          </a:p>
          <a:p>
            <a:pPr lvl="1" eaLnBrk="1" hangingPunct="1">
              <a:spcBef>
                <a:spcPts val="0"/>
              </a:spcBef>
            </a:pPr>
            <a:r>
              <a:rPr lang="en-US" altLang="en-US" sz="2200" dirty="0"/>
              <a:t>No real showing of aggrandizement in practice (functionalism)</a:t>
            </a:r>
          </a:p>
          <a:p>
            <a:pPr eaLnBrk="1" hangingPunct="1">
              <a:spcBef>
                <a:spcPts val="0"/>
              </a:spcBef>
            </a:pPr>
            <a:r>
              <a:rPr lang="en-US" altLang="en-US" sz="2400" dirty="0"/>
              <a:t>Court rejects—Congress cannot make binding policy by controlling executive functions through removal leverage over officers</a:t>
            </a:r>
          </a:p>
        </p:txBody>
      </p:sp>
      <p:sp>
        <p:nvSpPr>
          <p:cNvPr id="25604" name="Slide Number Placeholder 1">
            <a:extLst>
              <a:ext uri="{FF2B5EF4-FFF2-40B4-BE49-F238E27FC236}">
                <a16:creationId xmlns:a16="http://schemas.microsoft.com/office/drawing/2014/main" id="{8F96474B-1719-E2FE-9077-6BFC3B8D848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0074013-1131-493B-BB5F-3995B3993252}" type="slidenum">
              <a:rPr lang="en-US" altLang="en-US" sz="1400" smtClean="0"/>
              <a:pPr>
                <a:spcBef>
                  <a:spcPct val="0"/>
                </a:spcBef>
                <a:buFontTx/>
                <a:buNone/>
              </a:pPr>
              <a:t>6</a:t>
            </a:fld>
            <a:endParaRPr lang="en-US" altLang="en-US" sz="1400"/>
          </a:p>
        </p:txBody>
      </p:sp>
    </p:spTree>
    <p:extLst>
      <p:ext uri="{BB962C8B-B14F-4D97-AF65-F5344CB8AC3E}">
        <p14:creationId xmlns:p14="http://schemas.microsoft.com/office/powerpoint/2010/main" val="1428590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z="4000" dirty="0"/>
              <a:t>Independent Counsel Provisions</a:t>
            </a:r>
          </a:p>
        </p:txBody>
      </p:sp>
      <p:sp>
        <p:nvSpPr>
          <p:cNvPr id="3075" name="Rectangle 3"/>
          <p:cNvSpPr>
            <a:spLocks noGrp="1" noChangeArrowheads="1"/>
          </p:cNvSpPr>
          <p:nvPr>
            <p:ph type="body" idx="1"/>
          </p:nvPr>
        </p:nvSpPr>
        <p:spPr/>
        <p:txBody>
          <a:bodyPr/>
          <a:lstStyle/>
          <a:p>
            <a:pPr>
              <a:lnSpc>
                <a:spcPct val="90000"/>
              </a:lnSpc>
            </a:pPr>
            <a:r>
              <a:rPr lang="en-US" sz="2400" dirty="0"/>
              <a:t>Applies to cabinet and other high-level political officials and chair of the President’s election campaign</a:t>
            </a:r>
          </a:p>
          <a:p>
            <a:pPr>
              <a:lnSpc>
                <a:spcPct val="90000"/>
              </a:lnSpc>
            </a:pPr>
            <a:r>
              <a:rPr lang="en-US" sz="2400" dirty="0"/>
              <a:t>If the AG got specific info that a covered official had committed a nontrivial federal offense (felony), the AG would 90 days to investigate</a:t>
            </a:r>
          </a:p>
          <a:p>
            <a:pPr lvl="1">
              <a:lnSpc>
                <a:spcPct val="90000"/>
              </a:lnSpc>
            </a:pPr>
            <a:r>
              <a:rPr lang="en-US" sz="2000" dirty="0"/>
              <a:t>AG can decide there’s no need for further investigation, there is a basis for prosecution, or “I don’t know”</a:t>
            </a:r>
          </a:p>
          <a:p>
            <a:pPr lvl="1">
              <a:lnSpc>
                <a:spcPct val="90000"/>
              </a:lnSpc>
            </a:pPr>
            <a:r>
              <a:rPr lang="en-US" sz="2000" dirty="0"/>
              <a:t>Whatever AG decides is not subject to judicial review</a:t>
            </a:r>
          </a:p>
          <a:p>
            <a:pPr>
              <a:lnSpc>
                <a:spcPct val="90000"/>
              </a:lnSpc>
            </a:pPr>
            <a:r>
              <a:rPr lang="en-US" sz="2400" dirty="0"/>
              <a:t>If the AG does anything other than the first. AG is required to apply to a special panel of the U.S. Court of Appeals for the DC Circuit to appoint an independent counsel</a:t>
            </a:r>
          </a:p>
        </p:txBody>
      </p:sp>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2" name="Slide Number Placeholder 1">
            <a:extLst>
              <a:ext uri="{FF2B5EF4-FFF2-40B4-BE49-F238E27FC236}">
                <a16:creationId xmlns:a16="http://schemas.microsoft.com/office/drawing/2014/main" id="{4A0C29C8-86C1-6E05-4C3D-DCD410565D3C}"/>
              </a:ext>
            </a:extLst>
          </p:cNvPr>
          <p:cNvSpPr>
            <a:spLocks noGrp="1"/>
          </p:cNvSpPr>
          <p:nvPr>
            <p:ph type="sldNum" sz="quarter" idx="12"/>
          </p:nvPr>
        </p:nvSpPr>
        <p:spPr/>
        <p:txBody>
          <a:bodyPr/>
          <a:lstStyle/>
          <a:p>
            <a:pPr>
              <a:defRPr/>
            </a:pPr>
            <a:fld id="{E3574F4A-C3CF-4B85-9364-62150E7DAB4B}" type="slidenum">
              <a:rPr lang="en-US" altLang="en-US" smtClean="0"/>
              <a:pPr>
                <a:defRPr/>
              </a:pPr>
              <a:t>7</a:t>
            </a:fld>
            <a:endParaRPr lang="en-US" altLang="en-US"/>
          </a:p>
        </p:txBody>
      </p:sp>
    </p:spTree>
    <p:extLst>
      <p:ext uri="{BB962C8B-B14F-4D97-AF65-F5344CB8AC3E}">
        <p14:creationId xmlns:p14="http://schemas.microsoft.com/office/powerpoint/2010/main" val="462859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Good Cause Removal of IC</a:t>
            </a:r>
          </a:p>
        </p:txBody>
      </p:sp>
      <p:sp>
        <p:nvSpPr>
          <p:cNvPr id="16387" name="Content Placeholder 2"/>
          <p:cNvSpPr>
            <a:spLocks noGrp="1"/>
          </p:cNvSpPr>
          <p:nvPr>
            <p:ph idx="1"/>
          </p:nvPr>
        </p:nvSpPr>
        <p:spPr/>
        <p:txBody>
          <a:bodyPr/>
          <a:lstStyle/>
          <a:p>
            <a:pPr marL="342900" lvl="1" indent="-342900">
              <a:buFontTx/>
              <a:buChar char="•"/>
            </a:pPr>
            <a:r>
              <a:rPr lang="en-US" dirty="0"/>
              <a:t>An independent counsel appointed under this chapter may be removed from office, other than by impeachment and conviction, only by the personal action of the Attorney General and only for </a:t>
            </a:r>
            <a:r>
              <a:rPr lang="en-US" dirty="0">
                <a:solidFill>
                  <a:srgbClr val="FF0000"/>
                </a:solidFill>
              </a:rPr>
              <a:t>good cause, physical or mental disability </a:t>
            </a:r>
            <a:r>
              <a:rPr lang="en-US" dirty="0"/>
              <a:t>(if not prohibited by law protecting persons from discrimination on the basis of such a disability) </a:t>
            </a:r>
            <a:r>
              <a:rPr lang="en-US" dirty="0">
                <a:solidFill>
                  <a:srgbClr val="FF0000"/>
                </a:solidFill>
              </a:rPr>
              <a:t>or any other condition that substantially impairs the performance of such independent counsel's duties</a:t>
            </a:r>
            <a:r>
              <a:rPr lang="en-US" dirty="0"/>
              <a:t>. </a:t>
            </a:r>
          </a:p>
        </p:txBody>
      </p:sp>
      <p:sp>
        <p:nvSpPr>
          <p:cNvPr id="16388" name="Footer Placeholder 3"/>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 Copyright 2026.  Peter M. Shane All rights reserved. </a:t>
            </a:r>
            <a:endParaRPr lang="en-US" dirty="0"/>
          </a:p>
        </p:txBody>
      </p:sp>
      <p:sp>
        <p:nvSpPr>
          <p:cNvPr id="2" name="Slide Number Placeholder 1">
            <a:extLst>
              <a:ext uri="{FF2B5EF4-FFF2-40B4-BE49-F238E27FC236}">
                <a16:creationId xmlns:a16="http://schemas.microsoft.com/office/drawing/2014/main" id="{2B3BE252-51B9-4398-6213-B7BF6FB05373}"/>
              </a:ext>
            </a:extLst>
          </p:cNvPr>
          <p:cNvSpPr>
            <a:spLocks noGrp="1"/>
          </p:cNvSpPr>
          <p:nvPr>
            <p:ph type="sldNum" sz="quarter" idx="12"/>
          </p:nvPr>
        </p:nvSpPr>
        <p:spPr/>
        <p:txBody>
          <a:bodyPr/>
          <a:lstStyle/>
          <a:p>
            <a:pPr>
              <a:defRPr/>
            </a:pPr>
            <a:fld id="{E3574F4A-C3CF-4B85-9364-62150E7DAB4B}" type="slidenum">
              <a:rPr lang="en-US" altLang="en-US" smtClean="0"/>
              <a:pPr>
                <a:defRPr/>
              </a:pPr>
              <a:t>8</a:t>
            </a:fld>
            <a:endParaRPr lang="en-US" altLang="en-US"/>
          </a:p>
        </p:txBody>
      </p:sp>
    </p:spTree>
    <p:extLst>
      <p:ext uri="{BB962C8B-B14F-4D97-AF65-F5344CB8AC3E}">
        <p14:creationId xmlns:p14="http://schemas.microsoft.com/office/powerpoint/2010/main" val="2546363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Olson’s Removal Argument</a:t>
            </a:r>
          </a:p>
        </p:txBody>
      </p:sp>
      <p:sp>
        <p:nvSpPr>
          <p:cNvPr id="3" name="Content Placeholder 2"/>
          <p:cNvSpPr>
            <a:spLocks noGrp="1"/>
          </p:cNvSpPr>
          <p:nvPr>
            <p:ph idx="1"/>
          </p:nvPr>
        </p:nvSpPr>
        <p:spPr/>
        <p:txBody>
          <a:bodyPr/>
          <a:lstStyle/>
          <a:p>
            <a:pPr lvl="0">
              <a:lnSpc>
                <a:spcPct val="80000"/>
              </a:lnSpc>
            </a:pPr>
            <a:r>
              <a:rPr lang="en-US" sz="3600" dirty="0">
                <a:solidFill>
                  <a:srgbClr val="000000"/>
                </a:solidFill>
              </a:rPr>
              <a:t>Limitation on President’s power to fire </a:t>
            </a:r>
            <a:r>
              <a:rPr lang="en-US" sz="3600" i="1" dirty="0">
                <a:solidFill>
                  <a:srgbClr val="000000"/>
                </a:solidFill>
              </a:rPr>
              <a:t>Morrison</a:t>
            </a:r>
            <a:r>
              <a:rPr lang="en-US" sz="3600" dirty="0">
                <a:solidFill>
                  <a:srgbClr val="000000"/>
                </a:solidFill>
              </a:rPr>
              <a:t> is unconstitutional because criminal prosecutors are executive officers who must be subject to plenary policy control by the President</a:t>
            </a:r>
          </a:p>
          <a:p>
            <a:pPr lvl="1">
              <a:lnSpc>
                <a:spcPct val="80000"/>
              </a:lnSpc>
            </a:pPr>
            <a:r>
              <a:rPr lang="en-US" sz="3200" dirty="0">
                <a:solidFill>
                  <a:srgbClr val="000000"/>
                </a:solidFill>
              </a:rPr>
              <a:t>Court rejects this claim too</a:t>
            </a:r>
          </a:p>
          <a:p>
            <a:pPr lvl="1">
              <a:lnSpc>
                <a:spcPct val="80000"/>
              </a:lnSpc>
            </a:pPr>
            <a:r>
              <a:rPr lang="en-US" sz="3200" b="1" u="sng" dirty="0">
                <a:solidFill>
                  <a:srgbClr val="FF0000"/>
                </a:solidFill>
              </a:rPr>
              <a:t>Test = whether removal restriction impedes the President’s capacity to fulfill his constitutional function (198)</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5" name="Slide Number Placeholder 4">
            <a:extLst>
              <a:ext uri="{FF2B5EF4-FFF2-40B4-BE49-F238E27FC236}">
                <a16:creationId xmlns:a16="http://schemas.microsoft.com/office/drawing/2014/main" id="{7BEBA77D-A525-41AC-89EB-20925196A67A}"/>
              </a:ext>
            </a:extLst>
          </p:cNvPr>
          <p:cNvSpPr>
            <a:spLocks noGrp="1"/>
          </p:cNvSpPr>
          <p:nvPr>
            <p:ph type="sldNum" sz="quarter" idx="12"/>
          </p:nvPr>
        </p:nvSpPr>
        <p:spPr/>
        <p:txBody>
          <a:bodyPr/>
          <a:lstStyle/>
          <a:p>
            <a:pPr>
              <a:defRPr/>
            </a:pPr>
            <a:fld id="{E3574F4A-C3CF-4B85-9364-62150E7DAB4B}" type="slidenum">
              <a:rPr lang="en-US" altLang="en-US" smtClean="0"/>
              <a:pPr>
                <a:defRPr/>
              </a:pPr>
              <a:t>9</a:t>
            </a:fld>
            <a:endParaRPr lang="en-US" altLang="en-US"/>
          </a:p>
        </p:txBody>
      </p:sp>
    </p:spTree>
    <p:extLst>
      <p:ext uri="{BB962C8B-B14F-4D97-AF65-F5344CB8AC3E}">
        <p14:creationId xmlns:p14="http://schemas.microsoft.com/office/powerpoint/2010/main" val="361074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z="2400" dirty="0"/>
              <a:t>Test on removability = whether removal restriction impedes the President’s capacity to fulfill his constitutional function</a:t>
            </a:r>
            <a:endParaRPr lang="en-US" sz="3600" dirty="0"/>
          </a:p>
        </p:txBody>
      </p:sp>
      <p:sp>
        <p:nvSpPr>
          <p:cNvPr id="5123" name="Rectangle 3"/>
          <p:cNvSpPr>
            <a:spLocks noGrp="1" noChangeArrowheads="1"/>
          </p:cNvSpPr>
          <p:nvPr>
            <p:ph type="body" idx="1"/>
          </p:nvPr>
        </p:nvSpPr>
        <p:spPr/>
        <p:txBody>
          <a:bodyPr/>
          <a:lstStyle/>
          <a:p>
            <a:r>
              <a:rPr lang="en-US" sz="2800" dirty="0"/>
              <a:t>Olson’s argument = President functions =</a:t>
            </a:r>
          </a:p>
          <a:p>
            <a:pPr lvl="1"/>
            <a:r>
              <a:rPr lang="en-US" sz="2400" dirty="0"/>
              <a:t>Takes care that the laws be faithfully executed</a:t>
            </a:r>
          </a:p>
          <a:p>
            <a:pPr lvl="2"/>
            <a:r>
              <a:rPr lang="en-US" sz="2000" dirty="0"/>
              <a:t>Court:  Good cause provision for removal assures that the President, through the AG, can take care that the IC faithfully execute the laws (199)</a:t>
            </a:r>
          </a:p>
          <a:p>
            <a:pPr lvl="1"/>
            <a:r>
              <a:rPr lang="en-US" sz="2400" dirty="0"/>
              <a:t>Conducts criminal prosecutions because of the vesting in the President of “executive power”</a:t>
            </a:r>
          </a:p>
          <a:p>
            <a:pPr lvl="2"/>
            <a:r>
              <a:rPr lang="en-US" sz="2000" dirty="0"/>
              <a:t>Court:  “We simply do not see” that controlling the discretion of the independent counsel is central to the constitutional functioning of the executive branch (198-199) – draws analogy to civil “prosecutions”</a:t>
            </a:r>
          </a:p>
        </p:txBody>
      </p:sp>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2" name="Slide Number Placeholder 1">
            <a:extLst>
              <a:ext uri="{FF2B5EF4-FFF2-40B4-BE49-F238E27FC236}">
                <a16:creationId xmlns:a16="http://schemas.microsoft.com/office/drawing/2014/main" id="{B16459BC-2C41-A5ED-AA83-7FF8FF41650C}"/>
              </a:ext>
            </a:extLst>
          </p:cNvPr>
          <p:cNvSpPr>
            <a:spLocks noGrp="1"/>
          </p:cNvSpPr>
          <p:nvPr>
            <p:ph type="sldNum" sz="quarter" idx="12"/>
          </p:nvPr>
        </p:nvSpPr>
        <p:spPr/>
        <p:txBody>
          <a:bodyPr/>
          <a:lstStyle/>
          <a:p>
            <a:pPr>
              <a:defRPr/>
            </a:pPr>
            <a:fld id="{E3574F4A-C3CF-4B85-9364-62150E7DAB4B}" type="slidenum">
              <a:rPr lang="en-US" altLang="en-US" smtClean="0"/>
              <a:pPr>
                <a:defRPr/>
              </a:pPr>
              <a:t>10</a:t>
            </a:fld>
            <a:endParaRPr lang="en-US" altLang="en-US"/>
          </a:p>
        </p:txBody>
      </p:sp>
    </p:spTree>
    <p:extLst>
      <p:ext uri="{BB962C8B-B14F-4D97-AF65-F5344CB8AC3E}">
        <p14:creationId xmlns:p14="http://schemas.microsoft.com/office/powerpoint/2010/main" val="31589194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123">
                                            <p:txEl>
                                              <p:pRg st="2" end="2"/>
                                            </p:txEl>
                                          </p:spTgt>
                                        </p:tgtEl>
                                        <p:attrNameLst>
                                          <p:attrName>style.visibility</p:attrName>
                                        </p:attrNameLst>
                                      </p:cBhvr>
                                      <p:to>
                                        <p:strVal val="visible"/>
                                      </p:to>
                                    </p:set>
                                    <p:anim calcmode="lin" valueType="num">
                                      <p:cBhvr additive="base">
                                        <p:cTn id="7" dur="500" fill="hold"/>
                                        <p:tgtEl>
                                          <p:spTgt spid="5123">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123">
                                            <p:txEl>
                                              <p:pRg st="4" end="4"/>
                                            </p:txEl>
                                          </p:spTgt>
                                        </p:tgtEl>
                                        <p:attrNameLst>
                                          <p:attrName>style.visibility</p:attrName>
                                        </p:attrNameLst>
                                      </p:cBhvr>
                                      <p:to>
                                        <p:strVal val="visible"/>
                                      </p:to>
                                    </p:set>
                                    <p:anim calcmode="lin" valueType="num">
                                      <p:cBhvr additive="base">
                                        <p:cTn id="13" dur="500" fill="hold"/>
                                        <p:tgtEl>
                                          <p:spTgt spid="5123">
                                            <p:txEl>
                                              <p:pRg st="4" end="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Two Opinions NOT Written</a:t>
            </a:r>
          </a:p>
        </p:txBody>
      </p:sp>
      <p:sp>
        <p:nvSpPr>
          <p:cNvPr id="6147" name="Rectangle 3"/>
          <p:cNvSpPr>
            <a:spLocks noGrp="1" noChangeArrowheads="1"/>
          </p:cNvSpPr>
          <p:nvPr>
            <p:ph type="body" idx="1"/>
          </p:nvPr>
        </p:nvSpPr>
        <p:spPr/>
        <p:txBody>
          <a:bodyPr/>
          <a:lstStyle/>
          <a:p>
            <a:pPr>
              <a:lnSpc>
                <a:spcPct val="80000"/>
              </a:lnSpc>
            </a:pPr>
            <a:r>
              <a:rPr lang="en-US" sz="2400" dirty="0"/>
              <a:t>Balancing Approach to the Separation of Powers</a:t>
            </a:r>
          </a:p>
          <a:p>
            <a:pPr lvl="1">
              <a:lnSpc>
                <a:spcPct val="80000"/>
              </a:lnSpc>
            </a:pPr>
            <a:r>
              <a:rPr lang="en-US" sz="2000" dirty="0"/>
              <a:t>When one branch of gov’t is challenged for interfering with the function of another, it’s sometimes OK if (a) interference is narrowly tailored to accomplish (b) some essential purpose that the “aggressor” branch is entitled to pursue</a:t>
            </a:r>
          </a:p>
          <a:p>
            <a:pPr lvl="2">
              <a:lnSpc>
                <a:spcPct val="80000"/>
              </a:lnSpc>
            </a:pPr>
            <a:r>
              <a:rPr lang="en-US" sz="1800" dirty="0"/>
              <a:t>Even if EGA interferes with prosecutorial discretion that is ordinarily subject to presidential control, the statute is justified because it is narrowly tailored to respond to a set of contexts in which Congress could reasonably fear that conflicts of interest within the executive would impede faithful execution of the laws  (See Watergate)</a:t>
            </a:r>
          </a:p>
          <a:p>
            <a:pPr>
              <a:lnSpc>
                <a:spcPct val="80000"/>
              </a:lnSpc>
            </a:pPr>
            <a:r>
              <a:rPr lang="en-US" sz="2400" dirty="0"/>
              <a:t>Historical analysis of the role of criminal prosecutors</a:t>
            </a:r>
          </a:p>
          <a:p>
            <a:pPr lvl="1">
              <a:lnSpc>
                <a:spcPct val="80000"/>
              </a:lnSpc>
            </a:pPr>
            <a:r>
              <a:rPr lang="en-US" sz="2000" dirty="0"/>
              <a:t>As the founders understood criminal prosecution, the prosecutorial power was not part of a basket of powers that they would have labeled unambiguously “executive” in the sense that, if someone is vested with executive power, that power would have to include criminal prosecution</a:t>
            </a:r>
          </a:p>
        </p:txBody>
      </p:sp>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2" name="Slide Number Placeholder 1">
            <a:extLst>
              <a:ext uri="{FF2B5EF4-FFF2-40B4-BE49-F238E27FC236}">
                <a16:creationId xmlns:a16="http://schemas.microsoft.com/office/drawing/2014/main" id="{A6DB2944-68B1-BA26-523C-DA85C22CA112}"/>
              </a:ext>
            </a:extLst>
          </p:cNvPr>
          <p:cNvSpPr>
            <a:spLocks noGrp="1"/>
          </p:cNvSpPr>
          <p:nvPr>
            <p:ph type="sldNum" sz="quarter" idx="12"/>
          </p:nvPr>
        </p:nvSpPr>
        <p:spPr/>
        <p:txBody>
          <a:bodyPr/>
          <a:lstStyle/>
          <a:p>
            <a:pPr>
              <a:defRPr/>
            </a:pPr>
            <a:fld id="{E3574F4A-C3CF-4B85-9364-62150E7DAB4B}" type="slidenum">
              <a:rPr lang="en-US" altLang="en-US" smtClean="0"/>
              <a:pPr>
                <a:defRPr/>
              </a:pPr>
              <a:t>11</a:t>
            </a:fld>
            <a:endParaRPr lang="en-US" altLang="en-US"/>
          </a:p>
        </p:txBody>
      </p:sp>
    </p:spTree>
    <p:extLst>
      <p:ext uri="{BB962C8B-B14F-4D97-AF65-F5344CB8AC3E}">
        <p14:creationId xmlns:p14="http://schemas.microsoft.com/office/powerpoint/2010/main" val="33358605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 calcmode="lin" valueType="num">
                                      <p:cBhvr additive="base">
                                        <p:cTn id="7" dur="500" fill="hold"/>
                                        <p:tgtEl>
                                          <p:spTgt spid="6147">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7">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anim calcmode="lin" valueType="num">
                                      <p:cBhvr additive="base">
                                        <p:cTn id="11" dur="500" fill="hold"/>
                                        <p:tgtEl>
                                          <p:spTgt spid="6147">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1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anim calcmode="lin" valueType="num">
                                      <p:cBhvr additive="base">
                                        <p:cTn id="17" dur="500" fill="hold"/>
                                        <p:tgtEl>
                                          <p:spTgt spid="6147">
                                            <p:txEl>
                                              <p:pRg st="4" end="4"/>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14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3600" dirty="0"/>
              <a:t>What </a:t>
            </a:r>
            <a:r>
              <a:rPr lang="en-US" sz="3600" i="1" dirty="0"/>
              <a:t>Morrison v. Olson</a:t>
            </a:r>
            <a:r>
              <a:rPr lang="en-US" sz="3600" dirty="0"/>
              <a:t> implies about the prosecutorial function</a:t>
            </a:r>
          </a:p>
        </p:txBody>
      </p:sp>
      <p:sp>
        <p:nvSpPr>
          <p:cNvPr id="7171" name="Rectangle 3"/>
          <p:cNvSpPr>
            <a:spLocks noGrp="1" noChangeArrowheads="1"/>
          </p:cNvSpPr>
          <p:nvPr>
            <p:ph type="body" idx="1"/>
          </p:nvPr>
        </p:nvSpPr>
        <p:spPr/>
        <p:txBody>
          <a:bodyPr/>
          <a:lstStyle/>
          <a:p>
            <a:r>
              <a:rPr lang="en-US" sz="2800"/>
              <a:t>Prosecutor, as an administrator, has two components to her job</a:t>
            </a:r>
          </a:p>
          <a:p>
            <a:pPr lvl="1"/>
            <a:r>
              <a:rPr lang="en-US" sz="2400"/>
              <a:t>Following the law (Presidents can make sure that officers faithfully follow the law if they can fire the officers for not following the law)</a:t>
            </a:r>
          </a:p>
          <a:p>
            <a:pPr lvl="1"/>
            <a:r>
              <a:rPr lang="en-US" sz="2400"/>
              <a:t>Exercising discretion</a:t>
            </a:r>
          </a:p>
          <a:p>
            <a:pPr lvl="2"/>
            <a:r>
              <a:rPr lang="en-US" sz="2000"/>
              <a:t>Is the discretion exercised by the inferior officer discretion that the CONSTITUTION vests in the President or is it discretion that resides in the officer because of CONGRESS?</a:t>
            </a:r>
          </a:p>
          <a:p>
            <a:pPr lvl="3"/>
            <a:r>
              <a:rPr lang="en-US" sz="1800"/>
              <a:t>Discretion connected with criminal prosecution is NOT constitutionally vested in the President</a:t>
            </a:r>
          </a:p>
        </p:txBody>
      </p:sp>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2" name="Slide Number Placeholder 1">
            <a:extLst>
              <a:ext uri="{FF2B5EF4-FFF2-40B4-BE49-F238E27FC236}">
                <a16:creationId xmlns:a16="http://schemas.microsoft.com/office/drawing/2014/main" id="{466383C0-5719-E3B8-7047-D8EE51AC4E2F}"/>
              </a:ext>
            </a:extLst>
          </p:cNvPr>
          <p:cNvSpPr>
            <a:spLocks noGrp="1"/>
          </p:cNvSpPr>
          <p:nvPr>
            <p:ph type="sldNum" sz="quarter" idx="12"/>
          </p:nvPr>
        </p:nvSpPr>
        <p:spPr/>
        <p:txBody>
          <a:bodyPr/>
          <a:lstStyle/>
          <a:p>
            <a:pPr>
              <a:defRPr/>
            </a:pPr>
            <a:fld id="{E3574F4A-C3CF-4B85-9364-62150E7DAB4B}" type="slidenum">
              <a:rPr lang="en-US" altLang="en-US" smtClean="0"/>
              <a:pPr>
                <a:defRPr/>
              </a:pPr>
              <a:t>12</a:t>
            </a:fld>
            <a:endParaRPr lang="en-US" altLang="en-US"/>
          </a:p>
        </p:txBody>
      </p:sp>
    </p:spTree>
    <p:extLst>
      <p:ext uri="{BB962C8B-B14F-4D97-AF65-F5344CB8AC3E}">
        <p14:creationId xmlns:p14="http://schemas.microsoft.com/office/powerpoint/2010/main" val="2946406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Removability of </a:t>
            </a:r>
            <a:r>
              <a:rPr lang="en-US" i="1" dirty="0"/>
              <a:t>Principal</a:t>
            </a:r>
            <a:r>
              <a:rPr lang="en-US" dirty="0"/>
              <a:t> Officers?</a:t>
            </a:r>
          </a:p>
        </p:txBody>
      </p:sp>
      <p:sp>
        <p:nvSpPr>
          <p:cNvPr id="3" name="Content Placeholder 2"/>
          <p:cNvSpPr>
            <a:spLocks noGrp="1"/>
          </p:cNvSpPr>
          <p:nvPr>
            <p:ph idx="1"/>
          </p:nvPr>
        </p:nvSpPr>
        <p:spPr/>
        <p:txBody>
          <a:bodyPr/>
          <a:lstStyle/>
          <a:p>
            <a:r>
              <a:rPr lang="en-US" sz="2000" i="1" dirty="0"/>
              <a:t>Morrison v. Olson </a:t>
            </a:r>
            <a:r>
              <a:rPr lang="en-US" sz="2000" dirty="0"/>
              <a:t>says test for permissibility of restricting presidential removals = “whether the removal restrictions are of such a nature that they impede the President's ability to perform his constitutional duty . . .”</a:t>
            </a:r>
          </a:p>
          <a:p>
            <a:r>
              <a:rPr lang="en-US" sz="2000" dirty="0"/>
              <a:t>Morrison was an inferior officer</a:t>
            </a:r>
          </a:p>
          <a:p>
            <a:r>
              <a:rPr lang="en-US" sz="2000" dirty="0"/>
              <a:t>Was there an argument after </a:t>
            </a:r>
            <a:r>
              <a:rPr lang="en-US" sz="2000" i="1" dirty="0"/>
              <a:t>Morrison v. Olson </a:t>
            </a:r>
            <a:r>
              <a:rPr lang="en-US" sz="2000" dirty="0"/>
              <a:t>that removal restrictions on principal officers categorically impede the President's ability to perform his constitutional duties?</a:t>
            </a:r>
          </a:p>
          <a:p>
            <a:pPr lvl="1"/>
            <a:r>
              <a:rPr lang="en-US" sz="2000" dirty="0"/>
              <a:t>Not if </a:t>
            </a:r>
            <a:r>
              <a:rPr lang="en-US" sz="2000" i="1" dirty="0"/>
              <a:t>Humphrey’s Executor </a:t>
            </a:r>
            <a:r>
              <a:rPr lang="en-US" sz="2000" dirty="0"/>
              <a:t>is still good law**</a:t>
            </a:r>
          </a:p>
          <a:p>
            <a:pPr lvl="1"/>
            <a:r>
              <a:rPr lang="en-US" sz="2000" dirty="0"/>
              <a:t>“As a constitutional matter,  we see no reason why a multimember body may not be the ‘</a:t>
            </a:r>
            <a:r>
              <a:rPr lang="en-US" sz="2000" dirty="0" err="1"/>
              <a:t>Hea</a:t>
            </a:r>
            <a:r>
              <a:rPr lang="en-US" sz="2000" dirty="0"/>
              <a:t>[d]’ of a ‘</a:t>
            </a:r>
            <a:r>
              <a:rPr lang="en-US" sz="2000" dirty="0" err="1"/>
              <a:t>Depart­men</a:t>
            </a:r>
            <a:r>
              <a:rPr lang="en-US" sz="2000" dirty="0"/>
              <a:t>[t]’ that it governs.” </a:t>
            </a:r>
            <a:r>
              <a:rPr lang="en-US" sz="2000" i="1" dirty="0"/>
              <a:t>Fair Enterprise Fund v. Public Company Accounting Oversight Board </a:t>
            </a:r>
            <a:r>
              <a:rPr lang="en-US" sz="2000" dirty="0"/>
              <a:t>(2010)</a:t>
            </a:r>
          </a:p>
        </p:txBody>
      </p:sp>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5" name="Slide Number Placeholder 4">
            <a:extLst>
              <a:ext uri="{FF2B5EF4-FFF2-40B4-BE49-F238E27FC236}">
                <a16:creationId xmlns:a16="http://schemas.microsoft.com/office/drawing/2014/main" id="{D05D9519-5AAC-436A-DA10-9ED32D979246}"/>
              </a:ext>
            </a:extLst>
          </p:cNvPr>
          <p:cNvSpPr>
            <a:spLocks noGrp="1"/>
          </p:cNvSpPr>
          <p:nvPr>
            <p:ph type="sldNum" sz="quarter" idx="12"/>
          </p:nvPr>
        </p:nvSpPr>
        <p:spPr/>
        <p:txBody>
          <a:bodyPr/>
          <a:lstStyle/>
          <a:p>
            <a:pPr>
              <a:defRPr/>
            </a:pPr>
            <a:fld id="{E3574F4A-C3CF-4B85-9364-62150E7DAB4B}" type="slidenum">
              <a:rPr lang="en-US" altLang="en-US" smtClean="0"/>
              <a:pPr>
                <a:defRPr/>
              </a:pPr>
              <a:t>13</a:t>
            </a:fld>
            <a:endParaRPr lang="en-US" altLang="en-US"/>
          </a:p>
        </p:txBody>
      </p:sp>
    </p:spTree>
    <p:extLst>
      <p:ext uri="{BB962C8B-B14F-4D97-AF65-F5344CB8AC3E}">
        <p14:creationId xmlns:p14="http://schemas.microsoft.com/office/powerpoint/2010/main" val="496743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BE93-AFD5-4E6A-1AB9-2FAAD09BC329}"/>
              </a:ext>
            </a:extLst>
          </p:cNvPr>
          <p:cNvSpPr>
            <a:spLocks noGrp="1"/>
          </p:cNvSpPr>
          <p:nvPr>
            <p:ph type="title"/>
          </p:nvPr>
        </p:nvSpPr>
        <p:spPr/>
        <p:txBody>
          <a:bodyPr/>
          <a:lstStyle/>
          <a:p>
            <a:r>
              <a:rPr lang="en-US" dirty="0"/>
              <a:t>Scalia and the One-Person Branch Theory</a:t>
            </a:r>
          </a:p>
        </p:txBody>
      </p:sp>
      <p:sp>
        <p:nvSpPr>
          <p:cNvPr id="3" name="Content Placeholder 2">
            <a:extLst>
              <a:ext uri="{FF2B5EF4-FFF2-40B4-BE49-F238E27FC236}">
                <a16:creationId xmlns:a16="http://schemas.microsoft.com/office/drawing/2014/main" id="{13B2D7FB-1E54-A507-57F0-1046FEB13A29}"/>
              </a:ext>
            </a:extLst>
          </p:cNvPr>
          <p:cNvSpPr>
            <a:spLocks noGrp="1"/>
          </p:cNvSpPr>
          <p:nvPr>
            <p:ph idx="1"/>
          </p:nvPr>
        </p:nvSpPr>
        <p:spPr/>
        <p:txBody>
          <a:bodyPr/>
          <a:lstStyle/>
          <a:p>
            <a:pPr marL="0" indent="0">
              <a:buNone/>
            </a:pPr>
            <a:r>
              <a:rPr lang="en-US" sz="2700" dirty="0"/>
              <a:t>“Article II, § 1, cl. 1, of the Constitution provides:</a:t>
            </a:r>
          </a:p>
          <a:p>
            <a:pPr marL="342900" lvl="1" indent="0">
              <a:buNone/>
            </a:pPr>
            <a:r>
              <a:rPr lang="en-US" sz="2700" dirty="0"/>
              <a:t>‘The executive Power shall be vested in a President of the United States.’</a:t>
            </a:r>
          </a:p>
          <a:p>
            <a:pPr marL="0" indent="0">
              <a:buNone/>
            </a:pPr>
            <a:r>
              <a:rPr lang="en-US" sz="2700" dirty="0"/>
              <a:t>. . . [T]his does not mean some of the executive power, but </a:t>
            </a:r>
            <a:r>
              <a:rPr lang="en-US" sz="2700" i="1" dirty="0"/>
              <a:t>all of </a:t>
            </a:r>
            <a:r>
              <a:rPr lang="en-US" sz="2700" dirty="0"/>
              <a:t>the executive power.”</a:t>
            </a:r>
          </a:p>
          <a:p>
            <a:pPr marL="0" indent="0" algn="r">
              <a:spcBef>
                <a:spcPts val="450"/>
              </a:spcBef>
              <a:buNone/>
            </a:pPr>
            <a:r>
              <a:rPr lang="en-US" dirty="0"/>
              <a:t>-</a:t>
            </a:r>
            <a:r>
              <a:rPr lang="en-US" i="1" dirty="0"/>
              <a:t>Morrison v. Olson</a:t>
            </a:r>
            <a:r>
              <a:rPr lang="en-US" dirty="0"/>
              <a:t>, 487 U.S. 654, 705 (1988) (Scalia, J., </a:t>
            </a:r>
          </a:p>
          <a:p>
            <a:pPr marL="0" indent="0" algn="r">
              <a:spcBef>
                <a:spcPts val="0"/>
              </a:spcBef>
              <a:buNone/>
            </a:pPr>
            <a:r>
              <a:rPr lang="en-US" dirty="0"/>
              <a:t>dissenting) (italics in the original)</a:t>
            </a:r>
          </a:p>
          <a:p>
            <a:pPr marL="0" indent="0">
              <a:spcBef>
                <a:spcPts val="0"/>
              </a:spcBef>
              <a:buNone/>
            </a:pPr>
            <a:endParaRPr lang="en-US" dirty="0"/>
          </a:p>
        </p:txBody>
      </p:sp>
      <p:sp>
        <p:nvSpPr>
          <p:cNvPr id="5" name="Footer Placeholder 4">
            <a:extLst>
              <a:ext uri="{FF2B5EF4-FFF2-40B4-BE49-F238E27FC236}">
                <a16:creationId xmlns:a16="http://schemas.microsoft.com/office/drawing/2014/main" id="{64339C2F-8FC8-E0AA-DA2E-E9E66CB74F14}"/>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E39F9B4C-CBD8-DFD4-85DA-7D90BF0E34BD}"/>
              </a:ext>
            </a:extLst>
          </p:cNvPr>
          <p:cNvSpPr>
            <a:spLocks noGrp="1"/>
          </p:cNvSpPr>
          <p:nvPr>
            <p:ph type="sldNum" sz="quarter" idx="12"/>
          </p:nvPr>
        </p:nvSpPr>
        <p:spPr/>
        <p:txBody>
          <a:bodyPr/>
          <a:lstStyle/>
          <a:p>
            <a:fld id="{00E774E6-6CB7-4DC2-8F39-01C2CA722D2F}" type="slidenum">
              <a:rPr lang="en-US" smtClean="0"/>
              <a:t>14</a:t>
            </a:fld>
            <a:endParaRPr lang="en-US"/>
          </a:p>
        </p:txBody>
      </p:sp>
    </p:spTree>
    <p:extLst>
      <p:ext uri="{BB962C8B-B14F-4D97-AF65-F5344CB8AC3E}">
        <p14:creationId xmlns:p14="http://schemas.microsoft.com/office/powerpoint/2010/main" val="3976508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C58F6-BDE6-2CAA-5FF7-E2127D3AB976}"/>
              </a:ext>
            </a:extLst>
          </p:cNvPr>
          <p:cNvSpPr>
            <a:spLocks noGrp="1"/>
          </p:cNvSpPr>
          <p:nvPr>
            <p:ph type="title"/>
          </p:nvPr>
        </p:nvSpPr>
        <p:spPr/>
        <p:txBody>
          <a:bodyPr/>
          <a:lstStyle/>
          <a:p>
            <a:r>
              <a:rPr lang="en-US" dirty="0"/>
              <a:t>One-Person Branch Ignores Other Text . . .</a:t>
            </a:r>
          </a:p>
        </p:txBody>
      </p:sp>
      <p:sp>
        <p:nvSpPr>
          <p:cNvPr id="3" name="Content Placeholder 2">
            <a:extLst>
              <a:ext uri="{FF2B5EF4-FFF2-40B4-BE49-F238E27FC236}">
                <a16:creationId xmlns:a16="http://schemas.microsoft.com/office/drawing/2014/main" id="{B86FDF80-F2C6-98F9-4780-1CEB02AF0389}"/>
              </a:ext>
            </a:extLst>
          </p:cNvPr>
          <p:cNvSpPr>
            <a:spLocks noGrp="1"/>
          </p:cNvSpPr>
          <p:nvPr>
            <p:ph idx="1"/>
          </p:nvPr>
        </p:nvSpPr>
        <p:spPr/>
        <p:txBody>
          <a:bodyPr>
            <a:noAutofit/>
          </a:bodyPr>
          <a:lstStyle/>
          <a:p>
            <a:pPr>
              <a:spcBef>
                <a:spcPts val="0"/>
              </a:spcBef>
            </a:pPr>
            <a:r>
              <a:rPr lang="en-US" sz="2210" dirty="0"/>
              <a:t>Compare to other vesting clauses:</a:t>
            </a:r>
          </a:p>
          <a:p>
            <a:pPr lvl="1">
              <a:spcBef>
                <a:spcPts val="0"/>
              </a:spcBef>
            </a:pPr>
            <a:r>
              <a:rPr lang="en-US" sz="2210" dirty="0"/>
              <a:t>“All legislative powers herein granted shall be vested . . .”</a:t>
            </a:r>
          </a:p>
          <a:p>
            <a:pPr lvl="1">
              <a:spcBef>
                <a:spcPts val="0"/>
              </a:spcBef>
            </a:pPr>
            <a:r>
              <a:rPr lang="en-US" sz="2210" dirty="0"/>
              <a:t>“The judicial power of the United States shall be vested . . .”</a:t>
            </a:r>
          </a:p>
          <a:p>
            <a:pPr>
              <a:spcBef>
                <a:spcPts val="0"/>
              </a:spcBef>
            </a:pPr>
            <a:r>
              <a:rPr lang="en-US" sz="2210" dirty="0"/>
              <a:t>“The President . . . may require the opinion, in writing, of the principal officer in each of the </a:t>
            </a:r>
            <a:r>
              <a:rPr lang="en-US" sz="2210" u="sng" dirty="0">
                <a:solidFill>
                  <a:srgbClr val="FF0000"/>
                </a:solidFill>
              </a:rPr>
              <a:t>executive departments</a:t>
            </a:r>
            <a:r>
              <a:rPr lang="en-US" sz="2210" dirty="0"/>
              <a:t>, upon any subject relating to the duties of their respective offices . . .”</a:t>
            </a:r>
          </a:p>
          <a:p>
            <a:pPr>
              <a:spcBef>
                <a:spcPts val="0"/>
              </a:spcBef>
            </a:pPr>
            <a:r>
              <a:rPr lang="en-US" sz="2210" dirty="0"/>
              <a:t>“The Congress shall have power . . . To make </a:t>
            </a:r>
            <a:r>
              <a:rPr lang="en-US" sz="2210" u="sng" dirty="0">
                <a:solidFill>
                  <a:srgbClr val="FF0000"/>
                </a:solidFill>
              </a:rPr>
              <a:t>all</a:t>
            </a:r>
            <a:r>
              <a:rPr lang="en-US" sz="2210" dirty="0"/>
              <a:t> laws which shall be necessary and proper for carrying into execution the foregoing powers [of Congress], and </a:t>
            </a:r>
            <a:r>
              <a:rPr lang="en-US" sz="2210" u="sng" dirty="0">
                <a:solidFill>
                  <a:srgbClr val="FF0000"/>
                </a:solidFill>
              </a:rPr>
              <a:t>all</a:t>
            </a:r>
            <a:r>
              <a:rPr lang="en-US" sz="2210" dirty="0"/>
              <a:t> other powers vested by this Constitution in the government of the United States, or in </a:t>
            </a:r>
            <a:r>
              <a:rPr lang="en-US" sz="2210" u="sng" dirty="0">
                <a:solidFill>
                  <a:srgbClr val="FF0000"/>
                </a:solidFill>
              </a:rPr>
              <a:t>any</a:t>
            </a:r>
            <a:r>
              <a:rPr lang="en-US" sz="2210" dirty="0"/>
              <a:t> department or officer thereof.”</a:t>
            </a:r>
          </a:p>
        </p:txBody>
      </p:sp>
      <p:sp>
        <p:nvSpPr>
          <p:cNvPr id="4" name="Footer Placeholder 3">
            <a:extLst>
              <a:ext uri="{FF2B5EF4-FFF2-40B4-BE49-F238E27FC236}">
                <a16:creationId xmlns:a16="http://schemas.microsoft.com/office/drawing/2014/main" id="{C388D085-5DCD-B080-0E64-774BD96392AD}"/>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9C084EF3-ED81-89A6-1640-4F5700C2D75D}"/>
              </a:ext>
            </a:extLst>
          </p:cNvPr>
          <p:cNvSpPr>
            <a:spLocks noGrp="1"/>
          </p:cNvSpPr>
          <p:nvPr>
            <p:ph type="sldNum" sz="quarter" idx="12"/>
          </p:nvPr>
        </p:nvSpPr>
        <p:spPr/>
        <p:txBody>
          <a:bodyPr/>
          <a:lstStyle/>
          <a:p>
            <a:fld id="{00E774E6-6CB7-4DC2-8F39-01C2CA722D2F}" type="slidenum">
              <a:rPr lang="en-US" smtClean="0"/>
              <a:t>15</a:t>
            </a:fld>
            <a:endParaRPr lang="en-US"/>
          </a:p>
        </p:txBody>
      </p:sp>
    </p:spTree>
    <p:extLst>
      <p:ext uri="{BB962C8B-B14F-4D97-AF65-F5344CB8AC3E}">
        <p14:creationId xmlns:p14="http://schemas.microsoft.com/office/powerpoint/2010/main" val="3715025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z="4000" dirty="0"/>
              <a:t>“Good Cause” Removal Provisions</a:t>
            </a:r>
          </a:p>
        </p:txBody>
      </p:sp>
      <p:sp>
        <p:nvSpPr>
          <p:cNvPr id="17411" name="Content Placeholder 2"/>
          <p:cNvSpPr>
            <a:spLocks noGrp="1"/>
          </p:cNvSpPr>
          <p:nvPr>
            <p:ph idx="1"/>
          </p:nvPr>
        </p:nvSpPr>
        <p:spPr/>
        <p:txBody>
          <a:bodyPr/>
          <a:lstStyle/>
          <a:p>
            <a:r>
              <a:rPr lang="en-US" sz="2000"/>
              <a:t>Merit Systems Protection Board</a:t>
            </a:r>
          </a:p>
          <a:p>
            <a:pPr lvl="1"/>
            <a:r>
              <a:rPr lang="en-US" sz="1800"/>
              <a:t>Any member may be removed by the President only for inefficiency, neglect of duty, or malfeasance in office.</a:t>
            </a:r>
          </a:p>
          <a:p>
            <a:r>
              <a:rPr lang="en-US" sz="2000"/>
              <a:t>Consumer Product Safety Commission</a:t>
            </a:r>
          </a:p>
          <a:p>
            <a:pPr lvl="1"/>
            <a:r>
              <a:rPr lang="en-US" sz="1800"/>
              <a:t>Any member of the Commission may be removed by the President for neglect of duty or malfeasance in office but for no other cause. </a:t>
            </a:r>
          </a:p>
          <a:p>
            <a:r>
              <a:rPr lang="en-US" sz="2000"/>
              <a:t>Competitiveness Policy Council</a:t>
            </a:r>
          </a:p>
          <a:p>
            <a:pPr lvl="1"/>
            <a:r>
              <a:rPr lang="en-US" sz="1800"/>
              <a:t>Members of the Council may be removed only for malfeasance in office.</a:t>
            </a:r>
          </a:p>
          <a:p>
            <a:r>
              <a:rPr lang="en-US" sz="2000"/>
              <a:t>U.S. Sentencing Commission</a:t>
            </a:r>
          </a:p>
          <a:p>
            <a:pPr lvl="1"/>
            <a:r>
              <a:rPr lang="en-US" sz="1800"/>
              <a:t>The Chair, Vice Chairs, and members of the Commission shall be subject to removal from the Commission by the President only for neglect of duty or malfeasance in office or for other good cause shown.</a:t>
            </a:r>
          </a:p>
          <a:p>
            <a:r>
              <a:rPr lang="en-US" sz="2400"/>
              <a:t>Securities and Exchange Commission – None!</a:t>
            </a:r>
          </a:p>
        </p:txBody>
      </p:sp>
      <p:sp>
        <p:nvSpPr>
          <p:cNvPr id="17412" name="Footer Placeholder 3"/>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 Copyright 2026.  Peter M. Shane All rights reserved. </a:t>
            </a:r>
            <a:endParaRPr lang="en-US" dirty="0"/>
          </a:p>
        </p:txBody>
      </p:sp>
      <p:sp>
        <p:nvSpPr>
          <p:cNvPr id="2" name="Slide Number Placeholder 1">
            <a:extLst>
              <a:ext uri="{FF2B5EF4-FFF2-40B4-BE49-F238E27FC236}">
                <a16:creationId xmlns:a16="http://schemas.microsoft.com/office/drawing/2014/main" id="{7366C488-E611-6D81-5F37-5902F957214D}"/>
              </a:ext>
            </a:extLst>
          </p:cNvPr>
          <p:cNvSpPr>
            <a:spLocks noGrp="1"/>
          </p:cNvSpPr>
          <p:nvPr>
            <p:ph type="sldNum" sz="quarter" idx="12"/>
          </p:nvPr>
        </p:nvSpPr>
        <p:spPr/>
        <p:txBody>
          <a:bodyPr/>
          <a:lstStyle/>
          <a:p>
            <a:pPr>
              <a:defRPr/>
            </a:pPr>
            <a:fld id="{E3574F4A-C3CF-4B85-9364-62150E7DAB4B}" type="slidenum">
              <a:rPr lang="en-US" altLang="en-US" smtClean="0"/>
              <a:pPr>
                <a:defRPr/>
              </a:pPr>
              <a:t>16</a:t>
            </a:fld>
            <a:endParaRPr lang="en-US" altLang="en-US"/>
          </a:p>
        </p:txBody>
      </p:sp>
    </p:spTree>
    <p:extLst>
      <p:ext uri="{BB962C8B-B14F-4D97-AF65-F5344CB8AC3E}">
        <p14:creationId xmlns:p14="http://schemas.microsoft.com/office/powerpoint/2010/main" val="2994865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z="4000" dirty="0"/>
              <a:t>Free Enterprise Fund v. PCAOB</a:t>
            </a:r>
          </a:p>
        </p:txBody>
      </p:sp>
      <p:graphicFrame>
        <p:nvGraphicFramePr>
          <p:cNvPr id="6" name="Content Placeholder 3" descr="Pyramid.  Bottom tier is the color red labeled &quot;PCAOB&quot;.  The middle tier is the color yellow and labeled &quot;SEC&quot; and the top tier is the color blue and labeled &quot;POTUS&quot;"/>
          <p:cNvGraphicFramePr>
            <a:graphicFrameLocks noGrp="1"/>
          </p:cNvGraphicFramePr>
          <p:nvPr>
            <p:ph idx="1"/>
            <p:extLst>
              <p:ext uri="{D42A27DB-BD31-4B8C-83A1-F6EECF244321}">
                <p14:modId xmlns:p14="http://schemas.microsoft.com/office/powerpoint/2010/main" val="1828164439"/>
              </p:ext>
            </p:extLst>
          </p:nvPr>
        </p:nvGraphicFramePr>
        <p:xfrm>
          <a:off x="457200" y="1560744"/>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r>
              <a:rPr lang="en-US"/>
              <a:t>© Copyright 2026.  Peter M. Shane All rights reserved. </a:t>
            </a:r>
            <a:endParaRPr lang="en-US" sz="1200" dirty="0"/>
          </a:p>
        </p:txBody>
      </p:sp>
      <p:sp>
        <p:nvSpPr>
          <p:cNvPr id="2" name="Slide Number Placeholder 1">
            <a:extLst>
              <a:ext uri="{FF2B5EF4-FFF2-40B4-BE49-F238E27FC236}">
                <a16:creationId xmlns:a16="http://schemas.microsoft.com/office/drawing/2014/main" id="{D818E66B-D527-30EA-93AD-52A66E52B30C}"/>
              </a:ext>
            </a:extLst>
          </p:cNvPr>
          <p:cNvSpPr>
            <a:spLocks noGrp="1"/>
          </p:cNvSpPr>
          <p:nvPr>
            <p:ph type="sldNum" sz="quarter" idx="12"/>
          </p:nvPr>
        </p:nvSpPr>
        <p:spPr/>
        <p:txBody>
          <a:bodyPr/>
          <a:lstStyle/>
          <a:p>
            <a:fld id="{19243C18-CE1F-4D3B-ABA9-FEC66CF84D9A}"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z="4000" dirty="0"/>
              <a:t>PCAOB Powers</a:t>
            </a:r>
          </a:p>
        </p:txBody>
      </p:sp>
      <p:sp>
        <p:nvSpPr>
          <p:cNvPr id="3075" name="Rectangle 3"/>
          <p:cNvSpPr>
            <a:spLocks noGrp="1" noChangeArrowheads="1"/>
          </p:cNvSpPr>
          <p:nvPr>
            <p:ph type="body" idx="1"/>
          </p:nvPr>
        </p:nvSpPr>
        <p:spPr>
          <a:xfrm>
            <a:off x="457200" y="1295400"/>
            <a:ext cx="8229600" cy="4525963"/>
          </a:xfrm>
        </p:spPr>
        <p:txBody>
          <a:bodyPr/>
          <a:lstStyle/>
          <a:p>
            <a:r>
              <a:rPr lang="en-US" sz="1600" dirty="0"/>
              <a:t>Audits public companies under the securities laws who must register with the Board, pay it an annual fee, and comply with its rules and oversight</a:t>
            </a:r>
          </a:p>
          <a:p>
            <a:r>
              <a:rPr lang="en-US" sz="1600" dirty="0"/>
              <a:t>Board enforces the Sarbanes–Oxley Act, the securities laws, the Commission's rules, its own rules, and professional accounting standards</a:t>
            </a:r>
          </a:p>
          <a:p>
            <a:r>
              <a:rPr lang="en-US" sz="1600" dirty="0"/>
              <a:t>Board may regulate every detail of an accounting firm's practice, including hiring and professional development, promotion, supervision of audit work, the acceptance of new business and the continuation of old, internal inspection procedures, professional ethics rules, and “such other requirements as the Board may prescribe.” § 7213(a)(2)(B).</a:t>
            </a:r>
          </a:p>
          <a:p>
            <a:r>
              <a:rPr lang="en-US" sz="1600" dirty="0"/>
              <a:t>Promulgates auditing and ethics standards, performs routine inspections of all accounting firms, demands documents and testimony, and initiates formal investigations and disciplinary proceedings.</a:t>
            </a:r>
          </a:p>
          <a:p>
            <a:r>
              <a:rPr lang="en-US" sz="1600" dirty="0"/>
              <a:t>Willful violation of any Board rule is treated as a willful violation of the Securities Exchange Act of 1934.—a federal crime punishable by up to 20 years' imprisonment or $25 million in fines ($5 million for a natural person)</a:t>
            </a:r>
          </a:p>
          <a:p>
            <a:r>
              <a:rPr lang="en-US" sz="1600" dirty="0"/>
              <a:t>Board can issue severe sanctions in its disciplinary proceedings, up to and including the permanent revocation of a firm's registration, a permanent ban on a person's associating with any registered firm, and money penalties of $15 million ($750,000 for a natural person). </a:t>
            </a:r>
          </a:p>
          <a:p>
            <a:pPr>
              <a:lnSpc>
                <a:spcPct val="80000"/>
              </a:lnSpc>
            </a:pPr>
            <a:endParaRPr lang="en-US" sz="2400" dirty="0"/>
          </a:p>
        </p:txBody>
      </p:sp>
      <p:sp>
        <p:nvSpPr>
          <p:cNvPr id="5" name="Footer Placeholder 4"/>
          <p:cNvSpPr>
            <a:spLocks noGrp="1"/>
          </p:cNvSpPr>
          <p:nvPr>
            <p:ph type="ftr" sz="quarter" idx="11"/>
          </p:nvPr>
        </p:nvSpPr>
        <p:spPr/>
        <p:txBody>
          <a:bodyPr/>
          <a:lstStyle/>
          <a:p>
            <a:r>
              <a:rPr lang="en-US"/>
              <a:t>© Copyright 2026.  Peter M. Shane All rights reserved. </a:t>
            </a:r>
            <a:endParaRPr lang="en-US" sz="1200" dirty="0"/>
          </a:p>
        </p:txBody>
      </p:sp>
      <p:sp>
        <p:nvSpPr>
          <p:cNvPr id="2" name="Slide Number Placeholder 1">
            <a:extLst>
              <a:ext uri="{FF2B5EF4-FFF2-40B4-BE49-F238E27FC236}">
                <a16:creationId xmlns:a16="http://schemas.microsoft.com/office/drawing/2014/main" id="{86948C19-77CB-86B6-36AA-770091C4D9B0}"/>
              </a:ext>
            </a:extLst>
          </p:cNvPr>
          <p:cNvSpPr>
            <a:spLocks noGrp="1"/>
          </p:cNvSpPr>
          <p:nvPr>
            <p:ph type="sldNum" sz="quarter" idx="12"/>
          </p:nvPr>
        </p:nvSpPr>
        <p:spPr/>
        <p:txBody>
          <a:bodyPr/>
          <a:lstStyle/>
          <a:p>
            <a:fld id="{19243C18-CE1F-4D3B-ABA9-FEC66CF84D9A}" type="slidenum">
              <a:rPr lang="en-US" smtClean="0"/>
              <a:pPr/>
              <a:t>18</a:t>
            </a:fld>
            <a:endParaRPr lang="en-US"/>
          </a:p>
        </p:txBody>
      </p:sp>
    </p:spTree>
    <p:extLst>
      <p:ext uri="{BB962C8B-B14F-4D97-AF65-F5344CB8AC3E}">
        <p14:creationId xmlns:p14="http://schemas.microsoft.com/office/powerpoint/2010/main" val="2946445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 fill="hold"/>
                                        <p:tgtEl>
                                          <p:spTgt spid="30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xEl>
                                              <p:pRg st="1" end="1"/>
                                            </p:txEl>
                                          </p:spTgt>
                                        </p:tgtEl>
                                        <p:attrNameLst>
                                          <p:attrName>style.visibility</p:attrName>
                                        </p:attrNameLst>
                                      </p:cBhvr>
                                      <p:to>
                                        <p:strVal val="visible"/>
                                      </p:to>
                                    </p:set>
                                    <p:anim calcmode="lin" valueType="num">
                                      <p:cBhvr additive="base">
                                        <p:cTn id="13" dur="500" fill="hold"/>
                                        <p:tgtEl>
                                          <p:spTgt spid="30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5">
                                            <p:txEl>
                                              <p:pRg st="2" end="2"/>
                                            </p:txEl>
                                          </p:spTgt>
                                        </p:tgtEl>
                                        <p:attrNameLst>
                                          <p:attrName>style.visibility</p:attrName>
                                        </p:attrNameLst>
                                      </p:cBhvr>
                                      <p:to>
                                        <p:strVal val="visible"/>
                                      </p:to>
                                    </p:set>
                                    <p:anim calcmode="lin" valueType="num">
                                      <p:cBhvr additive="base">
                                        <p:cTn id="19" dur="500" fill="hold"/>
                                        <p:tgtEl>
                                          <p:spTgt spid="30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5">
                                            <p:txEl>
                                              <p:pRg st="3" end="3"/>
                                            </p:txEl>
                                          </p:spTgt>
                                        </p:tgtEl>
                                        <p:attrNameLst>
                                          <p:attrName>style.visibility</p:attrName>
                                        </p:attrNameLst>
                                      </p:cBhvr>
                                      <p:to>
                                        <p:strVal val="visible"/>
                                      </p:to>
                                    </p:set>
                                    <p:anim calcmode="lin" valueType="num">
                                      <p:cBhvr additive="base">
                                        <p:cTn id="25" dur="500" fill="hold"/>
                                        <p:tgtEl>
                                          <p:spTgt spid="30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75">
                                            <p:txEl>
                                              <p:pRg st="4" end="4"/>
                                            </p:txEl>
                                          </p:spTgt>
                                        </p:tgtEl>
                                        <p:attrNameLst>
                                          <p:attrName>style.visibility</p:attrName>
                                        </p:attrNameLst>
                                      </p:cBhvr>
                                      <p:to>
                                        <p:strVal val="visible"/>
                                      </p:to>
                                    </p:set>
                                    <p:anim calcmode="lin" valueType="num">
                                      <p:cBhvr additive="base">
                                        <p:cTn id="31" dur="500" fill="hold"/>
                                        <p:tgtEl>
                                          <p:spTgt spid="30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075">
                                            <p:txEl>
                                              <p:pRg st="5" end="5"/>
                                            </p:txEl>
                                          </p:spTgt>
                                        </p:tgtEl>
                                        <p:attrNameLst>
                                          <p:attrName>style.visibility</p:attrName>
                                        </p:attrNameLst>
                                      </p:cBhvr>
                                      <p:to>
                                        <p:strVal val="visible"/>
                                      </p:to>
                                    </p:set>
                                    <p:anim calcmode="lin" valueType="num">
                                      <p:cBhvr additive="base">
                                        <p:cTn id="37" dur="500" fill="hold"/>
                                        <p:tgtEl>
                                          <p:spTgt spid="30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SEC Oversight</a:t>
            </a:r>
          </a:p>
        </p:txBody>
      </p:sp>
      <p:sp>
        <p:nvSpPr>
          <p:cNvPr id="6" name="Content Placeholder 5"/>
          <p:cNvSpPr>
            <a:spLocks noGrp="1"/>
          </p:cNvSpPr>
          <p:nvPr>
            <p:ph idx="1"/>
          </p:nvPr>
        </p:nvSpPr>
        <p:spPr/>
        <p:txBody>
          <a:bodyPr>
            <a:normAutofit/>
          </a:bodyPr>
          <a:lstStyle/>
          <a:p>
            <a:r>
              <a:rPr lang="en-US" dirty="0"/>
              <a:t>SEC's oversees issuance of rules or the imposition of sanctions (both of which are subject to Commission approval and alteration)</a:t>
            </a:r>
          </a:p>
          <a:p>
            <a:r>
              <a:rPr lang="en-US" dirty="0"/>
              <a:t>Commission cannot remove Board members at will, but only “for good cause shown,” “in accordance with” statutory procedures.</a:t>
            </a:r>
          </a:p>
          <a:p>
            <a:pPr>
              <a:buNone/>
            </a:pPr>
            <a:endParaRPr lang="en-US" dirty="0"/>
          </a:p>
        </p:txBody>
      </p:sp>
      <p:sp>
        <p:nvSpPr>
          <p:cNvPr id="3" name="Footer Placeholder 2"/>
          <p:cNvSpPr>
            <a:spLocks noGrp="1"/>
          </p:cNvSpPr>
          <p:nvPr>
            <p:ph type="ftr" sz="quarter" idx="11"/>
          </p:nvPr>
        </p:nvSpPr>
        <p:spPr/>
        <p:txBody>
          <a:bodyPr/>
          <a:lstStyle/>
          <a:p>
            <a:r>
              <a:rPr lang="en-US"/>
              <a:t>© Copyright 2026.  Peter M. Shane All rights reserved. </a:t>
            </a:r>
            <a:endParaRPr lang="en-US" sz="1200" dirty="0"/>
          </a:p>
        </p:txBody>
      </p:sp>
      <p:sp>
        <p:nvSpPr>
          <p:cNvPr id="4" name="Slide Number Placeholder 3">
            <a:extLst>
              <a:ext uri="{FF2B5EF4-FFF2-40B4-BE49-F238E27FC236}">
                <a16:creationId xmlns:a16="http://schemas.microsoft.com/office/drawing/2014/main" id="{15FF92E1-DE0A-8059-F46D-387C703FA7CF}"/>
              </a:ext>
            </a:extLst>
          </p:cNvPr>
          <p:cNvSpPr>
            <a:spLocks noGrp="1"/>
          </p:cNvSpPr>
          <p:nvPr>
            <p:ph type="sldNum" sz="quarter" idx="12"/>
          </p:nvPr>
        </p:nvSpPr>
        <p:spPr/>
        <p:txBody>
          <a:bodyPr/>
          <a:lstStyle/>
          <a:p>
            <a:fld id="{19243C18-CE1F-4D3B-ABA9-FEC66CF84D9A}"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Holding on Removability</a:t>
            </a:r>
          </a:p>
        </p:txBody>
      </p:sp>
      <p:sp>
        <p:nvSpPr>
          <p:cNvPr id="3" name="Content Placeholder 2"/>
          <p:cNvSpPr>
            <a:spLocks noGrp="1"/>
          </p:cNvSpPr>
          <p:nvPr>
            <p:ph idx="1"/>
          </p:nvPr>
        </p:nvSpPr>
        <p:spPr/>
        <p:txBody>
          <a:bodyPr/>
          <a:lstStyle/>
          <a:p>
            <a:r>
              <a:rPr lang="en-US" dirty="0"/>
              <a:t>Multiple layers of protection from at-will removal violates Article II</a:t>
            </a:r>
          </a:p>
          <a:p>
            <a:r>
              <a:rPr lang="en-US" dirty="0"/>
              <a:t>An inferior officer who reports to a principal officer removable only for good cause must be removable at will</a:t>
            </a:r>
          </a:p>
          <a:p>
            <a:r>
              <a:rPr lang="en-US" dirty="0"/>
              <a:t>Disrupts the constitutionally required accountability of the agency to the President</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8C43A6F1-E066-D2C3-B550-3BB39F7DA361}"/>
              </a:ext>
            </a:extLst>
          </p:cNvPr>
          <p:cNvSpPr>
            <a:spLocks noGrp="1"/>
          </p:cNvSpPr>
          <p:nvPr>
            <p:ph type="sldNum" sz="quarter" idx="12"/>
          </p:nvPr>
        </p:nvSpPr>
        <p:spPr/>
        <p:txBody>
          <a:bodyPr/>
          <a:lstStyle/>
          <a:p>
            <a:fld id="{19243C18-CE1F-4D3B-ABA9-FEC66CF84D9A}" type="slidenum">
              <a:rPr lang="en-US" smtClean="0"/>
              <a:pPr/>
              <a:t>20</a:t>
            </a:fld>
            <a:endParaRPr lang="en-US"/>
          </a:p>
        </p:txBody>
      </p:sp>
    </p:spTree>
    <p:extLst>
      <p:ext uri="{BB962C8B-B14F-4D97-AF65-F5344CB8AC3E}">
        <p14:creationId xmlns:p14="http://schemas.microsoft.com/office/powerpoint/2010/main" val="2608862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noAutofit/>
          </a:bodyPr>
          <a:lstStyle/>
          <a:p>
            <a:r>
              <a:rPr lang="en-US" sz="3600" dirty="0"/>
              <a:t>Impact on Presidential Power</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640310260"/>
              </p:ext>
            </p:extLst>
          </p:nvPr>
        </p:nvGraphicFramePr>
        <p:xfrm>
          <a:off x="457200" y="1600200"/>
          <a:ext cx="8229600" cy="42672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r>
                        <a:rPr lang="en-US" sz="1600" dirty="0">
                          <a:solidFill>
                            <a:schemeClr val="tx1"/>
                          </a:solidFill>
                        </a:rPr>
                        <a:t>What the President Wants</a:t>
                      </a:r>
                    </a:p>
                  </a:txBody>
                  <a:tcPr/>
                </a:tc>
                <a:tc>
                  <a:txBody>
                    <a:bodyPr/>
                    <a:lstStyle/>
                    <a:p>
                      <a:r>
                        <a:rPr lang="en-US" sz="1600" dirty="0">
                          <a:solidFill>
                            <a:schemeClr val="tx1"/>
                          </a:solidFill>
                        </a:rPr>
                        <a:t>What SEC </a:t>
                      </a:r>
                      <a:r>
                        <a:rPr lang="en-US" sz="1600" baseline="0" dirty="0">
                          <a:solidFill>
                            <a:schemeClr val="tx1"/>
                          </a:solidFill>
                        </a:rPr>
                        <a:t>Does</a:t>
                      </a:r>
                      <a:endParaRPr lang="en-US" sz="1600" dirty="0">
                        <a:solidFill>
                          <a:schemeClr val="tx1"/>
                        </a:solidFill>
                      </a:endParaRPr>
                    </a:p>
                  </a:txBody>
                  <a:tcPr/>
                </a:tc>
                <a:tc>
                  <a:txBody>
                    <a:bodyPr/>
                    <a:lstStyle/>
                    <a:p>
                      <a:r>
                        <a:rPr lang="en-US" sz="1600" dirty="0">
                          <a:solidFill>
                            <a:schemeClr val="tx1"/>
                          </a:solidFill>
                        </a:rPr>
                        <a:t>What the President</a:t>
                      </a:r>
                      <a:r>
                        <a:rPr lang="en-US" sz="1600" baseline="0" dirty="0">
                          <a:solidFill>
                            <a:schemeClr val="tx1"/>
                          </a:solidFill>
                        </a:rPr>
                        <a:t> Can Do Pre-</a:t>
                      </a:r>
                      <a:r>
                        <a:rPr lang="en-US" sz="1600" i="1" baseline="0" dirty="0">
                          <a:solidFill>
                            <a:schemeClr val="tx1"/>
                          </a:solidFill>
                        </a:rPr>
                        <a:t>PCAOB</a:t>
                      </a:r>
                      <a:endParaRPr lang="en-US" sz="1600" i="1"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What the President</a:t>
                      </a:r>
                      <a:r>
                        <a:rPr lang="en-US" sz="1600" baseline="0" dirty="0">
                          <a:solidFill>
                            <a:schemeClr val="tx1"/>
                          </a:solidFill>
                        </a:rPr>
                        <a:t> Can Do Post-</a:t>
                      </a:r>
                      <a:r>
                        <a:rPr lang="en-US" sz="1600" i="1" baseline="0" dirty="0">
                          <a:solidFill>
                            <a:schemeClr val="tx1"/>
                          </a:solidFill>
                        </a:rPr>
                        <a:t>PCAOB</a:t>
                      </a:r>
                      <a:endParaRPr lang="en-US" sz="1600" i="1" dirty="0">
                        <a:solidFill>
                          <a:schemeClr val="tx1"/>
                        </a:solidFill>
                      </a:endParaRPr>
                    </a:p>
                  </a:txBody>
                  <a:tcPr/>
                </a:tc>
                <a:extLst>
                  <a:ext uri="{0D108BD9-81ED-4DB2-BD59-A6C34878D82A}">
                    <a16:rowId xmlns:a16="http://schemas.microsoft.com/office/drawing/2014/main" val="10000"/>
                  </a:ext>
                </a:extLst>
              </a:tr>
              <a:tr h="370840">
                <a:tc>
                  <a:txBody>
                    <a:bodyPr/>
                    <a:lstStyle/>
                    <a:p>
                      <a:r>
                        <a:rPr lang="en-US" sz="1400" dirty="0"/>
                        <a:t>Wants</a:t>
                      </a:r>
                      <a:r>
                        <a:rPr lang="en-US" sz="1400" baseline="0" dirty="0"/>
                        <a:t> PCAOB Member Removed for Cause</a:t>
                      </a:r>
                      <a:endParaRPr lang="en-US" sz="1400" dirty="0"/>
                    </a:p>
                  </a:txBody>
                  <a:tcPr/>
                </a:tc>
                <a:tc>
                  <a:txBody>
                    <a:bodyPr/>
                    <a:lstStyle/>
                    <a:p>
                      <a:r>
                        <a:rPr lang="en-US" sz="1400" dirty="0"/>
                        <a:t>Removes for Cause</a:t>
                      </a:r>
                    </a:p>
                  </a:txBody>
                  <a:tcPr/>
                </a:tc>
                <a:tc>
                  <a:txBody>
                    <a:bodyPr/>
                    <a:lstStyle/>
                    <a:p>
                      <a:r>
                        <a:rPr lang="en-US" sz="1400" dirty="0"/>
                        <a:t>Everyone’s in agreement</a:t>
                      </a:r>
                      <a:r>
                        <a:rPr lang="en-US" sz="1400" baseline="0" dirty="0"/>
                        <a:t> – nothing needs to happen</a:t>
                      </a:r>
                      <a:endParaRPr lang="en-US" sz="1400" dirty="0"/>
                    </a:p>
                  </a:txBody>
                  <a:tcPr/>
                </a:tc>
                <a:tc>
                  <a:txBody>
                    <a:bodyPr/>
                    <a:lstStyle/>
                    <a:p>
                      <a:endParaRPr lang="en-US" sz="1600" dirty="0"/>
                    </a:p>
                  </a:txBody>
                  <a:tcPr/>
                </a:tc>
                <a:extLst>
                  <a:ext uri="{0D108BD9-81ED-4DB2-BD59-A6C34878D82A}">
                    <a16:rowId xmlns:a16="http://schemas.microsoft.com/office/drawing/2014/main" val="10001"/>
                  </a:ext>
                </a:extLst>
              </a:tr>
              <a:tr h="370840">
                <a:tc>
                  <a:txBody>
                    <a:bodyPr/>
                    <a:lstStyle/>
                    <a:p>
                      <a:r>
                        <a:rPr lang="en-US" sz="1400" dirty="0"/>
                        <a:t>Wants PCAOB Member Removed for Cause</a:t>
                      </a:r>
                    </a:p>
                  </a:txBody>
                  <a:tcPr/>
                </a:tc>
                <a:tc>
                  <a:txBody>
                    <a:bodyPr/>
                    <a:lstStyle/>
                    <a:p>
                      <a:r>
                        <a:rPr lang="en-US" sz="1400" dirty="0"/>
                        <a:t>Declines</a:t>
                      </a:r>
                      <a:r>
                        <a:rPr lang="en-US" sz="1400" baseline="0" dirty="0"/>
                        <a:t> to Remove for Cause</a:t>
                      </a:r>
                      <a:endParaRPr lang="en-US" sz="1400" dirty="0"/>
                    </a:p>
                  </a:txBody>
                  <a:tcPr/>
                </a:tc>
                <a:tc>
                  <a:txBody>
                    <a:bodyPr/>
                    <a:lstStyle/>
                    <a:p>
                      <a:r>
                        <a:rPr lang="en-US" sz="1400" dirty="0"/>
                        <a:t>Can</a:t>
                      </a:r>
                      <a:r>
                        <a:rPr lang="en-US" sz="1400" baseline="0" dirty="0"/>
                        <a:t> remove SEC members if (and only if) failure to remove is itself malfeasance</a:t>
                      </a:r>
                      <a:endParaRPr lang="en-US" sz="1400" dirty="0"/>
                    </a:p>
                  </a:txBody>
                  <a:tcPr/>
                </a:tc>
                <a:tc>
                  <a:txBody>
                    <a:bodyPr/>
                    <a:lstStyle/>
                    <a:p>
                      <a:endParaRPr lang="en-US" sz="16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Wants PCAOB Member Removed on Policy Grounds</a:t>
                      </a:r>
                    </a:p>
                  </a:txBody>
                  <a:tcPr/>
                </a:tc>
                <a:tc>
                  <a:txBody>
                    <a:bodyPr/>
                    <a:lstStyle/>
                    <a:p>
                      <a:r>
                        <a:rPr lang="en-US" sz="1400" dirty="0"/>
                        <a:t>Nothing – no power to remove</a:t>
                      </a:r>
                      <a:r>
                        <a:rPr lang="en-US" sz="1400" baseline="0" dirty="0"/>
                        <a:t> at will</a:t>
                      </a:r>
                      <a:endParaRPr lang="en-US" sz="1400" dirty="0"/>
                    </a:p>
                  </a:txBody>
                  <a:tcPr/>
                </a:tc>
                <a:tc>
                  <a:txBody>
                    <a:bodyPr/>
                    <a:lstStyle/>
                    <a:p>
                      <a:r>
                        <a:rPr lang="en-US" sz="1400" dirty="0"/>
                        <a:t>Nothing</a:t>
                      </a:r>
                    </a:p>
                  </a:txBody>
                  <a:tcPr/>
                </a:tc>
                <a:tc>
                  <a:txBody>
                    <a:bodyPr/>
                    <a:lstStyle/>
                    <a:p>
                      <a:endParaRPr lang="en-US" sz="1600"/>
                    </a:p>
                  </a:txBody>
                  <a:tcPr/>
                </a:tc>
                <a:extLst>
                  <a:ext uri="{0D108BD9-81ED-4DB2-BD59-A6C34878D82A}">
                    <a16:rowId xmlns:a16="http://schemas.microsoft.com/office/drawing/2014/main" val="10003"/>
                  </a:ext>
                </a:extLst>
              </a:tr>
              <a:tr h="370840">
                <a:tc>
                  <a:txBody>
                    <a:bodyPr/>
                    <a:lstStyle/>
                    <a:p>
                      <a:r>
                        <a:rPr lang="en-US" sz="1400" dirty="0"/>
                        <a:t>Wants</a:t>
                      </a:r>
                      <a:r>
                        <a:rPr lang="en-US" sz="1400" baseline="0" dirty="0"/>
                        <a:t> PCAOB Member Kept On</a:t>
                      </a:r>
                      <a:endParaRPr lang="en-US" sz="1400" dirty="0"/>
                    </a:p>
                  </a:txBody>
                  <a:tcPr/>
                </a:tc>
                <a:tc>
                  <a:txBody>
                    <a:bodyPr/>
                    <a:lstStyle/>
                    <a:p>
                      <a:r>
                        <a:rPr lang="en-US" sz="1400" dirty="0"/>
                        <a:t>Fires for cause</a:t>
                      </a:r>
                    </a:p>
                  </a:txBody>
                  <a:tcPr/>
                </a:tc>
                <a:tc>
                  <a:txBody>
                    <a:bodyPr/>
                    <a:lstStyle/>
                    <a:p>
                      <a:r>
                        <a:rPr lang="en-US" sz="1400" dirty="0"/>
                        <a:t>Can remove SEC members if (and only if) removal is itself malfeasance</a:t>
                      </a:r>
                    </a:p>
                  </a:txBody>
                  <a:tcPr/>
                </a:tc>
                <a:tc>
                  <a:txBody>
                    <a:bodyPr/>
                    <a:lstStyle/>
                    <a:p>
                      <a:endParaRPr lang="en-US" sz="1600" dirty="0"/>
                    </a:p>
                  </a:txBody>
                  <a:tcPr/>
                </a:tc>
                <a:extLst>
                  <a:ext uri="{0D108BD9-81ED-4DB2-BD59-A6C34878D82A}">
                    <a16:rowId xmlns:a16="http://schemas.microsoft.com/office/drawing/2014/main" val="10004"/>
                  </a:ext>
                </a:extLst>
              </a:tr>
              <a:tr h="370840">
                <a:tc>
                  <a:txBody>
                    <a:bodyPr/>
                    <a:lstStyle/>
                    <a:p>
                      <a:r>
                        <a:rPr lang="en-US" sz="1400" dirty="0"/>
                        <a:t>Wants PCAOB Member Kept On</a:t>
                      </a:r>
                    </a:p>
                  </a:txBody>
                  <a:tcPr/>
                </a:tc>
                <a:tc>
                  <a:txBody>
                    <a:bodyPr/>
                    <a:lstStyle/>
                    <a:p>
                      <a:r>
                        <a:rPr lang="en-US" sz="1400" dirty="0"/>
                        <a:t>Fires without cause</a:t>
                      </a:r>
                    </a:p>
                  </a:txBody>
                  <a:tcPr/>
                </a:tc>
                <a:tc>
                  <a:txBody>
                    <a:bodyPr/>
                    <a:lstStyle/>
                    <a:p>
                      <a:r>
                        <a:rPr lang="en-US" sz="1400" dirty="0"/>
                        <a:t>Can remove SEC members who acted outside the law!</a:t>
                      </a:r>
                    </a:p>
                  </a:txBody>
                  <a:tcPr/>
                </a:tc>
                <a:tc>
                  <a:txBody>
                    <a:bodyPr/>
                    <a:lstStyle/>
                    <a:p>
                      <a:endParaRPr lang="en-US" sz="1600" dirty="0"/>
                    </a:p>
                  </a:txBody>
                  <a:tcPr/>
                </a:tc>
                <a:extLst>
                  <a:ext uri="{0D108BD9-81ED-4DB2-BD59-A6C34878D82A}">
                    <a16:rowId xmlns:a16="http://schemas.microsoft.com/office/drawing/2014/main" val="10005"/>
                  </a:ext>
                </a:extLst>
              </a:tr>
            </a:tbl>
          </a:graphicData>
        </a:graphic>
      </p:graphicFrame>
      <p:sp>
        <p:nvSpPr>
          <p:cNvPr id="4" name="Footer Placeholder 3"/>
          <p:cNvSpPr>
            <a:spLocks noGrp="1"/>
          </p:cNvSpPr>
          <p:nvPr>
            <p:ph type="ftr" sz="quarter" idx="11"/>
          </p:nvPr>
        </p:nvSpPr>
        <p:spPr/>
        <p:txBody>
          <a:bodyPr/>
          <a:lstStyle/>
          <a:p>
            <a:r>
              <a:rPr lang="en-US"/>
              <a:t>© Copyright 2026.  Peter M. Shane All rights reserved. </a:t>
            </a:r>
            <a:endParaRPr lang="en-US" sz="1200" dirty="0"/>
          </a:p>
        </p:txBody>
      </p:sp>
      <p:sp>
        <p:nvSpPr>
          <p:cNvPr id="3" name="Slide Number Placeholder 2">
            <a:extLst>
              <a:ext uri="{FF2B5EF4-FFF2-40B4-BE49-F238E27FC236}">
                <a16:creationId xmlns:a16="http://schemas.microsoft.com/office/drawing/2014/main" id="{CB8416D5-81F8-B96A-B68E-161E9976CAE5}"/>
              </a:ext>
            </a:extLst>
          </p:cNvPr>
          <p:cNvSpPr>
            <a:spLocks noGrp="1"/>
          </p:cNvSpPr>
          <p:nvPr>
            <p:ph type="sldNum" sz="quarter" idx="12"/>
          </p:nvPr>
        </p:nvSpPr>
        <p:spPr/>
        <p:txBody>
          <a:bodyPr/>
          <a:lstStyle/>
          <a:p>
            <a:fld id="{19243C18-CE1F-4D3B-ABA9-FEC66CF84D9A}"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sz="3200" dirty="0"/>
              <a:t>Impact on Presidential Power</a:t>
            </a:r>
          </a:p>
        </p:txBody>
      </p:sp>
      <p:sp>
        <p:nvSpPr>
          <p:cNvPr id="9219" name="Rectangle 3"/>
          <p:cNvSpPr>
            <a:spLocks noGrp="1" noChangeArrowheads="1"/>
          </p:cNvSpPr>
          <p:nvPr>
            <p:ph type="body" idx="1"/>
          </p:nvPr>
        </p:nvSpPr>
        <p:spPr/>
        <p:txBody>
          <a:bodyPr/>
          <a:lstStyle/>
          <a:p>
            <a:pPr>
              <a:lnSpc>
                <a:spcPct val="80000"/>
              </a:lnSpc>
            </a:pPr>
            <a:endParaRPr lang="en-US" sz="2400" dirty="0"/>
          </a:p>
        </p:txBody>
      </p:sp>
      <p:graphicFrame>
        <p:nvGraphicFramePr>
          <p:cNvPr id="2" name="Table 1"/>
          <p:cNvGraphicFramePr>
            <a:graphicFrameLocks noGrp="1"/>
          </p:cNvGraphicFramePr>
          <p:nvPr>
            <p:extLst>
              <p:ext uri="{D42A27DB-BD31-4B8C-83A1-F6EECF244321}">
                <p14:modId xmlns:p14="http://schemas.microsoft.com/office/powerpoint/2010/main" val="52249566"/>
              </p:ext>
            </p:extLst>
          </p:nvPr>
        </p:nvGraphicFramePr>
        <p:xfrm>
          <a:off x="457200" y="1600200"/>
          <a:ext cx="8229600" cy="44805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r>
                        <a:rPr lang="en-US" sz="1600" dirty="0">
                          <a:solidFill>
                            <a:schemeClr val="tx1"/>
                          </a:solidFill>
                        </a:rPr>
                        <a:t>What the President Wants</a:t>
                      </a:r>
                    </a:p>
                  </a:txBody>
                  <a:tcPr/>
                </a:tc>
                <a:tc>
                  <a:txBody>
                    <a:bodyPr/>
                    <a:lstStyle/>
                    <a:p>
                      <a:r>
                        <a:rPr lang="en-US" sz="1600" dirty="0">
                          <a:solidFill>
                            <a:schemeClr val="tx1"/>
                          </a:solidFill>
                        </a:rPr>
                        <a:t>What SEC </a:t>
                      </a:r>
                      <a:r>
                        <a:rPr lang="en-US" sz="1600" baseline="0" dirty="0">
                          <a:solidFill>
                            <a:schemeClr val="tx1"/>
                          </a:solidFill>
                        </a:rPr>
                        <a:t>Does</a:t>
                      </a:r>
                      <a:endParaRPr lang="en-US" sz="1600" dirty="0">
                        <a:solidFill>
                          <a:schemeClr val="tx1"/>
                        </a:solidFill>
                      </a:endParaRPr>
                    </a:p>
                  </a:txBody>
                  <a:tcPr/>
                </a:tc>
                <a:tc>
                  <a:txBody>
                    <a:bodyPr/>
                    <a:lstStyle/>
                    <a:p>
                      <a:r>
                        <a:rPr lang="en-US" sz="1600" dirty="0">
                          <a:solidFill>
                            <a:schemeClr val="tx1"/>
                          </a:solidFill>
                        </a:rPr>
                        <a:t>What the President</a:t>
                      </a:r>
                      <a:r>
                        <a:rPr lang="en-US" sz="1600" baseline="0" dirty="0">
                          <a:solidFill>
                            <a:schemeClr val="tx1"/>
                          </a:solidFill>
                        </a:rPr>
                        <a:t> Can Do Pre-</a:t>
                      </a:r>
                      <a:r>
                        <a:rPr lang="en-US" sz="1600" i="1" baseline="0" dirty="0">
                          <a:solidFill>
                            <a:schemeClr val="tx1"/>
                          </a:solidFill>
                        </a:rPr>
                        <a:t>PCAOB</a:t>
                      </a:r>
                      <a:endParaRPr lang="en-US" sz="1600" i="1"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What the President</a:t>
                      </a:r>
                      <a:r>
                        <a:rPr lang="en-US" sz="1600" baseline="0" dirty="0">
                          <a:solidFill>
                            <a:schemeClr val="tx1"/>
                          </a:solidFill>
                        </a:rPr>
                        <a:t> Can Do Post-</a:t>
                      </a:r>
                      <a:r>
                        <a:rPr lang="en-US" sz="1600" i="1" baseline="0" dirty="0">
                          <a:solidFill>
                            <a:schemeClr val="tx1"/>
                          </a:solidFill>
                        </a:rPr>
                        <a:t>PCAOB</a:t>
                      </a:r>
                      <a:endParaRPr lang="en-US" sz="1600" i="1" dirty="0">
                        <a:solidFill>
                          <a:schemeClr val="tx1"/>
                        </a:solidFill>
                      </a:endParaRPr>
                    </a:p>
                  </a:txBody>
                  <a:tcPr/>
                </a:tc>
                <a:extLst>
                  <a:ext uri="{0D108BD9-81ED-4DB2-BD59-A6C34878D82A}">
                    <a16:rowId xmlns:a16="http://schemas.microsoft.com/office/drawing/2014/main" val="10000"/>
                  </a:ext>
                </a:extLst>
              </a:tr>
              <a:tr h="370840">
                <a:tc>
                  <a:txBody>
                    <a:bodyPr/>
                    <a:lstStyle/>
                    <a:p>
                      <a:r>
                        <a:rPr lang="en-US" sz="1400" dirty="0"/>
                        <a:t>Wants</a:t>
                      </a:r>
                      <a:r>
                        <a:rPr lang="en-US" sz="1400" baseline="0" dirty="0"/>
                        <a:t> PCAOB Member Removed for Cause</a:t>
                      </a:r>
                      <a:endParaRPr lang="en-US" sz="1400" dirty="0"/>
                    </a:p>
                  </a:txBody>
                  <a:tcPr/>
                </a:tc>
                <a:tc>
                  <a:txBody>
                    <a:bodyPr/>
                    <a:lstStyle/>
                    <a:p>
                      <a:r>
                        <a:rPr lang="en-US" sz="1400" dirty="0"/>
                        <a:t>Removes for Cause</a:t>
                      </a:r>
                    </a:p>
                  </a:txBody>
                  <a:tcPr/>
                </a:tc>
                <a:tc>
                  <a:txBody>
                    <a:bodyPr/>
                    <a:lstStyle/>
                    <a:p>
                      <a:r>
                        <a:rPr lang="en-US" sz="1400" dirty="0"/>
                        <a:t>Everyone’s in agreement</a:t>
                      </a:r>
                      <a:r>
                        <a:rPr lang="en-US" sz="1400" baseline="0" dirty="0"/>
                        <a:t> – nothing needs to happen</a:t>
                      </a:r>
                      <a:endParaRPr lang="en-US" sz="1400" dirty="0"/>
                    </a:p>
                  </a:txBody>
                  <a:tcPr/>
                </a:tc>
                <a:tc>
                  <a:txBody>
                    <a:bodyPr/>
                    <a:lstStyle/>
                    <a:p>
                      <a:r>
                        <a:rPr lang="en-US" sz="1400" dirty="0"/>
                        <a:t>Same as before</a:t>
                      </a:r>
                    </a:p>
                  </a:txBody>
                  <a:tcPr/>
                </a:tc>
                <a:extLst>
                  <a:ext uri="{0D108BD9-81ED-4DB2-BD59-A6C34878D82A}">
                    <a16:rowId xmlns:a16="http://schemas.microsoft.com/office/drawing/2014/main" val="10001"/>
                  </a:ext>
                </a:extLst>
              </a:tr>
              <a:tr h="370840">
                <a:tc>
                  <a:txBody>
                    <a:bodyPr/>
                    <a:lstStyle/>
                    <a:p>
                      <a:r>
                        <a:rPr lang="en-US" sz="1400" dirty="0"/>
                        <a:t>Wants PCAOB Member Removed for Cause</a:t>
                      </a:r>
                    </a:p>
                  </a:txBody>
                  <a:tcPr/>
                </a:tc>
                <a:tc>
                  <a:txBody>
                    <a:bodyPr/>
                    <a:lstStyle/>
                    <a:p>
                      <a:r>
                        <a:rPr lang="en-US" sz="1400" dirty="0"/>
                        <a:t>Declines</a:t>
                      </a:r>
                      <a:r>
                        <a:rPr lang="en-US" sz="1400" baseline="0" dirty="0"/>
                        <a:t> to Remove for Cause</a:t>
                      </a:r>
                      <a:endParaRPr lang="en-US" sz="1400" dirty="0"/>
                    </a:p>
                  </a:txBody>
                  <a:tcPr/>
                </a:tc>
                <a:tc>
                  <a:txBody>
                    <a:bodyPr/>
                    <a:lstStyle/>
                    <a:p>
                      <a:r>
                        <a:rPr lang="en-US" sz="1400" dirty="0"/>
                        <a:t>Can</a:t>
                      </a:r>
                      <a:r>
                        <a:rPr lang="en-US" sz="1400" baseline="0" dirty="0"/>
                        <a:t> remove SEC members if (and only if) failure to remove is itself malfeasance</a:t>
                      </a:r>
                      <a:endParaRPr lang="en-US" sz="1400" dirty="0"/>
                    </a:p>
                  </a:txBody>
                  <a:tcPr/>
                </a:tc>
                <a:tc>
                  <a:txBody>
                    <a:bodyPr/>
                    <a:lstStyle/>
                    <a:p>
                      <a:r>
                        <a:rPr lang="en-US" sz="1400" dirty="0"/>
                        <a:t>Same as before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Wants PCAOB Member Removed on Policy Grounds</a:t>
                      </a:r>
                    </a:p>
                  </a:txBody>
                  <a:tcPr/>
                </a:tc>
                <a:tc>
                  <a:txBody>
                    <a:bodyPr/>
                    <a:lstStyle/>
                    <a:p>
                      <a:r>
                        <a:rPr lang="en-US" sz="1400" dirty="0"/>
                        <a:t>Nothing</a:t>
                      </a:r>
                    </a:p>
                  </a:txBody>
                  <a:tcPr/>
                </a:tc>
                <a:tc>
                  <a:txBody>
                    <a:bodyPr/>
                    <a:lstStyle/>
                    <a:p>
                      <a:r>
                        <a:rPr lang="en-US" sz="1400" dirty="0"/>
                        <a:t>Nothing – SEC has no legal power to remove on policy grounds</a:t>
                      </a:r>
                    </a:p>
                  </a:txBody>
                  <a:tcPr/>
                </a:tc>
                <a:tc>
                  <a:txBody>
                    <a:bodyPr/>
                    <a:lstStyle/>
                    <a:p>
                      <a:r>
                        <a:rPr lang="en-US" sz="1400" dirty="0"/>
                        <a:t>Nothing – SEC could</a:t>
                      </a:r>
                      <a:r>
                        <a:rPr lang="en-US" sz="1400" baseline="0" dirty="0"/>
                        <a:t> remove for policy, but Pres. Can’t force it</a:t>
                      </a:r>
                      <a:endParaRPr lang="en-US" sz="1400" dirty="0"/>
                    </a:p>
                  </a:txBody>
                  <a:tcPr/>
                </a:tc>
                <a:extLst>
                  <a:ext uri="{0D108BD9-81ED-4DB2-BD59-A6C34878D82A}">
                    <a16:rowId xmlns:a16="http://schemas.microsoft.com/office/drawing/2014/main" val="10003"/>
                  </a:ext>
                </a:extLst>
              </a:tr>
              <a:tr h="370840">
                <a:tc>
                  <a:txBody>
                    <a:bodyPr/>
                    <a:lstStyle/>
                    <a:p>
                      <a:r>
                        <a:rPr lang="en-US" sz="1400" dirty="0"/>
                        <a:t>Wants</a:t>
                      </a:r>
                      <a:r>
                        <a:rPr lang="en-US" sz="1400" baseline="0" dirty="0"/>
                        <a:t> PCAOB Member Kept On</a:t>
                      </a:r>
                      <a:endParaRPr lang="en-US" sz="1400" dirty="0"/>
                    </a:p>
                  </a:txBody>
                  <a:tcPr/>
                </a:tc>
                <a:tc>
                  <a:txBody>
                    <a:bodyPr/>
                    <a:lstStyle/>
                    <a:p>
                      <a:r>
                        <a:rPr lang="en-US" sz="1400" dirty="0"/>
                        <a:t>Fires for cause</a:t>
                      </a:r>
                    </a:p>
                  </a:txBody>
                  <a:tcPr/>
                </a:tc>
                <a:tc>
                  <a:txBody>
                    <a:bodyPr/>
                    <a:lstStyle/>
                    <a:p>
                      <a:r>
                        <a:rPr lang="en-US" sz="1400" dirty="0"/>
                        <a:t>Can remove SEC members if (and only if) removal is itself malfeasance</a:t>
                      </a:r>
                    </a:p>
                  </a:txBody>
                  <a:tcPr/>
                </a:tc>
                <a:tc>
                  <a:txBody>
                    <a:bodyPr/>
                    <a:lstStyle/>
                    <a:p>
                      <a:r>
                        <a:rPr lang="en-US" sz="1400" dirty="0"/>
                        <a:t>Same as before</a:t>
                      </a:r>
                    </a:p>
                  </a:txBody>
                  <a:tcPr/>
                </a:tc>
                <a:extLst>
                  <a:ext uri="{0D108BD9-81ED-4DB2-BD59-A6C34878D82A}">
                    <a16:rowId xmlns:a16="http://schemas.microsoft.com/office/drawing/2014/main" val="10004"/>
                  </a:ext>
                </a:extLst>
              </a:tr>
              <a:tr h="370840">
                <a:tc>
                  <a:txBody>
                    <a:bodyPr/>
                    <a:lstStyle/>
                    <a:p>
                      <a:r>
                        <a:rPr lang="en-US" sz="1400" dirty="0"/>
                        <a:t>Wants PCAOB Member Kept On</a:t>
                      </a:r>
                    </a:p>
                  </a:txBody>
                  <a:tcPr/>
                </a:tc>
                <a:tc>
                  <a:txBody>
                    <a:bodyPr/>
                    <a:lstStyle/>
                    <a:p>
                      <a:r>
                        <a:rPr lang="en-US" sz="1400" dirty="0"/>
                        <a:t>Fires without cause</a:t>
                      </a:r>
                    </a:p>
                  </a:txBody>
                  <a:tcPr/>
                </a:tc>
                <a:tc>
                  <a:txBody>
                    <a:bodyPr/>
                    <a:lstStyle/>
                    <a:p>
                      <a:r>
                        <a:rPr lang="en-US" sz="1400" dirty="0"/>
                        <a:t>Can remove SEC members who acted outside the law!</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Probably nothing unless removal is itself malfeasance</a:t>
                      </a:r>
                    </a:p>
                  </a:txBody>
                  <a:tcPr/>
                </a:tc>
                <a:extLst>
                  <a:ext uri="{0D108BD9-81ED-4DB2-BD59-A6C34878D82A}">
                    <a16:rowId xmlns:a16="http://schemas.microsoft.com/office/drawing/2014/main" val="10005"/>
                  </a:ext>
                </a:extLst>
              </a:tr>
            </a:tbl>
          </a:graphicData>
        </a:graphic>
      </p:graphicFrame>
      <p:sp>
        <p:nvSpPr>
          <p:cNvPr id="5" name="Footer Placeholder 4"/>
          <p:cNvSpPr>
            <a:spLocks noGrp="1"/>
          </p:cNvSpPr>
          <p:nvPr>
            <p:ph type="ftr" sz="quarter" idx="11"/>
          </p:nvPr>
        </p:nvSpPr>
        <p:spPr/>
        <p:txBody>
          <a:bodyPr/>
          <a:lstStyle/>
          <a:p>
            <a:r>
              <a:rPr lang="en-US"/>
              <a:t>© Copyright 2026.  Peter M. Shane All rights reserved. </a:t>
            </a:r>
            <a:endParaRPr lang="en-US" sz="1200" dirty="0"/>
          </a:p>
        </p:txBody>
      </p:sp>
      <p:sp>
        <p:nvSpPr>
          <p:cNvPr id="3" name="Slide Number Placeholder 2">
            <a:extLst>
              <a:ext uri="{FF2B5EF4-FFF2-40B4-BE49-F238E27FC236}">
                <a16:creationId xmlns:a16="http://schemas.microsoft.com/office/drawing/2014/main" id="{1FE2C9BC-D7B3-391F-1862-E7A7DCEDC00D}"/>
              </a:ext>
            </a:extLst>
          </p:cNvPr>
          <p:cNvSpPr>
            <a:spLocks noGrp="1"/>
          </p:cNvSpPr>
          <p:nvPr>
            <p:ph type="sldNum" sz="quarter" idx="12"/>
          </p:nvPr>
        </p:nvSpPr>
        <p:spPr/>
        <p:txBody>
          <a:bodyPr/>
          <a:lstStyle/>
          <a:p>
            <a:fld id="{19243C18-CE1F-4D3B-ABA9-FEC66CF84D9A}"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Severability</a:t>
            </a:r>
          </a:p>
        </p:txBody>
      </p:sp>
      <p:sp>
        <p:nvSpPr>
          <p:cNvPr id="3" name="Content Placeholder 2"/>
          <p:cNvSpPr>
            <a:spLocks noGrp="1"/>
          </p:cNvSpPr>
          <p:nvPr>
            <p:ph idx="1"/>
          </p:nvPr>
        </p:nvSpPr>
        <p:spPr/>
        <p:txBody>
          <a:bodyPr/>
          <a:lstStyle/>
          <a:p>
            <a:r>
              <a:rPr lang="en-US" dirty="0"/>
              <a:t>Severability = treating part of a statute as if it is not there, was never enacted</a:t>
            </a:r>
          </a:p>
          <a:p>
            <a:r>
              <a:rPr lang="en-US" dirty="0"/>
              <a:t>An invalid statutory provision is </a:t>
            </a:r>
            <a:r>
              <a:rPr lang="en-US" i="1" dirty="0"/>
              <a:t>severable </a:t>
            </a:r>
            <a:r>
              <a:rPr lang="en-US" dirty="0"/>
              <a:t>if court persuaded that Congress would have enacted the statute even without the severed provision</a:t>
            </a:r>
          </a:p>
          <a:p>
            <a:r>
              <a:rPr lang="en-US" dirty="0"/>
              <a:t>A “severability clause” creates strong presumption </a:t>
            </a:r>
            <a:r>
              <a:rPr lang="en-US"/>
              <a:t>of severability</a:t>
            </a:r>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0086CF36-F8B1-7D8A-C671-68EF54C24258}"/>
              </a:ext>
            </a:extLst>
          </p:cNvPr>
          <p:cNvSpPr>
            <a:spLocks noGrp="1"/>
          </p:cNvSpPr>
          <p:nvPr>
            <p:ph type="sldNum" sz="quarter" idx="12"/>
          </p:nvPr>
        </p:nvSpPr>
        <p:spPr/>
        <p:txBody>
          <a:bodyPr/>
          <a:lstStyle/>
          <a:p>
            <a:fld id="{19243C18-CE1F-4D3B-ABA9-FEC66CF84D9A}" type="slidenum">
              <a:rPr lang="en-US" smtClean="0"/>
              <a:pPr/>
              <a:t>23</a:t>
            </a:fld>
            <a:endParaRPr lang="en-US"/>
          </a:p>
        </p:txBody>
      </p:sp>
    </p:spTree>
    <p:extLst>
      <p:ext uri="{BB962C8B-B14F-4D97-AF65-F5344CB8AC3E}">
        <p14:creationId xmlns:p14="http://schemas.microsoft.com/office/powerpoint/2010/main" val="2403984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z="4000" dirty="0"/>
              <a:t>Remedy on Removability</a:t>
            </a:r>
          </a:p>
        </p:txBody>
      </p:sp>
      <p:sp>
        <p:nvSpPr>
          <p:cNvPr id="8195" name="Rectangle 3"/>
          <p:cNvSpPr>
            <a:spLocks noGrp="1" noChangeArrowheads="1"/>
          </p:cNvSpPr>
          <p:nvPr>
            <p:ph type="body" idx="1"/>
          </p:nvPr>
        </p:nvSpPr>
        <p:spPr/>
        <p:txBody>
          <a:bodyPr/>
          <a:lstStyle/>
          <a:p>
            <a:r>
              <a:rPr lang="en-US" sz="4000" dirty="0"/>
              <a:t>Severs removability protection for PCAOB members from Sarbanes-Oxley</a:t>
            </a:r>
          </a:p>
          <a:p>
            <a:r>
              <a:rPr lang="en-US" sz="4000" dirty="0"/>
              <a:t>How does this make the petitioners better off?</a:t>
            </a:r>
          </a:p>
          <a:p>
            <a:pPr>
              <a:lnSpc>
                <a:spcPct val="90000"/>
              </a:lnSpc>
            </a:pPr>
            <a:endParaRPr lang="en-US" sz="2400" i="1" dirty="0"/>
          </a:p>
        </p:txBody>
      </p:sp>
      <p:sp>
        <p:nvSpPr>
          <p:cNvPr id="5" name="Footer Placeholder 4"/>
          <p:cNvSpPr>
            <a:spLocks noGrp="1"/>
          </p:cNvSpPr>
          <p:nvPr>
            <p:ph type="ftr" sz="quarter" idx="11"/>
          </p:nvPr>
        </p:nvSpPr>
        <p:spPr/>
        <p:txBody>
          <a:bodyPr/>
          <a:lstStyle/>
          <a:p>
            <a:r>
              <a:rPr lang="en-US"/>
              <a:t>© Copyright 2026.  Peter M. Shane All rights reserved. </a:t>
            </a:r>
            <a:endParaRPr lang="en-US" sz="1200" dirty="0"/>
          </a:p>
        </p:txBody>
      </p:sp>
      <p:sp>
        <p:nvSpPr>
          <p:cNvPr id="2" name="Slide Number Placeholder 1">
            <a:extLst>
              <a:ext uri="{FF2B5EF4-FFF2-40B4-BE49-F238E27FC236}">
                <a16:creationId xmlns:a16="http://schemas.microsoft.com/office/drawing/2014/main" id="{ADC180C1-EB04-5DBA-909A-E3C974CCF71F}"/>
              </a:ext>
            </a:extLst>
          </p:cNvPr>
          <p:cNvSpPr>
            <a:spLocks noGrp="1"/>
          </p:cNvSpPr>
          <p:nvPr>
            <p:ph type="sldNum" sz="quarter" idx="12"/>
          </p:nvPr>
        </p:nvSpPr>
        <p:spPr/>
        <p:txBody>
          <a:bodyPr/>
          <a:lstStyle/>
          <a:p>
            <a:fld id="{19243C18-CE1F-4D3B-ABA9-FEC66CF84D9A}"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Seila Law LLC v. CFPB </a:t>
            </a:r>
            <a:r>
              <a:rPr lang="en-US" dirty="0"/>
              <a:t>(2020)</a:t>
            </a:r>
          </a:p>
        </p:txBody>
      </p:sp>
      <p:sp>
        <p:nvSpPr>
          <p:cNvPr id="3" name="Content Placeholder 2"/>
          <p:cNvSpPr>
            <a:spLocks noGrp="1"/>
          </p:cNvSpPr>
          <p:nvPr>
            <p:ph idx="1"/>
          </p:nvPr>
        </p:nvSpPr>
        <p:spPr/>
        <p:txBody>
          <a:bodyPr>
            <a:normAutofit fontScale="92500" lnSpcReduction="20000"/>
          </a:bodyPr>
          <a:lstStyle/>
          <a:p>
            <a:r>
              <a:rPr lang="en-US" dirty="0"/>
              <a:t>CFPB = FTC-like independent agency, but with a single director</a:t>
            </a:r>
          </a:p>
          <a:p>
            <a:pPr lvl="1"/>
            <a:r>
              <a:rPr lang="en-US" dirty="0"/>
              <a:t>Similar powers</a:t>
            </a:r>
          </a:p>
          <a:p>
            <a:pPr lvl="1"/>
            <a:r>
              <a:rPr lang="en-US" dirty="0"/>
              <a:t>Head removable only for “inefficiency, malfeasance, or neglect of office”</a:t>
            </a:r>
          </a:p>
          <a:p>
            <a:r>
              <a:rPr lang="en-US" dirty="0"/>
              <a:t>What’s the constitutional problem?</a:t>
            </a:r>
          </a:p>
          <a:p>
            <a:pPr lvl="1"/>
            <a:r>
              <a:rPr lang="en-US" dirty="0"/>
              <a:t>Does not fit within the two exceptions recognized by the Court for limits on POTUS at-will removal power</a:t>
            </a:r>
          </a:p>
          <a:p>
            <a:pPr lvl="1"/>
            <a:r>
              <a:rPr lang="en-US" dirty="0"/>
              <a:t>Problem exacerbated by length of term and Fed as the funding source</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25</a:t>
            </a:fld>
            <a:endParaRPr lang="en-US"/>
          </a:p>
        </p:txBody>
      </p:sp>
    </p:spTree>
    <p:extLst>
      <p:ext uri="{BB962C8B-B14F-4D97-AF65-F5344CB8AC3E}">
        <p14:creationId xmlns:p14="http://schemas.microsoft.com/office/powerpoint/2010/main" val="3158002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366"/>
            <a:ext cx="8229600" cy="1143000"/>
          </a:xfrm>
        </p:spPr>
        <p:txBody>
          <a:bodyPr>
            <a:noAutofit/>
          </a:bodyPr>
          <a:lstStyle/>
          <a:p>
            <a:r>
              <a:rPr lang="en-US" sz="2800" dirty="0"/>
              <a:t>Majority View of the Constitutional Roots of the </a:t>
            </a:r>
            <a:br>
              <a:rPr lang="en-US" sz="2800" dirty="0"/>
            </a:br>
            <a:r>
              <a:rPr lang="en-US" sz="2800" dirty="0"/>
              <a:t>Presidential Removal Power</a:t>
            </a:r>
            <a:endParaRPr lang="en-US" sz="3600" dirty="0"/>
          </a:p>
        </p:txBody>
      </p:sp>
      <p:sp>
        <p:nvSpPr>
          <p:cNvPr id="3" name="Content Placeholder 2"/>
          <p:cNvSpPr>
            <a:spLocks noGrp="1"/>
          </p:cNvSpPr>
          <p:nvPr>
            <p:ph idx="1"/>
          </p:nvPr>
        </p:nvSpPr>
        <p:spPr/>
        <p:txBody>
          <a:bodyPr>
            <a:normAutofit fontScale="92500"/>
          </a:bodyPr>
          <a:lstStyle/>
          <a:p>
            <a:r>
              <a:rPr lang="en-US" dirty="0"/>
              <a:t>Relevant text of Article II</a:t>
            </a:r>
          </a:p>
          <a:p>
            <a:pPr lvl="1"/>
            <a:r>
              <a:rPr lang="en-US" dirty="0"/>
              <a:t>“All” of “the executive power” is vested in the President</a:t>
            </a:r>
          </a:p>
          <a:p>
            <a:pPr lvl="1"/>
            <a:r>
              <a:rPr lang="en-US" dirty="0"/>
              <a:t>Executive power includes power of taking care that law be faithfully executed</a:t>
            </a:r>
          </a:p>
          <a:p>
            <a:pPr lvl="1"/>
            <a:r>
              <a:rPr lang="en-US" dirty="0"/>
              <a:t>Must include power of controlling subordinates </a:t>
            </a:r>
          </a:p>
          <a:p>
            <a:r>
              <a:rPr lang="en-US" dirty="0"/>
              <a:t>First Congress’s “Decision of 1789”</a:t>
            </a:r>
          </a:p>
          <a:p>
            <a:r>
              <a:rPr lang="en-US" i="1" dirty="0"/>
              <a:t>Myers v. United States</a:t>
            </a:r>
            <a:endParaRPr lang="en-US" dirty="0"/>
          </a:p>
          <a:p>
            <a:r>
              <a:rPr lang="en-US" dirty="0"/>
              <a:t>Novelty of the contested structure</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26</a:t>
            </a:fld>
            <a:endParaRPr lang="en-US"/>
          </a:p>
        </p:txBody>
      </p:sp>
    </p:spTree>
    <p:extLst>
      <p:ext uri="{BB962C8B-B14F-4D97-AF65-F5344CB8AC3E}">
        <p14:creationId xmlns:p14="http://schemas.microsoft.com/office/powerpoint/2010/main" val="1960618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Humphrey’s</a:t>
            </a:r>
            <a:r>
              <a:rPr lang="en-US" dirty="0"/>
              <a:t> and </a:t>
            </a:r>
            <a:r>
              <a:rPr lang="en-US" i="1" dirty="0"/>
              <a:t>Morrison</a:t>
            </a:r>
            <a:r>
              <a:rPr lang="en-US" dirty="0"/>
              <a:t> = Exceptions to the General Rule</a:t>
            </a:r>
          </a:p>
        </p:txBody>
      </p:sp>
      <p:sp>
        <p:nvSpPr>
          <p:cNvPr id="3" name="Content Placeholder 2"/>
          <p:cNvSpPr>
            <a:spLocks noGrp="1"/>
          </p:cNvSpPr>
          <p:nvPr>
            <p:ph idx="1"/>
          </p:nvPr>
        </p:nvSpPr>
        <p:spPr/>
        <p:txBody>
          <a:bodyPr>
            <a:normAutofit fontScale="92500" lnSpcReduction="10000"/>
          </a:bodyPr>
          <a:lstStyle/>
          <a:p>
            <a:r>
              <a:rPr lang="en-US" i="1" dirty="0"/>
              <a:t>Humphrey’s Executor </a:t>
            </a:r>
            <a:r>
              <a:rPr lang="en-US" dirty="0"/>
              <a:t>validates independent agencies headed by multiple principal officers</a:t>
            </a:r>
          </a:p>
          <a:p>
            <a:pPr lvl="1"/>
            <a:r>
              <a:rPr lang="en-US" dirty="0"/>
              <a:t>CFPB not a multimember body of experts, balanced along party lines, that performs only legislative and judicial functions</a:t>
            </a:r>
          </a:p>
          <a:p>
            <a:r>
              <a:rPr lang="en-US" i="1" dirty="0"/>
              <a:t>Morrison</a:t>
            </a:r>
            <a:r>
              <a:rPr lang="en-US" dirty="0"/>
              <a:t> validates independent </a:t>
            </a:r>
            <a:r>
              <a:rPr lang="en-US" i="1" dirty="0"/>
              <a:t>inferior</a:t>
            </a:r>
            <a:r>
              <a:rPr lang="en-US" dirty="0"/>
              <a:t> officers</a:t>
            </a:r>
          </a:p>
          <a:p>
            <a:pPr lvl="1"/>
            <a:r>
              <a:rPr lang="en-US" dirty="0"/>
              <a:t>Exercised executive power not against public, but against high-level Government actors selected by others when DOJ has conflict of interest</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27</a:t>
            </a:fld>
            <a:endParaRPr lang="en-US"/>
          </a:p>
        </p:txBody>
      </p:sp>
    </p:spTree>
    <p:extLst>
      <p:ext uri="{BB962C8B-B14F-4D97-AF65-F5344CB8AC3E}">
        <p14:creationId xmlns:p14="http://schemas.microsoft.com/office/powerpoint/2010/main" val="2138881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Majority’s View of the Presidency</a:t>
            </a:r>
          </a:p>
        </p:txBody>
      </p:sp>
      <p:sp>
        <p:nvSpPr>
          <p:cNvPr id="3" name="Content Placeholder 2"/>
          <p:cNvSpPr>
            <a:spLocks noGrp="1"/>
          </p:cNvSpPr>
          <p:nvPr>
            <p:ph idx="1"/>
          </p:nvPr>
        </p:nvSpPr>
        <p:spPr/>
        <p:txBody>
          <a:bodyPr>
            <a:normAutofit fontScale="62500" lnSpcReduction="20000"/>
          </a:bodyPr>
          <a:lstStyle/>
          <a:p>
            <a:pPr fontAlgn="base"/>
            <a:r>
              <a:rPr lang="en-US" dirty="0"/>
              <a:t>The Framers deemed an energetic executive essential to “the protection of the community against foreign attacks,” “the steady administration of the laws,” “the protection of property,” and “the security of liberty.” Accordingly, they chose not to bog the Executive down with the “habitual feebleness and dilatoriness” that comes with a “diversity of views and opinions.” Instead, they gave the Executive the “[d]</a:t>
            </a:r>
            <a:r>
              <a:rPr lang="en-US" dirty="0" err="1"/>
              <a:t>ecision</a:t>
            </a:r>
            <a:r>
              <a:rPr lang="en-US" dirty="0"/>
              <a:t>, activity, secrecy, and dispatch” that “</a:t>
            </a:r>
            <a:r>
              <a:rPr lang="en-US" dirty="0" err="1"/>
              <a:t>characterise</a:t>
            </a:r>
            <a:r>
              <a:rPr lang="en-US" dirty="0"/>
              <a:t> the proceedings of one man.” </a:t>
            </a:r>
            <a:r>
              <a:rPr lang="en-US" dirty="0">
                <a:solidFill>
                  <a:srgbClr val="FF0000"/>
                </a:solidFill>
              </a:rPr>
              <a:t>To justify and check </a:t>
            </a:r>
            <a:r>
              <a:rPr lang="en-US" i="1" dirty="0">
                <a:solidFill>
                  <a:srgbClr val="FF0000"/>
                </a:solidFill>
              </a:rPr>
              <a:t>that</a:t>
            </a:r>
            <a:r>
              <a:rPr lang="en-US" dirty="0">
                <a:solidFill>
                  <a:srgbClr val="FF0000"/>
                </a:solidFill>
              </a:rPr>
              <a:t> authority—unique in our constitutional structure—the Framers made the President the most democratic and politically accountable official in Government. Only the President (along with the Vice President) is elected by the entire Nation.</a:t>
            </a:r>
          </a:p>
          <a:p>
            <a:pPr marL="0" indent="0">
              <a:buNone/>
            </a:pPr>
            <a:r>
              <a:rPr lang="en-US" i="1" dirty="0"/>
              <a:t>Seila Law LLC v. Consumer Fin. Prot. Bureau</a:t>
            </a:r>
            <a:r>
              <a:rPr lang="en-US" dirty="0"/>
              <a:t>, 140 S. Ct. 2183, 2203 (2020)</a:t>
            </a:r>
          </a:p>
          <a:p>
            <a:r>
              <a:rPr lang="en-US" dirty="0"/>
              <a:t>Anything strange about this view of the Framers’ theory of power?</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28</a:t>
            </a:fld>
            <a:endParaRPr lang="en-US"/>
          </a:p>
        </p:txBody>
      </p:sp>
    </p:spTree>
    <p:extLst>
      <p:ext uri="{BB962C8B-B14F-4D97-AF65-F5344CB8AC3E}">
        <p14:creationId xmlns:p14="http://schemas.microsoft.com/office/powerpoint/2010/main" val="383497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Does the Interpretation </a:t>
            </a:r>
            <a:br>
              <a:rPr lang="en-US" dirty="0"/>
            </a:br>
            <a:r>
              <a:rPr lang="en-US" dirty="0"/>
              <a:t>Advance/Secure Liberty?</a:t>
            </a:r>
          </a:p>
        </p:txBody>
      </p:sp>
      <p:sp>
        <p:nvSpPr>
          <p:cNvPr id="3" name="Content Placeholder 2"/>
          <p:cNvSpPr>
            <a:spLocks noGrp="1"/>
          </p:cNvSpPr>
          <p:nvPr>
            <p:ph idx="1"/>
          </p:nvPr>
        </p:nvSpPr>
        <p:spPr/>
        <p:txBody>
          <a:bodyPr>
            <a:normAutofit fontScale="92500" lnSpcReduction="10000"/>
          </a:bodyPr>
          <a:lstStyle/>
          <a:p>
            <a:r>
              <a:rPr lang="en-US" dirty="0"/>
              <a:t>While “[n]o one doubts Congress's power to create a vast and varied federal bureaucracy,” the expansion of that bureaucracy into new territories the Framers could scarcely have imagined only sharpens our duty to ensure that the Executive Branch is overseen by a President accountable to the people. </a:t>
            </a:r>
          </a:p>
          <a:p>
            <a:pPr marL="0" indent="0">
              <a:buNone/>
            </a:pPr>
            <a:r>
              <a:rPr lang="en-US" i="1" dirty="0"/>
              <a:t>Seila Law LLC v. Consumer Fin. Prot. Bureau</a:t>
            </a:r>
            <a:r>
              <a:rPr lang="en-US" dirty="0"/>
              <a:t>, 140 S. Ct. 2183, 2207 (2020)</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29</a:t>
            </a:fld>
            <a:endParaRPr lang="en-US"/>
          </a:p>
        </p:txBody>
      </p:sp>
    </p:spTree>
    <p:extLst>
      <p:ext uri="{BB962C8B-B14F-4D97-AF65-F5344CB8AC3E}">
        <p14:creationId xmlns:p14="http://schemas.microsoft.com/office/powerpoint/2010/main" val="2537556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Distinguishing </a:t>
            </a:r>
            <a:r>
              <a:rPr lang="en-US" i="1" dirty="0"/>
              <a:t>Humphrey’s Executor</a:t>
            </a:r>
            <a:r>
              <a:rPr lang="en-US" dirty="0"/>
              <a:t>: Nature of FTC’s Power</a:t>
            </a:r>
          </a:p>
        </p:txBody>
      </p:sp>
      <p:sp>
        <p:nvSpPr>
          <p:cNvPr id="3" name="Content Placeholder 2"/>
          <p:cNvSpPr>
            <a:spLocks noGrp="1"/>
          </p:cNvSpPr>
          <p:nvPr>
            <p:ph idx="1"/>
          </p:nvPr>
        </p:nvSpPr>
        <p:spPr/>
        <p:txBody>
          <a:bodyPr/>
          <a:lstStyle/>
          <a:p>
            <a:r>
              <a:rPr lang="en-US" dirty="0"/>
              <a:t>HE: “To the extent that [the FTC] exercises any executive function, as distinguished from executive power in the constitutional sense, it does so in the discharge and effectuation of its quasi-legislative or quasi-judicial powers, or as an agency of the legislative or judicial departments of the government.”</a:t>
            </a:r>
          </a:p>
          <a:p>
            <a:r>
              <a:rPr lang="en-US" dirty="0"/>
              <a:t>Majority: Categorization no longer tenable</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30</a:t>
            </a:fld>
            <a:endParaRPr lang="en-US"/>
          </a:p>
        </p:txBody>
      </p:sp>
    </p:spTree>
    <p:extLst>
      <p:ext uri="{BB962C8B-B14F-4D97-AF65-F5344CB8AC3E}">
        <p14:creationId xmlns:p14="http://schemas.microsoft.com/office/powerpoint/2010/main" val="1731187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1EFDE-6712-4A41-8C3F-136694CA3DBD}"/>
              </a:ext>
            </a:extLst>
          </p:cNvPr>
          <p:cNvSpPr>
            <a:spLocks noGrp="1"/>
          </p:cNvSpPr>
          <p:nvPr>
            <p:ph type="title"/>
          </p:nvPr>
        </p:nvSpPr>
        <p:spPr/>
        <p:txBody>
          <a:bodyPr/>
          <a:lstStyle/>
          <a:p>
            <a:r>
              <a:rPr lang="en-US" dirty="0"/>
              <a:t>“Severing” the Removal Limits</a:t>
            </a:r>
          </a:p>
        </p:txBody>
      </p:sp>
      <p:sp>
        <p:nvSpPr>
          <p:cNvPr id="3" name="Content Placeholder 2">
            <a:extLst>
              <a:ext uri="{FF2B5EF4-FFF2-40B4-BE49-F238E27FC236}">
                <a16:creationId xmlns:a16="http://schemas.microsoft.com/office/drawing/2014/main" id="{3E3E6229-B58B-4445-5A3D-82A592086359}"/>
              </a:ext>
            </a:extLst>
          </p:cNvPr>
          <p:cNvSpPr>
            <a:spLocks noGrp="1"/>
          </p:cNvSpPr>
          <p:nvPr>
            <p:ph idx="1"/>
          </p:nvPr>
        </p:nvSpPr>
        <p:spPr/>
        <p:txBody>
          <a:bodyPr/>
          <a:lstStyle/>
          <a:p>
            <a:r>
              <a:rPr lang="en-US" dirty="0"/>
              <a:t>“As in every severability case, there may be means of remedying the defect in the CFPB’s structure that the Court lacks the authority to provide. Our severability analysis does not foreclose Congress from pursuing alternative responses to the problem—for example, converting the CFPB into a multimember agency.”</a:t>
            </a:r>
          </a:p>
        </p:txBody>
      </p:sp>
      <p:sp>
        <p:nvSpPr>
          <p:cNvPr id="4" name="Footer Placeholder 3">
            <a:extLst>
              <a:ext uri="{FF2B5EF4-FFF2-40B4-BE49-F238E27FC236}">
                <a16:creationId xmlns:a16="http://schemas.microsoft.com/office/drawing/2014/main" id="{A7E56A6B-F6A5-EE59-A0A4-68FF7FC9CF8A}"/>
              </a:ext>
            </a:extLst>
          </p:cNvPr>
          <p:cNvSpPr>
            <a:spLocks noGrp="1"/>
          </p:cNvSpPr>
          <p:nvPr>
            <p:ph type="ftr" sz="quarter" idx="11"/>
          </p:nvPr>
        </p:nvSpPr>
        <p:spPr/>
        <p:txBody>
          <a:bodyPr/>
          <a:lstStyle/>
          <a:p>
            <a:r>
              <a:rPr lang="en-US"/>
              <a:t>© Copyright 2026.  Peter M. Shane All rights reserved. </a:t>
            </a:r>
            <a:endParaRPr lang="en-US" sz="1200" dirty="0"/>
          </a:p>
        </p:txBody>
      </p:sp>
      <p:sp>
        <p:nvSpPr>
          <p:cNvPr id="5" name="Slide Number Placeholder 4">
            <a:extLst>
              <a:ext uri="{FF2B5EF4-FFF2-40B4-BE49-F238E27FC236}">
                <a16:creationId xmlns:a16="http://schemas.microsoft.com/office/drawing/2014/main" id="{96650CF3-F05F-3647-AFE4-C127BEA0C3EF}"/>
              </a:ext>
            </a:extLst>
          </p:cNvPr>
          <p:cNvSpPr>
            <a:spLocks noGrp="1"/>
          </p:cNvSpPr>
          <p:nvPr>
            <p:ph type="sldNum" sz="quarter" idx="12"/>
          </p:nvPr>
        </p:nvSpPr>
        <p:spPr/>
        <p:txBody>
          <a:bodyPr/>
          <a:lstStyle/>
          <a:p>
            <a:fld id="{19243C18-CE1F-4D3B-ABA9-FEC66CF84D9A}" type="slidenum">
              <a:rPr lang="en-US" smtClean="0"/>
              <a:pPr/>
              <a:t>31</a:t>
            </a:fld>
            <a:endParaRPr lang="en-US"/>
          </a:p>
        </p:txBody>
      </p:sp>
    </p:spTree>
    <p:extLst>
      <p:ext uri="{BB962C8B-B14F-4D97-AF65-F5344CB8AC3E}">
        <p14:creationId xmlns:p14="http://schemas.microsoft.com/office/powerpoint/2010/main" val="3662868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Kagan on </a:t>
            </a:r>
            <a:r>
              <a:rPr lang="en-US" i="1" dirty="0"/>
              <a:t>Myers</a:t>
            </a:r>
            <a:r>
              <a:rPr lang="en-US" dirty="0"/>
              <a:t> and</a:t>
            </a:r>
            <a:r>
              <a:rPr lang="en-US" i="1" dirty="0"/>
              <a:t> Humphrey’s</a:t>
            </a:r>
          </a:p>
        </p:txBody>
      </p:sp>
      <p:sp>
        <p:nvSpPr>
          <p:cNvPr id="3" name="Content Placeholder 2"/>
          <p:cNvSpPr>
            <a:spLocks noGrp="1"/>
          </p:cNvSpPr>
          <p:nvPr>
            <p:ph idx="1"/>
          </p:nvPr>
        </p:nvSpPr>
        <p:spPr/>
        <p:txBody>
          <a:bodyPr/>
          <a:lstStyle/>
          <a:p>
            <a:r>
              <a:rPr lang="en-US" dirty="0"/>
              <a:t>Taft’s historical discussion almost entirely dicta</a:t>
            </a:r>
          </a:p>
          <a:p>
            <a:r>
              <a:rPr lang="en-US" dirty="0"/>
              <a:t>Case upheld in later Supreme Court cases only for the proposition that Congress may not require Senate consent for removals</a:t>
            </a:r>
          </a:p>
          <a:p>
            <a:r>
              <a:rPr lang="en-US" i="1" dirty="0"/>
              <a:t>Humphrey’s Executor </a:t>
            </a:r>
            <a:r>
              <a:rPr lang="en-US" dirty="0"/>
              <a:t>was unanimous decision by a Court that included Justices Hughes, Brandeis, Cardozo, and Stone</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32</a:t>
            </a:fld>
            <a:endParaRPr lang="en-US"/>
          </a:p>
        </p:txBody>
      </p:sp>
    </p:spTree>
    <p:extLst>
      <p:ext uri="{BB962C8B-B14F-4D97-AF65-F5344CB8AC3E}">
        <p14:creationId xmlns:p14="http://schemas.microsoft.com/office/powerpoint/2010/main" val="1119610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Distinguishing </a:t>
            </a:r>
            <a:r>
              <a:rPr lang="en-US" i="1" dirty="0"/>
              <a:t>Morrison</a:t>
            </a:r>
            <a:r>
              <a:rPr lang="en-US" dirty="0"/>
              <a:t>?</a:t>
            </a:r>
            <a:endParaRPr lang="en-US" i="1" dirty="0"/>
          </a:p>
        </p:txBody>
      </p:sp>
      <p:sp>
        <p:nvSpPr>
          <p:cNvPr id="3" name="Content Placeholder 2"/>
          <p:cNvSpPr>
            <a:spLocks noGrp="1"/>
          </p:cNvSpPr>
          <p:nvPr>
            <p:ph idx="1"/>
          </p:nvPr>
        </p:nvSpPr>
        <p:spPr/>
        <p:txBody>
          <a:bodyPr>
            <a:normAutofit fontScale="62500" lnSpcReduction="20000"/>
          </a:bodyPr>
          <a:lstStyle/>
          <a:p>
            <a:r>
              <a:rPr lang="en-US" sz="3400" dirty="0"/>
              <a:t>Majority view of </a:t>
            </a:r>
            <a:r>
              <a:rPr lang="en-US" sz="3400" i="1" dirty="0"/>
              <a:t>Morrison</a:t>
            </a:r>
            <a:r>
              <a:rPr lang="en-US" sz="3400" dirty="0"/>
              <a:t>: [W]e concluded that the removal protections did not unduly interfere with the functioning of the Executive Branch </a:t>
            </a:r>
            <a:r>
              <a:rPr lang="en-US" sz="3400" b="1" u="sng" dirty="0">
                <a:solidFill>
                  <a:srgbClr val="000000"/>
                </a:solidFill>
              </a:rPr>
              <a:t>because</a:t>
            </a:r>
            <a:r>
              <a:rPr lang="en-US" sz="3400" dirty="0"/>
              <a:t> “the independent counsel [was] an inferior officer under the Appointments Clause, with limited jurisdiction and tenure and lacking policymaking or significant administrative authority.” </a:t>
            </a:r>
          </a:p>
          <a:p>
            <a:r>
              <a:rPr lang="en-US" sz="3400" dirty="0"/>
              <a:t>But in </a:t>
            </a:r>
            <a:r>
              <a:rPr lang="en-US" sz="3400" i="1" dirty="0"/>
              <a:t>Morrison</a:t>
            </a:r>
            <a:r>
              <a:rPr lang="en-US" sz="3400" dirty="0"/>
              <a:t> itself: “We note by way of comparison that various federal agencies whose officers are covered by “good cause” removal restrictions exercise civil enforcement powers that are analogous to the prosecutorial powers wielded by an independent counsel. See, e.g., 15 U.S.C. § 45(m) (giving the FTC the authority to bring civil actions to recover civil penalties for the violations of rules respecting unfair competition); 15 U.S.C. §§ 2061, 2071, 2076(b)(7)(A) (giving the Consumer Product Safety Commission the authority to obtain injunctions and apply for seizure of hazardous products).”</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33</a:t>
            </a:fld>
            <a:endParaRPr lang="en-US"/>
          </a:p>
        </p:txBody>
      </p:sp>
    </p:spTree>
    <p:extLst>
      <p:ext uri="{BB962C8B-B14F-4D97-AF65-F5344CB8AC3E}">
        <p14:creationId xmlns:p14="http://schemas.microsoft.com/office/powerpoint/2010/main" val="2235049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of 1789</a:t>
            </a:r>
          </a:p>
        </p:txBody>
      </p:sp>
      <p:sp>
        <p:nvSpPr>
          <p:cNvPr id="3" name="Content Placeholder 2"/>
          <p:cNvSpPr>
            <a:spLocks noGrp="1"/>
          </p:cNvSpPr>
          <p:nvPr>
            <p:ph idx="1"/>
          </p:nvPr>
        </p:nvSpPr>
        <p:spPr/>
        <p:txBody>
          <a:bodyPr/>
          <a:lstStyle/>
          <a:p>
            <a:r>
              <a:rPr lang="en-US" dirty="0"/>
              <a:t>Majority: “The view that ‘prevailed, as most consonant to the text of the Constitution’ and ‘to the requisite responsibility and harmony in the Executive Department,’ was that the executive power included a power to oversee executive officers through removal.”</a:t>
            </a:r>
          </a:p>
          <a:p>
            <a:r>
              <a:rPr lang="en-US" dirty="0"/>
              <a:t>Kagan: No fixed view in 1789; Taft’s historical research largely debunked</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34</a:t>
            </a:fld>
            <a:endParaRPr lang="en-US"/>
          </a:p>
        </p:txBody>
      </p:sp>
    </p:spTree>
    <p:extLst>
      <p:ext uri="{BB962C8B-B14F-4D97-AF65-F5344CB8AC3E}">
        <p14:creationId xmlns:p14="http://schemas.microsoft.com/office/powerpoint/2010/main" val="971262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Anti-Novelty Argument</a:t>
            </a:r>
          </a:p>
        </p:txBody>
      </p:sp>
      <p:sp>
        <p:nvSpPr>
          <p:cNvPr id="3" name="Content Placeholder 2"/>
          <p:cNvSpPr>
            <a:spLocks noGrp="1"/>
          </p:cNvSpPr>
          <p:nvPr>
            <p:ph idx="1"/>
          </p:nvPr>
        </p:nvSpPr>
        <p:spPr/>
        <p:txBody>
          <a:bodyPr>
            <a:normAutofit fontScale="92500" lnSpcReduction="20000"/>
          </a:bodyPr>
          <a:lstStyle/>
          <a:p>
            <a:r>
              <a:rPr lang="en-US" dirty="0"/>
              <a:t>“Perhaps the most telling indication of [a] severe constitutional problem” with an executive entity “is [a] lack of historical precedent” to support it.</a:t>
            </a:r>
          </a:p>
          <a:p>
            <a:r>
              <a:rPr lang="en-US" dirty="0"/>
              <a:t>Kagan</a:t>
            </a:r>
          </a:p>
          <a:p>
            <a:pPr lvl="1"/>
            <a:r>
              <a:rPr lang="en-US" dirty="0"/>
              <a:t>Court should not bind Congress to “static version of governance”</a:t>
            </a:r>
          </a:p>
          <a:p>
            <a:pPr lvl="1"/>
            <a:r>
              <a:rPr lang="en-US" dirty="0"/>
              <a:t>Novelty is not a test of constitutionality (“[T]he Necessary and Proper Clause [is] not . . . a Rinse and Repeat Clause.”)</a:t>
            </a:r>
          </a:p>
          <a:p>
            <a:pPr lvl="1"/>
            <a:r>
              <a:rPr lang="en-US" dirty="0"/>
              <a:t>Up to Congress to decide when exigencies warrant innovation in structural design</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35</a:t>
            </a:fld>
            <a:endParaRPr lang="en-US"/>
          </a:p>
        </p:txBody>
      </p:sp>
    </p:spTree>
    <p:extLst>
      <p:ext uri="{BB962C8B-B14F-4D97-AF65-F5344CB8AC3E}">
        <p14:creationId xmlns:p14="http://schemas.microsoft.com/office/powerpoint/2010/main" val="36260772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Kagan on Text/History</a:t>
            </a:r>
          </a:p>
        </p:txBody>
      </p:sp>
      <p:sp>
        <p:nvSpPr>
          <p:cNvPr id="3" name="Content Placeholder 2"/>
          <p:cNvSpPr>
            <a:spLocks noGrp="1"/>
          </p:cNvSpPr>
          <p:nvPr>
            <p:ph idx="1"/>
          </p:nvPr>
        </p:nvSpPr>
        <p:spPr/>
        <p:txBody>
          <a:bodyPr>
            <a:normAutofit fontScale="92500" lnSpcReduction="20000"/>
          </a:bodyPr>
          <a:lstStyle/>
          <a:p>
            <a:r>
              <a:rPr lang="en-US" dirty="0"/>
              <a:t>Text</a:t>
            </a:r>
          </a:p>
          <a:p>
            <a:pPr lvl="1"/>
            <a:r>
              <a:rPr lang="en-US" dirty="0"/>
              <a:t>No removal power</a:t>
            </a:r>
          </a:p>
          <a:p>
            <a:pPr lvl="1"/>
            <a:r>
              <a:rPr lang="en-US" dirty="0"/>
              <a:t>Puzzle of the Opinions Clause</a:t>
            </a:r>
          </a:p>
          <a:p>
            <a:pPr lvl="1"/>
            <a:r>
              <a:rPr lang="en-US" dirty="0"/>
              <a:t>Necessary and Proper Clause</a:t>
            </a:r>
          </a:p>
          <a:p>
            <a:pPr lvl="1"/>
            <a:r>
              <a:rPr lang="en-US" dirty="0"/>
              <a:t>Faithful execution = obligation, not power</a:t>
            </a:r>
          </a:p>
          <a:p>
            <a:r>
              <a:rPr lang="en-US" dirty="0"/>
              <a:t>Blackstone: Each branch regulates the others</a:t>
            </a:r>
          </a:p>
          <a:p>
            <a:r>
              <a:rPr lang="en-US" dirty="0"/>
              <a:t>Madison/Story: Separation is not complete</a:t>
            </a:r>
          </a:p>
          <a:p>
            <a:r>
              <a:rPr lang="en-US" dirty="0"/>
              <a:t>Parliament regulated removability of officers by the King</a:t>
            </a:r>
          </a:p>
          <a:p>
            <a:r>
              <a:rPr lang="en-US" dirty="0"/>
              <a:t>State Constitutions</a:t>
            </a:r>
          </a:p>
          <a:p>
            <a:pPr marL="0" indent="0">
              <a:buNone/>
            </a:pPr>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36</a:t>
            </a:fld>
            <a:endParaRPr lang="en-US"/>
          </a:p>
        </p:txBody>
      </p:sp>
    </p:spTree>
    <p:extLst>
      <p:ext uri="{BB962C8B-B14F-4D97-AF65-F5344CB8AC3E}">
        <p14:creationId xmlns:p14="http://schemas.microsoft.com/office/powerpoint/2010/main" val="1801524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Sinking Fund Commission:</a:t>
            </a:r>
            <a:br>
              <a:rPr lang="en-US" dirty="0"/>
            </a:br>
            <a:r>
              <a:rPr lang="en-US" dirty="0"/>
              <a:t>An Overlooked Example?</a:t>
            </a:r>
          </a:p>
        </p:txBody>
      </p:sp>
      <p:sp>
        <p:nvSpPr>
          <p:cNvPr id="3" name="Content Placeholder 2"/>
          <p:cNvSpPr>
            <a:spLocks noGrp="1"/>
          </p:cNvSpPr>
          <p:nvPr>
            <p:ph idx="1"/>
          </p:nvPr>
        </p:nvSpPr>
        <p:spPr/>
        <p:txBody>
          <a:bodyPr>
            <a:normAutofit fontScale="55000" lnSpcReduction="20000"/>
          </a:bodyPr>
          <a:lstStyle/>
          <a:p>
            <a:pPr>
              <a:spcBef>
                <a:spcPts val="0"/>
              </a:spcBef>
            </a:pPr>
            <a:r>
              <a:rPr lang="en-US" dirty="0"/>
              <a:t>Proposed by Hamilton, passed by First Congress, and signed into law by Washington. </a:t>
            </a:r>
          </a:p>
          <a:p>
            <a:pPr>
              <a:spcBef>
                <a:spcPts val="0"/>
              </a:spcBef>
            </a:pPr>
            <a:r>
              <a:rPr lang="en-US" dirty="0"/>
              <a:t>“Congress authorized open market purchases of debt, in the form of U.S. securities, under the direction of the President of the Senate, the Chief Justice, the Secretary of State, the Secretary of the Treasury, and the Attorney General.’” </a:t>
            </a:r>
          </a:p>
          <a:p>
            <a:pPr>
              <a:spcBef>
                <a:spcPts val="0"/>
              </a:spcBef>
            </a:pPr>
            <a:r>
              <a:rPr lang="en-US" dirty="0"/>
              <a:t>Of the five Commission members, two—the President of the Senate (that is, the Vice President) and the Chief Justice—were not removable by the President at all. </a:t>
            </a:r>
          </a:p>
          <a:p>
            <a:pPr>
              <a:spcBef>
                <a:spcPts val="0"/>
              </a:spcBef>
            </a:pPr>
            <a:r>
              <a:rPr lang="en-US" dirty="0"/>
              <a:t>Prior to ratification of the Twelfth Amendment in 1804, there was no guarantee that the Vice President would even be of the same party as the President or of the three cabinet members serving ex officio. </a:t>
            </a:r>
          </a:p>
          <a:p>
            <a:pPr>
              <a:spcBef>
                <a:spcPts val="0"/>
              </a:spcBef>
            </a:pPr>
            <a:r>
              <a:rPr lang="en-US" dirty="0"/>
              <a:t>The Act required presidential agreement to such purchases of U.S. debt as the Commission might approve, but gave the President no power to initiate the purchase of debt except at the Commission’s initiative. </a:t>
            </a:r>
          </a:p>
          <a:p>
            <a:pPr>
              <a:spcBef>
                <a:spcPts val="0"/>
              </a:spcBef>
            </a:pPr>
            <a:endParaRPr lang="en-US" dirty="0"/>
          </a:p>
          <a:p>
            <a:pPr marL="0" indent="0">
              <a:spcBef>
                <a:spcPts val="0"/>
              </a:spcBef>
              <a:buNone/>
            </a:pPr>
            <a:r>
              <a:rPr lang="en-US" dirty="0"/>
              <a:t>Christine </a:t>
            </a:r>
            <a:r>
              <a:rPr lang="en-US" dirty="0" err="1"/>
              <a:t>Kexel</a:t>
            </a:r>
            <a:r>
              <a:rPr lang="en-US" dirty="0"/>
              <a:t> Chabot, Is the Federal Reserve Constitutional? An Originalist Argument for Independent Agencies (2019)</a:t>
            </a:r>
          </a:p>
          <a:p>
            <a:endParaRPr lang="en-US" dirty="0"/>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6" name="Slide Number Placeholder 5"/>
          <p:cNvSpPr>
            <a:spLocks noGrp="1"/>
          </p:cNvSpPr>
          <p:nvPr>
            <p:ph type="sldNum" sz="quarter" idx="12"/>
          </p:nvPr>
        </p:nvSpPr>
        <p:spPr/>
        <p:txBody>
          <a:bodyPr/>
          <a:lstStyle/>
          <a:p>
            <a:fld id="{39DE2FDC-AD3E-2C4B-B288-089C417CC523}" type="slidenum">
              <a:rPr lang="en-US" smtClean="0"/>
              <a:t>37</a:t>
            </a:fld>
            <a:endParaRPr lang="en-US"/>
          </a:p>
        </p:txBody>
      </p:sp>
    </p:spTree>
    <p:extLst>
      <p:ext uri="{BB962C8B-B14F-4D97-AF65-F5344CB8AC3E}">
        <p14:creationId xmlns:p14="http://schemas.microsoft.com/office/powerpoint/2010/main" val="390382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Kagan’s Use of Manning Scholarship</a:t>
            </a:r>
          </a:p>
        </p:txBody>
      </p:sp>
      <p:sp>
        <p:nvSpPr>
          <p:cNvPr id="3" name="Content Placeholder 2"/>
          <p:cNvSpPr>
            <a:spLocks noGrp="1"/>
          </p:cNvSpPr>
          <p:nvPr>
            <p:ph idx="1"/>
          </p:nvPr>
        </p:nvSpPr>
        <p:spPr/>
        <p:txBody>
          <a:bodyPr>
            <a:normAutofit fontScale="85000" lnSpcReduction="20000"/>
          </a:bodyPr>
          <a:lstStyle/>
          <a:p>
            <a:pPr>
              <a:spcBef>
                <a:spcPts val="0"/>
              </a:spcBef>
            </a:pPr>
            <a:r>
              <a:rPr lang="en-US" dirty="0"/>
              <a:t>Dean John Manning* has </a:t>
            </a:r>
            <a:r>
              <a:rPr lang="mr-IN" dirty="0"/>
              <a:t>…</a:t>
            </a:r>
            <a:r>
              <a:rPr lang="en-US" dirty="0"/>
              <a:t> explained [that] the Necessary and Proper Clause, he writes, makes it impossible to “establish a constitutional violation simply by showing that Congress has constrained the way ‘[t]he executive Power’ is implemented”; that is exactly what the Clause gives Congress the power to do. </a:t>
            </a:r>
          </a:p>
          <a:p>
            <a:pPr>
              <a:spcBef>
                <a:spcPts val="0"/>
              </a:spcBef>
            </a:pPr>
            <a:r>
              <a:rPr lang="en-US" dirty="0"/>
              <a:t>As Dean Manning has concluded after reviewing decades’ worth of scholarship on the issue, “the implications of the [Decision of 1789], properly understood, [are] highly ambiguous and prone to </a:t>
            </a:r>
            <a:r>
              <a:rPr lang="en-US" dirty="0" err="1"/>
              <a:t>overreading</a:t>
            </a:r>
            <a:r>
              <a:rPr lang="en-US" dirty="0"/>
              <a:t>.”</a:t>
            </a:r>
          </a:p>
          <a:p>
            <a:pPr marL="0" indent="0">
              <a:spcBef>
                <a:spcPts val="0"/>
              </a:spcBef>
              <a:buNone/>
            </a:pPr>
            <a:r>
              <a:rPr lang="en-US" dirty="0"/>
              <a:t>* </a:t>
            </a:r>
            <a:r>
              <a:rPr lang="en-US" sz="2600" dirty="0"/>
              <a:t>Former clerk to Justice Scalia and Judge Bork</a:t>
            </a:r>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38</a:t>
            </a:fld>
            <a:endParaRPr lang="en-US"/>
          </a:p>
        </p:txBody>
      </p:sp>
    </p:spTree>
    <p:extLst>
      <p:ext uri="{BB962C8B-B14F-4D97-AF65-F5344CB8AC3E}">
        <p14:creationId xmlns:p14="http://schemas.microsoft.com/office/powerpoint/2010/main" val="16491691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Would POTUS Be Better Off</a:t>
            </a:r>
            <a:br>
              <a:rPr lang="en-US" dirty="0"/>
            </a:br>
            <a:r>
              <a:rPr lang="en-US" dirty="0"/>
              <a:t>With a </a:t>
            </a:r>
            <a:r>
              <a:rPr lang="en-US" dirty="0" err="1"/>
              <a:t>CFPCommission</a:t>
            </a:r>
            <a:r>
              <a:rPr lang="en-US" dirty="0"/>
              <a:t>?</a:t>
            </a:r>
          </a:p>
        </p:txBody>
      </p:sp>
      <p:sp>
        <p:nvSpPr>
          <p:cNvPr id="3" name="Content Placeholder 2"/>
          <p:cNvSpPr>
            <a:spLocks noGrp="1"/>
          </p:cNvSpPr>
          <p:nvPr>
            <p:ph idx="1"/>
          </p:nvPr>
        </p:nvSpPr>
        <p:spPr/>
        <p:txBody>
          <a:bodyPr>
            <a:normAutofit fontScale="92500" lnSpcReduction="10000"/>
          </a:bodyPr>
          <a:lstStyle/>
          <a:p>
            <a:r>
              <a:rPr lang="en-US" dirty="0"/>
              <a:t>“Our severability analysis does not foreclose Congress from pursuing alternative responses to the problem—for example, converting the CFPB into a multimember agency.”</a:t>
            </a:r>
          </a:p>
          <a:p>
            <a:r>
              <a:rPr lang="en-US" dirty="0"/>
              <a:t>CFPB rulemaking subject to veto by 2/3 of Financial Stability Oversight Council</a:t>
            </a:r>
          </a:p>
          <a:p>
            <a:r>
              <a:rPr lang="en-US" dirty="0"/>
              <a:t>Partisan balance, term length, voting rules can all affect POTUS ability to control a multi-member agency</a:t>
            </a:r>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39</a:t>
            </a:fld>
            <a:endParaRPr lang="en-US"/>
          </a:p>
        </p:txBody>
      </p:sp>
    </p:spTree>
    <p:extLst>
      <p:ext uri="{BB962C8B-B14F-4D97-AF65-F5344CB8AC3E}">
        <p14:creationId xmlns:p14="http://schemas.microsoft.com/office/powerpoint/2010/main" val="25847122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Stare Decisis and History</a:t>
            </a:r>
          </a:p>
        </p:txBody>
      </p:sp>
      <p:sp>
        <p:nvSpPr>
          <p:cNvPr id="3" name="Content Placeholder 2"/>
          <p:cNvSpPr>
            <a:spLocks noGrp="1"/>
          </p:cNvSpPr>
          <p:nvPr>
            <p:ph idx="1"/>
          </p:nvPr>
        </p:nvSpPr>
        <p:spPr/>
        <p:txBody>
          <a:bodyPr>
            <a:normAutofit fontScale="92500" lnSpcReduction="20000"/>
          </a:bodyPr>
          <a:lstStyle/>
          <a:p>
            <a:r>
              <a:rPr lang="en-US" dirty="0"/>
              <a:t>As for the opinions of Madison, Hamilton, and Chief Justice Marshall, we have already considered the statements cited by amicus and discounted them in light of their context (Madison), the fact they reflect initial impressions later abandoned by the speaker (Hamilton), or their subsequent rejection as ill-considered dicta (Chief Justice Marshall).</a:t>
            </a:r>
          </a:p>
          <a:p>
            <a:r>
              <a:rPr lang="en-US" dirty="0"/>
              <a:t>If these arguments sound familiar, it's because they are. They were raised by the dissent in </a:t>
            </a:r>
            <a:r>
              <a:rPr lang="en-US" i="1" dirty="0"/>
              <a:t>Free Enterprise Fund</a:t>
            </a:r>
            <a:r>
              <a:rPr lang="en-US" dirty="0"/>
              <a:t>.</a:t>
            </a:r>
          </a:p>
          <a:p>
            <a:endParaRPr lang="en-US" dirty="0"/>
          </a:p>
          <a:p>
            <a:endParaRPr lang="en-US" dirty="0"/>
          </a:p>
        </p:txBody>
      </p:sp>
      <p:sp>
        <p:nvSpPr>
          <p:cNvPr id="4" name="Footer Placeholder 3"/>
          <p:cNvSpPr>
            <a:spLocks noGrp="1"/>
          </p:cNvSpPr>
          <p:nvPr>
            <p:ph type="ftr" sz="quarter" idx="11"/>
          </p:nvPr>
        </p:nvSpPr>
        <p:spPr/>
        <p:txBody>
          <a:bodyPr/>
          <a:lstStyle/>
          <a:p>
            <a:r>
              <a:rPr lang="en-US"/>
              <a:t>© Copyright 2026.  Peter M. Shane All rights reserved. </a:t>
            </a:r>
          </a:p>
        </p:txBody>
      </p:sp>
      <p:sp>
        <p:nvSpPr>
          <p:cNvPr id="5" name="Slide Number Placeholder 4"/>
          <p:cNvSpPr>
            <a:spLocks noGrp="1"/>
          </p:cNvSpPr>
          <p:nvPr>
            <p:ph type="sldNum" sz="quarter" idx="12"/>
          </p:nvPr>
        </p:nvSpPr>
        <p:spPr/>
        <p:txBody>
          <a:bodyPr/>
          <a:lstStyle/>
          <a:p>
            <a:fld id="{39DE2FDC-AD3E-2C4B-B288-089C417CC523}" type="slidenum">
              <a:rPr lang="en-US" smtClean="0"/>
              <a:t>40</a:t>
            </a:fld>
            <a:endParaRPr lang="en-US"/>
          </a:p>
        </p:txBody>
      </p:sp>
    </p:spTree>
    <p:extLst>
      <p:ext uri="{BB962C8B-B14F-4D97-AF65-F5344CB8AC3E}">
        <p14:creationId xmlns:p14="http://schemas.microsoft.com/office/powerpoint/2010/main" val="4452801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4214F-4FBC-9AD2-EA63-634EACF92A77}"/>
              </a:ext>
            </a:extLst>
          </p:cNvPr>
          <p:cNvSpPr>
            <a:spLocks noGrp="1"/>
          </p:cNvSpPr>
          <p:nvPr>
            <p:ph type="title"/>
          </p:nvPr>
        </p:nvSpPr>
        <p:spPr/>
        <p:txBody>
          <a:bodyPr/>
          <a:lstStyle/>
          <a:p>
            <a:r>
              <a:rPr lang="en-US" i="1" dirty="0"/>
              <a:t>Collins v. Yellen </a:t>
            </a:r>
            <a:r>
              <a:rPr lang="en-US" dirty="0"/>
              <a:t>(2021)</a:t>
            </a:r>
          </a:p>
        </p:txBody>
      </p:sp>
      <p:sp>
        <p:nvSpPr>
          <p:cNvPr id="3" name="Content Placeholder 2">
            <a:extLst>
              <a:ext uri="{FF2B5EF4-FFF2-40B4-BE49-F238E27FC236}">
                <a16:creationId xmlns:a16="http://schemas.microsoft.com/office/drawing/2014/main" id="{FD3B3171-B666-2EC4-3885-4B69D81D0439}"/>
              </a:ext>
            </a:extLst>
          </p:cNvPr>
          <p:cNvSpPr>
            <a:spLocks noGrp="1"/>
          </p:cNvSpPr>
          <p:nvPr>
            <p:ph idx="1"/>
          </p:nvPr>
        </p:nvSpPr>
        <p:spPr/>
        <p:txBody>
          <a:bodyPr>
            <a:normAutofit fontScale="85000" lnSpcReduction="20000"/>
          </a:bodyPr>
          <a:lstStyle/>
          <a:p>
            <a:r>
              <a:rPr lang="en-US" dirty="0"/>
              <a:t>Applies </a:t>
            </a:r>
            <a:r>
              <a:rPr lang="en-US" i="1" dirty="0"/>
              <a:t>Seila Law </a:t>
            </a:r>
            <a:r>
              <a:rPr lang="en-US" dirty="0"/>
              <a:t>to the head of the Federal Housing Finance Agency</a:t>
            </a:r>
          </a:p>
          <a:p>
            <a:r>
              <a:rPr lang="en-US" dirty="0"/>
              <a:t>“[T]he nature and breadth of an agency’s authority is not dispositive in determining whether Congress may limit the President’s power to remove its head.” </a:t>
            </a:r>
          </a:p>
          <a:p>
            <a:r>
              <a:rPr lang="en-US" dirty="0"/>
              <a:t>Sotomayor with Breyer: “Never before, however, has the Court forbidden simple for-cause tenure protection for an Executive Branch officer who neither exercises significant executive power nor regulates the affairs of private parties.” (Kagan also dissents from extension of </a:t>
            </a:r>
            <a:r>
              <a:rPr lang="en-US" i="1" dirty="0"/>
              <a:t>Seila Law</a:t>
            </a:r>
            <a:r>
              <a:rPr lang="en-US" dirty="0"/>
              <a:t>.)</a:t>
            </a:r>
          </a:p>
          <a:p>
            <a:endParaRPr lang="en-US" dirty="0"/>
          </a:p>
          <a:p>
            <a:endParaRPr lang="en-US" dirty="0"/>
          </a:p>
        </p:txBody>
      </p:sp>
      <p:sp>
        <p:nvSpPr>
          <p:cNvPr id="4" name="Footer Placeholder 3">
            <a:extLst>
              <a:ext uri="{FF2B5EF4-FFF2-40B4-BE49-F238E27FC236}">
                <a16:creationId xmlns:a16="http://schemas.microsoft.com/office/drawing/2014/main" id="{42812DBE-0C29-63FE-7EC4-A3D7C92D34D3}"/>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7FD951BF-ACFB-3CD0-E4DA-A42EB8AF4224}"/>
              </a:ext>
            </a:extLst>
          </p:cNvPr>
          <p:cNvSpPr>
            <a:spLocks noGrp="1"/>
          </p:cNvSpPr>
          <p:nvPr>
            <p:ph type="sldNum" sz="quarter" idx="12"/>
          </p:nvPr>
        </p:nvSpPr>
        <p:spPr/>
        <p:txBody>
          <a:bodyPr/>
          <a:lstStyle/>
          <a:p>
            <a:fld id="{19243C18-CE1F-4D3B-ABA9-FEC66CF84D9A}" type="slidenum">
              <a:rPr lang="en-US" smtClean="0"/>
              <a:pPr/>
              <a:t>41</a:t>
            </a:fld>
            <a:endParaRPr lang="en-US"/>
          </a:p>
        </p:txBody>
      </p:sp>
    </p:spTree>
    <p:extLst>
      <p:ext uri="{BB962C8B-B14F-4D97-AF65-F5344CB8AC3E}">
        <p14:creationId xmlns:p14="http://schemas.microsoft.com/office/powerpoint/2010/main" val="29480118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5C1B5-EB50-B3A0-AE7F-4D2A9DDF0B61}"/>
              </a:ext>
            </a:extLst>
          </p:cNvPr>
          <p:cNvSpPr>
            <a:spLocks noGrp="1"/>
          </p:cNvSpPr>
          <p:nvPr>
            <p:ph type="title"/>
          </p:nvPr>
        </p:nvSpPr>
        <p:spPr/>
        <p:txBody>
          <a:bodyPr>
            <a:normAutofit fontScale="90000"/>
          </a:bodyPr>
          <a:lstStyle/>
          <a:p>
            <a:r>
              <a:rPr lang="en-US" dirty="0"/>
              <a:t>Aftermath in the Biden Administration</a:t>
            </a:r>
          </a:p>
        </p:txBody>
      </p:sp>
      <p:pic>
        <p:nvPicPr>
          <p:cNvPr id="7" name="Content Placeholder 6">
            <a:extLst>
              <a:ext uri="{FF2B5EF4-FFF2-40B4-BE49-F238E27FC236}">
                <a16:creationId xmlns:a16="http://schemas.microsoft.com/office/drawing/2014/main" id="{BD72518E-2C5B-59C7-D20A-52A2FB8899FB}"/>
              </a:ext>
            </a:extLst>
          </p:cNvPr>
          <p:cNvPicPr>
            <a:picLocks noGrp="1" noChangeAspect="1"/>
          </p:cNvPicPr>
          <p:nvPr>
            <p:ph idx="1"/>
          </p:nvPr>
        </p:nvPicPr>
        <p:blipFill>
          <a:blip r:embed="rId2"/>
          <a:stretch>
            <a:fillRect/>
          </a:stretch>
        </p:blipFill>
        <p:spPr>
          <a:xfrm>
            <a:off x="4757190" y="1829118"/>
            <a:ext cx="3805357" cy="2871216"/>
          </a:xfrm>
        </p:spPr>
      </p:pic>
      <p:sp>
        <p:nvSpPr>
          <p:cNvPr id="4" name="Footer Placeholder 3">
            <a:extLst>
              <a:ext uri="{FF2B5EF4-FFF2-40B4-BE49-F238E27FC236}">
                <a16:creationId xmlns:a16="http://schemas.microsoft.com/office/drawing/2014/main" id="{B38C4B3D-4E8F-1125-EF96-25988C90EB21}"/>
              </a:ext>
            </a:extLst>
          </p:cNvPr>
          <p:cNvSpPr>
            <a:spLocks noGrp="1"/>
          </p:cNvSpPr>
          <p:nvPr>
            <p:ph type="ftr" sz="quarter" idx="11"/>
          </p:nvPr>
        </p:nvSpPr>
        <p:spPr/>
        <p:txBody>
          <a:bodyPr/>
          <a:lstStyle/>
          <a:p>
            <a:r>
              <a:rPr lang="en-US"/>
              <a:t>© Copyright 2026.  Peter M. Shane All rights reserved. </a:t>
            </a:r>
          </a:p>
        </p:txBody>
      </p:sp>
      <p:pic>
        <p:nvPicPr>
          <p:cNvPr id="9" name="Picture 8">
            <a:extLst>
              <a:ext uri="{FF2B5EF4-FFF2-40B4-BE49-F238E27FC236}">
                <a16:creationId xmlns:a16="http://schemas.microsoft.com/office/drawing/2014/main" id="{7BB2F49C-9D76-292F-B845-A0F9586CD63D}"/>
              </a:ext>
            </a:extLst>
          </p:cNvPr>
          <p:cNvPicPr>
            <a:picLocks noChangeAspect="1"/>
          </p:cNvPicPr>
          <p:nvPr/>
        </p:nvPicPr>
        <p:blipFill>
          <a:blip r:embed="rId3"/>
          <a:stretch>
            <a:fillRect/>
          </a:stretch>
        </p:blipFill>
        <p:spPr>
          <a:xfrm>
            <a:off x="457200" y="1536510"/>
            <a:ext cx="4299990" cy="4680645"/>
          </a:xfrm>
          <a:prstGeom prst="rect">
            <a:avLst/>
          </a:prstGeom>
        </p:spPr>
      </p:pic>
      <p:sp>
        <p:nvSpPr>
          <p:cNvPr id="3" name="Slide Number Placeholder 2">
            <a:extLst>
              <a:ext uri="{FF2B5EF4-FFF2-40B4-BE49-F238E27FC236}">
                <a16:creationId xmlns:a16="http://schemas.microsoft.com/office/drawing/2014/main" id="{A16F6C4A-DA4F-1149-9DD3-5E3E3EAEFB14}"/>
              </a:ext>
            </a:extLst>
          </p:cNvPr>
          <p:cNvSpPr>
            <a:spLocks noGrp="1"/>
          </p:cNvSpPr>
          <p:nvPr>
            <p:ph type="sldNum" sz="quarter" idx="12"/>
          </p:nvPr>
        </p:nvSpPr>
        <p:spPr/>
        <p:txBody>
          <a:bodyPr/>
          <a:lstStyle/>
          <a:p>
            <a:fld id="{19243C18-CE1F-4D3B-ABA9-FEC66CF84D9A}" type="slidenum">
              <a:rPr lang="en-US" smtClean="0"/>
              <a:pPr/>
              <a:t>42</a:t>
            </a:fld>
            <a:endParaRPr lang="en-US"/>
          </a:p>
        </p:txBody>
      </p:sp>
    </p:spTree>
    <p:extLst>
      <p:ext uri="{BB962C8B-B14F-4D97-AF65-F5344CB8AC3E}">
        <p14:creationId xmlns:p14="http://schemas.microsoft.com/office/powerpoint/2010/main" val="4094513027"/>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3573</TotalTime>
  <Words>4399</Words>
  <Application>Microsoft Office PowerPoint</Application>
  <PresentationFormat>On-screen Show (4:3)</PresentationFormat>
  <Paragraphs>332</Paragraphs>
  <Slides>42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Default Design</vt:lpstr>
      <vt:lpstr>Recap of Class 10</vt:lpstr>
      <vt:lpstr>Putting Together Myers  Holding and Dicta</vt:lpstr>
      <vt:lpstr>Humphrey’s Executor</vt:lpstr>
      <vt:lpstr>Unraveling the Puzzle?</vt:lpstr>
      <vt:lpstr>Analyzing Bowsher [192]</vt:lpstr>
      <vt:lpstr>Congress’s Plea</vt:lpstr>
      <vt:lpstr>Independent Counsel Provisions</vt:lpstr>
      <vt:lpstr>Good Cause Removal of IC</vt:lpstr>
      <vt:lpstr>Olson’s Removal Argument</vt:lpstr>
      <vt:lpstr>Test on removability = whether removal restriction impedes the President’s capacity to fulfill his constitutional function</vt:lpstr>
      <vt:lpstr>Two Opinions NOT Written</vt:lpstr>
      <vt:lpstr>What Morrison v. Olson implies about the prosecutorial function</vt:lpstr>
      <vt:lpstr>Removability of Principal Officers?</vt:lpstr>
      <vt:lpstr>Scalia and the One-Person Branch Theory</vt:lpstr>
      <vt:lpstr>One-Person Branch Ignores Other Text . . .</vt:lpstr>
      <vt:lpstr>“Good Cause” Removal Provisions</vt:lpstr>
      <vt:lpstr>Free Enterprise Fund v. PCAOB</vt:lpstr>
      <vt:lpstr>PCAOB Powers</vt:lpstr>
      <vt:lpstr>SEC Oversight</vt:lpstr>
      <vt:lpstr>Holding on Removability</vt:lpstr>
      <vt:lpstr>Impact on Presidential Power</vt:lpstr>
      <vt:lpstr>Impact on Presidential Power</vt:lpstr>
      <vt:lpstr>Severability</vt:lpstr>
      <vt:lpstr>Remedy on Removability</vt:lpstr>
      <vt:lpstr>Seila Law LLC v. CFPB (2020)</vt:lpstr>
      <vt:lpstr>Majority View of the Constitutional Roots of the  Presidential Removal Power</vt:lpstr>
      <vt:lpstr>Humphrey’s and Morrison = Exceptions to the General Rule</vt:lpstr>
      <vt:lpstr>Majority’s View of the Presidency</vt:lpstr>
      <vt:lpstr>Does the Interpretation  Advance/Secure Liberty?</vt:lpstr>
      <vt:lpstr>Distinguishing Humphrey’s Executor: Nature of FTC’s Power</vt:lpstr>
      <vt:lpstr>“Severing” the Removal Limits</vt:lpstr>
      <vt:lpstr>Kagan on Myers and Humphrey’s</vt:lpstr>
      <vt:lpstr>Distinguishing Morrison?</vt:lpstr>
      <vt:lpstr>Decision of 1789</vt:lpstr>
      <vt:lpstr>The Anti-Novelty Argument</vt:lpstr>
      <vt:lpstr>Kagan on Text/History</vt:lpstr>
      <vt:lpstr>The Sinking Fund Commission: An Overlooked Example?</vt:lpstr>
      <vt:lpstr>Kagan’s Use of Manning Scholarship</vt:lpstr>
      <vt:lpstr>Would POTUS Be Better Off With a CFPCommission?</vt:lpstr>
      <vt:lpstr>Stare Decisis and History</vt:lpstr>
      <vt:lpstr>Collins v. Yellen (2021)</vt:lpstr>
      <vt:lpstr>Aftermath in the Biden Administration</vt:lpstr>
    </vt:vector>
  </TitlesOfParts>
  <Company>OSU Moritz College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 of Appointments and Removals</dc:title>
  <dc:creator>Podiums Room 244</dc:creator>
  <cp:lastModifiedBy>Shane, Peter</cp:lastModifiedBy>
  <cp:revision>45</cp:revision>
  <dcterms:created xsi:type="dcterms:W3CDTF">2007-09-17T17:49:14Z</dcterms:created>
  <dcterms:modified xsi:type="dcterms:W3CDTF">2026-10-05T20:04:09Z</dcterms:modified>
</cp:coreProperties>
</file>