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handoutMasterIdLst>
    <p:handoutMasterId r:id="rId19"/>
  </p:handoutMasterIdLst>
  <p:sldIdLst>
    <p:sldId id="257" r:id="rId3"/>
    <p:sldId id="258" r:id="rId4"/>
    <p:sldId id="259" r:id="rId5"/>
    <p:sldId id="309" r:id="rId6"/>
    <p:sldId id="311" r:id="rId7"/>
    <p:sldId id="283" r:id="rId8"/>
    <p:sldId id="307" r:id="rId9"/>
    <p:sldId id="260" r:id="rId10"/>
    <p:sldId id="266" r:id="rId11"/>
    <p:sldId id="272" r:id="rId12"/>
    <p:sldId id="312" r:id="rId13"/>
    <p:sldId id="261" r:id="rId14"/>
    <p:sldId id="271" r:id="rId15"/>
    <p:sldId id="270" r:id="rId16"/>
    <p:sldId id="310" r:id="rId17"/>
    <p:sldId id="274" r:id="rId18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6" autoAdjust="0"/>
    <p:restoredTop sz="94660"/>
  </p:normalViewPr>
  <p:slideViewPr>
    <p:cSldViewPr>
      <p:cViewPr varScale="1">
        <p:scale>
          <a:sx n="105" d="100"/>
          <a:sy n="105" d="100"/>
        </p:scale>
        <p:origin x="1938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55D93A05-C14E-45CA-8AF6-9ED4FC66515C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71A486A8-55E1-4D35-A866-D2569B3F4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336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974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894793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DDE9EC"/>
                </a:solidFill>
              </a:rPr>
              <a:pPr/>
              <a:t>9/14/2026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>
              <a:solidFill>
                <a:srgbClr val="DDE9E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94B729A-5F0B-4B52-BE6D-A579B7D0035B}" type="slidenum">
              <a:rPr lang="en-US" smtClean="0">
                <a:solidFill>
                  <a:srgbClr val="DDE9EC"/>
                </a:solidFill>
              </a:rPr>
              <a:pPr/>
              <a:t>‹#›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2872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31302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759530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21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91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6170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DDE9EC"/>
                </a:solidFill>
              </a:rPr>
              <a:pPr/>
              <a:t>9/14/2026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DE9E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DDE9EC"/>
                </a:solidFill>
              </a:rPr>
              <a:pPr/>
              <a:t>‹#›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689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13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892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905000"/>
            <a:ext cx="70104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4308C-09F3-41F1-86D1-785A210D56D2}" type="slidenum">
              <a:rPr lang="en-US">
                <a:solidFill>
                  <a:srgbClr val="46465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6545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58181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9355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DDE9EC"/>
                </a:solidFill>
              </a:rPr>
              <a:pPr/>
              <a:t>9/14/2026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>
              <a:solidFill>
                <a:srgbClr val="DDE9E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94B729A-5F0B-4B52-BE6D-A579B7D0035B}" type="slidenum">
              <a:rPr lang="en-US" smtClean="0">
                <a:solidFill>
                  <a:srgbClr val="DDE9EC"/>
                </a:solidFill>
              </a:rPr>
              <a:pPr/>
              <a:t>‹#›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14939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910111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125476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992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17501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537103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DDE9EC"/>
                </a:solidFill>
              </a:rPr>
              <a:pPr/>
              <a:t>9/14/2026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DDE9EC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DDE9EC"/>
                </a:solidFill>
              </a:rPr>
              <a:pPr/>
              <a:t>‹#›</a:t>
            </a:fld>
            <a:endParaRPr lang="en-US">
              <a:solidFill>
                <a:srgbClr val="DDE9EC"/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887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9888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24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90500"/>
            <a:ext cx="7010400" cy="15271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905000"/>
            <a:ext cx="7010400" cy="4114800"/>
          </a:xfrm>
        </p:spPr>
        <p:txBody>
          <a:bodyPr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64653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64653"/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4308C-09F3-41F1-86D1-785A210D56D2}" type="slidenum">
              <a:rPr lang="en-US">
                <a:solidFill>
                  <a:srgbClr val="464653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35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81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B999E3D-45A9-497C-BEB0-B4F0C3D298AF}" type="datetimeFigureOut">
              <a:rPr lang="en-US" smtClean="0">
                <a:solidFill>
                  <a:srgbClr val="464653"/>
                </a:solidFill>
              </a:rPr>
              <a:pPr/>
              <a:t>9/14/2026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>
              <a:solidFill>
                <a:srgbClr val="464653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94B729A-5F0B-4B52-BE6D-A579B7D0035B}" type="slidenum">
              <a:rPr lang="en-US" smtClean="0">
                <a:solidFill>
                  <a:srgbClr val="464653"/>
                </a:solidFill>
              </a:rPr>
              <a:pPr/>
              <a:t>‹#›</a:t>
            </a:fld>
            <a:endParaRPr lang="en-US">
              <a:solidFill>
                <a:srgbClr val="464653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44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_n5SNrMaL8" TargetMode="Externa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Class 6: Assent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10243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492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questions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/>
              <a:t>Is there an enforceable promise?</a:t>
            </a:r>
          </a:p>
          <a:p>
            <a:r>
              <a:rPr lang="en-US" dirty="0"/>
              <a:t>Has it been breached?</a:t>
            </a:r>
          </a:p>
          <a:p>
            <a:r>
              <a:rPr lang="en-US" dirty="0"/>
              <a:t>Was performance excused?</a:t>
            </a:r>
          </a:p>
          <a:p>
            <a:r>
              <a:rPr lang="en-US" dirty="0"/>
              <a:t>How should the promise be enforced?</a:t>
            </a:r>
          </a:p>
        </p:txBody>
      </p:sp>
    </p:spTree>
    <p:extLst>
      <p:ext uri="{BB962C8B-B14F-4D97-AF65-F5344CB8AC3E}">
        <p14:creationId xmlns:p14="http://schemas.microsoft.com/office/powerpoint/2010/main" val="67169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125"/>
          </a:xfrm>
        </p:spPr>
        <p:txBody>
          <a:bodyPr/>
          <a:lstStyle/>
          <a:p>
            <a:r>
              <a:rPr lang="en-US" altLang="en-US" dirty="0"/>
              <a:t>Intent to be legally bound</a:t>
            </a:r>
          </a:p>
          <a:p>
            <a:r>
              <a:rPr lang="en-US" altLang="en-US" dirty="0"/>
              <a:t>Alternatives to legal enforcement</a:t>
            </a:r>
          </a:p>
          <a:p>
            <a:r>
              <a:rPr lang="en-US" altLang="en-US" dirty="0"/>
              <a:t>Pros and cons of legal enforceability</a:t>
            </a:r>
          </a:p>
          <a:p>
            <a:pPr eaLnBrk="1" hangingPunct="1"/>
            <a:r>
              <a:rPr lang="en-US" altLang="en-US" dirty="0"/>
              <a:t>Manifestation of assent</a:t>
            </a:r>
          </a:p>
          <a:p>
            <a:pPr lvl="1"/>
            <a:r>
              <a:rPr lang="en-US" altLang="en-US" dirty="0"/>
              <a:t>Objective and subjective standards</a:t>
            </a:r>
          </a:p>
          <a:p>
            <a:pPr lvl="1"/>
            <a:r>
              <a:rPr lang="en-US" altLang="en-US" dirty="0"/>
              <a:t>Content of the objective standard</a:t>
            </a:r>
          </a:p>
          <a:p>
            <a:pPr eaLnBrk="1" hangingPunct="1"/>
            <a:r>
              <a:rPr lang="en-US" altLang="en-US" dirty="0"/>
              <a:t>Justifications for the objective standard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1703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F4E9-E854-5AD6-1355-B9874FD9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Balfour v. Balfour (Supp)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79EA-E745-697F-B3A7-E28447DE77F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was the promise?</a:t>
            </a:r>
          </a:p>
          <a:p>
            <a:r>
              <a:rPr lang="en-US" dirty="0"/>
              <a:t>Was there consideration?</a:t>
            </a:r>
          </a:p>
          <a:p>
            <a:r>
              <a:rPr lang="en-US" dirty="0"/>
              <a:t>What other factors did the court consider?</a:t>
            </a:r>
          </a:p>
          <a:p>
            <a:r>
              <a:rPr lang="en-US" dirty="0"/>
              <a:t>Did the parties intend to form a contract?</a:t>
            </a:r>
          </a:p>
          <a:p>
            <a:pPr lvl="1"/>
            <a:r>
              <a:rPr lang="en-US" dirty="0"/>
              <a:t>What are the effects of legally unenforceable promises?</a:t>
            </a:r>
          </a:p>
          <a:p>
            <a:pPr lvl="1"/>
            <a:r>
              <a:rPr lang="en-US" dirty="0"/>
              <a:t>What are the pros and cons of legally enforceable promises?</a:t>
            </a:r>
          </a:p>
          <a:p>
            <a:r>
              <a:rPr lang="en-US" dirty="0"/>
              <a:t>How could the parties have avoided this result?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819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0E70-3FC1-11A8-DE71-92348DD1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Restatement 2d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1A6AC-7F56-E7A8-4748-B8EA985DD2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§ 21 Intention to Be Legally Bound</a:t>
            </a:r>
          </a:p>
          <a:p>
            <a:pPr marL="0" indent="0">
              <a:buNone/>
            </a:pPr>
            <a:r>
              <a:rPr lang="en-US" dirty="0"/>
              <a:t>Neither real nor apparent intention that a promise be legally binding is essential to the formation of a contract, but a manifestation of intention that a promise shall not affect legal relations may prevent the formation of a contract.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i="1" dirty="0"/>
              <a:t>c. Social engagements and domestic arrangements</a:t>
            </a:r>
            <a:r>
              <a:rPr lang="en-US" dirty="0"/>
              <a:t>. In some situations the normal understanding is that no legal obligation arises, and some unusual manifestation of intention is necessary to create a contract. Traditional examples are social engagements and agreements within a family group.</a:t>
            </a:r>
          </a:p>
        </p:txBody>
      </p:sp>
    </p:spTree>
    <p:extLst>
      <p:ext uri="{BB962C8B-B14F-4D97-AF65-F5344CB8AC3E}">
        <p14:creationId xmlns:p14="http://schemas.microsoft.com/office/powerpoint/2010/main" val="2904166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29059-F762-DE19-E1FF-6EC78EED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Cohen v. Cowles Media (135, 183)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E1962-331D-4351-D124-35CA49C7BE5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“it is no more than the incidental, and constitutionally insignificant, consequence of applying to the press a generally applicable law that requires those who make certain kinds of promises to keep them.” </a:t>
            </a:r>
          </a:p>
          <a:p>
            <a:pPr marL="0" indent="0">
              <a:buNone/>
            </a:pPr>
            <a:r>
              <a:rPr lang="en-US" dirty="0"/>
              <a:t>			50 U.S. 663, 672 per White J.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Were the elements of a contract present?</a:t>
            </a:r>
          </a:p>
          <a:p>
            <a:r>
              <a:rPr lang="en-US" dirty="0"/>
              <a:t>Were the elements of promissory estoppel present?</a:t>
            </a:r>
          </a:p>
          <a:p>
            <a:r>
              <a:rPr lang="en-US" dirty="0"/>
              <a:t>Can we justify different answers to these questions?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024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EA1EF-5E98-4894-845E-D187EC992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Lucy v. </a:t>
            </a:r>
            <a:r>
              <a:rPr lang="en-US" dirty="0" err="1"/>
              <a:t>Zehmer</a:t>
            </a:r>
            <a:r>
              <a:rPr lang="en-US" dirty="0"/>
              <a:t> (173)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B8BB774-2FE2-4734-B296-65FB027FE7EF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 rot="5400000">
            <a:off x="2257425" y="1743075"/>
            <a:ext cx="520065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14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Lucy v. </a:t>
            </a:r>
            <a:r>
              <a:rPr lang="en-US" dirty="0" err="1"/>
              <a:t>Zehmer</a:t>
            </a:r>
            <a:r>
              <a:rPr lang="en-US" dirty="0"/>
              <a:t> (173)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did Lucy have to prove to establish there was a contract?</a:t>
            </a:r>
          </a:p>
          <a:p>
            <a:r>
              <a:rPr lang="en-US" dirty="0"/>
              <a:t>Was the fact </a:t>
            </a:r>
            <a:r>
              <a:rPr lang="en-US" dirty="0" err="1"/>
              <a:t>Zehmer</a:t>
            </a:r>
            <a:r>
              <a:rPr lang="en-US" dirty="0"/>
              <a:t> had been drinking relevant?</a:t>
            </a:r>
          </a:p>
          <a:p>
            <a:r>
              <a:rPr lang="en-US" dirty="0"/>
              <a:t>What test did the court use to determine whether there was mutual assent?</a:t>
            </a:r>
          </a:p>
          <a:p>
            <a:pPr lvl="1"/>
            <a:r>
              <a:rPr lang="en-US" dirty="0"/>
              <a:t>What if </a:t>
            </a:r>
            <a:r>
              <a:rPr lang="en-US" dirty="0" err="1"/>
              <a:t>Zehmer</a:t>
            </a:r>
            <a:r>
              <a:rPr lang="en-US" dirty="0"/>
              <a:t> did not intend to sell the farm?</a:t>
            </a:r>
          </a:p>
          <a:p>
            <a:pPr lvl="1"/>
            <a:r>
              <a:rPr lang="en-US" dirty="0"/>
              <a:t>What if Lucy knew that </a:t>
            </a:r>
            <a:r>
              <a:rPr lang="en-US" dirty="0" err="1"/>
              <a:t>Zehmer</a:t>
            </a:r>
            <a:r>
              <a:rPr lang="en-US" dirty="0"/>
              <a:t> did not intend to sell the farm?</a:t>
            </a:r>
          </a:p>
          <a:p>
            <a:pPr lvl="1"/>
            <a:r>
              <a:rPr lang="en-US" dirty="0"/>
              <a:t>What if Lucy did not know, but should have known, that </a:t>
            </a:r>
            <a:r>
              <a:rPr lang="en-US" dirty="0" err="1"/>
              <a:t>Zehmer</a:t>
            </a:r>
            <a:r>
              <a:rPr lang="en-US" dirty="0"/>
              <a:t> did not intend to sell the farm?</a:t>
            </a:r>
          </a:p>
          <a:p>
            <a:r>
              <a:rPr lang="en-US" dirty="0"/>
              <a:t>What factors made it reasonable for Lucy to believe that </a:t>
            </a:r>
            <a:r>
              <a:rPr lang="en-US" dirty="0" err="1"/>
              <a:t>Zehmer</a:t>
            </a:r>
            <a:r>
              <a:rPr lang="en-US" dirty="0"/>
              <a:t> intended to sell the farm?</a:t>
            </a:r>
          </a:p>
        </p:txBody>
      </p:sp>
    </p:spTree>
    <p:extLst>
      <p:ext uri="{BB962C8B-B14F-4D97-AF65-F5344CB8AC3E}">
        <p14:creationId xmlns:p14="http://schemas.microsoft.com/office/powerpoint/2010/main" val="795501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Justifications for the objective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Autonomy</a:t>
            </a:r>
          </a:p>
          <a:p>
            <a:pPr lvl="1"/>
            <a:r>
              <a:rPr lang="en-US" dirty="0"/>
              <a:t>Imposes liability on those who knowingly invoke a convention</a:t>
            </a:r>
          </a:p>
          <a:p>
            <a:r>
              <a:rPr lang="en-US" dirty="0"/>
              <a:t>Efficiency</a:t>
            </a:r>
          </a:p>
          <a:p>
            <a:pPr lvl="1"/>
            <a:r>
              <a:rPr lang="en-US" dirty="0"/>
              <a:t>Creates incentives for speakers to avoid misunderstandings</a:t>
            </a:r>
          </a:p>
          <a:p>
            <a:pPr lvl="1"/>
            <a:r>
              <a:rPr lang="en-US" dirty="0"/>
              <a:t>Avoids litigation costs associated with ascertaining beliefs</a:t>
            </a:r>
          </a:p>
          <a:p>
            <a:r>
              <a:rPr lang="en-US" dirty="0"/>
              <a:t>Fairness</a:t>
            </a:r>
          </a:p>
          <a:p>
            <a:pPr lvl="1"/>
            <a:r>
              <a:rPr lang="en-US" dirty="0"/>
              <a:t>Imposes costs on party at fault</a:t>
            </a:r>
          </a:p>
          <a:p>
            <a:pPr lvl="1"/>
            <a:endParaRPr lang="en-US" dirty="0"/>
          </a:p>
          <a:p>
            <a:r>
              <a:rPr lang="en-US" dirty="0"/>
              <a:t>Why not require more formalities?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87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Leonard v. </a:t>
            </a:r>
            <a:r>
              <a:rPr lang="en-US" dirty="0" err="1">
                <a:hlinkClick r:id="rId2"/>
              </a:rPr>
              <a:t>Pepsico</a:t>
            </a:r>
            <a:r>
              <a:rPr lang="en-US" dirty="0"/>
              <a:t> (177)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542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relevant to objective standard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dirty="0"/>
              <a:t>Language </a:t>
            </a:r>
          </a:p>
          <a:p>
            <a:r>
              <a:rPr lang="en-US" dirty="0"/>
              <a:t>Formality</a:t>
            </a:r>
          </a:p>
          <a:p>
            <a:pPr lvl="0"/>
            <a:r>
              <a:rPr lang="en-US" dirty="0"/>
              <a:t>Definiteness/Completeness</a:t>
            </a:r>
          </a:p>
          <a:p>
            <a:pPr lvl="0"/>
            <a:r>
              <a:rPr lang="en-US" dirty="0"/>
              <a:t>Reasonableness of terms</a:t>
            </a:r>
          </a:p>
          <a:p>
            <a:r>
              <a:rPr lang="en-US" dirty="0"/>
              <a:t>Foreseeable reliance/part performance</a:t>
            </a:r>
          </a:p>
          <a:p>
            <a:r>
              <a:rPr lang="en-US" dirty="0"/>
              <a:t>Conspicuousness</a:t>
            </a:r>
          </a:p>
          <a:p>
            <a:pPr lvl="0"/>
            <a:r>
              <a:rPr lang="en-US" dirty="0"/>
              <a:t>Custom</a:t>
            </a:r>
          </a:p>
          <a:p>
            <a:r>
              <a:rPr lang="en-US" dirty="0"/>
              <a:t>Parties’ self-interest</a:t>
            </a:r>
          </a:p>
          <a:p>
            <a:pPr lvl="0"/>
            <a:r>
              <a:rPr lang="en-US" dirty="0">
                <a:solidFill>
                  <a:schemeClr val="accent2"/>
                </a:solidFill>
              </a:rPr>
              <a:t>Course of dealing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76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Specht v. Netscape (178)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promise did Netscape want to enforce?</a:t>
            </a:r>
          </a:p>
          <a:p>
            <a:r>
              <a:rPr lang="en-US" dirty="0"/>
              <a:t>How did the plaintiffs allegedly manifest assent?</a:t>
            </a:r>
          </a:p>
          <a:p>
            <a:r>
              <a:rPr lang="en-US" dirty="0"/>
              <a:t>Why did this not constitute assent?</a:t>
            </a:r>
          </a:p>
          <a:p>
            <a:r>
              <a:rPr lang="en-US" dirty="0"/>
              <a:t>To what terms, if any, did the plaintiffs assent?</a:t>
            </a:r>
          </a:p>
          <a:p>
            <a:r>
              <a:rPr lang="en-US" dirty="0"/>
              <a:t>How do you expect Netscape to respond?</a:t>
            </a:r>
          </a:p>
          <a:p>
            <a:r>
              <a:rPr lang="en-US" dirty="0"/>
              <a:t>Will this guarantee “informed assent”?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367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174" y="1143000"/>
            <a:ext cx="7359650" cy="5143500"/>
          </a:xfrm>
        </p:spPr>
      </p:pic>
      <p:sp>
        <p:nvSpPr>
          <p:cNvPr id="3" name="TextBox 2"/>
          <p:cNvSpPr txBox="1"/>
          <p:nvPr/>
        </p:nvSpPr>
        <p:spPr>
          <a:xfrm>
            <a:off x="1924049" y="369808"/>
            <a:ext cx="5295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Cullinane</a:t>
            </a:r>
            <a:r>
              <a:rPr lang="fr-FR" dirty="0"/>
              <a:t> v. </a:t>
            </a:r>
            <a:r>
              <a:rPr lang="fr-FR" dirty="0" err="1"/>
              <a:t>Uber</a:t>
            </a:r>
            <a:r>
              <a:rPr lang="fr-FR" dirty="0"/>
              <a:t> Technologies, Inc., 893 F.3d 53 (2018)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23E8A3-6C7A-8D3E-0554-673DFE4AF98E}"/>
              </a:ext>
            </a:extLst>
          </p:cNvPr>
          <p:cNvSpPr txBox="1"/>
          <p:nvPr/>
        </p:nvSpPr>
        <p:spPr>
          <a:xfrm>
            <a:off x="7234236" y="231308"/>
            <a:ext cx="16811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“Done” appears here once payment info is entered.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212A2D5-427C-01CB-13DA-37AFFB193160}"/>
              </a:ext>
            </a:extLst>
          </p:cNvPr>
          <p:cNvCxnSpPr/>
          <p:nvPr/>
        </p:nvCxnSpPr>
        <p:spPr>
          <a:xfrm flipH="1">
            <a:off x="7924800" y="894665"/>
            <a:ext cx="990600" cy="476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046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40"/>
          <a:stretch/>
        </p:blipFill>
        <p:spPr>
          <a:xfrm>
            <a:off x="2985941" y="914400"/>
            <a:ext cx="3172118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48771" y="381000"/>
            <a:ext cx="5495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Meyer v. Uber Techs, Inc. 868 F.3d 66 (2d Cir. 2017)*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C0280-6FD9-D98C-1340-05401D79A0EA}"/>
              </a:ext>
            </a:extLst>
          </p:cNvPr>
          <p:cNvSpPr txBox="1"/>
          <p:nvPr/>
        </p:nvSpPr>
        <p:spPr>
          <a:xfrm>
            <a:off x="1143000" y="6400800"/>
            <a:ext cx="624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*Applying California law.</a:t>
            </a:r>
          </a:p>
        </p:txBody>
      </p:sp>
    </p:spTree>
    <p:extLst>
      <p:ext uri="{BB962C8B-B14F-4D97-AF65-F5344CB8AC3E}">
        <p14:creationId xmlns:p14="http://schemas.microsoft.com/office/powerpoint/2010/main" val="1298504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40"/>
          <a:stretch/>
        </p:blipFill>
        <p:spPr>
          <a:xfrm>
            <a:off x="5057482" y="914400"/>
            <a:ext cx="3172118" cy="51435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724400" y="488556"/>
            <a:ext cx="4562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Meyer v. Uber Techs, Inc. 868 F.3d 66 (2d Cir. 2017)</a:t>
            </a:r>
            <a:endParaRPr lang="en-US" sz="1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315F85-0D55-D79C-265C-991DFD7D9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699"/>
          <a:stretch/>
        </p:blipFill>
        <p:spPr>
          <a:xfrm>
            <a:off x="914400" y="867345"/>
            <a:ext cx="3172118" cy="51393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B64367-3324-4A6E-18F4-7095B7D5DC7F}"/>
              </a:ext>
            </a:extLst>
          </p:cNvPr>
          <p:cNvSpPr txBox="1"/>
          <p:nvPr/>
        </p:nvSpPr>
        <p:spPr>
          <a:xfrm>
            <a:off x="9144" y="488556"/>
            <a:ext cx="52959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err="1"/>
              <a:t>Cullinane</a:t>
            </a:r>
            <a:r>
              <a:rPr lang="fr-FR" sz="1600" dirty="0"/>
              <a:t> v. </a:t>
            </a:r>
            <a:r>
              <a:rPr lang="fr-FR" sz="1600" dirty="0" err="1"/>
              <a:t>Uber</a:t>
            </a:r>
            <a:r>
              <a:rPr lang="fr-FR" sz="1600" dirty="0"/>
              <a:t> Technologies, Inc., 893 F.3d 53 (2018)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68794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Restatement of the Law of Consumer Contracts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§ 2.  Adoption of Standard Contract Terms</a:t>
            </a:r>
          </a:p>
          <a:p>
            <a:pPr marL="0" indent="0">
              <a:buNone/>
            </a:pPr>
            <a:r>
              <a:rPr lang="en-US" dirty="0"/>
              <a:t>(a) A standard contract term is adopted as part of a consumer contract if the consumer manifests assent to the transaction after receiving:</a:t>
            </a:r>
          </a:p>
          <a:p>
            <a:pPr marL="0" indent="0">
              <a:buNone/>
            </a:pPr>
            <a:r>
              <a:rPr lang="en-US" dirty="0"/>
              <a:t>(1) a reasonable notice of the standard contract term and of the intent to include the term as part of the consumer contract, </a:t>
            </a:r>
            <a:r>
              <a:rPr lang="en-US" dirty="0">
                <a:highlight>
                  <a:srgbClr val="FFFF00"/>
                </a:highlight>
              </a:rPr>
              <a:t>and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(2) a reasonable opportunity to review the standard contract term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Cmt</a:t>
            </a:r>
            <a:r>
              <a:rPr lang="en-US" dirty="0"/>
              <a:t> 3….</a:t>
            </a:r>
            <a:r>
              <a:rPr lang="en-US" dirty="0">
                <a:highlight>
                  <a:srgbClr val="FFFF00"/>
                </a:highlight>
              </a:rPr>
              <a:t>This Section does not address the formation of the contract </a:t>
            </a:r>
            <a:r>
              <a:rPr lang="en-US" dirty="0"/>
              <a:t>or the assent to nonstandard terms. Once the contract is formed, this Section determines which standard contract terms are adopted. </a:t>
            </a:r>
          </a:p>
        </p:txBody>
      </p:sp>
    </p:spTree>
    <p:extLst>
      <p:ext uri="{BB962C8B-B14F-4D97-AF65-F5344CB8AC3E}">
        <p14:creationId xmlns:p14="http://schemas.microsoft.com/office/powerpoint/2010/main" val="4179327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4466</TotalTime>
  <Words>755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Bookman Old Style</vt:lpstr>
      <vt:lpstr>Calibri</vt:lpstr>
      <vt:lpstr>Gill Sans MT</vt:lpstr>
      <vt:lpstr>Wingdings</vt:lpstr>
      <vt:lpstr>Wingdings 3</vt:lpstr>
      <vt:lpstr>Origin</vt:lpstr>
      <vt:lpstr>1_Origin</vt:lpstr>
      <vt:lpstr>Class 6: Assent </vt:lpstr>
      <vt:lpstr>Key questions</vt:lpstr>
      <vt:lpstr>Topics</vt:lpstr>
      <vt:lpstr>Balfour v. Balfour (Supp)</vt:lpstr>
      <vt:lpstr>Restatement 2d</vt:lpstr>
      <vt:lpstr>Cohen v. Cowles Media (135, 183)</vt:lpstr>
      <vt:lpstr>Lucy v. Zehmer (173)</vt:lpstr>
      <vt:lpstr>Lucy v. Zehmer (173)</vt:lpstr>
      <vt:lpstr>Justifications for the objective standard</vt:lpstr>
      <vt:lpstr>Leonard v. Pepsico (177)</vt:lpstr>
      <vt:lpstr>Factors relevant to objective standard</vt:lpstr>
      <vt:lpstr>Specht v. Netscape (178)</vt:lpstr>
      <vt:lpstr>PowerPoint Presentation</vt:lpstr>
      <vt:lpstr>PowerPoint Presentation</vt:lpstr>
      <vt:lpstr>PowerPoint Presentation</vt:lpstr>
      <vt:lpstr>Restatement of the Law of Consumer Contracts</vt:lpstr>
    </vt:vector>
  </TitlesOfParts>
  <Company>NYU School of 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 6: Assent</dc:title>
  <dc:creator>Davis, Kevin</dc:creator>
  <cp:lastModifiedBy>Davis, Kevin</cp:lastModifiedBy>
  <cp:revision>48</cp:revision>
  <cp:lastPrinted>2015-02-11T15:53:47Z</cp:lastPrinted>
  <dcterms:created xsi:type="dcterms:W3CDTF">2014-09-15T16:17:12Z</dcterms:created>
  <dcterms:modified xsi:type="dcterms:W3CDTF">2026-09-15T14:26:18Z</dcterms:modified>
</cp:coreProperties>
</file>