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324" r:id="rId2"/>
    <p:sldId id="275" r:id="rId3"/>
    <p:sldId id="326" r:id="rId4"/>
    <p:sldId id="266" r:id="rId5"/>
    <p:sldId id="327" r:id="rId6"/>
    <p:sldId id="299" r:id="rId7"/>
    <p:sldId id="296" r:id="rId8"/>
    <p:sldId id="328" r:id="rId9"/>
    <p:sldId id="329" r:id="rId10"/>
    <p:sldId id="330" r:id="rId11"/>
    <p:sldId id="332" r:id="rId12"/>
    <p:sldId id="339" r:id="rId13"/>
    <p:sldId id="257" r:id="rId14"/>
    <p:sldId id="317" r:id="rId15"/>
    <p:sldId id="258" r:id="rId16"/>
    <p:sldId id="259" r:id="rId17"/>
    <p:sldId id="274" r:id="rId18"/>
    <p:sldId id="268" r:id="rId19"/>
    <p:sldId id="262" r:id="rId20"/>
    <p:sldId id="269" r:id="rId21"/>
    <p:sldId id="270" r:id="rId22"/>
    <p:sldId id="273" r:id="rId23"/>
    <p:sldId id="325" r:id="rId24"/>
    <p:sldId id="272" r:id="rId25"/>
    <p:sldId id="276" r:id="rId26"/>
    <p:sldId id="319" r:id="rId27"/>
    <p:sldId id="318" r:id="rId28"/>
    <p:sldId id="323" r:id="rId29"/>
    <p:sldId id="278" r:id="rId30"/>
    <p:sldId id="283" r:id="rId31"/>
    <p:sldId id="282" r:id="rId32"/>
    <p:sldId id="284" r:id="rId33"/>
    <p:sldId id="285" r:id="rId34"/>
    <p:sldId id="286" r:id="rId35"/>
    <p:sldId id="280" r:id="rId36"/>
  </p:sldIdLst>
  <p:sldSz cx="9144000" cy="6858000" type="screen4x3"/>
  <p:notesSz cx="6980238" cy="9266238"/>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B10736-71DD-B13C-F7E6-623180778F19}"/>
              </a:ext>
            </a:extLst>
          </p:cNvPr>
          <p:cNvSpPr>
            <a:spLocks noGrp="1"/>
          </p:cNvSpPr>
          <p:nvPr>
            <p:ph type="hdr" sz="quarter"/>
          </p:nvPr>
        </p:nvSpPr>
        <p:spPr>
          <a:xfrm>
            <a:off x="0" y="0"/>
            <a:ext cx="3024188" cy="463550"/>
          </a:xfrm>
          <a:prstGeom prst="rect">
            <a:avLst/>
          </a:prstGeom>
        </p:spPr>
        <p:txBody>
          <a:bodyPr vert="horz" lIns="92830" tIns="46415" rIns="92830" bIns="46415" rtlCol="0"/>
          <a:lstStyle>
            <a:lvl1pPr algn="l">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5159E4AC-F6A2-0CD5-404D-CD3C6718AD70}"/>
              </a:ext>
            </a:extLst>
          </p:cNvPr>
          <p:cNvSpPr>
            <a:spLocks noGrp="1"/>
          </p:cNvSpPr>
          <p:nvPr>
            <p:ph type="dt" sz="quarter" idx="1"/>
          </p:nvPr>
        </p:nvSpPr>
        <p:spPr>
          <a:xfrm>
            <a:off x="3954463" y="0"/>
            <a:ext cx="3024187" cy="463550"/>
          </a:xfrm>
          <a:prstGeom prst="rect">
            <a:avLst/>
          </a:prstGeom>
        </p:spPr>
        <p:txBody>
          <a:bodyPr vert="horz" lIns="92830" tIns="46415" rIns="92830" bIns="46415" rtlCol="0"/>
          <a:lstStyle>
            <a:lvl1pPr algn="r">
              <a:defRPr sz="1200">
                <a:latin typeface="Arial" charset="0"/>
                <a:cs typeface="Arial" charset="0"/>
              </a:defRPr>
            </a:lvl1pPr>
          </a:lstStyle>
          <a:p>
            <a:pPr>
              <a:defRPr/>
            </a:pPr>
            <a:fld id="{7D741E0F-DD0E-4D24-B916-51C2938B384C}" type="datetimeFigureOut">
              <a:rPr lang="en-US"/>
              <a:pPr>
                <a:defRPr/>
              </a:pPr>
              <a:t>9/14/2026</a:t>
            </a:fld>
            <a:endParaRPr lang="en-US"/>
          </a:p>
        </p:txBody>
      </p:sp>
      <p:sp>
        <p:nvSpPr>
          <p:cNvPr id="4" name="Footer Placeholder 3">
            <a:extLst>
              <a:ext uri="{FF2B5EF4-FFF2-40B4-BE49-F238E27FC236}">
                <a16:creationId xmlns:a16="http://schemas.microsoft.com/office/drawing/2014/main" id="{9D7743BD-333F-9A89-973A-E6CE4A5CD7BE}"/>
              </a:ext>
            </a:extLst>
          </p:cNvPr>
          <p:cNvSpPr>
            <a:spLocks noGrp="1"/>
          </p:cNvSpPr>
          <p:nvPr>
            <p:ph type="ftr" sz="quarter" idx="2"/>
          </p:nvPr>
        </p:nvSpPr>
        <p:spPr>
          <a:xfrm>
            <a:off x="0" y="8801100"/>
            <a:ext cx="3024188" cy="463550"/>
          </a:xfrm>
          <a:prstGeom prst="rect">
            <a:avLst/>
          </a:prstGeom>
        </p:spPr>
        <p:txBody>
          <a:bodyPr vert="horz" lIns="92830" tIns="46415" rIns="92830" bIns="46415" rtlCol="0" anchor="b"/>
          <a:lstStyle>
            <a:lvl1pPr algn="l">
              <a:defRPr sz="1200">
                <a:latin typeface="Arial" charset="0"/>
                <a:cs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077D5139-CCCD-5D30-3B24-1DCEF44DC18A}"/>
              </a:ext>
            </a:extLst>
          </p:cNvPr>
          <p:cNvSpPr>
            <a:spLocks noGrp="1"/>
          </p:cNvSpPr>
          <p:nvPr>
            <p:ph type="sldNum" sz="quarter" idx="3"/>
          </p:nvPr>
        </p:nvSpPr>
        <p:spPr>
          <a:xfrm>
            <a:off x="3954463" y="8801100"/>
            <a:ext cx="3024187" cy="463550"/>
          </a:xfrm>
          <a:prstGeom prst="rect">
            <a:avLst/>
          </a:prstGeom>
        </p:spPr>
        <p:txBody>
          <a:bodyPr vert="horz" wrap="square" lIns="92830" tIns="46415" rIns="92830" bIns="46415" numCol="1" anchor="b" anchorCtr="0" compatLnSpc="1">
            <a:prstTxWarp prst="textNoShape">
              <a:avLst/>
            </a:prstTxWarp>
          </a:bodyPr>
          <a:lstStyle>
            <a:lvl1pPr algn="r">
              <a:defRPr sz="1200"/>
            </a:lvl1pPr>
          </a:lstStyle>
          <a:p>
            <a:fld id="{3ABCD056-5280-468B-ABD5-F99683447B24}"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19B2AB6-A335-4BF4-86EE-F23F63F17001}"/>
              </a:ext>
            </a:extLst>
          </p:cNvPr>
          <p:cNvSpPr>
            <a:spLocks noGrp="1" noChangeArrowheads="1"/>
          </p:cNvSpPr>
          <p:nvPr>
            <p:ph type="hdr" sz="quarter"/>
          </p:nvPr>
        </p:nvSpPr>
        <p:spPr bwMode="auto">
          <a:xfrm>
            <a:off x="0" y="0"/>
            <a:ext cx="3024188" cy="463550"/>
          </a:xfrm>
          <a:prstGeom prst="rect">
            <a:avLst/>
          </a:prstGeom>
          <a:noFill/>
          <a:ln w="9525">
            <a:noFill/>
            <a:miter lim="800000"/>
            <a:headEnd/>
            <a:tailEnd/>
          </a:ln>
          <a:effectLst/>
        </p:spPr>
        <p:txBody>
          <a:bodyPr vert="horz" wrap="square" lIns="92830" tIns="46415" rIns="92830" bIns="46415"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3075" name="Rectangle 3">
            <a:extLst>
              <a:ext uri="{FF2B5EF4-FFF2-40B4-BE49-F238E27FC236}">
                <a16:creationId xmlns:a16="http://schemas.microsoft.com/office/drawing/2014/main" id="{31942110-1FEB-7AB2-D58A-91882CF61F32}"/>
              </a:ext>
            </a:extLst>
          </p:cNvPr>
          <p:cNvSpPr>
            <a:spLocks noGrp="1" noChangeArrowheads="1"/>
          </p:cNvSpPr>
          <p:nvPr>
            <p:ph type="dt" idx="1"/>
          </p:nvPr>
        </p:nvSpPr>
        <p:spPr bwMode="auto">
          <a:xfrm>
            <a:off x="3954463" y="0"/>
            <a:ext cx="3024187" cy="463550"/>
          </a:xfrm>
          <a:prstGeom prst="rect">
            <a:avLst/>
          </a:prstGeom>
          <a:noFill/>
          <a:ln w="9525">
            <a:noFill/>
            <a:miter lim="800000"/>
            <a:headEnd/>
            <a:tailEnd/>
          </a:ln>
          <a:effectLst/>
        </p:spPr>
        <p:txBody>
          <a:bodyPr vert="horz" wrap="square" lIns="92830" tIns="46415" rIns="92830" bIns="46415"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26628" name="Rectangle 4">
            <a:extLst>
              <a:ext uri="{FF2B5EF4-FFF2-40B4-BE49-F238E27FC236}">
                <a16:creationId xmlns:a16="http://schemas.microsoft.com/office/drawing/2014/main" id="{BB9330F5-C817-0A8B-7F34-EC70E942829A}"/>
              </a:ext>
            </a:extLst>
          </p:cNvPr>
          <p:cNvSpPr>
            <a:spLocks noGrp="1" noRot="1" noChangeAspect="1" noChangeArrowheads="1" noTextEdit="1"/>
          </p:cNvSpPr>
          <p:nvPr>
            <p:ph type="sldImg" idx="2"/>
          </p:nvPr>
        </p:nvSpPr>
        <p:spPr bwMode="auto">
          <a:xfrm>
            <a:off x="1173163" y="695325"/>
            <a:ext cx="4633912" cy="3475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54AB35AB-0C42-DA9D-C073-4DA2587C93B4}"/>
              </a:ext>
            </a:extLst>
          </p:cNvPr>
          <p:cNvSpPr>
            <a:spLocks noGrp="1" noChangeArrowheads="1"/>
          </p:cNvSpPr>
          <p:nvPr>
            <p:ph type="body" sz="quarter" idx="3"/>
          </p:nvPr>
        </p:nvSpPr>
        <p:spPr bwMode="auto">
          <a:xfrm>
            <a:off x="698500" y="4402138"/>
            <a:ext cx="5583238" cy="4168775"/>
          </a:xfrm>
          <a:prstGeom prst="rect">
            <a:avLst/>
          </a:prstGeom>
          <a:noFill/>
          <a:ln w="9525">
            <a:noFill/>
            <a:miter lim="800000"/>
            <a:headEnd/>
            <a:tailEnd/>
          </a:ln>
          <a:effectLst/>
        </p:spPr>
        <p:txBody>
          <a:bodyPr vert="horz" wrap="square" lIns="92830" tIns="46415" rIns="92830" bIns="4641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9F0DF821-9ED3-D35D-0D5B-09B36C5A4D0F}"/>
              </a:ext>
            </a:extLst>
          </p:cNvPr>
          <p:cNvSpPr>
            <a:spLocks noGrp="1" noChangeArrowheads="1"/>
          </p:cNvSpPr>
          <p:nvPr>
            <p:ph type="ftr" sz="quarter" idx="4"/>
          </p:nvPr>
        </p:nvSpPr>
        <p:spPr bwMode="auto">
          <a:xfrm>
            <a:off x="0" y="8801100"/>
            <a:ext cx="3024188" cy="463550"/>
          </a:xfrm>
          <a:prstGeom prst="rect">
            <a:avLst/>
          </a:prstGeom>
          <a:noFill/>
          <a:ln w="9525">
            <a:noFill/>
            <a:miter lim="800000"/>
            <a:headEnd/>
            <a:tailEnd/>
          </a:ln>
          <a:effectLst/>
        </p:spPr>
        <p:txBody>
          <a:bodyPr vert="horz" wrap="square" lIns="92830" tIns="46415" rIns="92830" bIns="46415"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3079" name="Rectangle 7">
            <a:extLst>
              <a:ext uri="{FF2B5EF4-FFF2-40B4-BE49-F238E27FC236}">
                <a16:creationId xmlns:a16="http://schemas.microsoft.com/office/drawing/2014/main" id="{2E905DAE-A228-F853-CBB1-3ED9789311DE}"/>
              </a:ext>
            </a:extLst>
          </p:cNvPr>
          <p:cNvSpPr>
            <a:spLocks noGrp="1" noChangeArrowheads="1"/>
          </p:cNvSpPr>
          <p:nvPr>
            <p:ph type="sldNum" sz="quarter" idx="5"/>
          </p:nvPr>
        </p:nvSpPr>
        <p:spPr bwMode="auto">
          <a:xfrm>
            <a:off x="3954463" y="8801100"/>
            <a:ext cx="3024187" cy="463550"/>
          </a:xfrm>
          <a:prstGeom prst="rect">
            <a:avLst/>
          </a:prstGeom>
          <a:noFill/>
          <a:ln w="9525">
            <a:noFill/>
            <a:miter lim="800000"/>
            <a:headEnd/>
            <a:tailEnd/>
          </a:ln>
          <a:effectLst/>
        </p:spPr>
        <p:txBody>
          <a:bodyPr vert="horz" wrap="square" lIns="92830" tIns="46415" rIns="92830" bIns="46415" numCol="1" anchor="b" anchorCtr="0" compatLnSpc="1">
            <a:prstTxWarp prst="textNoShape">
              <a:avLst/>
            </a:prstTxWarp>
          </a:bodyPr>
          <a:lstStyle>
            <a:lvl1pPr algn="r">
              <a:defRPr sz="1200"/>
            </a:lvl1pPr>
          </a:lstStyle>
          <a:p>
            <a:fld id="{A1DE826F-5B71-4088-9ABA-86E44F11ABE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DB890B-2C96-49DC-9698-1BF2A76C4E0D}" type="slidenum">
              <a:rPr lang="en-US"/>
              <a:pPr/>
              <a:t>11</a:t>
            </a:fld>
            <a:endParaRPr 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0501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8A22E7-C7C2-433A-BE3B-B695EDA9FCBF}" type="slidenum">
              <a:rPr lang="en-US"/>
              <a:pPr/>
              <a:t>12</a:t>
            </a:fld>
            <a:endParaRPr lang="en-US"/>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68536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80C9A66E-2108-51C7-CC21-01F0BD4C81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5B28A5A5-DECD-48F4-8E4E-8A836F4F29FA}" type="slidenum">
              <a:rPr lang="en-US" altLang="en-US"/>
              <a:pPr eaLnBrk="1" hangingPunct="1">
                <a:spcBef>
                  <a:spcPct val="0"/>
                </a:spcBef>
              </a:pPr>
              <a:t>13</a:t>
            </a:fld>
            <a:endParaRPr lang="en-US" altLang="en-US"/>
          </a:p>
        </p:txBody>
      </p:sp>
      <p:sp>
        <p:nvSpPr>
          <p:cNvPr id="27651" name="Rectangle 2">
            <a:extLst>
              <a:ext uri="{FF2B5EF4-FFF2-40B4-BE49-F238E27FC236}">
                <a16:creationId xmlns:a16="http://schemas.microsoft.com/office/drawing/2014/main" id="{D2B91DAF-D104-3037-E49A-43237DAE4693}"/>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0F413434-BAEC-BBE9-58E8-38BAA5D27D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496C1BBC-04C9-4B01-88BC-5E2D4582958B}" type="slidenum">
              <a:rPr lang="en-US" altLang="en-US"/>
              <a:pPr eaLnBrk="1" hangingPunct="1">
                <a:spcBef>
                  <a:spcPct val="0"/>
                </a:spcBef>
              </a:pPr>
              <a:t>14</a:t>
            </a:fld>
            <a:endParaRPr lang="en-US"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1195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6EF8DE9D-9E14-68A5-A2AA-2BA0ED5F5B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B0954AF8-E6F0-4526-8C96-5E2D2AA1F052}" type="slidenum">
              <a:rPr lang="en-US" altLang="en-US"/>
              <a:pPr eaLnBrk="1" hangingPunct="1">
                <a:spcBef>
                  <a:spcPct val="0"/>
                </a:spcBef>
              </a:pPr>
              <a:t>15</a:t>
            </a:fld>
            <a:endParaRPr lang="en-US" altLang="en-US"/>
          </a:p>
        </p:txBody>
      </p:sp>
      <p:sp>
        <p:nvSpPr>
          <p:cNvPr id="28675" name="Rectangle 2">
            <a:extLst>
              <a:ext uri="{FF2B5EF4-FFF2-40B4-BE49-F238E27FC236}">
                <a16:creationId xmlns:a16="http://schemas.microsoft.com/office/drawing/2014/main" id="{648BE111-814F-669A-5C29-A9B3CB6CDC1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99BBA68-83EC-6336-60CC-13797D6A03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84D25148-36DE-AF06-ECC3-4484A8EB77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E096B4EC-D707-41FA-AC18-48291CE120CA}" type="slidenum">
              <a:rPr lang="en-US" altLang="en-US"/>
              <a:pPr eaLnBrk="1" hangingPunct="1">
                <a:spcBef>
                  <a:spcPct val="0"/>
                </a:spcBef>
              </a:pPr>
              <a:t>16</a:t>
            </a:fld>
            <a:endParaRPr lang="en-US" altLang="en-US"/>
          </a:p>
        </p:txBody>
      </p:sp>
      <p:sp>
        <p:nvSpPr>
          <p:cNvPr id="29699" name="Rectangle 2">
            <a:extLst>
              <a:ext uri="{FF2B5EF4-FFF2-40B4-BE49-F238E27FC236}">
                <a16:creationId xmlns:a16="http://schemas.microsoft.com/office/drawing/2014/main" id="{F54519F5-687A-49BD-9814-F5D959C48CC3}"/>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69E8B3B4-C09B-1EDE-E62B-88F42390D8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1BA035D-C8E9-1175-A133-B6BA3E3BDB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6A32F7CF-3BE3-4E94-9BD4-9CC871449EA1}" type="slidenum">
              <a:rPr lang="en-US" altLang="en-US"/>
              <a:pPr eaLnBrk="1" hangingPunct="1">
                <a:spcBef>
                  <a:spcPct val="0"/>
                </a:spcBef>
              </a:pPr>
              <a:t>18</a:t>
            </a:fld>
            <a:endParaRPr lang="en-US" altLang="en-US"/>
          </a:p>
        </p:txBody>
      </p:sp>
      <p:sp>
        <p:nvSpPr>
          <p:cNvPr id="38915" name="Rectangle 2">
            <a:extLst>
              <a:ext uri="{FF2B5EF4-FFF2-40B4-BE49-F238E27FC236}">
                <a16:creationId xmlns:a16="http://schemas.microsoft.com/office/drawing/2014/main" id="{487C651F-AFE9-13D9-76C5-ECD1205B6786}"/>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3D8E5722-8614-2A44-5AB5-5F57F0C42D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964EA3A9-E97D-019B-68E6-C7D4B9FB10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82EA9AA6-A2C1-4206-B2E6-2E21D9DA00F3}" type="slidenum">
              <a:rPr lang="en-US" altLang="en-US"/>
              <a:pPr eaLnBrk="1" hangingPunct="1">
                <a:spcBef>
                  <a:spcPct val="0"/>
                </a:spcBef>
              </a:pPr>
              <a:t>19</a:t>
            </a:fld>
            <a:endParaRPr lang="en-US" altLang="en-US"/>
          </a:p>
        </p:txBody>
      </p:sp>
      <p:sp>
        <p:nvSpPr>
          <p:cNvPr id="37891" name="Rectangle 2">
            <a:extLst>
              <a:ext uri="{FF2B5EF4-FFF2-40B4-BE49-F238E27FC236}">
                <a16:creationId xmlns:a16="http://schemas.microsoft.com/office/drawing/2014/main" id="{7421028A-350A-2640-2B78-B17496716DF1}"/>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42848B23-A009-F6A5-316A-38CA0E9E0B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2521858-0793-0E81-24C6-031F3AC3FC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A37968CC-ADBF-4C77-8E2F-2D250BF0AE57}" type="slidenum">
              <a:rPr lang="en-US" altLang="en-US"/>
              <a:pPr eaLnBrk="1" hangingPunct="1">
                <a:spcBef>
                  <a:spcPct val="0"/>
                </a:spcBef>
              </a:pPr>
              <a:t>20</a:t>
            </a:fld>
            <a:endParaRPr lang="en-US" altLang="en-US"/>
          </a:p>
        </p:txBody>
      </p:sp>
      <p:sp>
        <p:nvSpPr>
          <p:cNvPr id="39939" name="Rectangle 2">
            <a:extLst>
              <a:ext uri="{FF2B5EF4-FFF2-40B4-BE49-F238E27FC236}">
                <a16:creationId xmlns:a16="http://schemas.microsoft.com/office/drawing/2014/main" id="{AA187147-C910-8E6B-2312-3696C5F892B6}"/>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8BDA7B63-2E79-D5E9-4C17-A5D28E0D4B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F095F4A6-17DF-F890-7E60-8EDF1A09AC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EB395FB9-E360-435C-960E-2A07B2B5ACF1}" type="slidenum">
              <a:rPr lang="en-US" altLang="en-US"/>
              <a:pPr eaLnBrk="1" hangingPunct="1">
                <a:spcBef>
                  <a:spcPct val="0"/>
                </a:spcBef>
              </a:pPr>
              <a:t>21</a:t>
            </a:fld>
            <a:endParaRPr lang="en-US" altLang="en-US"/>
          </a:p>
        </p:txBody>
      </p:sp>
      <p:sp>
        <p:nvSpPr>
          <p:cNvPr id="40963" name="Rectangle 2">
            <a:extLst>
              <a:ext uri="{FF2B5EF4-FFF2-40B4-BE49-F238E27FC236}">
                <a16:creationId xmlns:a16="http://schemas.microsoft.com/office/drawing/2014/main" id="{B30F38B3-E16B-5F20-1424-37A37320A609}"/>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DD16925-113F-9889-D4D1-981B4C180F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C930172-F656-E6E0-3AA1-E5919B6041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BE45C4A8-03DE-4F45-8009-E516FCA6AA09}" type="slidenum">
              <a:rPr lang="en-US" altLang="en-US"/>
              <a:pPr eaLnBrk="1" hangingPunct="1">
                <a:spcBef>
                  <a:spcPct val="0"/>
                </a:spcBef>
              </a:pPr>
              <a:t>22</a:t>
            </a:fld>
            <a:endParaRPr lang="en-US" altLang="en-US"/>
          </a:p>
        </p:txBody>
      </p:sp>
      <p:sp>
        <p:nvSpPr>
          <p:cNvPr id="44035" name="Rectangle 2">
            <a:extLst>
              <a:ext uri="{FF2B5EF4-FFF2-40B4-BE49-F238E27FC236}">
                <a16:creationId xmlns:a16="http://schemas.microsoft.com/office/drawing/2014/main" id="{07F69A92-3AF1-2F30-A9FD-E772C8F1F0D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1C8A5D8-92E4-7E42-DD32-E96E02CD7D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DA9A256-FB9A-27A4-BA59-3E8B721D92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1253D741-B527-408A-A0CA-F1AE2FFFBC6B}" type="slidenum">
              <a:rPr lang="en-US" altLang="en-US"/>
              <a:pPr eaLnBrk="1" hangingPunct="1">
                <a:spcBef>
                  <a:spcPct val="0"/>
                </a:spcBef>
              </a:pPr>
              <a:t>24</a:t>
            </a:fld>
            <a:endParaRPr lang="en-US" altLang="en-US"/>
          </a:p>
        </p:txBody>
      </p:sp>
      <p:sp>
        <p:nvSpPr>
          <p:cNvPr id="41987" name="Rectangle 2">
            <a:extLst>
              <a:ext uri="{FF2B5EF4-FFF2-40B4-BE49-F238E27FC236}">
                <a16:creationId xmlns:a16="http://schemas.microsoft.com/office/drawing/2014/main" id="{64DC2A82-F1F7-7110-D229-731CEF123495}"/>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E519E198-BF78-C93D-2E19-0699FA072D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B74AF62-A4E8-2245-97C9-32125C63EC9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DC3FC6F-259F-A0DA-A8F4-7449625036B0}"/>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6" name="Rectangle 6">
            <a:extLst>
              <a:ext uri="{FF2B5EF4-FFF2-40B4-BE49-F238E27FC236}">
                <a16:creationId xmlns:a16="http://schemas.microsoft.com/office/drawing/2014/main" id="{248491BC-55B6-1292-7202-C50D5FD1C51A}"/>
              </a:ext>
            </a:extLst>
          </p:cNvPr>
          <p:cNvSpPr>
            <a:spLocks noGrp="1" noChangeArrowheads="1"/>
          </p:cNvSpPr>
          <p:nvPr>
            <p:ph type="sldNum" sz="quarter" idx="12"/>
          </p:nvPr>
        </p:nvSpPr>
        <p:spPr>
          <a:ln/>
        </p:spPr>
        <p:txBody>
          <a:bodyPr/>
          <a:lstStyle>
            <a:lvl1pPr>
              <a:defRPr/>
            </a:lvl1pPr>
          </a:lstStyle>
          <a:p>
            <a:fld id="{96616E80-F5B8-42FD-986A-ED10E0D8D74C}" type="slidenum">
              <a:rPr lang="en-US" altLang="en-US"/>
              <a:pPr/>
              <a:t>‹#›</a:t>
            </a:fld>
            <a:endParaRPr lang="en-US" altLang="en-US"/>
          </a:p>
        </p:txBody>
      </p:sp>
    </p:spTree>
    <p:extLst>
      <p:ext uri="{BB962C8B-B14F-4D97-AF65-F5344CB8AC3E}">
        <p14:creationId xmlns:p14="http://schemas.microsoft.com/office/powerpoint/2010/main" val="1027088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56385B7-BA5D-EDF1-85FF-6EC7A718672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C8BB6C6-4C01-7E33-EC04-CD92D0E75537}"/>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6" name="Rectangle 6">
            <a:extLst>
              <a:ext uri="{FF2B5EF4-FFF2-40B4-BE49-F238E27FC236}">
                <a16:creationId xmlns:a16="http://schemas.microsoft.com/office/drawing/2014/main" id="{C68ABF4A-162B-1975-9FFE-7934414EA570}"/>
              </a:ext>
            </a:extLst>
          </p:cNvPr>
          <p:cNvSpPr>
            <a:spLocks noGrp="1" noChangeArrowheads="1"/>
          </p:cNvSpPr>
          <p:nvPr>
            <p:ph type="sldNum" sz="quarter" idx="12"/>
          </p:nvPr>
        </p:nvSpPr>
        <p:spPr>
          <a:ln/>
        </p:spPr>
        <p:txBody>
          <a:bodyPr/>
          <a:lstStyle>
            <a:lvl1pPr>
              <a:defRPr/>
            </a:lvl1pPr>
          </a:lstStyle>
          <a:p>
            <a:fld id="{2D29E99E-9B29-45D0-88DA-823C9D293DFF}" type="slidenum">
              <a:rPr lang="en-US" altLang="en-US"/>
              <a:pPr/>
              <a:t>‹#›</a:t>
            </a:fld>
            <a:endParaRPr lang="en-US" altLang="en-US"/>
          </a:p>
        </p:txBody>
      </p:sp>
    </p:spTree>
    <p:extLst>
      <p:ext uri="{BB962C8B-B14F-4D97-AF65-F5344CB8AC3E}">
        <p14:creationId xmlns:p14="http://schemas.microsoft.com/office/powerpoint/2010/main" val="2475954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F6DE447-9CA6-61F8-9901-F66BEE2F259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6086374-4A64-C9A3-571F-08AE26C58530}"/>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6" name="Rectangle 6">
            <a:extLst>
              <a:ext uri="{FF2B5EF4-FFF2-40B4-BE49-F238E27FC236}">
                <a16:creationId xmlns:a16="http://schemas.microsoft.com/office/drawing/2014/main" id="{1FD73B23-E701-BAD1-FA83-6DBB0B1B54FB}"/>
              </a:ext>
            </a:extLst>
          </p:cNvPr>
          <p:cNvSpPr>
            <a:spLocks noGrp="1" noChangeArrowheads="1"/>
          </p:cNvSpPr>
          <p:nvPr>
            <p:ph type="sldNum" sz="quarter" idx="12"/>
          </p:nvPr>
        </p:nvSpPr>
        <p:spPr>
          <a:ln/>
        </p:spPr>
        <p:txBody>
          <a:bodyPr/>
          <a:lstStyle>
            <a:lvl1pPr>
              <a:defRPr/>
            </a:lvl1pPr>
          </a:lstStyle>
          <a:p>
            <a:fld id="{F30A8A87-F4C3-4242-AF02-D853F8A6EF25}" type="slidenum">
              <a:rPr lang="en-US" altLang="en-US"/>
              <a:pPr/>
              <a:t>‹#›</a:t>
            </a:fld>
            <a:endParaRPr lang="en-US" altLang="en-US"/>
          </a:p>
        </p:txBody>
      </p:sp>
    </p:spTree>
    <p:extLst>
      <p:ext uri="{BB962C8B-B14F-4D97-AF65-F5344CB8AC3E}">
        <p14:creationId xmlns:p14="http://schemas.microsoft.com/office/powerpoint/2010/main" val="255909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5F81290-BDB3-2621-4507-F149BC1F293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2C2529E-F815-1DC0-5E07-4EA773245F19}"/>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7" name="Rectangle 6">
            <a:extLst>
              <a:ext uri="{FF2B5EF4-FFF2-40B4-BE49-F238E27FC236}">
                <a16:creationId xmlns:a16="http://schemas.microsoft.com/office/drawing/2014/main" id="{3E6C187C-4204-7DEB-ECF1-10C835D6FA88}"/>
              </a:ext>
            </a:extLst>
          </p:cNvPr>
          <p:cNvSpPr>
            <a:spLocks noGrp="1" noChangeArrowheads="1"/>
          </p:cNvSpPr>
          <p:nvPr>
            <p:ph type="sldNum" sz="quarter" idx="12"/>
          </p:nvPr>
        </p:nvSpPr>
        <p:spPr>
          <a:ln/>
        </p:spPr>
        <p:txBody>
          <a:bodyPr/>
          <a:lstStyle>
            <a:lvl1pPr>
              <a:defRPr/>
            </a:lvl1pPr>
          </a:lstStyle>
          <a:p>
            <a:fld id="{B1378112-2DD6-4EF5-890C-E35945690252}" type="slidenum">
              <a:rPr lang="en-US" altLang="en-US"/>
              <a:pPr/>
              <a:t>‹#›</a:t>
            </a:fld>
            <a:endParaRPr lang="en-US" altLang="en-US"/>
          </a:p>
        </p:txBody>
      </p:sp>
    </p:spTree>
    <p:extLst>
      <p:ext uri="{BB962C8B-B14F-4D97-AF65-F5344CB8AC3E}">
        <p14:creationId xmlns:p14="http://schemas.microsoft.com/office/powerpoint/2010/main" val="3863422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C87B9DD-C7B6-885C-C9F9-E01156639F4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6E01CF7-C904-935C-0EAD-3AC41FE01B0F}"/>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9" name="Rectangle 6">
            <a:extLst>
              <a:ext uri="{FF2B5EF4-FFF2-40B4-BE49-F238E27FC236}">
                <a16:creationId xmlns:a16="http://schemas.microsoft.com/office/drawing/2014/main" id="{AD66AEA8-E286-6EE0-38BB-8E575439AC1D}"/>
              </a:ext>
            </a:extLst>
          </p:cNvPr>
          <p:cNvSpPr>
            <a:spLocks noGrp="1" noChangeArrowheads="1"/>
          </p:cNvSpPr>
          <p:nvPr>
            <p:ph type="sldNum" sz="quarter" idx="12"/>
          </p:nvPr>
        </p:nvSpPr>
        <p:spPr>
          <a:ln/>
        </p:spPr>
        <p:txBody>
          <a:bodyPr/>
          <a:lstStyle>
            <a:lvl1pPr>
              <a:defRPr/>
            </a:lvl1pPr>
          </a:lstStyle>
          <a:p>
            <a:fld id="{74A3F27A-97EA-44DC-98E0-7A2C5E358BCC}" type="slidenum">
              <a:rPr lang="en-US" altLang="en-US"/>
              <a:pPr/>
              <a:t>‹#›</a:t>
            </a:fld>
            <a:endParaRPr lang="en-US" altLang="en-US"/>
          </a:p>
        </p:txBody>
      </p:sp>
    </p:spTree>
    <p:extLst>
      <p:ext uri="{BB962C8B-B14F-4D97-AF65-F5344CB8AC3E}">
        <p14:creationId xmlns:p14="http://schemas.microsoft.com/office/powerpoint/2010/main" val="3056890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E0BF313-BDEC-C1F1-BBEB-DDED9726986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20D8E42-2735-2666-BB9A-1502782D02E9}"/>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5" name="Rectangle 6">
            <a:extLst>
              <a:ext uri="{FF2B5EF4-FFF2-40B4-BE49-F238E27FC236}">
                <a16:creationId xmlns:a16="http://schemas.microsoft.com/office/drawing/2014/main" id="{DA1DA395-B534-3438-3D06-111450B570F2}"/>
              </a:ext>
            </a:extLst>
          </p:cNvPr>
          <p:cNvSpPr>
            <a:spLocks noGrp="1" noChangeArrowheads="1"/>
          </p:cNvSpPr>
          <p:nvPr>
            <p:ph type="sldNum" sz="quarter" idx="12"/>
          </p:nvPr>
        </p:nvSpPr>
        <p:spPr>
          <a:ln/>
        </p:spPr>
        <p:txBody>
          <a:bodyPr/>
          <a:lstStyle>
            <a:lvl1pPr>
              <a:defRPr/>
            </a:lvl1pPr>
          </a:lstStyle>
          <a:p>
            <a:fld id="{67A88EF8-C7AA-4AD3-9A31-CFC5D470452D}" type="slidenum">
              <a:rPr lang="en-US" altLang="en-US"/>
              <a:pPr/>
              <a:t>‹#›</a:t>
            </a:fld>
            <a:endParaRPr lang="en-US" altLang="en-US"/>
          </a:p>
        </p:txBody>
      </p:sp>
    </p:spTree>
    <p:extLst>
      <p:ext uri="{BB962C8B-B14F-4D97-AF65-F5344CB8AC3E}">
        <p14:creationId xmlns:p14="http://schemas.microsoft.com/office/powerpoint/2010/main" val="3397807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F1B8024-67A1-9A14-6A71-435BB6B737E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42D2D5C-7CF0-309E-3017-5301C6E020FC}"/>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4" name="Rectangle 6">
            <a:extLst>
              <a:ext uri="{FF2B5EF4-FFF2-40B4-BE49-F238E27FC236}">
                <a16:creationId xmlns:a16="http://schemas.microsoft.com/office/drawing/2014/main" id="{BFB1A2B8-9BC2-1C65-E502-026B898564C4}"/>
              </a:ext>
            </a:extLst>
          </p:cNvPr>
          <p:cNvSpPr>
            <a:spLocks noGrp="1" noChangeArrowheads="1"/>
          </p:cNvSpPr>
          <p:nvPr>
            <p:ph type="sldNum" sz="quarter" idx="12"/>
          </p:nvPr>
        </p:nvSpPr>
        <p:spPr>
          <a:ln/>
        </p:spPr>
        <p:txBody>
          <a:bodyPr/>
          <a:lstStyle>
            <a:lvl1pPr>
              <a:defRPr/>
            </a:lvl1pPr>
          </a:lstStyle>
          <a:p>
            <a:fld id="{36078B0F-3F88-4E8D-A863-E872919D8775}" type="slidenum">
              <a:rPr lang="en-US" altLang="en-US"/>
              <a:pPr/>
              <a:t>‹#›</a:t>
            </a:fld>
            <a:endParaRPr lang="en-US" altLang="en-US"/>
          </a:p>
        </p:txBody>
      </p:sp>
    </p:spTree>
    <p:extLst>
      <p:ext uri="{BB962C8B-B14F-4D97-AF65-F5344CB8AC3E}">
        <p14:creationId xmlns:p14="http://schemas.microsoft.com/office/powerpoint/2010/main" val="41971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F2920CE-1F78-C41E-3381-0F319ABC1D8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EBF6DBB-348B-BC25-8DB7-F0AB5BACA7C1}"/>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7" name="Rectangle 6">
            <a:extLst>
              <a:ext uri="{FF2B5EF4-FFF2-40B4-BE49-F238E27FC236}">
                <a16:creationId xmlns:a16="http://schemas.microsoft.com/office/drawing/2014/main" id="{4051F885-6E7D-58E6-B6EF-B1B6F96933D7}"/>
              </a:ext>
            </a:extLst>
          </p:cNvPr>
          <p:cNvSpPr>
            <a:spLocks noGrp="1" noChangeArrowheads="1"/>
          </p:cNvSpPr>
          <p:nvPr>
            <p:ph type="sldNum" sz="quarter" idx="12"/>
          </p:nvPr>
        </p:nvSpPr>
        <p:spPr>
          <a:ln/>
        </p:spPr>
        <p:txBody>
          <a:bodyPr/>
          <a:lstStyle>
            <a:lvl1pPr>
              <a:defRPr/>
            </a:lvl1pPr>
          </a:lstStyle>
          <a:p>
            <a:fld id="{1115C470-24EE-4B7B-A50F-F2F0A53EF4E3}" type="slidenum">
              <a:rPr lang="en-US" altLang="en-US"/>
              <a:pPr/>
              <a:t>‹#›</a:t>
            </a:fld>
            <a:endParaRPr lang="en-US" altLang="en-US"/>
          </a:p>
        </p:txBody>
      </p:sp>
    </p:spTree>
    <p:extLst>
      <p:ext uri="{BB962C8B-B14F-4D97-AF65-F5344CB8AC3E}">
        <p14:creationId xmlns:p14="http://schemas.microsoft.com/office/powerpoint/2010/main" val="423301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BF2B327-12CD-4E6A-A878-19931AB34E1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7700127-5DE8-FEC4-E9DA-52F13D8FBD91}"/>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7" name="Rectangle 6">
            <a:extLst>
              <a:ext uri="{FF2B5EF4-FFF2-40B4-BE49-F238E27FC236}">
                <a16:creationId xmlns:a16="http://schemas.microsoft.com/office/drawing/2014/main" id="{D63CD107-2603-831D-C00D-47DD8B4A776C}"/>
              </a:ext>
            </a:extLst>
          </p:cNvPr>
          <p:cNvSpPr>
            <a:spLocks noGrp="1" noChangeArrowheads="1"/>
          </p:cNvSpPr>
          <p:nvPr>
            <p:ph type="sldNum" sz="quarter" idx="12"/>
          </p:nvPr>
        </p:nvSpPr>
        <p:spPr>
          <a:ln/>
        </p:spPr>
        <p:txBody>
          <a:bodyPr/>
          <a:lstStyle>
            <a:lvl1pPr>
              <a:defRPr/>
            </a:lvl1pPr>
          </a:lstStyle>
          <a:p>
            <a:fld id="{DE530AA2-59E7-434E-8A09-CAB1654C04C7}" type="slidenum">
              <a:rPr lang="en-US" altLang="en-US"/>
              <a:pPr/>
              <a:t>‹#›</a:t>
            </a:fld>
            <a:endParaRPr lang="en-US" altLang="en-US"/>
          </a:p>
        </p:txBody>
      </p:sp>
    </p:spTree>
    <p:extLst>
      <p:ext uri="{BB962C8B-B14F-4D97-AF65-F5344CB8AC3E}">
        <p14:creationId xmlns:p14="http://schemas.microsoft.com/office/powerpoint/2010/main" val="33744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7A59EA7-97A1-6FBC-198B-AF1B0B1155D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368325C-5C2E-5612-4882-F9075468A84B}"/>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6" name="Rectangle 6">
            <a:extLst>
              <a:ext uri="{FF2B5EF4-FFF2-40B4-BE49-F238E27FC236}">
                <a16:creationId xmlns:a16="http://schemas.microsoft.com/office/drawing/2014/main" id="{F993EC7A-8C8C-F423-B53E-8EFA43E452C1}"/>
              </a:ext>
            </a:extLst>
          </p:cNvPr>
          <p:cNvSpPr>
            <a:spLocks noGrp="1" noChangeArrowheads="1"/>
          </p:cNvSpPr>
          <p:nvPr>
            <p:ph type="sldNum" sz="quarter" idx="12"/>
          </p:nvPr>
        </p:nvSpPr>
        <p:spPr>
          <a:ln/>
        </p:spPr>
        <p:txBody>
          <a:bodyPr/>
          <a:lstStyle>
            <a:lvl1pPr>
              <a:defRPr/>
            </a:lvl1pPr>
          </a:lstStyle>
          <a:p>
            <a:fld id="{5BA65F04-16D2-4699-81C8-61E3FEA9799B}" type="slidenum">
              <a:rPr lang="en-US" altLang="en-US"/>
              <a:pPr/>
              <a:t>‹#›</a:t>
            </a:fld>
            <a:endParaRPr lang="en-US" altLang="en-US"/>
          </a:p>
        </p:txBody>
      </p:sp>
    </p:spTree>
    <p:extLst>
      <p:ext uri="{BB962C8B-B14F-4D97-AF65-F5344CB8AC3E}">
        <p14:creationId xmlns:p14="http://schemas.microsoft.com/office/powerpoint/2010/main" val="74718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4B84470-C745-A122-F96F-603C3DC61B6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E31F072-B9F4-7886-3AAE-DD26172D8996}"/>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6" name="Rectangle 6">
            <a:extLst>
              <a:ext uri="{FF2B5EF4-FFF2-40B4-BE49-F238E27FC236}">
                <a16:creationId xmlns:a16="http://schemas.microsoft.com/office/drawing/2014/main" id="{4F5430A2-6618-C1F9-01F8-D5D9BC26EC23}"/>
              </a:ext>
            </a:extLst>
          </p:cNvPr>
          <p:cNvSpPr>
            <a:spLocks noGrp="1" noChangeArrowheads="1"/>
          </p:cNvSpPr>
          <p:nvPr>
            <p:ph type="sldNum" sz="quarter" idx="12"/>
          </p:nvPr>
        </p:nvSpPr>
        <p:spPr>
          <a:ln/>
        </p:spPr>
        <p:txBody>
          <a:bodyPr/>
          <a:lstStyle>
            <a:lvl1pPr>
              <a:defRPr/>
            </a:lvl1pPr>
          </a:lstStyle>
          <a:p>
            <a:fld id="{9B99183D-E20A-4BB6-92C8-280DFF927B19}" type="slidenum">
              <a:rPr lang="en-US" altLang="en-US"/>
              <a:pPr/>
              <a:t>‹#›</a:t>
            </a:fld>
            <a:endParaRPr lang="en-US" altLang="en-US"/>
          </a:p>
        </p:txBody>
      </p:sp>
    </p:spTree>
    <p:extLst>
      <p:ext uri="{BB962C8B-B14F-4D97-AF65-F5344CB8AC3E}">
        <p14:creationId xmlns:p14="http://schemas.microsoft.com/office/powerpoint/2010/main" val="1701575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A0E75F8-27DC-C302-EFF2-C70B1E82CFF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C11D459-085F-53FA-91FB-BAD66955B587}"/>
              </a:ext>
            </a:extLst>
          </p:cNvPr>
          <p:cNvSpPr>
            <a:spLocks noGrp="1" noChangeArrowheads="1"/>
          </p:cNvSpPr>
          <p:nvPr>
            <p:ph type="ftr" sz="quarter" idx="11"/>
          </p:nvPr>
        </p:nvSpPr>
        <p:spPr>
          <a:ln/>
        </p:spPr>
        <p:txBody>
          <a:bodyPr/>
          <a:lstStyle>
            <a:lvl1pPr>
              <a:defRPr/>
            </a:lvl1pPr>
          </a:lstStyle>
          <a:p>
            <a:pPr>
              <a:defRPr/>
            </a:pPr>
            <a:r>
              <a:rPr lang="en-US"/>
              <a:t>© Copyright 2026.  Peter M. Shane All rights reserved. </a:t>
            </a:r>
          </a:p>
        </p:txBody>
      </p:sp>
      <p:sp>
        <p:nvSpPr>
          <p:cNvPr id="7" name="Rectangle 6">
            <a:extLst>
              <a:ext uri="{FF2B5EF4-FFF2-40B4-BE49-F238E27FC236}">
                <a16:creationId xmlns:a16="http://schemas.microsoft.com/office/drawing/2014/main" id="{72B28590-0A6D-778B-9D01-A8E036377B66}"/>
              </a:ext>
            </a:extLst>
          </p:cNvPr>
          <p:cNvSpPr>
            <a:spLocks noGrp="1" noChangeArrowheads="1"/>
          </p:cNvSpPr>
          <p:nvPr>
            <p:ph type="sldNum" sz="quarter" idx="12"/>
          </p:nvPr>
        </p:nvSpPr>
        <p:spPr>
          <a:ln/>
        </p:spPr>
        <p:txBody>
          <a:bodyPr/>
          <a:lstStyle>
            <a:lvl1pPr>
              <a:defRPr/>
            </a:lvl1pPr>
          </a:lstStyle>
          <a:p>
            <a:fld id="{F4C9AE83-A1FC-4BFC-913C-FE0FECC8DC0E}" type="slidenum">
              <a:rPr lang="en-US" altLang="en-US"/>
              <a:pPr/>
              <a:t>‹#›</a:t>
            </a:fld>
            <a:endParaRPr lang="en-US" altLang="en-US"/>
          </a:p>
        </p:txBody>
      </p:sp>
    </p:spTree>
    <p:extLst>
      <p:ext uri="{BB962C8B-B14F-4D97-AF65-F5344CB8AC3E}">
        <p14:creationId xmlns:p14="http://schemas.microsoft.com/office/powerpoint/2010/main" val="23466473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endParaRPr lang="en-US"/>
          </a:p>
        </p:txBody>
      </p:sp>
      <p:sp>
        <p:nvSpPr>
          <p:cNvPr id="4" name="Date Placeholder 3"/>
          <p:cNvSpPr>
            <a:spLocks noGrp="1"/>
          </p:cNvSpPr>
          <p:nvPr>
            <p:ph type="dt" sz="half" idx="10"/>
          </p:nvPr>
        </p:nvSpPr>
        <p:spPr>
          <a:xfrm>
            <a:off x="457200" y="6245225"/>
            <a:ext cx="2133600" cy="476250"/>
          </a:xfrm>
        </p:spPr>
        <p:txBody>
          <a:bodyPr/>
          <a:lstStyle>
            <a:lvl1pPr>
              <a:defRPr/>
            </a:lvl1pPr>
          </a:lstStyle>
          <a:p>
            <a:fld id="{2F1489D0-291E-44F9-B654-E4992EE9D8D2}" type="datetime1">
              <a:rPr lang="en-US" smtClean="0"/>
              <a:t>9/14/2026</a:t>
            </a:fld>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r>
              <a:rPr lang="en-US"/>
              <a:t>© Copyright 2026.  Peter M. Shane All rights reserved. </a:t>
            </a:r>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E4A49647-654D-4D6E-8F50-FAE4341FA2C7}" type="slidenum">
              <a:rPr lang="en-US"/>
              <a:pPr/>
              <a:t>‹#›</a:t>
            </a:fld>
            <a:endParaRPr lang="en-US"/>
          </a:p>
        </p:txBody>
      </p:sp>
    </p:spTree>
    <p:extLst>
      <p:ext uri="{BB962C8B-B14F-4D97-AF65-F5344CB8AC3E}">
        <p14:creationId xmlns:p14="http://schemas.microsoft.com/office/powerpoint/2010/main" val="2492256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AA14DD0-9034-1CCC-A9E5-9867E3DDC6C3}"/>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699BF35-2F1E-C56E-C0EF-85DBE6181D0F}"/>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8D481C4-C069-0223-E950-3C0BE3A6DDA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1440D00C-6B7D-37DA-BE63-55FE03A1B301}"/>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t>© Copyright 2026.  Peter M. Shane All rights reserved. </a:t>
            </a:r>
          </a:p>
        </p:txBody>
      </p:sp>
      <p:sp>
        <p:nvSpPr>
          <p:cNvPr id="1030" name="Rectangle 6">
            <a:extLst>
              <a:ext uri="{FF2B5EF4-FFF2-40B4-BE49-F238E27FC236}">
                <a16:creationId xmlns:a16="http://schemas.microsoft.com/office/drawing/2014/main" id="{600423AE-7461-8659-50AD-CDE2F6E9908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F90A3FA-8B7C-4CA2-BB1F-DCE0B429479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6D4D050-F19A-31B6-EA56-092CB8AEC951}"/>
              </a:ext>
            </a:extLst>
          </p:cNvPr>
          <p:cNvSpPr>
            <a:spLocks noGrp="1"/>
          </p:cNvSpPr>
          <p:nvPr>
            <p:ph type="title"/>
          </p:nvPr>
        </p:nvSpPr>
        <p:spPr/>
        <p:txBody>
          <a:bodyPr/>
          <a:lstStyle/>
          <a:p>
            <a:r>
              <a:rPr lang="en-US" dirty="0"/>
              <a:t>Recap of Class 4</a:t>
            </a:r>
          </a:p>
        </p:txBody>
      </p:sp>
      <p:sp>
        <p:nvSpPr>
          <p:cNvPr id="8" name="Content Placeholder 7">
            <a:extLst>
              <a:ext uri="{FF2B5EF4-FFF2-40B4-BE49-F238E27FC236}">
                <a16:creationId xmlns:a16="http://schemas.microsoft.com/office/drawing/2014/main" id="{4B305160-A685-2E8B-E38A-5BB203F41CAA}"/>
              </a:ext>
            </a:extLst>
          </p:cNvPr>
          <p:cNvSpPr>
            <a:spLocks noGrp="1"/>
          </p:cNvSpPr>
          <p:nvPr>
            <p:ph idx="1"/>
          </p:nvPr>
        </p:nvSpPr>
        <p:spPr/>
        <p:txBody>
          <a:bodyPr/>
          <a:lstStyle/>
          <a:p>
            <a:r>
              <a:rPr lang="en-US" dirty="0"/>
              <a:t>Resort to legislative history controversial for textualists</a:t>
            </a:r>
          </a:p>
          <a:p>
            <a:pPr lvl="1"/>
            <a:r>
              <a:rPr lang="en-US" dirty="0"/>
              <a:t>Premise: Never rely on it to overcome “plain meaning”</a:t>
            </a:r>
          </a:p>
          <a:p>
            <a:pPr lvl="1"/>
            <a:r>
              <a:rPr lang="en-US" dirty="0"/>
              <a:t>Still may be used to uncover technical meaning or to confirm plain meaning</a:t>
            </a:r>
          </a:p>
          <a:p>
            <a:r>
              <a:rPr lang="en-US" dirty="0"/>
              <a:t>For </a:t>
            </a:r>
            <a:r>
              <a:rPr lang="en-US" dirty="0" err="1"/>
              <a:t>purposivists</a:t>
            </a:r>
            <a:r>
              <a:rPr lang="en-US" dirty="0"/>
              <a:t>, legislative history may provide critically helpful context</a:t>
            </a:r>
          </a:p>
          <a:p>
            <a:r>
              <a:rPr lang="en-US" dirty="0"/>
              <a:t>Hierarchy of reliability</a:t>
            </a:r>
          </a:p>
        </p:txBody>
      </p:sp>
      <p:sp>
        <p:nvSpPr>
          <p:cNvPr id="5" name="Footer Placeholder 4">
            <a:extLst>
              <a:ext uri="{FF2B5EF4-FFF2-40B4-BE49-F238E27FC236}">
                <a16:creationId xmlns:a16="http://schemas.microsoft.com/office/drawing/2014/main" id="{A19716C7-F996-1D10-A08C-A06C094D16CD}"/>
              </a:ext>
            </a:extLst>
          </p:cNvPr>
          <p:cNvSpPr>
            <a:spLocks noGrp="1"/>
          </p:cNvSpPr>
          <p:nvPr>
            <p:ph type="ftr" sz="quarter" idx="11"/>
          </p:nvPr>
        </p:nvSpPr>
        <p:spPr/>
        <p:txBody>
          <a:bodyPr/>
          <a:lstStyle/>
          <a:p>
            <a:pPr>
              <a:defRPr/>
            </a:pPr>
            <a:r>
              <a:rPr lang="en-US"/>
              <a:t>© Copyright 2026.  Peter M. Shane All rights reserved. </a:t>
            </a:r>
          </a:p>
        </p:txBody>
      </p:sp>
      <p:sp>
        <p:nvSpPr>
          <p:cNvPr id="6" name="Slide Number Placeholder 5">
            <a:extLst>
              <a:ext uri="{FF2B5EF4-FFF2-40B4-BE49-F238E27FC236}">
                <a16:creationId xmlns:a16="http://schemas.microsoft.com/office/drawing/2014/main" id="{58A5651D-4718-F99E-381E-A7F268BE4F0B}"/>
              </a:ext>
            </a:extLst>
          </p:cNvPr>
          <p:cNvSpPr>
            <a:spLocks noGrp="1"/>
          </p:cNvSpPr>
          <p:nvPr>
            <p:ph type="sldNum" sz="quarter" idx="12"/>
          </p:nvPr>
        </p:nvSpPr>
        <p:spPr/>
        <p:txBody>
          <a:bodyPr/>
          <a:lstStyle/>
          <a:p>
            <a:fld id="{B1378112-2DD6-4EF5-890C-E35945690252}" type="slidenum">
              <a:rPr lang="en-US" altLang="en-US" smtClean="0"/>
              <a:pPr/>
              <a:t>1</a:t>
            </a:fld>
            <a:endParaRPr lang="en-US" altLang="en-US"/>
          </a:p>
        </p:txBody>
      </p:sp>
    </p:spTree>
    <p:extLst>
      <p:ext uri="{BB962C8B-B14F-4D97-AF65-F5344CB8AC3E}">
        <p14:creationId xmlns:p14="http://schemas.microsoft.com/office/powerpoint/2010/main" val="461536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C9C8C130-CE59-D6C4-AA3C-91CBD3798340}"/>
              </a:ext>
            </a:extLst>
          </p:cNvPr>
          <p:cNvSpPr>
            <a:spLocks noGrp="1"/>
          </p:cNvSpPr>
          <p:nvPr>
            <p:ph type="title"/>
          </p:nvPr>
        </p:nvSpPr>
        <p:spPr/>
        <p:txBody>
          <a:bodyPr/>
          <a:lstStyle/>
          <a:p>
            <a:r>
              <a:rPr lang="en-US" altLang="en-US"/>
              <a:t>Judge Katzmann’s “Tool” Set</a:t>
            </a:r>
          </a:p>
        </p:txBody>
      </p:sp>
      <p:sp>
        <p:nvSpPr>
          <p:cNvPr id="2051" name="Content Placeholder 4">
            <a:extLst>
              <a:ext uri="{FF2B5EF4-FFF2-40B4-BE49-F238E27FC236}">
                <a16:creationId xmlns:a16="http://schemas.microsoft.com/office/drawing/2014/main" id="{F41322B1-B689-B428-3A08-1C49A1435231}"/>
              </a:ext>
            </a:extLst>
          </p:cNvPr>
          <p:cNvSpPr>
            <a:spLocks noGrp="1"/>
          </p:cNvSpPr>
          <p:nvPr>
            <p:ph sz="half" idx="1"/>
          </p:nvPr>
        </p:nvSpPr>
        <p:spPr/>
        <p:txBody>
          <a:bodyPr/>
          <a:lstStyle/>
          <a:p>
            <a:r>
              <a:rPr lang="en-US" altLang="en-US"/>
              <a:t>Text</a:t>
            </a:r>
          </a:p>
          <a:p>
            <a:r>
              <a:rPr lang="en-US" altLang="en-US"/>
              <a:t>Statutory Structure</a:t>
            </a:r>
          </a:p>
          <a:p>
            <a:r>
              <a:rPr lang="en-US" altLang="en-US"/>
              <a:t>Legislative History</a:t>
            </a:r>
          </a:p>
          <a:p>
            <a:r>
              <a:rPr lang="en-US" altLang="en-US"/>
              <a:t>Word Usage in Other Relevant Statutes</a:t>
            </a:r>
          </a:p>
          <a:p>
            <a:r>
              <a:rPr lang="en-US" altLang="en-US"/>
              <a:t>Common Law Usages</a:t>
            </a:r>
          </a:p>
          <a:p>
            <a:r>
              <a:rPr lang="en-US" altLang="en-US"/>
              <a:t>Interpretations by Administrative Agencies</a:t>
            </a:r>
          </a:p>
        </p:txBody>
      </p:sp>
      <p:sp>
        <p:nvSpPr>
          <p:cNvPr id="6" name="Content Placeholder 5">
            <a:extLst>
              <a:ext uri="{FF2B5EF4-FFF2-40B4-BE49-F238E27FC236}">
                <a16:creationId xmlns:a16="http://schemas.microsoft.com/office/drawing/2014/main" id="{E9C5D315-461D-ADE0-534C-7B158916FE03}"/>
              </a:ext>
            </a:extLst>
          </p:cNvPr>
          <p:cNvSpPr>
            <a:spLocks noGrp="1"/>
          </p:cNvSpPr>
          <p:nvPr>
            <p:ph sz="half" idx="2"/>
          </p:nvPr>
        </p:nvSpPr>
        <p:spPr/>
        <p:txBody>
          <a:bodyPr/>
          <a:lstStyle/>
          <a:p>
            <a:pPr>
              <a:defRPr/>
            </a:pPr>
            <a:r>
              <a:rPr lang="en-US" dirty="0"/>
              <a:t>Dictionary Definitions</a:t>
            </a:r>
          </a:p>
          <a:p>
            <a:pPr>
              <a:defRPr/>
            </a:pPr>
            <a:r>
              <a:rPr lang="en-US" dirty="0"/>
              <a:t>Technical and Scientific Usages</a:t>
            </a:r>
          </a:p>
          <a:p>
            <a:pPr>
              <a:defRPr/>
            </a:pPr>
            <a:r>
              <a:rPr lang="en-US" dirty="0"/>
              <a:t>Lay Usages</a:t>
            </a:r>
          </a:p>
          <a:p>
            <a:pPr>
              <a:defRPr/>
            </a:pPr>
            <a:r>
              <a:rPr lang="en-US" dirty="0"/>
              <a:t>Common Practices</a:t>
            </a:r>
          </a:p>
          <a:p>
            <a:pPr>
              <a:defRPr/>
            </a:pPr>
            <a:r>
              <a:rPr lang="en-US" dirty="0"/>
              <a:t>Purpose</a:t>
            </a:r>
          </a:p>
          <a:p>
            <a:pPr>
              <a:defRPr/>
            </a:pPr>
            <a:r>
              <a:rPr lang="en-US" dirty="0"/>
              <a:t>Canons</a:t>
            </a:r>
          </a:p>
          <a:p>
            <a:pPr>
              <a:defRPr/>
            </a:pPr>
            <a:endParaRPr lang="en-US" dirty="0"/>
          </a:p>
          <a:p>
            <a:pPr>
              <a:defRPr/>
            </a:pPr>
            <a:endParaRPr lang="en-US" dirty="0"/>
          </a:p>
        </p:txBody>
      </p:sp>
      <p:sp>
        <p:nvSpPr>
          <p:cNvPr id="2053" name="Slide Number Placeholder 3">
            <a:extLst>
              <a:ext uri="{FF2B5EF4-FFF2-40B4-BE49-F238E27FC236}">
                <a16:creationId xmlns:a16="http://schemas.microsoft.com/office/drawing/2014/main" id="{09363B4A-A4AA-0F18-5148-C37CFC5875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06CC695A-7836-4C83-AC82-A09DD0BDFF9E}" type="slidenum">
              <a:rPr lang="en-US" altLang="en-US" sz="1400"/>
              <a:pPr eaLnBrk="1" hangingPunct="1">
                <a:spcBef>
                  <a:spcPct val="0"/>
                </a:spcBef>
                <a:buFontTx/>
                <a:buNone/>
              </a:pPr>
              <a:t>2</a:t>
            </a:fld>
            <a:endParaRPr lang="en-US" altLang="en-US" sz="1400"/>
          </a:p>
        </p:txBody>
      </p:sp>
      <p:sp>
        <p:nvSpPr>
          <p:cNvPr id="2" name="Footer Placeholder 1">
            <a:extLst>
              <a:ext uri="{FF2B5EF4-FFF2-40B4-BE49-F238E27FC236}">
                <a16:creationId xmlns:a16="http://schemas.microsoft.com/office/drawing/2014/main" id="{12C3E943-6CA8-F878-C5FD-6F2445F2E071}"/>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i="1" dirty="0"/>
              <a:t>U.S. v. Gayle</a:t>
            </a:r>
            <a:r>
              <a:rPr lang="en-US" sz="3200" dirty="0"/>
              <a:t>, 343 F.3d 89 (2d Cir. 2003)</a:t>
            </a:r>
            <a:br>
              <a:rPr lang="en-US" sz="3200" dirty="0"/>
            </a:br>
            <a:r>
              <a:rPr lang="en-US" sz="3200" dirty="0"/>
              <a:t>(</a:t>
            </a:r>
            <a:r>
              <a:rPr lang="en-US" sz="3200" dirty="0" err="1"/>
              <a:t>Katzmann</a:t>
            </a:r>
            <a:r>
              <a:rPr lang="en-US" sz="3200" dirty="0"/>
              <a:t> p. 70)</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18 U.S.C. § 922(g) It shall be unlawful for any person—</a:t>
            </a:r>
          </a:p>
          <a:p>
            <a:pPr marL="0" indent="0">
              <a:buNone/>
            </a:pPr>
            <a:r>
              <a:rPr lang="en-US" dirty="0"/>
              <a:t>(1) who has been convicted in </a:t>
            </a:r>
            <a:r>
              <a:rPr lang="en-US" dirty="0">
                <a:solidFill>
                  <a:srgbClr val="FF0000"/>
                </a:solidFill>
              </a:rPr>
              <a:t>any court </a:t>
            </a:r>
            <a:r>
              <a:rPr lang="en-US" dirty="0"/>
              <a:t>of, a crime punishable by imprisonment for a term exceeding one year; . . .</a:t>
            </a:r>
          </a:p>
          <a:p>
            <a:pPr marL="0" indent="0">
              <a:buNone/>
            </a:pPr>
            <a:r>
              <a:rPr lang="en-US" dirty="0"/>
              <a:t>to ship or transport in interstate or foreign commerce, or possess in or affecting commerce, any firearm or ammunition; or to receive any firearm or ammunition which has been shipped or transported in interstate or foreign commerce.</a:t>
            </a:r>
          </a:p>
        </p:txBody>
      </p:sp>
      <p:sp>
        <p:nvSpPr>
          <p:cNvPr id="4" name="Footer Placeholder 3">
            <a:extLst>
              <a:ext uri="{FF2B5EF4-FFF2-40B4-BE49-F238E27FC236}">
                <a16:creationId xmlns:a16="http://schemas.microsoft.com/office/drawing/2014/main" id="{B8B10CB0-BEB0-32A6-8E94-A4D86EADBA9B}"/>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B4C2D22-0CAA-D4C9-610E-162C0E700265}"/>
              </a:ext>
            </a:extLst>
          </p:cNvPr>
          <p:cNvSpPr>
            <a:spLocks noGrp="1"/>
          </p:cNvSpPr>
          <p:nvPr>
            <p:ph type="sldNum" sz="quarter" idx="12"/>
          </p:nvPr>
        </p:nvSpPr>
        <p:spPr/>
        <p:txBody>
          <a:bodyPr/>
          <a:lstStyle/>
          <a:p>
            <a:fld id="{A51A480E-C97D-488C-89CE-DB65B1C35FB0}" type="slidenum">
              <a:rPr lang="en-US" smtClean="0"/>
              <a:t>3</a:t>
            </a:fld>
            <a:endParaRPr lang="en-US"/>
          </a:p>
        </p:txBody>
      </p:sp>
    </p:spTree>
    <p:extLst>
      <p:ext uri="{BB962C8B-B14F-4D97-AF65-F5344CB8AC3E}">
        <p14:creationId xmlns:p14="http://schemas.microsoft.com/office/powerpoint/2010/main" val="3930785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Breaking It Down</a:t>
            </a:r>
          </a:p>
        </p:txBody>
      </p:sp>
      <p:sp>
        <p:nvSpPr>
          <p:cNvPr id="3" name="Content Placeholder 2"/>
          <p:cNvSpPr>
            <a:spLocks noGrp="1"/>
          </p:cNvSpPr>
          <p:nvPr>
            <p:ph idx="1"/>
          </p:nvPr>
        </p:nvSpPr>
        <p:spPr/>
        <p:txBody>
          <a:bodyPr/>
          <a:lstStyle/>
          <a:p>
            <a:r>
              <a:rPr lang="en-US" dirty="0"/>
              <a:t>Language in Dispute: “any court”</a:t>
            </a:r>
          </a:p>
          <a:p>
            <a:r>
              <a:rPr lang="en-US" dirty="0"/>
              <a:t>Possible readings: “any U.S. court” or ““any court anywhere”</a:t>
            </a:r>
          </a:p>
          <a:p>
            <a:r>
              <a:rPr lang="en-US" dirty="0"/>
              <a:t>Why it matters:  Defendant’s “predicate conviction” was in Canada</a:t>
            </a:r>
          </a:p>
        </p:txBody>
      </p:sp>
      <p:sp>
        <p:nvSpPr>
          <p:cNvPr id="4" name="Footer Placeholder 3">
            <a:extLst>
              <a:ext uri="{FF2B5EF4-FFF2-40B4-BE49-F238E27FC236}">
                <a16:creationId xmlns:a16="http://schemas.microsoft.com/office/drawing/2014/main" id="{AE05D06C-8518-05E1-6B2D-31454B20011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846D6216-97EF-C954-A376-9365D2EFFAF5}"/>
              </a:ext>
            </a:extLst>
          </p:cNvPr>
          <p:cNvSpPr>
            <a:spLocks noGrp="1"/>
          </p:cNvSpPr>
          <p:nvPr>
            <p:ph type="sldNum" sz="quarter" idx="12"/>
          </p:nvPr>
        </p:nvSpPr>
        <p:spPr/>
        <p:txBody>
          <a:bodyPr/>
          <a:lstStyle/>
          <a:p>
            <a:fld id="{A51A480E-C97D-488C-89CE-DB65B1C35FB0}" type="slidenum">
              <a:rPr lang="en-US" smtClean="0"/>
              <a:t>4</a:t>
            </a:fld>
            <a:endParaRPr lang="en-US"/>
          </a:p>
        </p:txBody>
      </p:sp>
    </p:spTree>
    <p:extLst>
      <p:ext uri="{BB962C8B-B14F-4D97-AF65-F5344CB8AC3E}">
        <p14:creationId xmlns:p14="http://schemas.microsoft.com/office/powerpoint/2010/main" val="177876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Contending Arguments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30011945"/>
              </p:ext>
            </p:extLst>
          </p:nvPr>
        </p:nvGraphicFramePr>
        <p:xfrm>
          <a:off x="493776" y="2057400"/>
          <a:ext cx="8229600" cy="4082096"/>
        </p:xfrm>
        <a:graphic>
          <a:graphicData uri="http://schemas.openxmlformats.org/drawingml/2006/table">
            <a:tbl>
              <a:tblPr firstRow="1" bandRow="1">
                <a:tableStyleId>{616DA210-FB5B-4158-B5E0-FEB733F419BA}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082096">
                <a:tc>
                  <a:txBody>
                    <a:bodyPr/>
                    <a:lstStyle/>
                    <a:p>
                      <a:pPr marL="457200" marR="0" indent="-457200">
                        <a:spcBef>
                          <a:spcPts val="0"/>
                        </a:spcBef>
                        <a:spcAft>
                          <a:spcPts val="0"/>
                        </a:spcAft>
                      </a:pPr>
                      <a:r>
                        <a:rPr lang="en-US" sz="1600" b="0" dirty="0">
                          <a:effectLst/>
                          <a:latin typeface="Times New Roman"/>
                          <a:ea typeface="Calibri"/>
                          <a:cs typeface="Times New Roman"/>
                        </a:rPr>
                        <a:t>Plain language (District Court)</a:t>
                      </a:r>
                    </a:p>
                    <a:p>
                      <a:pPr marL="457200" marR="0" indent="-457200">
                        <a:spcBef>
                          <a:spcPts val="0"/>
                        </a:spcBef>
                        <a:spcAft>
                          <a:spcPts val="0"/>
                        </a:spcAft>
                      </a:pPr>
                      <a:endParaRPr lang="en-US" sz="1600" b="0" dirty="0">
                        <a:effectLst/>
                        <a:latin typeface="Times New Roman"/>
                        <a:ea typeface="Calibri"/>
                        <a:cs typeface="Times New Roman"/>
                      </a:endParaRPr>
                    </a:p>
                    <a:p>
                      <a:pPr marL="457200" marR="0" indent="-457200">
                        <a:spcBef>
                          <a:spcPts val="0"/>
                        </a:spcBef>
                        <a:spcAft>
                          <a:spcPts val="0"/>
                        </a:spcAft>
                      </a:pPr>
                      <a:r>
                        <a:rPr lang="en-US" sz="1600" b="0" dirty="0">
                          <a:effectLst/>
                          <a:latin typeface="Times New Roman"/>
                          <a:ea typeface="Calibri"/>
                          <a:cs typeface="Times New Roman"/>
                        </a:rPr>
                        <a:t>Felons convicted of violent felonies dangerous no matter where convicted</a:t>
                      </a:r>
                    </a:p>
                    <a:p>
                      <a:pPr marL="457200" marR="0" indent="-457200">
                        <a:spcBef>
                          <a:spcPts val="0"/>
                        </a:spcBef>
                        <a:spcAft>
                          <a:spcPts val="0"/>
                        </a:spcAft>
                      </a:pPr>
                      <a:endParaRPr lang="en-US" sz="1600" b="0" dirty="0">
                        <a:effectLst/>
                        <a:latin typeface="Times New Roman"/>
                        <a:ea typeface="Calibri"/>
                        <a:cs typeface="Times New Roman"/>
                      </a:endParaRPr>
                    </a:p>
                    <a:p>
                      <a:pPr marL="457200" marR="0" indent="-457200">
                        <a:spcBef>
                          <a:spcPts val="0"/>
                        </a:spcBef>
                        <a:spcAft>
                          <a:spcPts val="0"/>
                        </a:spcAft>
                      </a:pPr>
                      <a:r>
                        <a:rPr lang="en-US" sz="1600" b="1" dirty="0">
                          <a:effectLst/>
                          <a:latin typeface="Times New Roman"/>
                          <a:ea typeface="Calibri"/>
                          <a:cs typeface="Times New Roman"/>
                        </a:rPr>
                        <a:t>Congress adopted House version, not the Senate version which referred explicitly to “federal and state convictions”</a:t>
                      </a:r>
                    </a:p>
                  </a:txBody>
                  <a:tcPr/>
                </a:tc>
                <a:tc>
                  <a:txBody>
                    <a:bodyPr/>
                    <a:lstStyle/>
                    <a:p>
                      <a:pPr marL="457200" marR="0" indent="-457200">
                        <a:spcBef>
                          <a:spcPts val="0"/>
                        </a:spcBef>
                        <a:spcAft>
                          <a:spcPts val="0"/>
                        </a:spcAft>
                      </a:pPr>
                      <a:r>
                        <a:rPr lang="en-US" sz="1600" b="0" dirty="0">
                          <a:effectLst/>
                          <a:latin typeface="Times New Roman"/>
                          <a:ea typeface="Calibri"/>
                          <a:cs typeface="Times New Roman"/>
                        </a:rPr>
                        <a:t>Other countries may have very different legal processes, felony definitions, ranges of punishment</a:t>
                      </a:r>
                    </a:p>
                    <a:p>
                      <a:pPr marL="457200" marR="0" indent="-457200">
                        <a:spcBef>
                          <a:spcPts val="0"/>
                        </a:spcBef>
                        <a:spcAft>
                          <a:spcPts val="0"/>
                        </a:spcAft>
                      </a:pPr>
                      <a:r>
                        <a:rPr lang="en-US" sz="1600" b="0" dirty="0">
                          <a:effectLst/>
                          <a:latin typeface="Times New Roman"/>
                          <a:ea typeface="Calibri"/>
                          <a:cs typeface="Times New Roman"/>
                        </a:rPr>
                        <a:t>Reference under exceptions to “any Federal or State offenses” relating to business regulation</a:t>
                      </a:r>
                    </a:p>
                    <a:p>
                      <a:pPr marL="457200" marR="0" indent="-457200">
                        <a:spcBef>
                          <a:spcPts val="0"/>
                        </a:spcBef>
                        <a:spcAft>
                          <a:spcPts val="0"/>
                        </a:spcAft>
                      </a:pPr>
                      <a:r>
                        <a:rPr lang="en-US" sz="1600" b="0" dirty="0">
                          <a:effectLst/>
                          <a:latin typeface="Times New Roman"/>
                          <a:ea typeface="Calibri"/>
                          <a:cs typeface="Times New Roman"/>
                        </a:rPr>
                        <a:t>Typically, statutes that refer to public officials,</a:t>
                      </a:r>
                      <a:r>
                        <a:rPr lang="en-US" sz="1600" b="0" baseline="0" dirty="0">
                          <a:effectLst/>
                          <a:latin typeface="Times New Roman"/>
                          <a:ea typeface="Calibri"/>
                          <a:cs typeface="Times New Roman"/>
                        </a:rPr>
                        <a:t> institutions </a:t>
                      </a:r>
                      <a:r>
                        <a:rPr lang="en-US" sz="1600" b="0" dirty="0">
                          <a:effectLst/>
                          <a:latin typeface="Times New Roman"/>
                          <a:ea typeface="Calibri"/>
                          <a:cs typeface="Times New Roman"/>
                        </a:rPr>
                        <a:t>refer to public matters within that jurisdiction</a:t>
                      </a:r>
                    </a:p>
                    <a:p>
                      <a:pPr marL="457200" marR="0" indent="-457200">
                        <a:spcBef>
                          <a:spcPts val="0"/>
                        </a:spcBef>
                        <a:spcAft>
                          <a:spcPts val="0"/>
                        </a:spcAft>
                      </a:pPr>
                      <a:r>
                        <a:rPr lang="en-US" sz="1600" b="1" dirty="0">
                          <a:effectLst/>
                          <a:latin typeface="Times New Roman"/>
                          <a:ea typeface="Calibri"/>
                          <a:cs typeface="Times New Roman"/>
                        </a:rPr>
                        <a:t>Senate report contemplate only domestic courts </a:t>
                      </a:r>
                    </a:p>
                    <a:p>
                      <a:pPr marL="457200" marR="0" indent="-457200">
                        <a:spcBef>
                          <a:spcPts val="0"/>
                        </a:spcBef>
                        <a:spcAft>
                          <a:spcPts val="0"/>
                        </a:spcAft>
                      </a:pPr>
                      <a:r>
                        <a:rPr lang="en-US" sz="1600" b="1" dirty="0">
                          <a:effectLst/>
                          <a:latin typeface="Times New Roman"/>
                          <a:ea typeface="Calibri"/>
                          <a:cs typeface="Times New Roman"/>
                        </a:rPr>
                        <a:t>Conference report silent on foreign convictions</a:t>
                      </a:r>
                    </a:p>
                    <a:p>
                      <a:pPr marL="457200" marR="0" indent="-457200">
                        <a:spcBef>
                          <a:spcPts val="0"/>
                        </a:spcBef>
                        <a:spcAft>
                          <a:spcPts val="0"/>
                        </a:spcAft>
                      </a:pPr>
                      <a:r>
                        <a:rPr lang="en-US" sz="1600" b="0" dirty="0">
                          <a:effectLst/>
                          <a:latin typeface="Times New Roman"/>
                          <a:ea typeface="Calibri"/>
                          <a:cs typeface="Times New Roman"/>
                        </a:rPr>
                        <a:t>Hardly ever read that way in earlier prosecutions</a:t>
                      </a:r>
                    </a:p>
                    <a:p>
                      <a:pPr marL="457200" marR="0" indent="-457200">
                        <a:spcBef>
                          <a:spcPts val="0"/>
                        </a:spcBef>
                        <a:spcAft>
                          <a:spcPts val="0"/>
                        </a:spcAft>
                      </a:pPr>
                      <a:r>
                        <a:rPr lang="en-US" sz="1600" b="0" dirty="0">
                          <a:effectLst/>
                          <a:latin typeface="Times New Roman"/>
                          <a:ea typeface="Calibri"/>
                          <a:cs typeface="Times New Roman"/>
                        </a:rPr>
                        <a:t>Rule of lenity</a:t>
                      </a:r>
                      <a:endParaRPr lang="en-US" sz="1600" b="0" dirty="0"/>
                    </a:p>
                  </a:txBody>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14968632"/>
              </p:ext>
            </p:extLst>
          </p:nvPr>
        </p:nvGraphicFramePr>
        <p:xfrm>
          <a:off x="493776" y="1324734"/>
          <a:ext cx="8229600" cy="640080"/>
        </p:xfrm>
        <a:graphic>
          <a:graphicData uri="http://schemas.openxmlformats.org/drawingml/2006/table">
            <a:tbl>
              <a:tblPr firstRow="1" bandRow="1">
                <a:tableStyleId>{D7AC3CCA-C797-4891-BE02-D94E43425B78}</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sz="1800" b="1" dirty="0"/>
                        <a:t>“Any</a:t>
                      </a:r>
                      <a:r>
                        <a:rPr lang="en-US" sz="1800" b="1" baseline="0" dirty="0"/>
                        <a:t> court” means “any court anywhere”</a:t>
                      </a:r>
                      <a:endParaRPr lang="en-US" sz="1800" b="1" dirty="0"/>
                    </a:p>
                  </a:txBody>
                  <a:tcPr/>
                </a:tc>
                <a:tc>
                  <a:txBody>
                    <a:bodyPr/>
                    <a:lstStyle/>
                    <a:p>
                      <a:pPr algn="ctr"/>
                      <a:r>
                        <a:rPr lang="en-US" sz="1800" b="1" dirty="0"/>
                        <a:t>“Any court” means “any U.S. court”</a:t>
                      </a:r>
                    </a:p>
                  </a:txBody>
                  <a:tcPr/>
                </a:tc>
                <a:extLst>
                  <a:ext uri="{0D108BD9-81ED-4DB2-BD59-A6C34878D82A}">
                    <a16:rowId xmlns:a16="http://schemas.microsoft.com/office/drawing/2014/main" val="10000"/>
                  </a:ext>
                </a:extLst>
              </a:tr>
            </a:tbl>
          </a:graphicData>
        </a:graphic>
      </p:graphicFrame>
      <p:sp>
        <p:nvSpPr>
          <p:cNvPr id="3" name="Footer Placeholder 2">
            <a:extLst>
              <a:ext uri="{FF2B5EF4-FFF2-40B4-BE49-F238E27FC236}">
                <a16:creationId xmlns:a16="http://schemas.microsoft.com/office/drawing/2014/main" id="{886F566D-0F3D-36AD-D9F7-6B0BFB3361A9}"/>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9674EF6A-B7EB-0B40-BA38-33ECDF3DCD50}"/>
              </a:ext>
            </a:extLst>
          </p:cNvPr>
          <p:cNvSpPr>
            <a:spLocks noGrp="1"/>
          </p:cNvSpPr>
          <p:nvPr>
            <p:ph type="sldNum" sz="quarter" idx="12"/>
          </p:nvPr>
        </p:nvSpPr>
        <p:spPr/>
        <p:txBody>
          <a:bodyPr/>
          <a:lstStyle/>
          <a:p>
            <a:fld id="{A51A480E-C97D-488C-89CE-DB65B1C35FB0}" type="slidenum">
              <a:rPr lang="en-US" smtClean="0"/>
              <a:t>5</a:t>
            </a:fld>
            <a:endParaRPr lang="en-US"/>
          </a:p>
        </p:txBody>
      </p:sp>
    </p:spTree>
    <p:extLst>
      <p:ext uri="{BB962C8B-B14F-4D97-AF65-F5344CB8AC3E}">
        <p14:creationId xmlns:p14="http://schemas.microsoft.com/office/powerpoint/2010/main" val="69321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DE233-C5F1-C12F-6E96-9AEC9DC23A15}"/>
              </a:ext>
            </a:extLst>
          </p:cNvPr>
          <p:cNvSpPr>
            <a:spLocks noGrp="1"/>
          </p:cNvSpPr>
          <p:nvPr>
            <p:ph type="title"/>
          </p:nvPr>
        </p:nvSpPr>
        <p:spPr/>
        <p:txBody>
          <a:bodyPr/>
          <a:lstStyle/>
          <a:p>
            <a:r>
              <a:rPr lang="en-US" dirty="0"/>
              <a:t>Outcome?</a:t>
            </a:r>
          </a:p>
        </p:txBody>
      </p:sp>
      <p:sp>
        <p:nvSpPr>
          <p:cNvPr id="3" name="Content Placeholder 2">
            <a:extLst>
              <a:ext uri="{FF2B5EF4-FFF2-40B4-BE49-F238E27FC236}">
                <a16:creationId xmlns:a16="http://schemas.microsoft.com/office/drawing/2014/main" id="{913615E4-7F06-9ED7-88F1-1194B7FA5DF7}"/>
              </a:ext>
            </a:extLst>
          </p:cNvPr>
          <p:cNvSpPr>
            <a:spLocks noGrp="1"/>
          </p:cNvSpPr>
          <p:nvPr>
            <p:ph idx="1"/>
          </p:nvPr>
        </p:nvSpPr>
        <p:spPr>
          <a:xfrm>
            <a:off x="490728" y="1417638"/>
            <a:ext cx="8229600" cy="4525963"/>
          </a:xfrm>
        </p:spPr>
        <p:txBody>
          <a:bodyPr/>
          <a:lstStyle/>
          <a:p>
            <a:r>
              <a:rPr lang="en-US" sz="2800" dirty="0"/>
              <a:t>Held: The statute refers only to prior convictions in U.S. courts</a:t>
            </a:r>
          </a:p>
          <a:p>
            <a:r>
              <a:rPr lang="en-US" sz="2800" dirty="0"/>
              <a:t>Supreme Court takes up same issue in </a:t>
            </a:r>
            <a:r>
              <a:rPr lang="en-US" sz="2800" i="1" dirty="0"/>
              <a:t>Small</a:t>
            </a:r>
          </a:p>
          <a:p>
            <a:pPr lvl="1"/>
            <a:r>
              <a:rPr lang="en-US" dirty="0"/>
              <a:t>Assumes Congress had domestic concerns in mind</a:t>
            </a:r>
          </a:p>
          <a:p>
            <a:pPr lvl="1"/>
            <a:r>
              <a:rPr lang="en-US" dirty="0"/>
              <a:t>No contrary indication</a:t>
            </a:r>
          </a:p>
          <a:p>
            <a:pPr lvl="1"/>
            <a:r>
              <a:rPr lang="en-US" dirty="0"/>
              <a:t>Other parts of statute refers to “Federal or state”</a:t>
            </a:r>
          </a:p>
          <a:p>
            <a:pPr lvl="1"/>
            <a:r>
              <a:rPr lang="en-US" dirty="0"/>
              <a:t>Thomas (with Scalia and Kennedy): “Any” means “any”</a:t>
            </a:r>
          </a:p>
        </p:txBody>
      </p:sp>
      <p:sp>
        <p:nvSpPr>
          <p:cNvPr id="4" name="Footer Placeholder 3">
            <a:extLst>
              <a:ext uri="{FF2B5EF4-FFF2-40B4-BE49-F238E27FC236}">
                <a16:creationId xmlns:a16="http://schemas.microsoft.com/office/drawing/2014/main" id="{00916E98-8214-F6AF-7F40-CDF098350522}"/>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B1EE85A9-4BE4-61F1-F71F-8CE3D6E26069}"/>
              </a:ext>
            </a:extLst>
          </p:cNvPr>
          <p:cNvSpPr>
            <a:spLocks noGrp="1"/>
          </p:cNvSpPr>
          <p:nvPr>
            <p:ph type="sldNum" sz="quarter" idx="12"/>
          </p:nvPr>
        </p:nvSpPr>
        <p:spPr/>
        <p:txBody>
          <a:bodyPr/>
          <a:lstStyle/>
          <a:p>
            <a:fld id="{A51A480E-C97D-488C-89CE-DB65B1C35FB0}" type="slidenum">
              <a:rPr lang="en-US" smtClean="0"/>
              <a:t>6</a:t>
            </a:fld>
            <a:endParaRPr lang="en-US"/>
          </a:p>
        </p:txBody>
      </p:sp>
    </p:spTree>
    <p:extLst>
      <p:ext uri="{BB962C8B-B14F-4D97-AF65-F5344CB8AC3E}">
        <p14:creationId xmlns:p14="http://schemas.microsoft.com/office/powerpoint/2010/main" val="1321686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i="1" dirty="0"/>
              <a:t>Murphy v. Arlington Central School District Board of Education </a:t>
            </a:r>
            <a:r>
              <a:rPr lang="en-US" sz="3200" dirty="0"/>
              <a:t>(2d Cir. 2004)</a:t>
            </a:r>
            <a:br>
              <a:rPr lang="en-US" sz="3200" dirty="0"/>
            </a:br>
            <a:r>
              <a:rPr lang="en-US" sz="3200" dirty="0"/>
              <a:t>[</a:t>
            </a:r>
            <a:r>
              <a:rPr lang="en-US" sz="3200" dirty="0" err="1"/>
              <a:t>Katzmann</a:t>
            </a:r>
            <a:r>
              <a:rPr lang="en-US" sz="3200" dirty="0"/>
              <a:t> –p. 81]</a:t>
            </a:r>
          </a:p>
        </p:txBody>
      </p:sp>
      <p:sp>
        <p:nvSpPr>
          <p:cNvPr id="3" name="Content Placeholder 2"/>
          <p:cNvSpPr>
            <a:spLocks noGrp="1"/>
          </p:cNvSpPr>
          <p:nvPr>
            <p:ph idx="1"/>
          </p:nvPr>
        </p:nvSpPr>
        <p:spPr/>
        <p:txBody>
          <a:bodyPr/>
          <a:lstStyle/>
          <a:p>
            <a:r>
              <a:rPr lang="en-US" dirty="0"/>
              <a:t>IDEA allows parents prevailing in litigation over educational placement of children with disabilities to recover “reasonable attorneys’ fees as part of the costs”</a:t>
            </a:r>
          </a:p>
          <a:p>
            <a:r>
              <a:rPr lang="en-US" dirty="0"/>
              <a:t>Issue: Does THIS statute include expert fees?</a:t>
            </a:r>
          </a:p>
          <a:p>
            <a:r>
              <a:rPr lang="en-US" dirty="0"/>
              <a:t>Note extra step for a lower court = trying to interpret Supreme Court precedent!</a:t>
            </a:r>
          </a:p>
        </p:txBody>
      </p:sp>
      <p:sp>
        <p:nvSpPr>
          <p:cNvPr id="4" name="Slide Number Placeholder 3"/>
          <p:cNvSpPr>
            <a:spLocks noGrp="1"/>
          </p:cNvSpPr>
          <p:nvPr>
            <p:ph type="sldNum" sz="quarter" idx="12"/>
          </p:nvPr>
        </p:nvSpPr>
        <p:spPr/>
        <p:txBody>
          <a:bodyPr/>
          <a:lstStyle/>
          <a:p>
            <a:fld id="{03C2B117-1C95-4F55-818D-5341971D30B6}" type="slidenum">
              <a:rPr lang="en-US" smtClean="0"/>
              <a:pPr/>
              <a:t>7</a:t>
            </a:fld>
            <a:endParaRPr lang="en-US"/>
          </a:p>
        </p:txBody>
      </p:sp>
      <p:sp>
        <p:nvSpPr>
          <p:cNvPr id="5" name="Footer Placeholder 4">
            <a:extLst>
              <a:ext uri="{FF2B5EF4-FFF2-40B4-BE49-F238E27FC236}">
                <a16:creationId xmlns:a16="http://schemas.microsoft.com/office/drawing/2014/main" id="{BCCE19B6-F9BF-109F-840F-C3573D1CCB00}"/>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91213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62B07-9805-A584-1F3A-F243F291A828}"/>
              </a:ext>
            </a:extLst>
          </p:cNvPr>
          <p:cNvSpPr>
            <a:spLocks noGrp="1"/>
          </p:cNvSpPr>
          <p:nvPr>
            <p:ph type="title"/>
          </p:nvPr>
        </p:nvSpPr>
        <p:spPr/>
        <p:txBody>
          <a:bodyPr>
            <a:normAutofit fontScale="90000"/>
          </a:bodyPr>
          <a:lstStyle/>
          <a:p>
            <a:r>
              <a:rPr lang="en-US" dirty="0"/>
              <a:t>SCOTUS Dealt Earlier With</a:t>
            </a:r>
            <a:br>
              <a:rPr lang="en-US" dirty="0"/>
            </a:br>
            <a:r>
              <a:rPr lang="en-US" dirty="0"/>
              <a:t>42 U.S.C. 1988</a:t>
            </a:r>
          </a:p>
        </p:txBody>
      </p:sp>
      <p:sp>
        <p:nvSpPr>
          <p:cNvPr id="3" name="Content Placeholder 2">
            <a:extLst>
              <a:ext uri="{FF2B5EF4-FFF2-40B4-BE49-F238E27FC236}">
                <a16:creationId xmlns:a16="http://schemas.microsoft.com/office/drawing/2014/main" id="{BEA9BF1E-6232-E548-DB0C-225F15750ADB}"/>
              </a:ext>
            </a:extLst>
          </p:cNvPr>
          <p:cNvSpPr>
            <a:spLocks noGrp="1"/>
          </p:cNvSpPr>
          <p:nvPr>
            <p:ph idx="1"/>
          </p:nvPr>
        </p:nvSpPr>
        <p:spPr/>
        <p:txBody>
          <a:bodyPr>
            <a:normAutofit fontScale="85000" lnSpcReduction="10000"/>
          </a:bodyPr>
          <a:lstStyle/>
          <a:p>
            <a:r>
              <a:rPr lang="en-US" dirty="0"/>
              <a:t>(b)Attorney’s fees</a:t>
            </a:r>
          </a:p>
          <a:p>
            <a:pPr marL="0" indent="0">
              <a:buNone/>
            </a:pPr>
            <a:r>
              <a:rPr lang="en-US" dirty="0"/>
              <a:t>In any action or proceeding to enforce [named civil rights statutes], the court, in its discretion, may allow the prevailing party, other than the United States, a reasonable attorney’s fee as part of the costs, except that in any action brought against a judicial officer for an act or omission taken in such officer’s judicial capacity such officer shall not be held liable for any costs, including attorney’s fees, unless such action was clearly in excess of such officer’s jurisdiction.</a:t>
            </a:r>
          </a:p>
        </p:txBody>
      </p:sp>
      <p:sp>
        <p:nvSpPr>
          <p:cNvPr id="4" name="Footer Placeholder 3">
            <a:extLst>
              <a:ext uri="{FF2B5EF4-FFF2-40B4-BE49-F238E27FC236}">
                <a16:creationId xmlns:a16="http://schemas.microsoft.com/office/drawing/2014/main" id="{465F66B6-7DB1-219E-B5D9-0ECACF6C1806}"/>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F7B8EAD-F99C-93C5-0BE3-958E34D145F9}"/>
              </a:ext>
            </a:extLst>
          </p:cNvPr>
          <p:cNvSpPr>
            <a:spLocks noGrp="1"/>
          </p:cNvSpPr>
          <p:nvPr>
            <p:ph type="sldNum" sz="quarter" idx="12"/>
          </p:nvPr>
        </p:nvSpPr>
        <p:spPr/>
        <p:txBody>
          <a:bodyPr/>
          <a:lstStyle/>
          <a:p>
            <a:fld id="{A51A480E-C97D-488C-89CE-DB65B1C35FB0}" type="slidenum">
              <a:rPr lang="en-US" smtClean="0"/>
              <a:t>8</a:t>
            </a:fld>
            <a:endParaRPr lang="en-US"/>
          </a:p>
        </p:txBody>
      </p:sp>
    </p:spTree>
    <p:extLst>
      <p:ext uri="{BB962C8B-B14F-4D97-AF65-F5344CB8AC3E}">
        <p14:creationId xmlns:p14="http://schemas.microsoft.com/office/powerpoint/2010/main" val="434610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Second Circuit Use of Legislative History</a:t>
            </a:r>
          </a:p>
        </p:txBody>
      </p:sp>
      <p:sp>
        <p:nvSpPr>
          <p:cNvPr id="3" name="Content Placeholder 2"/>
          <p:cNvSpPr>
            <a:spLocks noGrp="1"/>
          </p:cNvSpPr>
          <p:nvPr>
            <p:ph idx="1"/>
          </p:nvPr>
        </p:nvSpPr>
        <p:spPr/>
        <p:txBody>
          <a:bodyPr/>
          <a:lstStyle/>
          <a:p>
            <a:r>
              <a:rPr lang="en-US" sz="2400" dirty="0"/>
              <a:t>Notes </a:t>
            </a:r>
            <a:r>
              <a:rPr lang="en-US" sz="2400" i="1" dirty="0"/>
              <a:t>Casey</a:t>
            </a:r>
            <a:r>
              <a:rPr lang="en-US" sz="2400" dirty="0"/>
              <a:t> (a § 1988 case that excluded expert fees) seemed to read IDEA as a contrasting example allowing for inclusion of expert fees (relying on conference committee report)</a:t>
            </a:r>
          </a:p>
          <a:p>
            <a:r>
              <a:rPr lang="en-US" sz="2800" dirty="0"/>
              <a:t>Subsequent congressional action</a:t>
            </a:r>
          </a:p>
          <a:p>
            <a:pPr lvl="1"/>
            <a:r>
              <a:rPr lang="en-US" sz="2400" dirty="0"/>
              <a:t>§ 1988 amended to overrule </a:t>
            </a:r>
            <a:r>
              <a:rPr lang="en-US" sz="2400" i="1" dirty="0"/>
              <a:t>Casey</a:t>
            </a:r>
            <a:endParaRPr lang="en-US" sz="2400" i="1" u="sng" dirty="0"/>
          </a:p>
          <a:p>
            <a:pPr lvl="1"/>
            <a:r>
              <a:rPr lang="en-US" sz="2400" dirty="0"/>
              <a:t>Congress did not amend IDEA on fees even though repeatedly amended on other points</a:t>
            </a:r>
          </a:p>
          <a:p>
            <a:r>
              <a:rPr lang="en-US" sz="2800" dirty="0"/>
              <a:t>Confirmed by legislative purpose, reinforced by statutory right to bring experts</a:t>
            </a:r>
          </a:p>
        </p:txBody>
      </p:sp>
      <p:sp>
        <p:nvSpPr>
          <p:cNvPr id="4" name="Slide Number Placeholder 3"/>
          <p:cNvSpPr>
            <a:spLocks noGrp="1"/>
          </p:cNvSpPr>
          <p:nvPr>
            <p:ph type="sldNum" sz="quarter" idx="12"/>
          </p:nvPr>
        </p:nvSpPr>
        <p:spPr/>
        <p:txBody>
          <a:bodyPr/>
          <a:lstStyle/>
          <a:p>
            <a:fld id="{03C2B117-1C95-4F55-818D-5341971D30B6}" type="slidenum">
              <a:rPr lang="en-US" smtClean="0"/>
              <a:pPr/>
              <a:t>9</a:t>
            </a:fld>
            <a:endParaRPr lang="en-US"/>
          </a:p>
        </p:txBody>
      </p:sp>
      <p:sp>
        <p:nvSpPr>
          <p:cNvPr id="5" name="Footer Placeholder 4">
            <a:extLst>
              <a:ext uri="{FF2B5EF4-FFF2-40B4-BE49-F238E27FC236}">
                <a16:creationId xmlns:a16="http://schemas.microsoft.com/office/drawing/2014/main" id="{C1F1130F-8D70-EC6F-F27D-9BD3A5C427CD}"/>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4132768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And Yet: </a:t>
            </a:r>
            <a:r>
              <a:rPr lang="en-US" sz="3200" i="1" dirty="0"/>
              <a:t>Arlington Central School District Board of Education v. Murphy </a:t>
            </a:r>
            <a:r>
              <a:rPr lang="en-US" sz="3200" dirty="0"/>
              <a:t>(2006)</a:t>
            </a:r>
          </a:p>
        </p:txBody>
      </p:sp>
      <p:sp>
        <p:nvSpPr>
          <p:cNvPr id="3" name="Content Placeholder 2"/>
          <p:cNvSpPr>
            <a:spLocks noGrp="1"/>
          </p:cNvSpPr>
          <p:nvPr>
            <p:ph idx="1"/>
          </p:nvPr>
        </p:nvSpPr>
        <p:spPr/>
        <p:txBody>
          <a:bodyPr/>
          <a:lstStyle/>
          <a:p>
            <a:r>
              <a:rPr lang="en-US" sz="2600" dirty="0"/>
              <a:t>Majority</a:t>
            </a:r>
          </a:p>
          <a:p>
            <a:pPr lvl="1"/>
            <a:r>
              <a:rPr lang="en-US" sz="2400" dirty="0"/>
              <a:t>IDEA enacted under U.S. Constitution’s Spending Clause</a:t>
            </a:r>
          </a:p>
          <a:p>
            <a:pPr lvl="1"/>
            <a:r>
              <a:rPr lang="en-US" sz="2400" dirty="0"/>
              <a:t>Canon: Can’t impose certain obligations on states without clear notice</a:t>
            </a:r>
          </a:p>
          <a:p>
            <a:pPr lvl="1"/>
            <a:r>
              <a:rPr lang="en-US" sz="2400" dirty="0"/>
              <a:t>IDEA addresses calculation of reasonable fees for lawyers, but not experts</a:t>
            </a:r>
          </a:p>
          <a:p>
            <a:pPr lvl="1"/>
            <a:r>
              <a:rPr lang="en-US" sz="2400" dirty="0"/>
              <a:t>Plain text deemed not ambiguous</a:t>
            </a:r>
          </a:p>
          <a:p>
            <a:r>
              <a:rPr lang="en-US" sz="2600" dirty="0"/>
              <a:t>Dissent: Conference report + direction to GAO to study costs of experts; undercuts Congress’s purpose</a:t>
            </a:r>
          </a:p>
        </p:txBody>
      </p:sp>
      <p:sp>
        <p:nvSpPr>
          <p:cNvPr id="4" name="Slide Number Placeholder 3"/>
          <p:cNvSpPr>
            <a:spLocks noGrp="1"/>
          </p:cNvSpPr>
          <p:nvPr>
            <p:ph type="sldNum" sz="quarter" idx="12"/>
          </p:nvPr>
        </p:nvSpPr>
        <p:spPr/>
        <p:txBody>
          <a:bodyPr/>
          <a:lstStyle/>
          <a:p>
            <a:fld id="{03C2B117-1C95-4F55-818D-5341971D30B6}" type="slidenum">
              <a:rPr lang="en-US" smtClean="0"/>
              <a:pPr/>
              <a:t>10</a:t>
            </a:fld>
            <a:endParaRPr lang="en-US"/>
          </a:p>
        </p:txBody>
      </p:sp>
      <p:sp>
        <p:nvSpPr>
          <p:cNvPr id="5" name="Footer Placeholder 4">
            <a:extLst>
              <a:ext uri="{FF2B5EF4-FFF2-40B4-BE49-F238E27FC236}">
                <a16:creationId xmlns:a16="http://schemas.microsoft.com/office/drawing/2014/main" id="{75C77445-C279-150F-FF50-513425C2C4F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68552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sz="4000"/>
              <a:t>The Legislative History Debates - 1</a:t>
            </a:r>
          </a:p>
        </p:txBody>
      </p:sp>
      <p:graphicFrame>
        <p:nvGraphicFramePr>
          <p:cNvPr id="22531" name="Group 3"/>
          <p:cNvGraphicFramePr>
            <a:graphicFrameLocks noGrp="1"/>
          </p:cNvGraphicFramePr>
          <p:nvPr>
            <p:ph idx="1"/>
          </p:nvPr>
        </p:nvGraphicFramePr>
        <p:xfrm>
          <a:off x="457200" y="1371600"/>
          <a:ext cx="8229600" cy="4358640"/>
        </p:xfrm>
        <a:graphic>
          <a:graphicData uri="http://schemas.openxmlformats.org/drawingml/2006/table">
            <a:tbl>
              <a:tblPr/>
              <a:tblGrid>
                <a:gridCol w="1600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921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Avoid 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Use 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Only the statute is law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Only statute itself has run through the legislative process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Leg history is just another useful extrinsic guide to interpretation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Too easy to manipulate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Fragments inserted that Congress as a whole would not adopt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Congress delegates power to its committees; wouldn’t do it if real agency problem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4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“Legislative intent” is incoherent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Can’t always use majority votes to aggregate individual preferences to consistent collective choice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Committees, floor managers, sponsors have incentives to represent majority accurately – may give clearest signals as to actual majority preference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Slide Number Placeholder 1"/>
          <p:cNvSpPr>
            <a:spLocks noGrp="1"/>
          </p:cNvSpPr>
          <p:nvPr>
            <p:ph type="sldNum" sz="quarter" idx="12"/>
          </p:nvPr>
        </p:nvSpPr>
        <p:spPr/>
        <p:txBody>
          <a:bodyPr/>
          <a:lstStyle/>
          <a:p>
            <a:fld id="{E4A49647-654D-4D6E-8F50-FAE4341FA2C7}" type="slidenum">
              <a:rPr lang="en-US" smtClean="0"/>
              <a:pPr/>
              <a:t>11</a:t>
            </a:fld>
            <a:endParaRPr lang="en-US"/>
          </a:p>
        </p:txBody>
      </p:sp>
      <p:sp>
        <p:nvSpPr>
          <p:cNvPr id="3" name="Footer Placeholder 2">
            <a:extLst>
              <a:ext uri="{FF2B5EF4-FFF2-40B4-BE49-F238E27FC236}">
                <a16:creationId xmlns:a16="http://schemas.microsoft.com/office/drawing/2014/main" id="{B0A70B93-1D36-1034-0A34-1CFA4777262B}"/>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322163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sz="4000"/>
              <a:t>The Legislative History Debates - 2</a:t>
            </a:r>
          </a:p>
        </p:txBody>
      </p:sp>
      <p:graphicFrame>
        <p:nvGraphicFramePr>
          <p:cNvPr id="41987" name="Group 3"/>
          <p:cNvGraphicFramePr>
            <a:graphicFrameLocks noGrp="1"/>
          </p:cNvGraphicFramePr>
          <p:nvPr>
            <p:ph idx="1"/>
            <p:extLst>
              <p:ext uri="{D42A27DB-BD31-4B8C-83A1-F6EECF244321}">
                <p14:modId xmlns:p14="http://schemas.microsoft.com/office/powerpoint/2010/main" val="618064036"/>
              </p:ext>
            </p:extLst>
          </p:nvPr>
        </p:nvGraphicFramePr>
        <p:xfrm>
          <a:off x="487680" y="1218691"/>
          <a:ext cx="8229600" cy="4981132"/>
        </p:xfrm>
        <a:graphic>
          <a:graphicData uri="http://schemas.openxmlformats.org/drawingml/2006/table">
            <a:tbl>
              <a:tblPr/>
              <a:tblGrid>
                <a:gridCol w="21336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77489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Avoid 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Use 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98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Reports and statements don’t give reliable info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Committee may not be representative, may not inform how members vote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Committees may be representative, and more likely to be read than bills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Expands judicial discretion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Facilitates judicial activism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Elasticity of language gives discretion; leg. History at least = reference to Congress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298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Distorts congressional incentives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Creates incentive for sloppy drafting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Legislators expect history to be used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2987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Increases transaction costs for courts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Costs of research not justified because can’t show it improves outcomes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Untestable claim; ignores benefits of use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Slide Number Placeholder 1"/>
          <p:cNvSpPr>
            <a:spLocks noGrp="1"/>
          </p:cNvSpPr>
          <p:nvPr>
            <p:ph type="sldNum" sz="quarter" idx="12"/>
          </p:nvPr>
        </p:nvSpPr>
        <p:spPr/>
        <p:txBody>
          <a:bodyPr/>
          <a:lstStyle/>
          <a:p>
            <a:fld id="{E4A49647-654D-4D6E-8F50-FAE4341FA2C7}" type="slidenum">
              <a:rPr lang="en-US" smtClean="0"/>
              <a:pPr/>
              <a:t>12</a:t>
            </a:fld>
            <a:endParaRPr lang="en-US"/>
          </a:p>
        </p:txBody>
      </p:sp>
      <p:sp>
        <p:nvSpPr>
          <p:cNvPr id="3" name="Footer Placeholder 2">
            <a:extLst>
              <a:ext uri="{FF2B5EF4-FFF2-40B4-BE49-F238E27FC236}">
                <a16:creationId xmlns:a16="http://schemas.microsoft.com/office/drawing/2014/main" id="{FCC08E34-D184-8680-D1B3-8869972CA353}"/>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2921560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1298295-C984-0C68-49C2-5255FA7C17EC}"/>
              </a:ext>
            </a:extLst>
          </p:cNvPr>
          <p:cNvSpPr>
            <a:spLocks noGrp="1" noChangeArrowheads="1"/>
          </p:cNvSpPr>
          <p:nvPr>
            <p:ph type="title"/>
          </p:nvPr>
        </p:nvSpPr>
        <p:spPr/>
        <p:txBody>
          <a:bodyPr/>
          <a:lstStyle/>
          <a:p>
            <a:pPr eaLnBrk="1" hangingPunct="1"/>
            <a:r>
              <a:rPr lang="en-US" altLang="en-US"/>
              <a:t>Canons of Construction</a:t>
            </a:r>
          </a:p>
        </p:txBody>
      </p:sp>
      <p:sp>
        <p:nvSpPr>
          <p:cNvPr id="3075" name="Rectangle 3">
            <a:extLst>
              <a:ext uri="{FF2B5EF4-FFF2-40B4-BE49-F238E27FC236}">
                <a16:creationId xmlns:a16="http://schemas.microsoft.com/office/drawing/2014/main" id="{85BBEA91-E79C-174B-33F8-959665553F9A}"/>
              </a:ext>
            </a:extLst>
          </p:cNvPr>
          <p:cNvSpPr>
            <a:spLocks noGrp="1" noChangeArrowheads="1"/>
          </p:cNvSpPr>
          <p:nvPr>
            <p:ph type="body" idx="1"/>
          </p:nvPr>
        </p:nvSpPr>
        <p:spPr/>
        <p:txBody>
          <a:bodyPr/>
          <a:lstStyle/>
          <a:p>
            <a:pPr eaLnBrk="1" hangingPunct="1"/>
            <a:r>
              <a:rPr lang="en-US" altLang="en-US" sz="2800"/>
              <a:t>Canons = principles or presumptions used to derive/create meaning </a:t>
            </a:r>
          </a:p>
          <a:p>
            <a:pPr eaLnBrk="1" hangingPunct="1"/>
            <a:r>
              <a:rPr lang="en-US" altLang="en-US" sz="2800"/>
              <a:t>Varieties</a:t>
            </a:r>
          </a:p>
          <a:p>
            <a:pPr lvl="1" eaLnBrk="1" hangingPunct="1"/>
            <a:r>
              <a:rPr lang="en-US" altLang="en-US" sz="2400"/>
              <a:t>Semantic:  generalizations about the use of language</a:t>
            </a:r>
          </a:p>
          <a:p>
            <a:pPr lvl="1" eaLnBrk="1" hangingPunct="1"/>
            <a:r>
              <a:rPr lang="en-US" altLang="en-US" sz="2400"/>
              <a:t>Substantive: tilting for or against certain outcomes or meanings</a:t>
            </a:r>
          </a:p>
          <a:p>
            <a:pPr lvl="2" eaLnBrk="1" hangingPunct="1"/>
            <a:r>
              <a:rPr lang="en-US" altLang="en-US" sz="2000"/>
              <a:t>Presumptions of legislative intent?</a:t>
            </a:r>
          </a:p>
          <a:p>
            <a:pPr lvl="2" eaLnBrk="1" hangingPunct="1"/>
            <a:r>
              <a:rPr lang="en-US" altLang="en-US" sz="2000"/>
              <a:t>Protecting certain foundational values that transcend legislative intent?</a:t>
            </a:r>
          </a:p>
        </p:txBody>
      </p:sp>
      <p:sp>
        <p:nvSpPr>
          <p:cNvPr id="3076" name="Slide Number Placeholder 1">
            <a:extLst>
              <a:ext uri="{FF2B5EF4-FFF2-40B4-BE49-F238E27FC236}">
                <a16:creationId xmlns:a16="http://schemas.microsoft.com/office/drawing/2014/main" id="{E7516F54-491C-D296-1B70-5C2F715A8D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C135F781-3AE1-469E-A836-466117CD2046}" type="slidenum">
              <a:rPr lang="en-US" altLang="en-US" sz="1400"/>
              <a:pPr eaLnBrk="1" hangingPunct="1">
                <a:spcBef>
                  <a:spcPct val="0"/>
                </a:spcBef>
                <a:buFontTx/>
                <a:buNone/>
              </a:pPr>
              <a:t>13</a:t>
            </a:fld>
            <a:endParaRPr lang="en-US" altLang="en-US" sz="1400"/>
          </a:p>
        </p:txBody>
      </p:sp>
      <p:sp>
        <p:nvSpPr>
          <p:cNvPr id="2" name="Footer Placeholder 1">
            <a:extLst>
              <a:ext uri="{FF2B5EF4-FFF2-40B4-BE49-F238E27FC236}">
                <a16:creationId xmlns:a16="http://schemas.microsoft.com/office/drawing/2014/main" id="{4ECB8B1D-C4AB-FDE1-399E-00358346593C}"/>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z="3600"/>
              <a:t>Semantic Canons: Within the Statute</a:t>
            </a:r>
          </a:p>
        </p:txBody>
      </p:sp>
      <p:sp>
        <p:nvSpPr>
          <p:cNvPr id="5123" name="Rectangle 3"/>
          <p:cNvSpPr>
            <a:spLocks noGrp="1" noChangeArrowheads="1"/>
          </p:cNvSpPr>
          <p:nvPr>
            <p:ph type="body" idx="1"/>
          </p:nvPr>
        </p:nvSpPr>
        <p:spPr/>
        <p:txBody>
          <a:bodyPr/>
          <a:lstStyle/>
          <a:p>
            <a:pPr eaLnBrk="1" hangingPunct="1">
              <a:lnSpc>
                <a:spcPct val="90000"/>
              </a:lnSpc>
            </a:pPr>
            <a:r>
              <a:rPr lang="en-US" altLang="en-US" sz="2400" i="1"/>
              <a:t>Expressio unius est exclusio alterius</a:t>
            </a:r>
            <a:r>
              <a:rPr lang="en-US" altLang="en-US" sz="2400"/>
              <a:t>:  the expression of one thing implies the exclusion of another</a:t>
            </a:r>
          </a:p>
          <a:p>
            <a:pPr eaLnBrk="1" hangingPunct="1">
              <a:lnSpc>
                <a:spcPct val="90000"/>
              </a:lnSpc>
            </a:pPr>
            <a:r>
              <a:rPr lang="en-US" altLang="en-US" sz="2400" i="1"/>
              <a:t>Noscitur a sociis</a:t>
            </a:r>
            <a:r>
              <a:rPr lang="en-US" altLang="en-US" sz="2400"/>
              <a:t>:  A word is known by its associates</a:t>
            </a:r>
          </a:p>
          <a:p>
            <a:pPr eaLnBrk="1" hangingPunct="1">
              <a:lnSpc>
                <a:spcPct val="90000"/>
              </a:lnSpc>
            </a:pPr>
            <a:r>
              <a:rPr lang="en-US" altLang="en-US" sz="2400" i="1"/>
              <a:t>Ejusdem generis: </a:t>
            </a:r>
            <a:r>
              <a:rPr lang="en-US" altLang="en-US" sz="2400"/>
              <a:t>residual terms are presumptively of the same kind or within the same category of the specific terms that come before</a:t>
            </a:r>
            <a:endParaRPr lang="en-US" altLang="en-US" sz="2400" i="1"/>
          </a:p>
          <a:p>
            <a:pPr eaLnBrk="1" hangingPunct="1">
              <a:lnSpc>
                <a:spcPct val="90000"/>
              </a:lnSpc>
            </a:pPr>
            <a:r>
              <a:rPr lang="en-US" altLang="en-US" sz="2400"/>
              <a:t>Presumption that word or phrase enjoys a consistent meaning whenever used in the same statute</a:t>
            </a:r>
          </a:p>
          <a:p>
            <a:pPr eaLnBrk="1" hangingPunct="1">
              <a:lnSpc>
                <a:spcPct val="90000"/>
              </a:lnSpc>
            </a:pPr>
            <a:r>
              <a:rPr lang="en-US" altLang="en-US" sz="2400"/>
              <a:t>Presumption that every word in a statute has meaning</a:t>
            </a:r>
          </a:p>
          <a:p>
            <a:pPr eaLnBrk="1" hangingPunct="1">
              <a:lnSpc>
                <a:spcPct val="90000"/>
              </a:lnSpc>
            </a:pPr>
            <a:r>
              <a:rPr lang="en-US" altLang="en-US" sz="2400"/>
              <a:t>Others include canons on Punctuation, Last antecedent rule, Conjunctive v. Disjunctive, May v. Shall</a:t>
            </a:r>
          </a:p>
          <a:p>
            <a:pPr eaLnBrk="1" hangingPunct="1">
              <a:lnSpc>
                <a:spcPct val="90000"/>
              </a:lnSpc>
            </a:pPr>
            <a:endParaRPr lang="en-US" altLang="en-US" sz="2400"/>
          </a:p>
        </p:txBody>
      </p:sp>
      <p:sp>
        <p:nvSpPr>
          <p:cNvPr id="4100"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6405ECD0-249D-4B8D-BCD4-2CA4BDE24621}" type="slidenum">
              <a:rPr lang="en-US" altLang="en-US" sz="1400"/>
              <a:pPr eaLnBrk="1" hangingPunct="1">
                <a:spcBef>
                  <a:spcPct val="0"/>
                </a:spcBef>
                <a:buFontTx/>
                <a:buNone/>
              </a:pPr>
              <a:t>14</a:t>
            </a:fld>
            <a:endParaRPr lang="en-US" altLang="en-US" sz="1400"/>
          </a:p>
        </p:txBody>
      </p:sp>
      <p:sp>
        <p:nvSpPr>
          <p:cNvPr id="2" name="Footer Placeholder 1">
            <a:extLst>
              <a:ext uri="{FF2B5EF4-FFF2-40B4-BE49-F238E27FC236}">
                <a16:creationId xmlns:a16="http://schemas.microsoft.com/office/drawing/2014/main" id="{CD3D3258-0DF1-98EB-5F1A-A9EBBAD5731C}"/>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898058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 calcmode="lin" valueType="num">
                                      <p:cBhvr additive="base">
                                        <p:cTn id="19"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anim calcmode="lin" valueType="num">
                                      <p:cBhvr additive="base">
                                        <p:cTn id="23"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anim calcmode="lin" valueType="num">
                                      <p:cBhvr additive="base">
                                        <p:cTn id="27"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A3BD08E-C33D-ED4D-D944-22D6293EBAFC}"/>
              </a:ext>
            </a:extLst>
          </p:cNvPr>
          <p:cNvSpPr>
            <a:spLocks noGrp="1" noChangeArrowheads="1"/>
          </p:cNvSpPr>
          <p:nvPr>
            <p:ph type="title"/>
          </p:nvPr>
        </p:nvSpPr>
        <p:spPr/>
        <p:txBody>
          <a:bodyPr/>
          <a:lstStyle/>
          <a:p>
            <a:pPr eaLnBrk="1" hangingPunct="1"/>
            <a:r>
              <a:rPr lang="en-US" altLang="en-US" sz="3600" i="1" dirty="0"/>
              <a:t>McBoyle v. U.S</a:t>
            </a:r>
            <a:r>
              <a:rPr lang="en-US" altLang="en-US" sz="3600" dirty="0"/>
              <a:t>. (1931)</a:t>
            </a:r>
          </a:p>
        </p:txBody>
      </p:sp>
      <p:sp>
        <p:nvSpPr>
          <p:cNvPr id="4099" name="Rectangle 3">
            <a:extLst>
              <a:ext uri="{FF2B5EF4-FFF2-40B4-BE49-F238E27FC236}">
                <a16:creationId xmlns:a16="http://schemas.microsoft.com/office/drawing/2014/main" id="{060C0452-C829-5FC0-739F-03029357580E}"/>
              </a:ext>
            </a:extLst>
          </p:cNvPr>
          <p:cNvSpPr>
            <a:spLocks noGrp="1" noChangeArrowheads="1"/>
          </p:cNvSpPr>
          <p:nvPr>
            <p:ph type="body" idx="1"/>
          </p:nvPr>
        </p:nvSpPr>
        <p:spPr/>
        <p:txBody>
          <a:bodyPr/>
          <a:lstStyle/>
          <a:p>
            <a:pPr eaLnBrk="1" hangingPunct="1">
              <a:lnSpc>
                <a:spcPct val="90000"/>
              </a:lnSpc>
            </a:pPr>
            <a:r>
              <a:rPr lang="en-US" altLang="en-US" dirty="0"/>
              <a:t>Did a defendant who knowingly transported a stolen airplane violate a statute prohibiting the interstate transport of a “motor vehicle?”</a:t>
            </a:r>
          </a:p>
          <a:p>
            <a:pPr eaLnBrk="1" hangingPunct="1">
              <a:lnSpc>
                <a:spcPct val="90000"/>
              </a:lnSpc>
            </a:pPr>
            <a:r>
              <a:rPr lang="en-US" altLang="en-US" dirty="0"/>
              <a:t>“Motor vehicle” defined to “include an automobile, automobile truck, automobile wagon, motor cycle, or any other self-propelled vehicle not designed for running on rails. * * *”</a:t>
            </a:r>
          </a:p>
        </p:txBody>
      </p:sp>
      <p:sp>
        <p:nvSpPr>
          <p:cNvPr id="4100" name="Slide Number Placeholder 1">
            <a:extLst>
              <a:ext uri="{FF2B5EF4-FFF2-40B4-BE49-F238E27FC236}">
                <a16:creationId xmlns:a16="http://schemas.microsoft.com/office/drawing/2014/main" id="{5DDDE4F9-61F3-3BE6-ADE8-B1F2DB7509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9F096B85-25BD-4C6D-AC76-7A1D8A97D6FA}" type="slidenum">
              <a:rPr lang="en-US" altLang="en-US" sz="1400"/>
              <a:pPr eaLnBrk="1" hangingPunct="1">
                <a:spcBef>
                  <a:spcPct val="0"/>
                </a:spcBef>
                <a:buFontTx/>
                <a:buNone/>
              </a:pPr>
              <a:t>15</a:t>
            </a:fld>
            <a:endParaRPr lang="en-US" altLang="en-US" sz="1400"/>
          </a:p>
        </p:txBody>
      </p:sp>
      <p:sp>
        <p:nvSpPr>
          <p:cNvPr id="2" name="Footer Placeholder 1">
            <a:extLst>
              <a:ext uri="{FF2B5EF4-FFF2-40B4-BE49-F238E27FC236}">
                <a16:creationId xmlns:a16="http://schemas.microsoft.com/office/drawing/2014/main" id="{03C9F06D-BF0D-324F-A33B-91533654FF53}"/>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DCC96BE-C230-8369-46A0-D07838498D0F}"/>
              </a:ext>
            </a:extLst>
          </p:cNvPr>
          <p:cNvSpPr>
            <a:spLocks noGrp="1" noChangeArrowheads="1"/>
          </p:cNvSpPr>
          <p:nvPr>
            <p:ph type="title"/>
          </p:nvPr>
        </p:nvSpPr>
        <p:spPr/>
        <p:txBody>
          <a:bodyPr/>
          <a:lstStyle/>
          <a:p>
            <a:pPr eaLnBrk="1" hangingPunct="1"/>
            <a:r>
              <a:rPr lang="en-US" altLang="en-US"/>
              <a:t>Holmes makes 5 arguments</a:t>
            </a:r>
          </a:p>
        </p:txBody>
      </p:sp>
      <p:sp>
        <p:nvSpPr>
          <p:cNvPr id="5123" name="Rectangle 3">
            <a:extLst>
              <a:ext uri="{FF2B5EF4-FFF2-40B4-BE49-F238E27FC236}">
                <a16:creationId xmlns:a16="http://schemas.microsoft.com/office/drawing/2014/main" id="{5AE20838-274D-840E-83DF-1629396023BA}"/>
              </a:ext>
            </a:extLst>
          </p:cNvPr>
          <p:cNvSpPr>
            <a:spLocks noGrp="1" noChangeArrowheads="1"/>
          </p:cNvSpPr>
          <p:nvPr>
            <p:ph type="body" idx="1"/>
          </p:nvPr>
        </p:nvSpPr>
        <p:spPr/>
        <p:txBody>
          <a:bodyPr/>
          <a:lstStyle/>
          <a:p>
            <a:pPr eaLnBrk="1" hangingPunct="1">
              <a:lnSpc>
                <a:spcPct val="90000"/>
              </a:lnSpc>
            </a:pPr>
            <a:r>
              <a:rPr lang="en-US" altLang="en-US" sz="2400" dirty="0"/>
              <a:t>In ordinary speech, vehicle refers to something that travels over land</a:t>
            </a:r>
          </a:p>
          <a:p>
            <a:pPr eaLnBrk="1" hangingPunct="1">
              <a:lnSpc>
                <a:spcPct val="90000"/>
              </a:lnSpc>
            </a:pPr>
            <a:r>
              <a:rPr lang="en-US" altLang="en-US" sz="2400" dirty="0"/>
              <a:t>Airplanes known when statute enacted, but nowhere mentioned in legislative history</a:t>
            </a:r>
          </a:p>
          <a:p>
            <a:pPr eaLnBrk="1" hangingPunct="1">
              <a:lnSpc>
                <a:spcPct val="90000"/>
              </a:lnSpc>
            </a:pPr>
            <a:r>
              <a:rPr lang="en-US" altLang="en-US" sz="2400" dirty="0">
                <a:solidFill>
                  <a:srgbClr val="FF3300"/>
                </a:solidFill>
              </a:rPr>
              <a:t>Listing of “automobile, automobile truck, automobile wagon, [and] motor cycle,” makes it unlikely “any other self-propelled vehicle not designed for running on rails” includes something so unlike them* (</a:t>
            </a:r>
            <a:r>
              <a:rPr lang="en-US" altLang="en-US" sz="2400" i="1" dirty="0">
                <a:solidFill>
                  <a:srgbClr val="FF3300"/>
                </a:solidFill>
              </a:rPr>
              <a:t>ejusdem generis</a:t>
            </a:r>
            <a:r>
              <a:rPr lang="en-US" altLang="en-US" sz="2400" dirty="0">
                <a:solidFill>
                  <a:srgbClr val="FF3300"/>
                </a:solidFill>
              </a:rPr>
              <a:t>)</a:t>
            </a:r>
          </a:p>
          <a:p>
            <a:pPr eaLnBrk="1" hangingPunct="1">
              <a:lnSpc>
                <a:spcPct val="90000"/>
              </a:lnSpc>
            </a:pPr>
            <a:r>
              <a:rPr lang="en-US" altLang="en-US" sz="2400" dirty="0"/>
              <a:t>Phraseology equivalent to even earlier state statutes</a:t>
            </a:r>
          </a:p>
          <a:p>
            <a:pPr eaLnBrk="1" hangingPunct="1">
              <a:lnSpc>
                <a:spcPct val="90000"/>
              </a:lnSpc>
            </a:pPr>
            <a:r>
              <a:rPr lang="en-US" altLang="en-US" sz="2400" dirty="0">
                <a:solidFill>
                  <a:srgbClr val="FF3300"/>
                </a:solidFill>
              </a:rPr>
              <a:t>Criminal laws should give fair warning to the world “in language that the common world will understand”*</a:t>
            </a:r>
          </a:p>
          <a:p>
            <a:pPr lvl="1" eaLnBrk="1" hangingPunct="1">
              <a:lnSpc>
                <a:spcPct val="90000"/>
              </a:lnSpc>
              <a:buFontTx/>
              <a:buNone/>
            </a:pPr>
            <a:r>
              <a:rPr lang="en-US" altLang="en-US" sz="2000" dirty="0">
                <a:solidFill>
                  <a:srgbClr val="FF3300"/>
                </a:solidFill>
              </a:rPr>
              <a:t>*  Semantic or substantive?</a:t>
            </a:r>
            <a:r>
              <a:rPr lang="en-US" altLang="en-US" sz="2000" dirty="0"/>
              <a:t> </a:t>
            </a:r>
          </a:p>
          <a:p>
            <a:pPr eaLnBrk="1" hangingPunct="1">
              <a:lnSpc>
                <a:spcPct val="90000"/>
              </a:lnSpc>
            </a:pPr>
            <a:endParaRPr lang="en-US" altLang="en-US" sz="2400" dirty="0"/>
          </a:p>
        </p:txBody>
      </p:sp>
      <p:sp>
        <p:nvSpPr>
          <p:cNvPr id="5124" name="Slide Number Placeholder 1">
            <a:extLst>
              <a:ext uri="{FF2B5EF4-FFF2-40B4-BE49-F238E27FC236}">
                <a16:creationId xmlns:a16="http://schemas.microsoft.com/office/drawing/2014/main" id="{38C8D795-9860-C4CB-AFF5-CA871D4148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AC544537-47CD-4D8C-86F0-943E84EB0E79}" type="slidenum">
              <a:rPr lang="en-US" altLang="en-US" sz="1400"/>
              <a:pPr eaLnBrk="1" hangingPunct="1">
                <a:spcBef>
                  <a:spcPct val="0"/>
                </a:spcBef>
                <a:buFontTx/>
                <a:buNone/>
              </a:pPr>
              <a:t>16</a:t>
            </a:fld>
            <a:endParaRPr lang="en-US" altLang="en-US" sz="1400"/>
          </a:p>
        </p:txBody>
      </p:sp>
      <p:sp>
        <p:nvSpPr>
          <p:cNvPr id="2" name="Footer Placeholder 1">
            <a:extLst>
              <a:ext uri="{FF2B5EF4-FFF2-40B4-BE49-F238E27FC236}">
                <a16:creationId xmlns:a16="http://schemas.microsoft.com/office/drawing/2014/main" id="{8D593877-89BD-0FF2-4E2F-5F60DC80D837}"/>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123">
                                            <p:txEl>
                                              <p:pRg st="4" end="4"/>
                                            </p:txEl>
                                          </p:spTgt>
                                        </p:tgtEl>
                                        <p:attrNameLst>
                                          <p:attrName>style.visibility</p:attrName>
                                        </p:attrNameLst>
                                      </p:cBhvr>
                                      <p:to>
                                        <p:strVal val="visible"/>
                                      </p:to>
                                    </p:set>
                                    <p:anim calcmode="lin" valueType="num">
                                      <p:cBhvr additive="base">
                                        <p:cTn id="31"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123">
                                            <p:txEl>
                                              <p:pRg st="5" end="5"/>
                                            </p:txEl>
                                          </p:spTgt>
                                        </p:tgtEl>
                                        <p:attrNameLst>
                                          <p:attrName>style.visibility</p:attrName>
                                        </p:attrNameLst>
                                      </p:cBhvr>
                                      <p:to>
                                        <p:strVal val="visible"/>
                                      </p:to>
                                    </p:set>
                                    <p:anim calcmode="lin" valueType="num">
                                      <p:cBhvr additive="base">
                                        <p:cTn id="35"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04A0E56-F228-ECCA-F663-523452A6B27A}"/>
              </a:ext>
            </a:extLst>
          </p:cNvPr>
          <p:cNvSpPr>
            <a:spLocks noGrp="1"/>
          </p:cNvSpPr>
          <p:nvPr>
            <p:ph type="title"/>
          </p:nvPr>
        </p:nvSpPr>
        <p:spPr/>
        <p:txBody>
          <a:bodyPr/>
          <a:lstStyle/>
          <a:p>
            <a:r>
              <a:rPr lang="en-US" altLang="en-US"/>
              <a:t>Canons as Constraints?</a:t>
            </a:r>
          </a:p>
        </p:txBody>
      </p:sp>
      <p:sp>
        <p:nvSpPr>
          <p:cNvPr id="7171" name="Content Placeholder 2">
            <a:extLst>
              <a:ext uri="{FF2B5EF4-FFF2-40B4-BE49-F238E27FC236}">
                <a16:creationId xmlns:a16="http://schemas.microsoft.com/office/drawing/2014/main" id="{9D448335-279E-2FB3-80E9-667AD68D8464}"/>
              </a:ext>
            </a:extLst>
          </p:cNvPr>
          <p:cNvSpPr>
            <a:spLocks noGrp="1"/>
          </p:cNvSpPr>
          <p:nvPr>
            <p:ph idx="1"/>
          </p:nvPr>
        </p:nvSpPr>
        <p:spPr/>
        <p:txBody>
          <a:bodyPr/>
          <a:lstStyle/>
          <a:p>
            <a:pPr eaLnBrk="1" hangingPunct="1">
              <a:lnSpc>
                <a:spcPct val="90000"/>
              </a:lnSpc>
              <a:buFontTx/>
              <a:buNone/>
            </a:pPr>
            <a:r>
              <a:rPr lang="en-US" altLang="en-US"/>
              <a:t>Llewellyn:  canons alone cannot justify interpretive outcomes because multiple and sometimes contradictory canons available</a:t>
            </a:r>
          </a:p>
          <a:p>
            <a:pPr eaLnBrk="1" hangingPunct="1">
              <a:lnSpc>
                <a:spcPct val="90000"/>
              </a:lnSpc>
              <a:buFontTx/>
              <a:buNone/>
            </a:pPr>
            <a:r>
              <a:rPr lang="en-US" altLang="en-US"/>
              <a:t>Scalia, Macey, Miller:  Coherent practices can develop suggesting in which contexts to prefer which canons</a:t>
            </a:r>
          </a:p>
          <a:p>
            <a:endParaRPr lang="en-US" altLang="en-US"/>
          </a:p>
        </p:txBody>
      </p:sp>
      <p:sp>
        <p:nvSpPr>
          <p:cNvPr id="7172" name="Slide Number Placeholder 1">
            <a:extLst>
              <a:ext uri="{FF2B5EF4-FFF2-40B4-BE49-F238E27FC236}">
                <a16:creationId xmlns:a16="http://schemas.microsoft.com/office/drawing/2014/main" id="{95FD3B7C-01C2-39C7-BB41-4590F1F700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8331DC40-CB15-47F9-B1C4-ACE49E2C9417}" type="slidenum">
              <a:rPr lang="en-US" altLang="en-US" sz="1400"/>
              <a:pPr eaLnBrk="1" hangingPunct="1">
                <a:spcBef>
                  <a:spcPct val="0"/>
                </a:spcBef>
                <a:buFontTx/>
                <a:buNone/>
              </a:pPr>
              <a:t>17</a:t>
            </a:fld>
            <a:endParaRPr lang="en-US" altLang="en-US" sz="1400"/>
          </a:p>
        </p:txBody>
      </p:sp>
      <p:sp>
        <p:nvSpPr>
          <p:cNvPr id="2" name="Footer Placeholder 1">
            <a:extLst>
              <a:ext uri="{FF2B5EF4-FFF2-40B4-BE49-F238E27FC236}">
                <a16:creationId xmlns:a16="http://schemas.microsoft.com/office/drawing/2014/main" id="{57A39B00-FB69-7A1C-956C-1878089032B9}"/>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A36143C-3CE4-228B-A222-ED2113E31C1B}"/>
              </a:ext>
            </a:extLst>
          </p:cNvPr>
          <p:cNvSpPr>
            <a:spLocks noGrp="1" noChangeArrowheads="1"/>
          </p:cNvSpPr>
          <p:nvPr>
            <p:ph type="title"/>
          </p:nvPr>
        </p:nvSpPr>
        <p:spPr/>
        <p:txBody>
          <a:bodyPr/>
          <a:lstStyle/>
          <a:p>
            <a:pPr eaLnBrk="1" hangingPunct="1"/>
            <a:r>
              <a:rPr lang="en-US" altLang="en-US" sz="4000" i="1" dirty="0"/>
              <a:t>Gustafson v. Alloyd Co., Inc</a:t>
            </a:r>
            <a:r>
              <a:rPr lang="en-US" altLang="en-US" sz="4000" dirty="0"/>
              <a:t>. (1995)</a:t>
            </a:r>
          </a:p>
        </p:txBody>
      </p:sp>
      <p:sp>
        <p:nvSpPr>
          <p:cNvPr id="16387" name="Rectangle 3">
            <a:extLst>
              <a:ext uri="{FF2B5EF4-FFF2-40B4-BE49-F238E27FC236}">
                <a16:creationId xmlns:a16="http://schemas.microsoft.com/office/drawing/2014/main" id="{866A7DFD-FC62-3568-3863-FD620DC11EAC}"/>
              </a:ext>
            </a:extLst>
          </p:cNvPr>
          <p:cNvSpPr>
            <a:spLocks noGrp="1" noChangeArrowheads="1"/>
          </p:cNvSpPr>
          <p:nvPr>
            <p:ph type="body" idx="1"/>
          </p:nvPr>
        </p:nvSpPr>
        <p:spPr/>
        <p:txBody>
          <a:bodyPr/>
          <a:lstStyle/>
          <a:p>
            <a:pPr eaLnBrk="1" hangingPunct="1"/>
            <a:r>
              <a:rPr lang="en-US" altLang="en-US" dirty="0"/>
              <a:t>Issue:  Is a </a:t>
            </a:r>
            <a:r>
              <a:rPr lang="en-US" altLang="en-US" u="sng" dirty="0"/>
              <a:t>stock purchase agreement </a:t>
            </a:r>
            <a:r>
              <a:rPr lang="en-US" altLang="en-US" dirty="0"/>
              <a:t>containing misstatements of fact as to a firm’s earnings a “prospectus?”</a:t>
            </a:r>
          </a:p>
          <a:p>
            <a:pPr eaLnBrk="1" hangingPunct="1"/>
            <a:r>
              <a:rPr lang="en-US" altLang="en-US" dirty="0"/>
              <a:t>Seller:  Prospectus = a general public solicitation to purchase securities</a:t>
            </a:r>
          </a:p>
          <a:p>
            <a:pPr eaLnBrk="1" hangingPunct="1"/>
            <a:r>
              <a:rPr lang="en-US" altLang="en-US" dirty="0"/>
              <a:t>Buyer:  Prospectus = any written offer of securities for sale</a:t>
            </a:r>
          </a:p>
        </p:txBody>
      </p:sp>
      <p:sp>
        <p:nvSpPr>
          <p:cNvPr id="16388" name="Slide Number Placeholder 1">
            <a:extLst>
              <a:ext uri="{FF2B5EF4-FFF2-40B4-BE49-F238E27FC236}">
                <a16:creationId xmlns:a16="http://schemas.microsoft.com/office/drawing/2014/main" id="{3C8C6E22-D2AB-F3B0-76D5-6CBFDD13F4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E1C8C30B-8599-41FF-B26C-8137A03061BA}" type="slidenum">
              <a:rPr lang="en-US" altLang="en-US" sz="1400"/>
              <a:pPr eaLnBrk="1" hangingPunct="1">
                <a:spcBef>
                  <a:spcPct val="0"/>
                </a:spcBef>
                <a:buFontTx/>
                <a:buNone/>
              </a:pPr>
              <a:t>18</a:t>
            </a:fld>
            <a:endParaRPr lang="en-US" altLang="en-US" sz="1400"/>
          </a:p>
        </p:txBody>
      </p:sp>
      <p:sp>
        <p:nvSpPr>
          <p:cNvPr id="2" name="Footer Placeholder 1">
            <a:extLst>
              <a:ext uri="{FF2B5EF4-FFF2-40B4-BE49-F238E27FC236}">
                <a16:creationId xmlns:a16="http://schemas.microsoft.com/office/drawing/2014/main" id="{F2760A6D-3DB2-FEBC-14D1-FF150CD70ED4}"/>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902B308-6BC0-6692-9FD2-68636284EF90}"/>
              </a:ext>
            </a:extLst>
          </p:cNvPr>
          <p:cNvSpPr>
            <a:spLocks noGrp="1" noChangeArrowheads="1"/>
          </p:cNvSpPr>
          <p:nvPr>
            <p:ph type="title"/>
          </p:nvPr>
        </p:nvSpPr>
        <p:spPr/>
        <p:txBody>
          <a:bodyPr/>
          <a:lstStyle/>
          <a:p>
            <a:pPr eaLnBrk="1" hangingPunct="1"/>
            <a:r>
              <a:rPr lang="en-US" altLang="en-US" sz="4000" i="1" dirty="0"/>
              <a:t>Gustafson v. </a:t>
            </a:r>
            <a:r>
              <a:rPr lang="en-US" altLang="en-US" sz="4000" i="1" dirty="0" err="1"/>
              <a:t>Alloyd</a:t>
            </a:r>
            <a:r>
              <a:rPr lang="en-US" altLang="en-US" sz="4000" i="1" dirty="0"/>
              <a:t> Co., Inc. </a:t>
            </a:r>
            <a:r>
              <a:rPr lang="en-US" altLang="en-US" sz="4000" dirty="0"/>
              <a:t>(1995)</a:t>
            </a:r>
          </a:p>
        </p:txBody>
      </p:sp>
      <p:sp>
        <p:nvSpPr>
          <p:cNvPr id="15363" name="Rectangle 3">
            <a:extLst>
              <a:ext uri="{FF2B5EF4-FFF2-40B4-BE49-F238E27FC236}">
                <a16:creationId xmlns:a16="http://schemas.microsoft.com/office/drawing/2014/main" id="{26EBEFB6-C114-1C36-91CB-5B1B5521A78D}"/>
              </a:ext>
            </a:extLst>
          </p:cNvPr>
          <p:cNvSpPr>
            <a:spLocks noGrp="1" noChangeArrowheads="1"/>
          </p:cNvSpPr>
          <p:nvPr>
            <p:ph type="body" idx="1"/>
          </p:nvPr>
        </p:nvSpPr>
        <p:spPr/>
        <p:txBody>
          <a:bodyPr/>
          <a:lstStyle/>
          <a:p>
            <a:pPr eaLnBrk="1" hangingPunct="1">
              <a:lnSpc>
                <a:spcPct val="80000"/>
              </a:lnSpc>
              <a:buFontTx/>
              <a:buNone/>
            </a:pPr>
            <a:r>
              <a:rPr lang="en-US" altLang="en-US" sz="2000" dirty="0"/>
              <a:t>15 U.S.C. § 77b(10) The term “prospectus” means any prospectus, notice, circular, advertisement, letter, or communication, written or by radio or television, which offers any security for sale or confirms the sale of any security . . .</a:t>
            </a:r>
          </a:p>
          <a:p>
            <a:pPr eaLnBrk="1" hangingPunct="1">
              <a:lnSpc>
                <a:spcPct val="80000"/>
              </a:lnSpc>
              <a:buFontTx/>
              <a:buNone/>
            </a:pPr>
            <a:r>
              <a:rPr lang="en-US" altLang="en-US" sz="2000" dirty="0"/>
              <a:t>15 U.S.C. § 77l. Civil liabilities arising in connection with prospectuses and communications</a:t>
            </a:r>
          </a:p>
          <a:p>
            <a:pPr eaLnBrk="1" hangingPunct="1">
              <a:lnSpc>
                <a:spcPct val="80000"/>
              </a:lnSpc>
              <a:buFontTx/>
              <a:buNone/>
            </a:pPr>
            <a:r>
              <a:rPr lang="en-US" altLang="en-US" sz="2000" dirty="0"/>
              <a:t>(a) In general</a:t>
            </a:r>
          </a:p>
          <a:p>
            <a:pPr eaLnBrk="1" hangingPunct="1">
              <a:lnSpc>
                <a:spcPct val="80000"/>
              </a:lnSpc>
              <a:buFontTx/>
              <a:buNone/>
            </a:pPr>
            <a:r>
              <a:rPr lang="en-US" altLang="en-US" sz="2000" dirty="0"/>
              <a:t>Any person who— . . .</a:t>
            </a:r>
          </a:p>
          <a:p>
            <a:pPr eaLnBrk="1" hangingPunct="1">
              <a:lnSpc>
                <a:spcPct val="80000"/>
              </a:lnSpc>
              <a:buFontTx/>
              <a:buNone/>
            </a:pPr>
            <a:r>
              <a:rPr lang="en-US" altLang="en-US" sz="2000" dirty="0"/>
              <a:t>(2) offers or sells a security . . . by the use of any means or instruments of transportation or communication in interstate commerce or of the mails, by means of a </a:t>
            </a:r>
            <a:r>
              <a:rPr lang="en-US" altLang="en-US" sz="2000" dirty="0">
                <a:solidFill>
                  <a:srgbClr val="FF0000"/>
                </a:solidFill>
              </a:rPr>
              <a:t>prospectus</a:t>
            </a:r>
            <a:r>
              <a:rPr lang="en-US" altLang="en-US" sz="2000" dirty="0"/>
              <a:t> or oral communication, which includes an untrue statement of a material fact or omits to state a material fact necessary in order to make the statements, in the light of the circumstances under which they were made, not misleading … shall be liable. . . to the person purchasing such security from him, who may sue . . .</a:t>
            </a:r>
          </a:p>
        </p:txBody>
      </p:sp>
      <p:sp>
        <p:nvSpPr>
          <p:cNvPr id="15364" name="Slide Number Placeholder 1">
            <a:extLst>
              <a:ext uri="{FF2B5EF4-FFF2-40B4-BE49-F238E27FC236}">
                <a16:creationId xmlns:a16="http://schemas.microsoft.com/office/drawing/2014/main" id="{C8CB43E7-96C5-534B-E46F-EF63B802A57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87F8114C-F8AE-470F-BB3B-CB15240970CA}" type="slidenum">
              <a:rPr lang="en-US" altLang="en-US" sz="1400"/>
              <a:pPr eaLnBrk="1" hangingPunct="1">
                <a:spcBef>
                  <a:spcPct val="0"/>
                </a:spcBef>
                <a:buFontTx/>
                <a:buNone/>
              </a:pPr>
              <a:t>19</a:t>
            </a:fld>
            <a:endParaRPr lang="en-US" altLang="en-US" sz="1400"/>
          </a:p>
        </p:txBody>
      </p:sp>
      <p:sp>
        <p:nvSpPr>
          <p:cNvPr id="2" name="Footer Placeholder 1">
            <a:extLst>
              <a:ext uri="{FF2B5EF4-FFF2-40B4-BE49-F238E27FC236}">
                <a16:creationId xmlns:a16="http://schemas.microsoft.com/office/drawing/2014/main" id="{7D2F24EC-BB35-1BA0-AAE2-EE44A9AAD3EF}"/>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57FD54D-A72D-E629-FCC5-7C6FE99C73D1}"/>
              </a:ext>
            </a:extLst>
          </p:cNvPr>
          <p:cNvSpPr>
            <a:spLocks noGrp="1" noChangeArrowheads="1"/>
          </p:cNvSpPr>
          <p:nvPr>
            <p:ph type="title"/>
          </p:nvPr>
        </p:nvSpPr>
        <p:spPr/>
        <p:txBody>
          <a:bodyPr/>
          <a:lstStyle/>
          <a:p>
            <a:pPr eaLnBrk="1" hangingPunct="1"/>
            <a:r>
              <a:rPr lang="en-US" altLang="en-US"/>
              <a:t>Majority (per Kennedy)</a:t>
            </a:r>
          </a:p>
        </p:txBody>
      </p:sp>
      <p:sp>
        <p:nvSpPr>
          <p:cNvPr id="17411" name="Rectangle 3">
            <a:extLst>
              <a:ext uri="{FF2B5EF4-FFF2-40B4-BE49-F238E27FC236}">
                <a16:creationId xmlns:a16="http://schemas.microsoft.com/office/drawing/2014/main" id="{A8D3B250-4383-5DC9-ADC5-87A0A905446F}"/>
              </a:ext>
            </a:extLst>
          </p:cNvPr>
          <p:cNvSpPr>
            <a:spLocks noGrp="1" noChangeArrowheads="1"/>
          </p:cNvSpPr>
          <p:nvPr>
            <p:ph type="body" idx="1"/>
          </p:nvPr>
        </p:nvSpPr>
        <p:spPr/>
        <p:txBody>
          <a:bodyPr/>
          <a:lstStyle/>
          <a:p>
            <a:pPr eaLnBrk="1" hangingPunct="1">
              <a:lnSpc>
                <a:spcPct val="80000"/>
              </a:lnSpc>
            </a:pPr>
            <a:r>
              <a:rPr lang="en-US" altLang="en-US" sz="2800" dirty="0"/>
              <a:t>If contract were a prospectus, it would be subject to the clearly inapplicable informational requirements of another section in the statute</a:t>
            </a:r>
          </a:p>
          <a:p>
            <a:pPr lvl="1" eaLnBrk="1" hangingPunct="1">
              <a:lnSpc>
                <a:spcPct val="80000"/>
              </a:lnSpc>
            </a:pPr>
            <a:r>
              <a:rPr lang="en-US" altLang="en-US" sz="2400" dirty="0">
                <a:solidFill>
                  <a:srgbClr val="FF0000"/>
                </a:solidFill>
              </a:rPr>
              <a:t>Presumption of consistent meaning </a:t>
            </a:r>
            <a:r>
              <a:rPr lang="en-US" altLang="en-US" sz="2400" dirty="0"/>
              <a:t>→ contract is not a prospectus</a:t>
            </a:r>
          </a:p>
          <a:p>
            <a:pPr eaLnBrk="1" hangingPunct="1">
              <a:lnSpc>
                <a:spcPct val="80000"/>
              </a:lnSpc>
            </a:pPr>
            <a:r>
              <a:rPr lang="en-US" altLang="en-US" sz="2800" dirty="0"/>
              <a:t>In the definition, “any . . . communication” follows “any . . . prospectus, notice, circular, advertisement, [or] letter”</a:t>
            </a:r>
          </a:p>
          <a:p>
            <a:pPr lvl="1" eaLnBrk="1" hangingPunct="1">
              <a:lnSpc>
                <a:spcPct val="80000"/>
              </a:lnSpc>
            </a:pPr>
            <a:r>
              <a:rPr lang="en-US" altLang="en-US" sz="2400" dirty="0"/>
              <a:t>Communication cannot mean any written communication or rest of list redundant</a:t>
            </a:r>
          </a:p>
          <a:p>
            <a:pPr lvl="1" eaLnBrk="1" hangingPunct="1">
              <a:lnSpc>
                <a:spcPct val="80000"/>
              </a:lnSpc>
            </a:pPr>
            <a:r>
              <a:rPr lang="en-US" altLang="en-US" sz="2400" dirty="0"/>
              <a:t>Noscitur a </a:t>
            </a:r>
            <a:r>
              <a:rPr lang="en-US" altLang="en-US" sz="2400" dirty="0" err="1"/>
              <a:t>nociis</a:t>
            </a:r>
            <a:r>
              <a:rPr lang="en-US" altLang="en-US" sz="2400" dirty="0"/>
              <a:t>:  Everything in the list refers to a communication of wide dissemination [Letter??]</a:t>
            </a:r>
          </a:p>
          <a:p>
            <a:pPr eaLnBrk="1" hangingPunct="1">
              <a:lnSpc>
                <a:spcPct val="80000"/>
              </a:lnSpc>
            </a:pPr>
            <a:endParaRPr lang="en-US" altLang="en-US" sz="2800" dirty="0"/>
          </a:p>
        </p:txBody>
      </p:sp>
      <p:sp>
        <p:nvSpPr>
          <p:cNvPr id="17412" name="Slide Number Placeholder 1">
            <a:extLst>
              <a:ext uri="{FF2B5EF4-FFF2-40B4-BE49-F238E27FC236}">
                <a16:creationId xmlns:a16="http://schemas.microsoft.com/office/drawing/2014/main" id="{83C20E26-CE89-D0B7-8701-22047E338A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A31BEE88-7D07-4D58-9A5A-7EBF003B630F}" type="slidenum">
              <a:rPr lang="en-US" altLang="en-US" sz="1400"/>
              <a:pPr eaLnBrk="1" hangingPunct="1">
                <a:spcBef>
                  <a:spcPct val="0"/>
                </a:spcBef>
                <a:buFontTx/>
                <a:buNone/>
              </a:pPr>
              <a:t>20</a:t>
            </a:fld>
            <a:endParaRPr lang="en-US" altLang="en-US" sz="1400"/>
          </a:p>
        </p:txBody>
      </p:sp>
      <p:sp>
        <p:nvSpPr>
          <p:cNvPr id="2" name="Footer Placeholder 1">
            <a:extLst>
              <a:ext uri="{FF2B5EF4-FFF2-40B4-BE49-F238E27FC236}">
                <a16:creationId xmlns:a16="http://schemas.microsoft.com/office/drawing/2014/main" id="{C5F70926-E56E-AAB0-2FA2-9A076245F267}"/>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6B9A5C1-44B0-98A6-8CBB-32A627AC1EE5}"/>
              </a:ext>
            </a:extLst>
          </p:cNvPr>
          <p:cNvSpPr>
            <a:spLocks noGrp="1" noChangeArrowheads="1"/>
          </p:cNvSpPr>
          <p:nvPr>
            <p:ph type="title"/>
          </p:nvPr>
        </p:nvSpPr>
        <p:spPr/>
        <p:txBody>
          <a:bodyPr/>
          <a:lstStyle/>
          <a:p>
            <a:pPr eaLnBrk="1" hangingPunct="1"/>
            <a:r>
              <a:rPr lang="en-US" altLang="en-US"/>
              <a:t>Dissent (note the group!!)</a:t>
            </a:r>
          </a:p>
        </p:txBody>
      </p:sp>
      <p:sp>
        <p:nvSpPr>
          <p:cNvPr id="18435" name="Rectangle 3">
            <a:extLst>
              <a:ext uri="{FF2B5EF4-FFF2-40B4-BE49-F238E27FC236}">
                <a16:creationId xmlns:a16="http://schemas.microsoft.com/office/drawing/2014/main" id="{1434E5DE-CD9B-BF89-FCF1-F0388FC68A8B}"/>
              </a:ext>
            </a:extLst>
          </p:cNvPr>
          <p:cNvSpPr>
            <a:spLocks noGrp="1" noChangeArrowheads="1"/>
          </p:cNvSpPr>
          <p:nvPr>
            <p:ph type="body" idx="1"/>
          </p:nvPr>
        </p:nvSpPr>
        <p:spPr/>
        <p:txBody>
          <a:bodyPr/>
          <a:lstStyle/>
          <a:p>
            <a:pPr eaLnBrk="1" hangingPunct="1">
              <a:lnSpc>
                <a:spcPct val="80000"/>
              </a:lnSpc>
            </a:pPr>
            <a:r>
              <a:rPr lang="en-US" altLang="en-US" sz="2800"/>
              <a:t>Thomas</a:t>
            </a:r>
          </a:p>
          <a:p>
            <a:pPr lvl="1" eaLnBrk="1" hangingPunct="1">
              <a:lnSpc>
                <a:spcPct val="80000"/>
              </a:lnSpc>
            </a:pPr>
            <a:r>
              <a:rPr lang="en-US" altLang="en-US" sz="2400"/>
              <a:t>Definition on its face defines prospectus to mean more than prospectus as a term of art</a:t>
            </a:r>
          </a:p>
          <a:p>
            <a:pPr lvl="1" eaLnBrk="1" hangingPunct="1">
              <a:lnSpc>
                <a:spcPct val="80000"/>
              </a:lnSpc>
            </a:pPr>
            <a:r>
              <a:rPr lang="en-US" altLang="en-US" sz="2400"/>
              <a:t>Majority uses canon to create ambiguity where none exists – the last item is intended as a catchall</a:t>
            </a:r>
          </a:p>
          <a:p>
            <a:pPr lvl="1" eaLnBrk="1" hangingPunct="1">
              <a:lnSpc>
                <a:spcPct val="80000"/>
              </a:lnSpc>
            </a:pPr>
            <a:r>
              <a:rPr lang="en-US" altLang="en-US" sz="2400"/>
              <a:t>Majority creates redundancy because it cannot otherwise explain why the definition of prospectus includes “prospectus”</a:t>
            </a:r>
          </a:p>
          <a:p>
            <a:pPr lvl="1" eaLnBrk="1" hangingPunct="1">
              <a:lnSpc>
                <a:spcPct val="80000"/>
              </a:lnSpc>
            </a:pPr>
            <a:r>
              <a:rPr lang="en-US" altLang="en-US" sz="2400"/>
              <a:t>Clear from structure and language of Act that “prospectus” means different things in different sections</a:t>
            </a:r>
          </a:p>
          <a:p>
            <a:pPr eaLnBrk="1" hangingPunct="1">
              <a:lnSpc>
                <a:spcPct val="80000"/>
              </a:lnSpc>
            </a:pPr>
            <a:r>
              <a:rPr lang="en-US" altLang="en-US" sz="2800"/>
              <a:t>Ginsburg</a:t>
            </a:r>
          </a:p>
          <a:p>
            <a:pPr lvl="1" eaLnBrk="1" hangingPunct="1">
              <a:lnSpc>
                <a:spcPct val="80000"/>
              </a:lnSpc>
            </a:pPr>
            <a:r>
              <a:rPr lang="en-US" altLang="en-US" sz="2400"/>
              <a:t>Presumption of consistent meaning weak here</a:t>
            </a:r>
          </a:p>
          <a:p>
            <a:pPr lvl="1" eaLnBrk="1" hangingPunct="1">
              <a:lnSpc>
                <a:spcPct val="80000"/>
              </a:lnSpc>
            </a:pPr>
            <a:endParaRPr lang="en-US" altLang="en-US" sz="2400"/>
          </a:p>
        </p:txBody>
      </p:sp>
      <p:sp>
        <p:nvSpPr>
          <p:cNvPr id="18436" name="Slide Number Placeholder 1">
            <a:extLst>
              <a:ext uri="{FF2B5EF4-FFF2-40B4-BE49-F238E27FC236}">
                <a16:creationId xmlns:a16="http://schemas.microsoft.com/office/drawing/2014/main" id="{F64D8985-9582-8D06-9E46-32A5D6B78D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07E9E07D-1D22-4CE2-ADFD-CD1527496E6C}" type="slidenum">
              <a:rPr lang="en-US" altLang="en-US" sz="1400"/>
              <a:pPr eaLnBrk="1" hangingPunct="1">
                <a:spcBef>
                  <a:spcPct val="0"/>
                </a:spcBef>
                <a:buFontTx/>
                <a:buNone/>
              </a:pPr>
              <a:t>21</a:t>
            </a:fld>
            <a:endParaRPr lang="en-US" altLang="en-US" sz="1400"/>
          </a:p>
        </p:txBody>
      </p:sp>
      <p:sp>
        <p:nvSpPr>
          <p:cNvPr id="2" name="Footer Placeholder 1">
            <a:extLst>
              <a:ext uri="{FF2B5EF4-FFF2-40B4-BE49-F238E27FC236}">
                <a16:creationId xmlns:a16="http://schemas.microsoft.com/office/drawing/2014/main" id="{38E8DF6D-067C-B1B2-F1ED-BED333BD80F0}"/>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74520AD-04DF-BA9D-F4A3-F17195F6C3DB}"/>
              </a:ext>
            </a:extLst>
          </p:cNvPr>
          <p:cNvSpPr>
            <a:spLocks noGrp="1" noChangeArrowheads="1"/>
          </p:cNvSpPr>
          <p:nvPr>
            <p:ph type="title"/>
          </p:nvPr>
        </p:nvSpPr>
        <p:spPr/>
        <p:txBody>
          <a:bodyPr/>
          <a:lstStyle/>
          <a:p>
            <a:pPr eaLnBrk="1" hangingPunct="1"/>
            <a:r>
              <a:rPr lang="en-US" altLang="en-US" sz="4000"/>
              <a:t>Giving Every Word </a:t>
            </a:r>
            <a:br>
              <a:rPr lang="en-US" altLang="en-US" sz="4000"/>
            </a:br>
            <a:r>
              <a:rPr lang="en-US" altLang="en-US" sz="4000"/>
              <a:t>Independent Meaning</a:t>
            </a:r>
          </a:p>
        </p:txBody>
      </p:sp>
      <p:sp>
        <p:nvSpPr>
          <p:cNvPr id="21507" name="Rectangle 3">
            <a:extLst>
              <a:ext uri="{FF2B5EF4-FFF2-40B4-BE49-F238E27FC236}">
                <a16:creationId xmlns:a16="http://schemas.microsoft.com/office/drawing/2014/main" id="{9DF5EFE3-CF9F-15EC-BDD0-BFBD7A1D1889}"/>
              </a:ext>
            </a:extLst>
          </p:cNvPr>
          <p:cNvSpPr>
            <a:spLocks noGrp="1" noChangeArrowheads="1"/>
          </p:cNvSpPr>
          <p:nvPr>
            <p:ph type="body" idx="1"/>
          </p:nvPr>
        </p:nvSpPr>
        <p:spPr/>
        <p:txBody>
          <a:bodyPr/>
          <a:lstStyle/>
          <a:p>
            <a:pPr eaLnBrk="1" hangingPunct="1"/>
            <a:r>
              <a:rPr lang="en-US" altLang="en-US" dirty="0"/>
              <a:t>Does Kennedy do it?</a:t>
            </a:r>
          </a:p>
          <a:p>
            <a:pPr eaLnBrk="1" hangingPunct="1"/>
            <a:r>
              <a:rPr lang="en-US" altLang="en-US" dirty="0"/>
              <a:t>Note potential tension between </a:t>
            </a:r>
            <a:r>
              <a:rPr lang="en-US" altLang="en-US" i="1" dirty="0"/>
              <a:t>noscitur a sociis</a:t>
            </a:r>
            <a:r>
              <a:rPr lang="en-US" altLang="en-US" dirty="0"/>
              <a:t> and anti-redundancy rule</a:t>
            </a:r>
          </a:p>
        </p:txBody>
      </p:sp>
      <p:sp>
        <p:nvSpPr>
          <p:cNvPr id="21508" name="Slide Number Placeholder 1">
            <a:extLst>
              <a:ext uri="{FF2B5EF4-FFF2-40B4-BE49-F238E27FC236}">
                <a16:creationId xmlns:a16="http://schemas.microsoft.com/office/drawing/2014/main" id="{FCF6A73B-DFCC-49DA-2B3A-6C6682A95F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462EA9EF-EC22-4246-AE30-71DD8A2F59EB}" type="slidenum">
              <a:rPr lang="en-US" altLang="en-US" sz="1400"/>
              <a:pPr eaLnBrk="1" hangingPunct="1">
                <a:spcBef>
                  <a:spcPct val="0"/>
                </a:spcBef>
                <a:buFontTx/>
                <a:buNone/>
              </a:pPr>
              <a:t>22</a:t>
            </a:fld>
            <a:endParaRPr lang="en-US" altLang="en-US" sz="1400"/>
          </a:p>
        </p:txBody>
      </p:sp>
      <p:sp>
        <p:nvSpPr>
          <p:cNvPr id="2" name="Footer Placeholder 1">
            <a:extLst>
              <a:ext uri="{FF2B5EF4-FFF2-40B4-BE49-F238E27FC236}">
                <a16:creationId xmlns:a16="http://schemas.microsoft.com/office/drawing/2014/main" id="{1AEF99BA-54A6-485C-3F43-4470A56C3E2A}"/>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A6EC2BB-85DC-8C7B-4D9A-12AB11B65E11}"/>
              </a:ext>
            </a:extLst>
          </p:cNvPr>
          <p:cNvSpPr>
            <a:spLocks noGrp="1"/>
          </p:cNvSpPr>
          <p:nvPr>
            <p:ph type="title"/>
          </p:nvPr>
        </p:nvSpPr>
        <p:spPr/>
        <p:txBody>
          <a:bodyPr/>
          <a:lstStyle/>
          <a:p>
            <a:r>
              <a:rPr lang="en-US" altLang="en-US"/>
              <a:t>Noscitur a Sociis</a:t>
            </a:r>
          </a:p>
        </p:txBody>
      </p:sp>
      <p:pic>
        <p:nvPicPr>
          <p:cNvPr id="21507" name="Content Placeholder 3" descr="boxer.jpg">
            <a:extLst>
              <a:ext uri="{FF2B5EF4-FFF2-40B4-BE49-F238E27FC236}">
                <a16:creationId xmlns:a16="http://schemas.microsoft.com/office/drawing/2014/main" id="{BF2D61DD-886F-9620-1293-6D40C523D5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5410200" y="2743200"/>
            <a:ext cx="2971800" cy="3622675"/>
          </a:xfrm>
        </p:spPr>
      </p:pic>
      <p:pic>
        <p:nvPicPr>
          <p:cNvPr id="21508" name="Picture 4" descr="Dog Trainer.jpg">
            <a:extLst>
              <a:ext uri="{FF2B5EF4-FFF2-40B4-BE49-F238E27FC236}">
                <a16:creationId xmlns:a16="http://schemas.microsoft.com/office/drawing/2014/main" id="{3FC5280E-0C90-09DE-B9A4-1C7A2B167A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09800"/>
            <a:ext cx="3911600" cy="313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Callout 5">
            <a:extLst>
              <a:ext uri="{FF2B5EF4-FFF2-40B4-BE49-F238E27FC236}">
                <a16:creationId xmlns:a16="http://schemas.microsoft.com/office/drawing/2014/main" id="{836E7EA5-6E6A-FD7F-C2C7-66A581EAFEBA}"/>
              </a:ext>
            </a:extLst>
          </p:cNvPr>
          <p:cNvSpPr/>
          <p:nvPr/>
        </p:nvSpPr>
        <p:spPr>
          <a:xfrm>
            <a:off x="914400" y="1524000"/>
            <a:ext cx="3810000" cy="6858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I also train collies, boxers, and corgis</a:t>
            </a:r>
          </a:p>
        </p:txBody>
      </p:sp>
      <p:sp>
        <p:nvSpPr>
          <p:cNvPr id="7" name="Oval Callout 6">
            <a:extLst>
              <a:ext uri="{FF2B5EF4-FFF2-40B4-BE49-F238E27FC236}">
                <a16:creationId xmlns:a16="http://schemas.microsoft.com/office/drawing/2014/main" id="{ABD002D2-42A3-4900-74D3-A92C06DED39B}"/>
              </a:ext>
            </a:extLst>
          </p:cNvPr>
          <p:cNvSpPr/>
          <p:nvPr/>
        </p:nvSpPr>
        <p:spPr>
          <a:xfrm>
            <a:off x="6934200" y="762000"/>
            <a:ext cx="1524000" cy="19050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Where do I sign up?</a:t>
            </a:r>
          </a:p>
        </p:txBody>
      </p:sp>
      <p:sp>
        <p:nvSpPr>
          <p:cNvPr id="2" name="Footer Placeholder 1">
            <a:extLst>
              <a:ext uri="{FF2B5EF4-FFF2-40B4-BE49-F238E27FC236}">
                <a16:creationId xmlns:a16="http://schemas.microsoft.com/office/drawing/2014/main" id="{75DB709A-6106-A8F1-5B71-E235835FC256}"/>
              </a:ext>
            </a:extLst>
          </p:cNvPr>
          <p:cNvSpPr>
            <a:spLocks noGrp="1"/>
          </p:cNvSpPr>
          <p:nvPr>
            <p:ph type="ftr" sz="quarter" idx="11"/>
          </p:nvPr>
        </p:nvSpPr>
        <p:spPr/>
        <p:txBody>
          <a:bodyPr/>
          <a:lstStyle/>
          <a:p>
            <a:pPr>
              <a:defRPr/>
            </a:pPr>
            <a:r>
              <a:rPr lang="en-US"/>
              <a:t>© Copyright 2026.  Peter M. Shane All rights reserved. </a:t>
            </a:r>
          </a:p>
        </p:txBody>
      </p:sp>
      <p:sp>
        <p:nvSpPr>
          <p:cNvPr id="3" name="Slide Number Placeholder 2">
            <a:extLst>
              <a:ext uri="{FF2B5EF4-FFF2-40B4-BE49-F238E27FC236}">
                <a16:creationId xmlns:a16="http://schemas.microsoft.com/office/drawing/2014/main" id="{A64B4D10-DC9A-012A-11E9-DCEDB14A6E16}"/>
              </a:ext>
            </a:extLst>
          </p:cNvPr>
          <p:cNvSpPr>
            <a:spLocks noGrp="1"/>
          </p:cNvSpPr>
          <p:nvPr>
            <p:ph type="sldNum" sz="quarter" idx="12"/>
          </p:nvPr>
        </p:nvSpPr>
        <p:spPr/>
        <p:txBody>
          <a:bodyPr/>
          <a:lstStyle/>
          <a:p>
            <a:fld id="{2D29E99E-9B29-45D0-88DA-823C9D293DFF}" type="slidenum">
              <a:rPr lang="en-US" altLang="en-US" smtClean="0"/>
              <a:pPr/>
              <a:t>23</a:t>
            </a:fld>
            <a:endParaRPr lang="en-US" altLang="en-US"/>
          </a:p>
        </p:txBody>
      </p:sp>
    </p:spTree>
    <p:extLst>
      <p:ext uri="{BB962C8B-B14F-4D97-AF65-F5344CB8AC3E}">
        <p14:creationId xmlns:p14="http://schemas.microsoft.com/office/powerpoint/2010/main" val="3128696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BD43FC2-43E0-2A89-E5A3-84D551A97FF9}"/>
              </a:ext>
            </a:extLst>
          </p:cNvPr>
          <p:cNvSpPr>
            <a:spLocks noGrp="1" noChangeArrowheads="1"/>
          </p:cNvSpPr>
          <p:nvPr>
            <p:ph type="title"/>
          </p:nvPr>
        </p:nvSpPr>
        <p:spPr/>
        <p:txBody>
          <a:bodyPr/>
          <a:lstStyle/>
          <a:p>
            <a:pPr eaLnBrk="1" hangingPunct="1"/>
            <a:r>
              <a:rPr lang="en-US" altLang="en-US" sz="4000"/>
              <a:t>Comparing </a:t>
            </a:r>
            <a:r>
              <a:rPr lang="en-US" altLang="en-US" sz="4000" i="1"/>
              <a:t>Noscitur a Sociis</a:t>
            </a:r>
            <a:r>
              <a:rPr lang="en-US" altLang="en-US" sz="4000"/>
              <a:t> Cases</a:t>
            </a:r>
          </a:p>
        </p:txBody>
      </p:sp>
      <p:sp>
        <p:nvSpPr>
          <p:cNvPr id="19459" name="Rectangle 3">
            <a:extLst>
              <a:ext uri="{FF2B5EF4-FFF2-40B4-BE49-F238E27FC236}">
                <a16:creationId xmlns:a16="http://schemas.microsoft.com/office/drawing/2014/main" id="{F8C7FF04-DF57-843B-EA8D-606B4973FCD0}"/>
              </a:ext>
            </a:extLst>
          </p:cNvPr>
          <p:cNvSpPr>
            <a:spLocks noGrp="1" noChangeArrowheads="1"/>
          </p:cNvSpPr>
          <p:nvPr>
            <p:ph type="body" idx="1"/>
          </p:nvPr>
        </p:nvSpPr>
        <p:spPr/>
        <p:txBody>
          <a:bodyPr/>
          <a:lstStyle/>
          <a:p>
            <a:pPr eaLnBrk="1" hangingPunct="1"/>
            <a:r>
              <a:rPr lang="en-US" altLang="en-US" sz="2800" dirty="0"/>
              <a:t>When excess profits tax was imposed on “abnormal income” from </a:t>
            </a:r>
            <a:r>
              <a:rPr lang="en-US" altLang="en-US" sz="2800" u="sng" dirty="0"/>
              <a:t>“exploration, discovery, or prospecting, or any combination of the foregoing</a:t>
            </a:r>
            <a:r>
              <a:rPr lang="en-US" altLang="en-US" sz="2800" dirty="0"/>
              <a:t>,” “discovery” refers to income-producing activity in the oil and gas and mining industries, not other industries where discoveries are profitable. </a:t>
            </a:r>
            <a:r>
              <a:rPr lang="en-US" altLang="en-US" sz="2800" i="1" dirty="0"/>
              <a:t>Jarecki v. G.D. Searle &amp; Co</a:t>
            </a:r>
            <a:r>
              <a:rPr lang="en-US" altLang="en-US" sz="2800" dirty="0"/>
              <a:t>., 367 U.S. 303 (1961) [income from discovery of a pharmaceutical not covered] </a:t>
            </a:r>
          </a:p>
          <a:p>
            <a:pPr eaLnBrk="1" hangingPunct="1"/>
            <a:r>
              <a:rPr lang="en-US" altLang="en-US" sz="2800" dirty="0"/>
              <a:t>Better use than in </a:t>
            </a:r>
            <a:r>
              <a:rPr lang="en-US" altLang="en-US" sz="2800" i="1" dirty="0"/>
              <a:t>Gustafson</a:t>
            </a:r>
            <a:r>
              <a:rPr lang="en-US" altLang="en-US" sz="2800" dirty="0"/>
              <a:t>?  Why?</a:t>
            </a:r>
          </a:p>
        </p:txBody>
      </p:sp>
      <p:sp>
        <p:nvSpPr>
          <p:cNvPr id="19460" name="Slide Number Placeholder 1">
            <a:extLst>
              <a:ext uri="{FF2B5EF4-FFF2-40B4-BE49-F238E27FC236}">
                <a16:creationId xmlns:a16="http://schemas.microsoft.com/office/drawing/2014/main" id="{F7A212F4-1B67-3339-D54E-29F7C3B3D8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5DE2445B-78C5-49A8-B786-45A4804EDEE5}" type="slidenum">
              <a:rPr lang="en-US" altLang="en-US" sz="1400"/>
              <a:pPr eaLnBrk="1" hangingPunct="1">
                <a:spcBef>
                  <a:spcPct val="0"/>
                </a:spcBef>
                <a:buFontTx/>
                <a:buNone/>
              </a:pPr>
              <a:t>24</a:t>
            </a:fld>
            <a:endParaRPr lang="en-US" altLang="en-US" sz="1400" dirty="0"/>
          </a:p>
        </p:txBody>
      </p:sp>
      <p:sp>
        <p:nvSpPr>
          <p:cNvPr id="2" name="Footer Placeholder 1">
            <a:extLst>
              <a:ext uri="{FF2B5EF4-FFF2-40B4-BE49-F238E27FC236}">
                <a16:creationId xmlns:a16="http://schemas.microsoft.com/office/drawing/2014/main" id="{351FA3A8-26C9-5A8F-4DE5-69ECC98B9651}"/>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B61BA4B-5F3E-8B8B-E6C6-E9D4AF80388B}"/>
              </a:ext>
            </a:extLst>
          </p:cNvPr>
          <p:cNvSpPr>
            <a:spLocks noGrp="1"/>
          </p:cNvSpPr>
          <p:nvPr>
            <p:ph type="title"/>
          </p:nvPr>
        </p:nvSpPr>
        <p:spPr/>
        <p:txBody>
          <a:bodyPr/>
          <a:lstStyle/>
          <a:p>
            <a:r>
              <a:rPr lang="en-US" altLang="en-US" i="1" dirty="0"/>
              <a:t>Raila v. U.S</a:t>
            </a:r>
            <a:r>
              <a:rPr lang="en-US" altLang="en-US" dirty="0"/>
              <a:t>. (2d Cir. 2006)</a:t>
            </a:r>
          </a:p>
        </p:txBody>
      </p:sp>
      <p:sp>
        <p:nvSpPr>
          <p:cNvPr id="22531" name="Content Placeholder 2">
            <a:extLst>
              <a:ext uri="{FF2B5EF4-FFF2-40B4-BE49-F238E27FC236}">
                <a16:creationId xmlns:a16="http://schemas.microsoft.com/office/drawing/2014/main" id="{4EC19187-AEB8-9E47-AE7E-40C59226A34E}"/>
              </a:ext>
            </a:extLst>
          </p:cNvPr>
          <p:cNvSpPr>
            <a:spLocks noGrp="1"/>
          </p:cNvSpPr>
          <p:nvPr>
            <p:ph idx="1"/>
          </p:nvPr>
        </p:nvSpPr>
        <p:spPr/>
        <p:txBody>
          <a:bodyPr/>
          <a:lstStyle/>
          <a:p>
            <a:r>
              <a:rPr lang="en-US" altLang="en-US" dirty="0"/>
              <a:t>Ambiguous language:  No damages suits against U.S. for “[a]</a:t>
            </a:r>
            <a:r>
              <a:rPr lang="en-US" altLang="en-US" dirty="0" err="1"/>
              <a:t>ny</a:t>
            </a:r>
            <a:r>
              <a:rPr lang="en-US" altLang="en-US" dirty="0"/>
              <a:t> claim arising out of the loss, miscarriage, or negligent transmission of letters or postal matter”</a:t>
            </a:r>
          </a:p>
          <a:p>
            <a:r>
              <a:rPr lang="en-US" altLang="en-US" dirty="0"/>
              <a:t>Does “negligent transmission,” etc. cover only negligence that damages the postal material or the negligent placement of postal material that causes physical injury?</a:t>
            </a:r>
          </a:p>
        </p:txBody>
      </p:sp>
      <p:sp>
        <p:nvSpPr>
          <p:cNvPr id="22532" name="Slide Number Placeholder 3">
            <a:extLst>
              <a:ext uri="{FF2B5EF4-FFF2-40B4-BE49-F238E27FC236}">
                <a16:creationId xmlns:a16="http://schemas.microsoft.com/office/drawing/2014/main" id="{3B166A98-52BE-65C1-DD89-DA2EF81163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C7E0ECC8-35D8-4DEE-8BBB-0781710EA40F}" type="slidenum">
              <a:rPr lang="en-US" altLang="en-US" sz="1400"/>
              <a:pPr eaLnBrk="1" hangingPunct="1">
                <a:spcBef>
                  <a:spcPct val="0"/>
                </a:spcBef>
                <a:buFontTx/>
                <a:buNone/>
              </a:pPr>
              <a:t>25</a:t>
            </a:fld>
            <a:endParaRPr lang="en-US" altLang="en-US" sz="1400"/>
          </a:p>
        </p:txBody>
      </p:sp>
      <p:sp>
        <p:nvSpPr>
          <p:cNvPr id="2" name="Footer Placeholder 1">
            <a:extLst>
              <a:ext uri="{FF2B5EF4-FFF2-40B4-BE49-F238E27FC236}">
                <a16:creationId xmlns:a16="http://schemas.microsoft.com/office/drawing/2014/main" id="{206ADCF7-91FE-1A3A-C9B3-40E1AB24CAD0}"/>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i="1"/>
              <a:t>Noscitur a Sociis </a:t>
            </a:r>
            <a:r>
              <a:rPr lang="en-US" altLang="en-US"/>
              <a:t>Applied</a:t>
            </a:r>
          </a:p>
        </p:txBody>
      </p:sp>
      <p:sp>
        <p:nvSpPr>
          <p:cNvPr id="11267" name="Content Placeholder 2"/>
          <p:cNvSpPr>
            <a:spLocks noGrp="1"/>
          </p:cNvSpPr>
          <p:nvPr>
            <p:ph idx="1"/>
          </p:nvPr>
        </p:nvSpPr>
        <p:spPr/>
        <p:txBody>
          <a:bodyPr/>
          <a:lstStyle/>
          <a:p>
            <a:r>
              <a:rPr lang="en-US" altLang="en-US" dirty="0"/>
              <a:t>Because “loss” and “miscarriage” refer only to loss or damage to mail itself, “negligent transmission” might also be so limited</a:t>
            </a:r>
          </a:p>
          <a:p>
            <a:r>
              <a:rPr lang="en-US" altLang="en-US" dirty="0"/>
              <a:t>But in the Third Circuit: Relied on canon: Ambiguities in the waiver of sovereign immunity should be construed in favor of the government (Why?)</a:t>
            </a:r>
          </a:p>
          <a:p>
            <a:endParaRPr lang="en-US" altLang="en-US" sz="3600" dirty="0"/>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E40EBDF5-1AC3-434C-98BF-5BA6234CAA01}" type="slidenum">
              <a:rPr lang="en-US" altLang="en-US" sz="1400"/>
              <a:pPr eaLnBrk="1" hangingPunct="1">
                <a:spcBef>
                  <a:spcPct val="0"/>
                </a:spcBef>
                <a:buFontTx/>
                <a:buNone/>
              </a:pPr>
              <a:t>26</a:t>
            </a:fld>
            <a:endParaRPr lang="en-US" altLang="en-US" sz="1400"/>
          </a:p>
        </p:txBody>
      </p:sp>
      <p:sp>
        <p:nvSpPr>
          <p:cNvPr id="2" name="Footer Placeholder 1">
            <a:extLst>
              <a:ext uri="{FF2B5EF4-FFF2-40B4-BE49-F238E27FC236}">
                <a16:creationId xmlns:a16="http://schemas.microsoft.com/office/drawing/2014/main" id="{E2A85A81-3965-1915-7307-AA6E226B80EF}"/>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3387203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i="1" dirty="0"/>
              <a:t>Dolan v. USPS </a:t>
            </a:r>
            <a:r>
              <a:rPr lang="en-US" altLang="en-US" dirty="0"/>
              <a:t>(2006)</a:t>
            </a:r>
          </a:p>
        </p:txBody>
      </p:sp>
      <p:sp>
        <p:nvSpPr>
          <p:cNvPr id="10243" name="Content Placeholder 2"/>
          <p:cNvSpPr>
            <a:spLocks noGrp="1"/>
          </p:cNvSpPr>
          <p:nvPr>
            <p:ph idx="1"/>
          </p:nvPr>
        </p:nvSpPr>
        <p:spPr/>
        <p:txBody>
          <a:bodyPr/>
          <a:lstStyle/>
          <a:p>
            <a:r>
              <a:rPr lang="en-US" altLang="en-US" dirty="0"/>
              <a:t>Ambiguous language:  No damages suits against U.S. for “[a]</a:t>
            </a:r>
            <a:r>
              <a:rPr lang="en-US" altLang="en-US" dirty="0" err="1"/>
              <a:t>ny</a:t>
            </a:r>
            <a:r>
              <a:rPr lang="en-US" altLang="en-US" dirty="0"/>
              <a:t> claim arising out of the loss, miscarriage, or negligent transmission of letters or postal matter”</a:t>
            </a:r>
          </a:p>
          <a:p>
            <a:r>
              <a:rPr lang="en-US" altLang="en-US" dirty="0"/>
              <a:t>Does “negligent transmission,” etc. cover only negligence that damages the postal material or the negligent placement of postal material that causes physical injury?</a:t>
            </a:r>
          </a:p>
        </p:txBody>
      </p:sp>
      <p:sp>
        <p:nvSpPr>
          <p:cNvPr id="102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15B82F8A-883E-497B-A3D5-7F06B2341FA3}" type="slidenum">
              <a:rPr lang="en-US" altLang="en-US" sz="1400"/>
              <a:pPr eaLnBrk="1" hangingPunct="1">
                <a:spcBef>
                  <a:spcPct val="0"/>
                </a:spcBef>
                <a:buFontTx/>
                <a:buNone/>
              </a:pPr>
              <a:t>27</a:t>
            </a:fld>
            <a:endParaRPr lang="en-US" altLang="en-US" sz="1400"/>
          </a:p>
        </p:txBody>
      </p:sp>
      <p:sp>
        <p:nvSpPr>
          <p:cNvPr id="2" name="Footer Placeholder 1">
            <a:extLst>
              <a:ext uri="{FF2B5EF4-FFF2-40B4-BE49-F238E27FC236}">
                <a16:creationId xmlns:a16="http://schemas.microsoft.com/office/drawing/2014/main" id="{C9B94A8F-C500-6014-F1D8-3DBC47314AFA}"/>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057100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73F86-2E52-BFA5-E974-31481CB7EC14}"/>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7F9F292E-3ECE-8765-5648-A4EA06AD7617}"/>
              </a:ext>
            </a:extLst>
          </p:cNvPr>
          <p:cNvSpPr>
            <a:spLocks noGrp="1"/>
          </p:cNvSpPr>
          <p:nvPr>
            <p:ph type="title"/>
          </p:nvPr>
        </p:nvSpPr>
        <p:spPr/>
        <p:txBody>
          <a:bodyPr/>
          <a:lstStyle/>
          <a:p>
            <a:r>
              <a:rPr lang="en-US" altLang="en-US" dirty="0"/>
              <a:t>Dolan v. USPS (2006) - 2</a:t>
            </a:r>
          </a:p>
        </p:txBody>
      </p:sp>
      <p:sp>
        <p:nvSpPr>
          <p:cNvPr id="10243" name="Content Placeholder 2">
            <a:extLst>
              <a:ext uri="{FF2B5EF4-FFF2-40B4-BE49-F238E27FC236}">
                <a16:creationId xmlns:a16="http://schemas.microsoft.com/office/drawing/2014/main" id="{A4BDA2DB-3BF0-5081-2D73-9AC84EE6378F}"/>
              </a:ext>
            </a:extLst>
          </p:cNvPr>
          <p:cNvSpPr>
            <a:spLocks noGrp="1"/>
          </p:cNvSpPr>
          <p:nvPr>
            <p:ph idx="1"/>
          </p:nvPr>
        </p:nvSpPr>
        <p:spPr/>
        <p:txBody>
          <a:bodyPr/>
          <a:lstStyle/>
          <a:p>
            <a:r>
              <a:rPr lang="en-US" altLang="en-US" dirty="0"/>
              <a:t>Kennedy for the majority</a:t>
            </a:r>
          </a:p>
          <a:p>
            <a:pPr lvl="1"/>
            <a:r>
              <a:rPr lang="en-US" altLang="en-US" dirty="0"/>
              <a:t>Noscitur a sociis</a:t>
            </a:r>
          </a:p>
          <a:p>
            <a:pPr lvl="1"/>
            <a:r>
              <a:rPr lang="en-US" altLang="en-US" dirty="0"/>
              <a:t>No distinction between driving and negligent placement of mailbag</a:t>
            </a:r>
          </a:p>
          <a:p>
            <a:pPr lvl="1"/>
            <a:r>
              <a:rPr lang="en-US" altLang="en-US" dirty="0"/>
              <a:t>Narrower categories of loss may be insured against</a:t>
            </a:r>
          </a:p>
          <a:p>
            <a:pPr lvl="1"/>
            <a:r>
              <a:rPr lang="en-US" altLang="en-US" dirty="0"/>
              <a:t>FTCA purpose to make gov’t liable for torts</a:t>
            </a:r>
          </a:p>
          <a:p>
            <a:r>
              <a:rPr lang="en-US" altLang="en-US" dirty="0"/>
              <a:t>Thomas, J., dissents based on plain meaning</a:t>
            </a:r>
          </a:p>
          <a:p>
            <a:pPr marL="0" indent="0">
              <a:buNone/>
            </a:pPr>
            <a:endParaRPr lang="en-US" altLang="en-US" dirty="0"/>
          </a:p>
        </p:txBody>
      </p:sp>
      <p:sp>
        <p:nvSpPr>
          <p:cNvPr id="10244" name="Slide Number Placeholder 3">
            <a:extLst>
              <a:ext uri="{FF2B5EF4-FFF2-40B4-BE49-F238E27FC236}">
                <a16:creationId xmlns:a16="http://schemas.microsoft.com/office/drawing/2014/main" id="{BE8B3586-3860-2315-769B-FE6B49C9850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15B82F8A-883E-497B-A3D5-7F06B2341FA3}" type="slidenum">
              <a:rPr lang="en-US" altLang="en-US" sz="1400"/>
              <a:pPr eaLnBrk="1" hangingPunct="1">
                <a:spcBef>
                  <a:spcPct val="0"/>
                </a:spcBef>
                <a:buFontTx/>
                <a:buNone/>
              </a:pPr>
              <a:t>28</a:t>
            </a:fld>
            <a:endParaRPr lang="en-US" altLang="en-US" sz="1400"/>
          </a:p>
        </p:txBody>
      </p:sp>
      <p:sp>
        <p:nvSpPr>
          <p:cNvPr id="2" name="Footer Placeholder 1">
            <a:extLst>
              <a:ext uri="{FF2B5EF4-FFF2-40B4-BE49-F238E27FC236}">
                <a16:creationId xmlns:a16="http://schemas.microsoft.com/office/drawing/2014/main" id="{9B189E39-B6D5-8D5F-F5FF-4715CD71E109}"/>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908056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A40757C-4347-2ECF-71BC-9AB879D167C3}"/>
              </a:ext>
            </a:extLst>
          </p:cNvPr>
          <p:cNvSpPr>
            <a:spLocks noGrp="1"/>
          </p:cNvSpPr>
          <p:nvPr>
            <p:ph type="title"/>
          </p:nvPr>
        </p:nvSpPr>
        <p:spPr/>
        <p:txBody>
          <a:bodyPr/>
          <a:lstStyle/>
          <a:p>
            <a:r>
              <a:rPr lang="en-US" altLang="en-US"/>
              <a:t>Other Clues</a:t>
            </a:r>
          </a:p>
        </p:txBody>
      </p:sp>
      <p:sp>
        <p:nvSpPr>
          <p:cNvPr id="24579" name="Content Placeholder 2">
            <a:extLst>
              <a:ext uri="{FF2B5EF4-FFF2-40B4-BE49-F238E27FC236}">
                <a16:creationId xmlns:a16="http://schemas.microsoft.com/office/drawing/2014/main" id="{77B9ED57-9175-1BDF-A600-CC62FED4C23F}"/>
              </a:ext>
            </a:extLst>
          </p:cNvPr>
          <p:cNvSpPr>
            <a:spLocks noGrp="1"/>
          </p:cNvSpPr>
          <p:nvPr>
            <p:ph idx="1"/>
          </p:nvPr>
        </p:nvSpPr>
        <p:spPr/>
        <p:txBody>
          <a:bodyPr/>
          <a:lstStyle/>
          <a:p>
            <a:r>
              <a:rPr lang="en-US" altLang="en-US"/>
              <a:t>Phrase facially narrower than other exceptions to waiver of sovereign immunity</a:t>
            </a:r>
          </a:p>
          <a:p>
            <a:r>
              <a:rPr lang="en-US" altLang="en-US"/>
              <a:t>Supreme Court precedent says exception does not bar suits for negligent handling of postal vehicles</a:t>
            </a:r>
          </a:p>
          <a:p>
            <a:r>
              <a:rPr lang="en-US" altLang="en-US"/>
              <a:t>Legislative history</a:t>
            </a:r>
          </a:p>
          <a:p>
            <a:r>
              <a:rPr lang="en-US" altLang="en-US"/>
              <a:t>Absurd results (pp. 63-64)</a:t>
            </a:r>
          </a:p>
        </p:txBody>
      </p:sp>
      <p:sp>
        <p:nvSpPr>
          <p:cNvPr id="24580" name="Slide Number Placeholder 3">
            <a:extLst>
              <a:ext uri="{FF2B5EF4-FFF2-40B4-BE49-F238E27FC236}">
                <a16:creationId xmlns:a16="http://schemas.microsoft.com/office/drawing/2014/main" id="{DEF16C51-0763-69ED-14B0-30A91A157C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C1A8DA5F-4560-437E-9CD8-A1A1A0084F58}" type="slidenum">
              <a:rPr lang="en-US" altLang="en-US" sz="1400"/>
              <a:pPr eaLnBrk="1" hangingPunct="1">
                <a:spcBef>
                  <a:spcPct val="0"/>
                </a:spcBef>
                <a:buFontTx/>
                <a:buNone/>
              </a:pPr>
              <a:t>29</a:t>
            </a:fld>
            <a:endParaRPr lang="en-US" altLang="en-US" sz="1400"/>
          </a:p>
        </p:txBody>
      </p:sp>
      <p:sp>
        <p:nvSpPr>
          <p:cNvPr id="2" name="Footer Placeholder 1">
            <a:extLst>
              <a:ext uri="{FF2B5EF4-FFF2-40B4-BE49-F238E27FC236}">
                <a16:creationId xmlns:a16="http://schemas.microsoft.com/office/drawing/2014/main" id="{6CB241C1-7094-0AE5-00B2-89B22DFF02D0}"/>
              </a:ext>
            </a:extLst>
          </p:cNvPr>
          <p:cNvSpPr>
            <a:spLocks noGrp="1"/>
          </p:cNvSpPr>
          <p:nvPr>
            <p:ph type="ftr" sz="quarter" idx="11"/>
          </p:nvPr>
        </p:nvSpPr>
        <p:spPr/>
        <p:txBody>
          <a:bodyPr/>
          <a:lstStyle/>
          <a:p>
            <a:pPr>
              <a:defRPr/>
            </a:pPr>
            <a:r>
              <a:rPr lang="en-US"/>
              <a:t>© Copyright 2026.  Peter M. Shane All rights reserved.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790CDC6-6D32-720B-1D3C-18E51C4C3681}"/>
              </a:ext>
            </a:extLst>
          </p:cNvPr>
          <p:cNvSpPr>
            <a:spLocks noGrp="1"/>
          </p:cNvSpPr>
          <p:nvPr>
            <p:ph type="title"/>
          </p:nvPr>
        </p:nvSpPr>
        <p:spPr/>
        <p:txBody>
          <a:bodyPr/>
          <a:lstStyle/>
          <a:p>
            <a:r>
              <a:rPr lang="en-US" altLang="en-US"/>
              <a:t>Ejusdem Generis</a:t>
            </a:r>
          </a:p>
        </p:txBody>
      </p:sp>
      <p:sp>
        <p:nvSpPr>
          <p:cNvPr id="3" name="Content Placeholder 2">
            <a:extLst>
              <a:ext uri="{FF2B5EF4-FFF2-40B4-BE49-F238E27FC236}">
                <a16:creationId xmlns:a16="http://schemas.microsoft.com/office/drawing/2014/main" id="{EF6DA5CA-54FA-A316-9DE0-9B2B059BDB49}"/>
              </a:ext>
            </a:extLst>
          </p:cNvPr>
          <p:cNvSpPr>
            <a:spLocks noGrp="1"/>
          </p:cNvSpPr>
          <p:nvPr>
            <p:ph idx="1"/>
          </p:nvPr>
        </p:nvSpPr>
        <p:spPr/>
        <p:txBody>
          <a:bodyPr>
            <a:normAutofit fontScale="92500" lnSpcReduction="20000"/>
          </a:bodyPr>
          <a:lstStyle/>
          <a:p>
            <a:pPr>
              <a:defRPr/>
            </a:pPr>
            <a:r>
              <a:rPr lang="en-US" i="1" dirty="0" err="1"/>
              <a:t>Ejusdem</a:t>
            </a:r>
            <a:r>
              <a:rPr lang="en-US" i="1" dirty="0"/>
              <a:t> generis </a:t>
            </a:r>
            <a:r>
              <a:rPr lang="en-US" dirty="0"/>
              <a:t>– residual terms presumptively of the same kind or within the same category of the specific terms that come before</a:t>
            </a:r>
          </a:p>
          <a:p>
            <a:pPr>
              <a:defRPr/>
            </a:pPr>
            <a:r>
              <a:rPr lang="en-US" dirty="0"/>
              <a:t>Already saw it operate in the “Is-an-airplane-a-vehicle?” case</a:t>
            </a:r>
          </a:p>
          <a:p>
            <a:pPr>
              <a:defRPr/>
            </a:pPr>
            <a:r>
              <a:rPr lang="en-US" i="1" dirty="0"/>
              <a:t>Sierra Club v. Kenney </a:t>
            </a:r>
            <a:r>
              <a:rPr lang="en-US" dirty="0"/>
              <a:t>(Ill. 1981) – state law allowing public sales of “gravel, sand, earth or other material” in state-owned park land does not cover timber</a:t>
            </a:r>
          </a:p>
          <a:p>
            <a:pPr>
              <a:defRPr/>
            </a:pPr>
            <a:r>
              <a:rPr lang="en-US" dirty="0"/>
              <a:t>Close kinship to </a:t>
            </a:r>
            <a:r>
              <a:rPr lang="en-US" i="1" dirty="0"/>
              <a:t>noscitur a sociis </a:t>
            </a:r>
          </a:p>
        </p:txBody>
      </p:sp>
      <p:sp>
        <p:nvSpPr>
          <p:cNvPr id="3076" name="Slide Number Placeholder 1">
            <a:extLst>
              <a:ext uri="{FF2B5EF4-FFF2-40B4-BE49-F238E27FC236}">
                <a16:creationId xmlns:a16="http://schemas.microsoft.com/office/drawing/2014/main" id="{043DAD3E-D83E-DB6D-6FE9-5DB33B0F52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507FA1D9-2A47-4CFD-89B4-066D6867F798}" type="slidenum">
              <a:rPr lang="en-US" altLang="en-US" sz="1400"/>
              <a:pPr eaLnBrk="1" hangingPunct="1">
                <a:spcBef>
                  <a:spcPct val="0"/>
                </a:spcBef>
                <a:buFontTx/>
                <a:buNone/>
              </a:pPr>
              <a:t>30</a:t>
            </a:fld>
            <a:endParaRPr lang="en-US" altLang="en-US" sz="1400"/>
          </a:p>
        </p:txBody>
      </p:sp>
      <p:sp>
        <p:nvSpPr>
          <p:cNvPr id="2" name="Footer Placeholder 1">
            <a:extLst>
              <a:ext uri="{FF2B5EF4-FFF2-40B4-BE49-F238E27FC236}">
                <a16:creationId xmlns:a16="http://schemas.microsoft.com/office/drawing/2014/main" id="{42645B90-CFFC-A113-D285-5FC7BA5C5BEE}"/>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2317645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1C997948-73D3-D0A5-E1DC-6DB82C3FC9F2}"/>
              </a:ext>
            </a:extLst>
          </p:cNvPr>
          <p:cNvSpPr>
            <a:spLocks noGrp="1"/>
          </p:cNvSpPr>
          <p:nvPr>
            <p:ph type="title"/>
          </p:nvPr>
        </p:nvSpPr>
        <p:spPr/>
        <p:txBody>
          <a:bodyPr/>
          <a:lstStyle/>
          <a:p>
            <a:r>
              <a:rPr lang="en-US" altLang="en-US"/>
              <a:t>Ejusdem generis</a:t>
            </a:r>
          </a:p>
        </p:txBody>
      </p:sp>
      <p:pic>
        <p:nvPicPr>
          <p:cNvPr id="2051" name="Content Placeholder 3" descr="Veterinarian.jpg">
            <a:extLst>
              <a:ext uri="{FF2B5EF4-FFF2-40B4-BE49-F238E27FC236}">
                <a16:creationId xmlns:a16="http://schemas.microsoft.com/office/drawing/2014/main" id="{634E8DE0-A25A-DDA3-2215-E5CEA89A77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2971800"/>
            <a:ext cx="3502025" cy="2971800"/>
          </a:xfrm>
        </p:spPr>
      </p:pic>
      <p:pic>
        <p:nvPicPr>
          <p:cNvPr id="2052" name="Picture 4" descr="pet tiger.jpg">
            <a:extLst>
              <a:ext uri="{FF2B5EF4-FFF2-40B4-BE49-F238E27FC236}">
                <a16:creationId xmlns:a16="http://schemas.microsoft.com/office/drawing/2014/main" id="{F2140674-C18A-8A5C-C1B4-979EE171E5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124200"/>
            <a:ext cx="396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Callout 5">
            <a:extLst>
              <a:ext uri="{FF2B5EF4-FFF2-40B4-BE49-F238E27FC236}">
                <a16:creationId xmlns:a16="http://schemas.microsoft.com/office/drawing/2014/main" id="{59D0AD52-0594-104B-B24D-37509803897C}"/>
              </a:ext>
            </a:extLst>
          </p:cNvPr>
          <p:cNvSpPr/>
          <p:nvPr/>
        </p:nvSpPr>
        <p:spPr>
          <a:xfrm>
            <a:off x="685800" y="1295400"/>
            <a:ext cx="3048000" cy="15240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We treat dogs, house cats, birds, guinea pigs and other pets!</a:t>
            </a:r>
          </a:p>
        </p:txBody>
      </p:sp>
      <p:sp>
        <p:nvSpPr>
          <p:cNvPr id="7" name="Oval Callout 6">
            <a:extLst>
              <a:ext uri="{FF2B5EF4-FFF2-40B4-BE49-F238E27FC236}">
                <a16:creationId xmlns:a16="http://schemas.microsoft.com/office/drawing/2014/main" id="{618DCA72-99F8-0339-F3EF-F809A35C819D}"/>
              </a:ext>
            </a:extLst>
          </p:cNvPr>
          <p:cNvSpPr/>
          <p:nvPr/>
        </p:nvSpPr>
        <p:spPr>
          <a:xfrm>
            <a:off x="5181600" y="1219200"/>
            <a:ext cx="2590800" cy="16764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May I please make an appointment for my pet tigers?</a:t>
            </a:r>
          </a:p>
        </p:txBody>
      </p:sp>
      <p:sp>
        <p:nvSpPr>
          <p:cNvPr id="2055" name="Slide Number Placeholder 1">
            <a:extLst>
              <a:ext uri="{FF2B5EF4-FFF2-40B4-BE49-F238E27FC236}">
                <a16:creationId xmlns:a16="http://schemas.microsoft.com/office/drawing/2014/main" id="{29D243C9-3EEB-A37D-BB3B-B54E8AD0FC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2FEAA028-8649-4987-AA44-60E2984387B0}" type="slidenum">
              <a:rPr lang="en-US" altLang="en-US" sz="1400"/>
              <a:pPr eaLnBrk="1" hangingPunct="1">
                <a:spcBef>
                  <a:spcPct val="0"/>
                </a:spcBef>
                <a:buFontTx/>
                <a:buNone/>
              </a:pPr>
              <a:t>31</a:t>
            </a:fld>
            <a:endParaRPr lang="en-US" altLang="en-US" sz="1400"/>
          </a:p>
        </p:txBody>
      </p:sp>
      <p:sp>
        <p:nvSpPr>
          <p:cNvPr id="2" name="Footer Placeholder 1">
            <a:extLst>
              <a:ext uri="{FF2B5EF4-FFF2-40B4-BE49-F238E27FC236}">
                <a16:creationId xmlns:a16="http://schemas.microsoft.com/office/drawing/2014/main" id="{42DE953A-EF39-693D-2CED-09B104FF38A0}"/>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4053386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9FC023F3-9D5A-46D0-555F-0F29B702164C}"/>
              </a:ext>
            </a:extLst>
          </p:cNvPr>
          <p:cNvSpPr>
            <a:spLocks noGrp="1"/>
          </p:cNvSpPr>
          <p:nvPr>
            <p:ph type="title"/>
          </p:nvPr>
        </p:nvSpPr>
        <p:spPr/>
        <p:txBody>
          <a:bodyPr/>
          <a:lstStyle/>
          <a:p>
            <a:r>
              <a:rPr lang="en-US" altLang="en-US" i="1" dirty="0"/>
              <a:t>People v. Smith </a:t>
            </a:r>
            <a:r>
              <a:rPr lang="en-US" altLang="en-US" dirty="0"/>
              <a:t>(Mich. 1975)</a:t>
            </a:r>
          </a:p>
        </p:txBody>
      </p:sp>
      <p:sp>
        <p:nvSpPr>
          <p:cNvPr id="3" name="Content Placeholder 2">
            <a:extLst>
              <a:ext uri="{FF2B5EF4-FFF2-40B4-BE49-F238E27FC236}">
                <a16:creationId xmlns:a16="http://schemas.microsoft.com/office/drawing/2014/main" id="{FC81EA45-D900-E460-DDDC-3E78D297D13E}"/>
              </a:ext>
            </a:extLst>
          </p:cNvPr>
          <p:cNvSpPr>
            <a:spLocks noGrp="1"/>
          </p:cNvSpPr>
          <p:nvPr>
            <p:ph idx="1"/>
          </p:nvPr>
        </p:nvSpPr>
        <p:spPr/>
        <p:txBody>
          <a:bodyPr>
            <a:normAutofit fontScale="70000" lnSpcReduction="20000"/>
          </a:bodyPr>
          <a:lstStyle/>
          <a:p>
            <a:pPr>
              <a:defRPr/>
            </a:pPr>
            <a:r>
              <a:rPr lang="en-US" dirty="0"/>
              <a:t>Statute:  Sec. 227. Carrying concealed weapons-Any person who shall carry </a:t>
            </a:r>
            <a:r>
              <a:rPr lang="en-US" dirty="0">
                <a:solidFill>
                  <a:srgbClr val="FF0000"/>
                </a:solidFill>
              </a:rPr>
              <a:t>a dagger, dirk, stiletto, or other dangerous weapon except hunting knives adapted and carried as such, </a:t>
            </a:r>
            <a:r>
              <a:rPr lang="en-US" dirty="0"/>
              <a:t>concealed on or about his person, or whether concealed or otherwise in any vehicle operated or occupied by him, except in his dwelling house or place of business or on other land possessed by him; and any person who shall carry a pistol concealed on or about his person, or, whether concealed or otherwise, in any vehicle operated or occupied by him, except in his dwelling house or place of business or on other land possessed by him, without a license to so carry said pistol as provided by law, shall be guilty of a felony, punishable by imprisonment in the state prison for not more than 5 years, or by fine of not more than 2,500 dollars.</a:t>
            </a:r>
          </a:p>
          <a:p>
            <a:pPr>
              <a:defRPr/>
            </a:pPr>
            <a:r>
              <a:rPr lang="en-US" dirty="0"/>
              <a:t>Issue:  Does statute prohibit the carriage in a vehicle of a military rifle?</a:t>
            </a:r>
          </a:p>
          <a:p>
            <a:pPr lvl="1">
              <a:defRPr/>
            </a:pPr>
            <a:endParaRPr lang="en-US" dirty="0"/>
          </a:p>
        </p:txBody>
      </p:sp>
      <p:sp>
        <p:nvSpPr>
          <p:cNvPr id="4100" name="Slide Number Placeholder 1">
            <a:extLst>
              <a:ext uri="{FF2B5EF4-FFF2-40B4-BE49-F238E27FC236}">
                <a16:creationId xmlns:a16="http://schemas.microsoft.com/office/drawing/2014/main" id="{F3B78734-10D8-FFFE-2A5E-08A5B62F18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0A443B18-F521-4193-B751-AC7F65549056}" type="slidenum">
              <a:rPr lang="en-US" altLang="en-US" sz="1400"/>
              <a:pPr eaLnBrk="1" hangingPunct="1">
                <a:spcBef>
                  <a:spcPct val="0"/>
                </a:spcBef>
                <a:buFontTx/>
                <a:buNone/>
              </a:pPr>
              <a:t>32</a:t>
            </a:fld>
            <a:endParaRPr lang="en-US" altLang="en-US" sz="1400"/>
          </a:p>
        </p:txBody>
      </p:sp>
      <p:sp>
        <p:nvSpPr>
          <p:cNvPr id="2" name="Footer Placeholder 1">
            <a:extLst>
              <a:ext uri="{FF2B5EF4-FFF2-40B4-BE49-F238E27FC236}">
                <a16:creationId xmlns:a16="http://schemas.microsoft.com/office/drawing/2014/main" id="{8ECCF34B-A5FD-5C08-3C56-0B88E5FC9AF5}"/>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1228281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0CAC6F-1D45-0B0B-3079-CE3A0D5D0B1C}"/>
              </a:ext>
            </a:extLst>
          </p:cNvPr>
          <p:cNvSpPr>
            <a:spLocks noGrp="1"/>
          </p:cNvSpPr>
          <p:nvPr>
            <p:ph type="title"/>
          </p:nvPr>
        </p:nvSpPr>
        <p:spPr/>
        <p:txBody>
          <a:bodyPr/>
          <a:lstStyle/>
          <a:p>
            <a:r>
              <a:rPr lang="en-US" altLang="en-US"/>
              <a:t>Contrasting Semantic Approaches</a:t>
            </a:r>
          </a:p>
        </p:txBody>
      </p:sp>
      <p:sp>
        <p:nvSpPr>
          <p:cNvPr id="5123" name="Content Placeholder 2">
            <a:extLst>
              <a:ext uri="{FF2B5EF4-FFF2-40B4-BE49-F238E27FC236}">
                <a16:creationId xmlns:a16="http://schemas.microsoft.com/office/drawing/2014/main" id="{7A2F86A8-21A0-40D6-E3BE-3670BEDABAC9}"/>
              </a:ext>
            </a:extLst>
          </p:cNvPr>
          <p:cNvSpPr>
            <a:spLocks noGrp="1"/>
          </p:cNvSpPr>
          <p:nvPr>
            <p:ph idx="1"/>
          </p:nvPr>
        </p:nvSpPr>
        <p:spPr/>
        <p:txBody>
          <a:bodyPr/>
          <a:lstStyle/>
          <a:p>
            <a:r>
              <a:rPr lang="en-US" altLang="en-US"/>
              <a:t>Plain language</a:t>
            </a:r>
          </a:p>
          <a:p>
            <a:pPr lvl="1"/>
            <a:r>
              <a:rPr lang="en-US" altLang="en-US"/>
              <a:t>“Other dangerous weapons” includes military rifles</a:t>
            </a:r>
          </a:p>
          <a:p>
            <a:r>
              <a:rPr lang="en-US" altLang="en-US"/>
              <a:t>Ejusdem Generis</a:t>
            </a:r>
          </a:p>
          <a:p>
            <a:pPr lvl="1"/>
            <a:r>
              <a:rPr lang="en-US" altLang="en-US"/>
              <a:t>A “dangerous weapon” included within “other” must be of the same kind as a dagger, dirk, or stiletto</a:t>
            </a:r>
          </a:p>
        </p:txBody>
      </p:sp>
      <p:sp>
        <p:nvSpPr>
          <p:cNvPr id="5124" name="Slide Number Placeholder 1">
            <a:extLst>
              <a:ext uri="{FF2B5EF4-FFF2-40B4-BE49-F238E27FC236}">
                <a16:creationId xmlns:a16="http://schemas.microsoft.com/office/drawing/2014/main" id="{BC12A40A-3769-73EA-FA69-9782A858E2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600B2540-2303-400A-B922-E4A76C6523B2}" type="slidenum">
              <a:rPr lang="en-US" altLang="en-US" sz="1400"/>
              <a:pPr eaLnBrk="1" hangingPunct="1">
                <a:spcBef>
                  <a:spcPct val="0"/>
                </a:spcBef>
                <a:buFontTx/>
                <a:buNone/>
              </a:pPr>
              <a:t>33</a:t>
            </a:fld>
            <a:endParaRPr lang="en-US" altLang="en-US" sz="1400"/>
          </a:p>
        </p:txBody>
      </p:sp>
      <p:sp>
        <p:nvSpPr>
          <p:cNvPr id="2" name="Footer Placeholder 1">
            <a:extLst>
              <a:ext uri="{FF2B5EF4-FFF2-40B4-BE49-F238E27FC236}">
                <a16:creationId xmlns:a16="http://schemas.microsoft.com/office/drawing/2014/main" id="{8FFC4F9A-2B67-321F-E6CB-E82C3B6CD543}"/>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909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BCBD2-2E42-B34E-65DA-8CBCF8505472}"/>
              </a:ext>
            </a:extLst>
          </p:cNvPr>
          <p:cNvSpPr>
            <a:spLocks noGrp="1"/>
          </p:cNvSpPr>
          <p:nvPr>
            <p:ph type="title"/>
          </p:nvPr>
        </p:nvSpPr>
        <p:spPr/>
        <p:txBody>
          <a:bodyPr>
            <a:normAutofit fontScale="90000"/>
          </a:bodyPr>
          <a:lstStyle/>
          <a:p>
            <a:pPr>
              <a:defRPr/>
            </a:pPr>
            <a:r>
              <a:rPr lang="en-US" dirty="0"/>
              <a:t>Other evidence confirming majority</a:t>
            </a:r>
          </a:p>
        </p:txBody>
      </p:sp>
      <p:sp>
        <p:nvSpPr>
          <p:cNvPr id="6147" name="Content Placeholder 2">
            <a:extLst>
              <a:ext uri="{FF2B5EF4-FFF2-40B4-BE49-F238E27FC236}">
                <a16:creationId xmlns:a16="http://schemas.microsoft.com/office/drawing/2014/main" id="{E3054A6E-DA81-87C4-41A2-F1165C39693D}"/>
              </a:ext>
            </a:extLst>
          </p:cNvPr>
          <p:cNvSpPr>
            <a:spLocks noGrp="1"/>
          </p:cNvSpPr>
          <p:nvPr>
            <p:ph idx="1"/>
          </p:nvPr>
        </p:nvSpPr>
        <p:spPr/>
        <p:txBody>
          <a:bodyPr/>
          <a:lstStyle/>
          <a:p>
            <a:r>
              <a:rPr lang="en-US" altLang="en-US"/>
              <a:t>Carriage of rifles </a:t>
            </a:r>
            <a:r>
              <a:rPr lang="en-US" altLang="en-US" i="1"/>
              <a:t>with unlawful intent </a:t>
            </a:r>
            <a:r>
              <a:rPr lang="en-US" altLang="en-US"/>
              <a:t>covered by another statute</a:t>
            </a:r>
          </a:p>
          <a:p>
            <a:r>
              <a:rPr lang="en-US" altLang="en-US"/>
              <a:t>Reflects an “ordered regulatory regime” – would not expect rifles to be regulated as concealed weapons</a:t>
            </a:r>
          </a:p>
        </p:txBody>
      </p:sp>
      <p:sp>
        <p:nvSpPr>
          <p:cNvPr id="6148" name="Slide Number Placeholder 2">
            <a:extLst>
              <a:ext uri="{FF2B5EF4-FFF2-40B4-BE49-F238E27FC236}">
                <a16:creationId xmlns:a16="http://schemas.microsoft.com/office/drawing/2014/main" id="{4B5373B7-DA02-1246-5C1A-7B7A039C9F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0DA087E2-D05F-48B5-8F48-092A45C05E5E}" type="slidenum">
              <a:rPr lang="en-US" altLang="en-US" sz="1400"/>
              <a:pPr eaLnBrk="1" hangingPunct="1">
                <a:spcBef>
                  <a:spcPct val="0"/>
                </a:spcBef>
                <a:buFontTx/>
                <a:buNone/>
              </a:pPr>
              <a:t>34</a:t>
            </a:fld>
            <a:endParaRPr lang="en-US" altLang="en-US" sz="1400"/>
          </a:p>
        </p:txBody>
      </p:sp>
      <p:sp>
        <p:nvSpPr>
          <p:cNvPr id="3" name="Footer Placeholder 2">
            <a:extLst>
              <a:ext uri="{FF2B5EF4-FFF2-40B4-BE49-F238E27FC236}">
                <a16:creationId xmlns:a16="http://schemas.microsoft.com/office/drawing/2014/main" id="{82A8EF8E-339B-894C-2593-6B2DEB93D145}"/>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724970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058AC-8CBF-C476-8361-8A5CB9C2EA18}"/>
              </a:ext>
            </a:extLst>
          </p:cNvPr>
          <p:cNvSpPr>
            <a:spLocks noGrp="1"/>
          </p:cNvSpPr>
          <p:nvPr>
            <p:ph type="title"/>
          </p:nvPr>
        </p:nvSpPr>
        <p:spPr/>
        <p:txBody>
          <a:bodyPr>
            <a:normAutofit fontScale="90000"/>
          </a:bodyPr>
          <a:lstStyle/>
          <a:p>
            <a:pPr>
              <a:defRPr/>
            </a:pPr>
            <a:r>
              <a:rPr lang="en-US" dirty="0"/>
              <a:t>Manning and Stephenson Hypos</a:t>
            </a:r>
          </a:p>
        </p:txBody>
      </p:sp>
      <p:sp>
        <p:nvSpPr>
          <p:cNvPr id="7171" name="Content Placeholder 2">
            <a:extLst>
              <a:ext uri="{FF2B5EF4-FFF2-40B4-BE49-F238E27FC236}">
                <a16:creationId xmlns:a16="http://schemas.microsoft.com/office/drawing/2014/main" id="{5D0559F7-D1B1-74A3-16D8-5C085890713E}"/>
              </a:ext>
            </a:extLst>
          </p:cNvPr>
          <p:cNvSpPr>
            <a:spLocks noGrp="1"/>
          </p:cNvSpPr>
          <p:nvPr>
            <p:ph idx="1"/>
          </p:nvPr>
        </p:nvSpPr>
        <p:spPr/>
        <p:txBody>
          <a:bodyPr/>
          <a:lstStyle/>
          <a:p>
            <a:r>
              <a:rPr lang="en-US" altLang="en-US"/>
              <a:t>How about swords?</a:t>
            </a:r>
          </a:p>
          <a:p>
            <a:pPr lvl="1"/>
            <a:r>
              <a:rPr lang="en-US" altLang="en-US"/>
              <a:t>Are daggers, dirks, and stilettos examples of:</a:t>
            </a:r>
          </a:p>
          <a:p>
            <a:pPr lvl="2"/>
            <a:r>
              <a:rPr lang="en-US" altLang="en-US"/>
              <a:t>Stabbing weapons</a:t>
            </a:r>
          </a:p>
          <a:p>
            <a:pPr lvl="2"/>
            <a:r>
              <a:rPr lang="en-US" altLang="en-US"/>
              <a:t>Short-bladed stabbing weapons</a:t>
            </a:r>
          </a:p>
          <a:p>
            <a:r>
              <a:rPr lang="en-US" altLang="en-US"/>
              <a:t>Nunchuks?</a:t>
            </a:r>
          </a:p>
          <a:p>
            <a:pPr lvl="1"/>
            <a:r>
              <a:rPr lang="en-US" altLang="en-US"/>
              <a:t>Are daggers, dirks, and stilettos examples of:</a:t>
            </a:r>
          </a:p>
          <a:p>
            <a:pPr lvl="2"/>
            <a:r>
              <a:rPr lang="en-US" altLang="en-US"/>
              <a:t>Stabbing weapons</a:t>
            </a:r>
          </a:p>
          <a:p>
            <a:pPr lvl="2"/>
            <a:r>
              <a:rPr lang="en-US" altLang="en-US"/>
              <a:t>Easily concealed weapons used in hand-to-hand fighting</a:t>
            </a:r>
          </a:p>
        </p:txBody>
      </p:sp>
      <p:sp>
        <p:nvSpPr>
          <p:cNvPr id="7172" name="Slide Number Placeholder 2">
            <a:extLst>
              <a:ext uri="{FF2B5EF4-FFF2-40B4-BE49-F238E27FC236}">
                <a16:creationId xmlns:a16="http://schemas.microsoft.com/office/drawing/2014/main" id="{1EF7D63D-FC87-0060-C0E6-1F1B4A61AE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fld id="{5212BFCF-51D1-4701-8400-3142A9A9065D}" type="slidenum">
              <a:rPr lang="en-US" altLang="en-US" sz="1400"/>
              <a:pPr eaLnBrk="1" hangingPunct="1">
                <a:spcBef>
                  <a:spcPct val="0"/>
                </a:spcBef>
                <a:buFontTx/>
                <a:buNone/>
              </a:pPr>
              <a:t>35</a:t>
            </a:fld>
            <a:endParaRPr lang="en-US" altLang="en-US" sz="1400"/>
          </a:p>
        </p:txBody>
      </p:sp>
      <p:sp>
        <p:nvSpPr>
          <p:cNvPr id="3" name="Footer Placeholder 2">
            <a:extLst>
              <a:ext uri="{FF2B5EF4-FFF2-40B4-BE49-F238E27FC236}">
                <a16:creationId xmlns:a16="http://schemas.microsoft.com/office/drawing/2014/main" id="{F1CE240A-AF09-31F1-4D91-BCA4F76094DF}"/>
              </a:ext>
            </a:extLst>
          </p:cNvPr>
          <p:cNvSpPr>
            <a:spLocks noGrp="1"/>
          </p:cNvSpPr>
          <p:nvPr>
            <p:ph type="ftr" sz="quarter" idx="11"/>
          </p:nvPr>
        </p:nvSpPr>
        <p:spPr/>
        <p:txBody>
          <a:bodyPr/>
          <a:lstStyle/>
          <a:p>
            <a:pPr>
              <a:defRPr/>
            </a:pPr>
            <a:r>
              <a:rPr lang="en-US"/>
              <a:t>© Copyright 2026.  Peter M. Shane All rights reserved. </a:t>
            </a:r>
          </a:p>
        </p:txBody>
      </p:sp>
    </p:spTree>
    <p:extLst>
      <p:ext uri="{BB962C8B-B14F-4D97-AF65-F5344CB8AC3E}">
        <p14:creationId xmlns:p14="http://schemas.microsoft.com/office/powerpoint/2010/main" val="417099235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2188</TotalTime>
  <Words>3032</Words>
  <Application>Microsoft Office PowerPoint</Application>
  <PresentationFormat>On-screen Show (4:3)</PresentationFormat>
  <Paragraphs>287</Paragraphs>
  <Slides>35</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Times New Roman</vt:lpstr>
      <vt:lpstr>Default Design</vt:lpstr>
      <vt:lpstr>Recap of Class 4</vt:lpstr>
      <vt:lpstr>Judge Katzmann’s “Tool” Set</vt:lpstr>
      <vt:lpstr>U.S. v. Gayle, 343 F.3d 89 (2d Cir. 2003) (Katzmann p. 70)</vt:lpstr>
      <vt:lpstr>Breaking It Down</vt:lpstr>
      <vt:lpstr>Contending Arguments</vt:lpstr>
      <vt:lpstr>Outcome?</vt:lpstr>
      <vt:lpstr>Murphy v. Arlington Central School District Board of Education (2d Cir. 2004) [Katzmann –p. 81]</vt:lpstr>
      <vt:lpstr>SCOTUS Dealt Earlier With 42 U.S.C. 1988</vt:lpstr>
      <vt:lpstr>Second Circuit Use of Legislative History</vt:lpstr>
      <vt:lpstr>And Yet: Arlington Central School District Board of Education v. Murphy (2006)</vt:lpstr>
      <vt:lpstr>The Legislative History Debates - 1</vt:lpstr>
      <vt:lpstr>The Legislative History Debates - 2</vt:lpstr>
      <vt:lpstr>Canons of Construction</vt:lpstr>
      <vt:lpstr>Semantic Canons: Within the Statute</vt:lpstr>
      <vt:lpstr>McBoyle v. U.S. (1931)</vt:lpstr>
      <vt:lpstr>Holmes makes 5 arguments</vt:lpstr>
      <vt:lpstr>Canons as Constraints?</vt:lpstr>
      <vt:lpstr>Gustafson v. Alloyd Co., Inc. (1995)</vt:lpstr>
      <vt:lpstr>Gustafson v. Alloyd Co., Inc. (1995)</vt:lpstr>
      <vt:lpstr>Majority (per Kennedy)</vt:lpstr>
      <vt:lpstr>Dissent (note the group!!)</vt:lpstr>
      <vt:lpstr>Giving Every Word  Independent Meaning</vt:lpstr>
      <vt:lpstr>Noscitur a Sociis</vt:lpstr>
      <vt:lpstr>Comparing Noscitur a Sociis Cases</vt:lpstr>
      <vt:lpstr>Raila v. U.S. (2d Cir. 2006)</vt:lpstr>
      <vt:lpstr>Noscitur a Sociis Applied</vt:lpstr>
      <vt:lpstr>Dolan v. USPS (2006)</vt:lpstr>
      <vt:lpstr>Dolan v. USPS (2006) - 2</vt:lpstr>
      <vt:lpstr>Other Clues</vt:lpstr>
      <vt:lpstr>Ejusdem Generis</vt:lpstr>
      <vt:lpstr>Ejusdem generis</vt:lpstr>
      <vt:lpstr>People v. Smith (Mich. 1975)</vt:lpstr>
      <vt:lpstr>Contrasting Semantic Approaches</vt:lpstr>
      <vt:lpstr>Other evidence confirming majority</vt:lpstr>
      <vt:lpstr>Manning and Stephenson Hypos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Canons of Construction</dc:title>
  <dc:creator>Peter M. Shane</dc:creator>
  <cp:lastModifiedBy>Shane, Peter</cp:lastModifiedBy>
  <cp:revision>42</cp:revision>
  <dcterms:created xsi:type="dcterms:W3CDTF">2011-09-05T17:39:58Z</dcterms:created>
  <dcterms:modified xsi:type="dcterms:W3CDTF">2026-09-14T19:38:53Z</dcterms:modified>
</cp:coreProperties>
</file>