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0" r:id="rId1"/>
    <p:sldMasterId id="2147484028" r:id="rId2"/>
  </p:sldMasterIdLst>
  <p:notesMasterIdLst>
    <p:notesMasterId r:id="rId26"/>
  </p:notesMasterIdLst>
  <p:handoutMasterIdLst>
    <p:handoutMasterId r:id="rId27"/>
  </p:handoutMasterIdLst>
  <p:sldIdLst>
    <p:sldId id="279" r:id="rId3"/>
    <p:sldId id="258" r:id="rId4"/>
    <p:sldId id="352" r:id="rId5"/>
    <p:sldId id="278" r:id="rId6"/>
    <p:sldId id="340" r:id="rId7"/>
    <p:sldId id="357" r:id="rId8"/>
    <p:sldId id="358" r:id="rId9"/>
    <p:sldId id="341" r:id="rId10"/>
    <p:sldId id="342" r:id="rId11"/>
    <p:sldId id="348" r:id="rId12"/>
    <p:sldId id="349" r:id="rId13"/>
    <p:sldId id="345" r:id="rId14"/>
    <p:sldId id="346" r:id="rId15"/>
    <p:sldId id="347" r:id="rId16"/>
    <p:sldId id="353" r:id="rId17"/>
    <p:sldId id="354" r:id="rId18"/>
    <p:sldId id="339" r:id="rId19"/>
    <p:sldId id="313" r:id="rId20"/>
    <p:sldId id="316" r:id="rId21"/>
    <p:sldId id="355" r:id="rId22"/>
    <p:sldId id="314" r:id="rId23"/>
    <p:sldId id="315" r:id="rId24"/>
    <p:sldId id="319" r:id="rId25"/>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94676" autoAdjust="0"/>
  </p:normalViewPr>
  <p:slideViewPr>
    <p:cSldViewPr>
      <p:cViewPr varScale="1">
        <p:scale>
          <a:sx n="105" d="100"/>
          <a:sy n="105" d="100"/>
        </p:scale>
        <p:origin x="179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303784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p>
        </p:txBody>
      </p:sp>
      <p:sp>
        <p:nvSpPr>
          <p:cNvPr id="30723" name="Rectangle 3"/>
          <p:cNvSpPr>
            <a:spLocks noGrp="1" noChangeArrowheads="1"/>
          </p:cNvSpPr>
          <p:nvPr>
            <p:ph type="dt" sz="quarter" idx="1"/>
          </p:nvPr>
        </p:nvSpPr>
        <p:spPr bwMode="auto">
          <a:xfrm>
            <a:off x="3970938" y="0"/>
            <a:ext cx="303784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p>
        </p:txBody>
      </p:sp>
      <p:sp>
        <p:nvSpPr>
          <p:cNvPr id="30724" name="Rectangle 4"/>
          <p:cNvSpPr>
            <a:spLocks noGrp="1" noChangeArrowheads="1"/>
          </p:cNvSpPr>
          <p:nvPr>
            <p:ph type="ftr" sz="quarter" idx="2"/>
          </p:nvPr>
        </p:nvSpPr>
        <p:spPr bwMode="auto">
          <a:xfrm>
            <a:off x="0" y="8829675"/>
            <a:ext cx="303784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p>
        </p:txBody>
      </p:sp>
      <p:sp>
        <p:nvSpPr>
          <p:cNvPr id="30725" name="Rectangle 5"/>
          <p:cNvSpPr>
            <a:spLocks noGrp="1" noChangeArrowheads="1"/>
          </p:cNvSpPr>
          <p:nvPr>
            <p:ph type="sldNum" sz="quarter" idx="3"/>
          </p:nvPr>
        </p:nvSpPr>
        <p:spPr bwMode="auto">
          <a:xfrm>
            <a:off x="3970938" y="8829675"/>
            <a:ext cx="303784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71F00F7-359B-47EB-9F2B-C716D27144D3}" type="slidenum">
              <a:rPr lang="en-US"/>
              <a:pPr>
                <a:defRPr/>
              </a:pPr>
              <a:t>‹#›</a:t>
            </a:fld>
            <a:endParaRPr lang="en-US"/>
          </a:p>
        </p:txBody>
      </p:sp>
    </p:spTree>
    <p:extLst>
      <p:ext uri="{BB962C8B-B14F-4D97-AF65-F5344CB8AC3E}">
        <p14:creationId xmlns:p14="http://schemas.microsoft.com/office/powerpoint/2010/main" val="10706888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303784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p>
        </p:txBody>
      </p:sp>
      <p:sp>
        <p:nvSpPr>
          <p:cNvPr id="32771" name="Rectangle 3"/>
          <p:cNvSpPr>
            <a:spLocks noGrp="1" noChangeArrowheads="1"/>
          </p:cNvSpPr>
          <p:nvPr>
            <p:ph type="dt" idx="1"/>
          </p:nvPr>
        </p:nvSpPr>
        <p:spPr bwMode="auto">
          <a:xfrm>
            <a:off x="3970938" y="0"/>
            <a:ext cx="303784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p>
        </p:txBody>
      </p:sp>
      <p:sp>
        <p:nvSpPr>
          <p:cNvPr id="19460"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73" name="Rectangle 5"/>
          <p:cNvSpPr>
            <a:spLocks noGrp="1" noChangeArrowheads="1"/>
          </p:cNvSpPr>
          <p:nvPr>
            <p:ph type="body" sz="quarter" idx="3"/>
          </p:nvPr>
        </p:nvSpPr>
        <p:spPr bwMode="auto">
          <a:xfrm>
            <a:off x="701040" y="4416426"/>
            <a:ext cx="560832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774" name="Rectangle 6"/>
          <p:cNvSpPr>
            <a:spLocks noGrp="1" noChangeArrowheads="1"/>
          </p:cNvSpPr>
          <p:nvPr>
            <p:ph type="ftr" sz="quarter" idx="4"/>
          </p:nvPr>
        </p:nvSpPr>
        <p:spPr bwMode="auto">
          <a:xfrm>
            <a:off x="0" y="8829675"/>
            <a:ext cx="303784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p>
        </p:txBody>
      </p:sp>
      <p:sp>
        <p:nvSpPr>
          <p:cNvPr id="32775" name="Rectangle 7"/>
          <p:cNvSpPr>
            <a:spLocks noGrp="1" noChangeArrowheads="1"/>
          </p:cNvSpPr>
          <p:nvPr>
            <p:ph type="sldNum" sz="quarter" idx="5"/>
          </p:nvPr>
        </p:nvSpPr>
        <p:spPr bwMode="auto">
          <a:xfrm>
            <a:off x="3970938" y="8829675"/>
            <a:ext cx="303784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A9E7D0AC-0F71-4ED2-8C3D-1984B0214ABA}" type="slidenum">
              <a:rPr lang="en-US"/>
              <a:pPr>
                <a:defRPr/>
              </a:pPr>
              <a:t>‹#›</a:t>
            </a:fld>
            <a:endParaRPr lang="en-US"/>
          </a:p>
        </p:txBody>
      </p:sp>
    </p:spTree>
    <p:extLst>
      <p:ext uri="{BB962C8B-B14F-4D97-AF65-F5344CB8AC3E}">
        <p14:creationId xmlns:p14="http://schemas.microsoft.com/office/powerpoint/2010/main" val="358363520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in favor of this interpretation was motivated by the facts that the alternative would render clause c) redundant (participation in negotiations</a:t>
            </a:r>
            <a:r>
              <a:rPr lang="en-US" baseline="0" dirty="0"/>
              <a:t> typically</a:t>
            </a:r>
            <a:r>
              <a:rPr lang="en-US" dirty="0"/>
              <a:t> implies contact with the other firm) and might be so broad as to contravene public policy because the restriction on working with former clients would not be qualified.</a:t>
            </a:r>
          </a:p>
        </p:txBody>
      </p:sp>
      <p:sp>
        <p:nvSpPr>
          <p:cNvPr id="4" name="Slide Number Placeholder 3"/>
          <p:cNvSpPr>
            <a:spLocks noGrp="1"/>
          </p:cNvSpPr>
          <p:nvPr>
            <p:ph type="sldNum" sz="quarter" idx="5"/>
          </p:nvPr>
        </p:nvSpPr>
        <p:spPr/>
        <p:txBody>
          <a:bodyPr/>
          <a:lstStyle/>
          <a:p>
            <a:pPr>
              <a:defRPr/>
            </a:pPr>
            <a:fld id="{A9E7D0AC-0F71-4ED2-8C3D-1984B0214ABA}" type="slidenum">
              <a:rPr lang="en-US" smtClean="0"/>
              <a:pPr>
                <a:defRPr/>
              </a:pPr>
              <a:t>11</a:t>
            </a:fld>
            <a:endParaRPr lang="en-US"/>
          </a:p>
        </p:txBody>
      </p:sp>
    </p:spTree>
    <p:extLst>
      <p:ext uri="{BB962C8B-B14F-4D97-AF65-F5344CB8AC3E}">
        <p14:creationId xmlns:p14="http://schemas.microsoft.com/office/powerpoint/2010/main" val="228759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0" name="Date Placeholder 27"/>
          <p:cNvSpPr>
            <a:spLocks noGrp="1"/>
          </p:cNvSpPr>
          <p:nvPr>
            <p:ph type="dt" sz="half" idx="10"/>
          </p:nvPr>
        </p:nvSpPr>
        <p:spPr>
          <a:xfrm>
            <a:off x="6400800" y="6354763"/>
            <a:ext cx="2286000" cy="366712"/>
          </a:xfrm>
        </p:spPr>
        <p:txBody>
          <a:bodyPr/>
          <a:lstStyle>
            <a:lvl1pPr>
              <a:defRPr sz="1400"/>
            </a:lvl1pPr>
          </a:lstStyle>
          <a:p>
            <a:pPr>
              <a:defRPr/>
            </a:pPr>
            <a:endParaRPr lang="en-US"/>
          </a:p>
        </p:txBody>
      </p:sp>
      <p:sp>
        <p:nvSpPr>
          <p:cNvPr id="11" name="Footer Placeholder 16"/>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12" name="Slide Number Placeholder 28"/>
          <p:cNvSpPr>
            <a:spLocks noGrp="1"/>
          </p:cNvSpPr>
          <p:nvPr>
            <p:ph type="sldNum" sz="quarter" idx="12"/>
          </p:nvPr>
        </p:nvSpPr>
        <p:spPr>
          <a:xfrm>
            <a:off x="1216025" y="6354763"/>
            <a:ext cx="1219200" cy="366712"/>
          </a:xfrm>
        </p:spPr>
        <p:txBody>
          <a:bodyPr/>
          <a:lstStyle>
            <a:lvl1pPr>
              <a:defRPr/>
            </a:lvl1pPr>
          </a:lstStyle>
          <a:p>
            <a:pPr>
              <a:defRPr/>
            </a:pPr>
            <a:fld id="{E61ABD22-2D69-4B46-BD51-2185FE428951}" type="slidenum">
              <a:rPr lang="en-US"/>
              <a:pPr>
                <a:defRPr/>
              </a:pPr>
              <a:t>‹#›</a:t>
            </a:fld>
            <a:endParaRPr lang="en-US"/>
          </a:p>
        </p:txBody>
      </p:sp>
    </p:spTree>
    <p:extLst>
      <p:ext uri="{BB962C8B-B14F-4D97-AF65-F5344CB8AC3E}">
        <p14:creationId xmlns:p14="http://schemas.microsoft.com/office/powerpoint/2010/main" val="241451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F56AD669-627D-45DB-8A45-91BD85F83B42}" type="slidenum">
              <a:rPr lang="en-US"/>
              <a:pPr>
                <a:defRPr/>
              </a:pPr>
              <a:t>‹#›</a:t>
            </a:fld>
            <a:endParaRPr lang="en-US"/>
          </a:p>
        </p:txBody>
      </p:sp>
    </p:spTree>
    <p:extLst>
      <p:ext uri="{BB962C8B-B14F-4D97-AF65-F5344CB8AC3E}">
        <p14:creationId xmlns:p14="http://schemas.microsoft.com/office/powerpoint/2010/main" val="242498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4" name="Rectangle 3"/>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a:t>Click to edit Master title style</a:t>
            </a:r>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p:cNvSpPr>
            <a:spLocks noGrp="1"/>
          </p:cNvSpPr>
          <p:nvPr>
            <p:ph type="dt" sz="half" idx="10"/>
          </p:nvPr>
        </p:nvSpPr>
        <p:spPr>
          <a:xfrm>
            <a:off x="6400800" y="6354763"/>
            <a:ext cx="2286000" cy="366712"/>
          </a:xfrm>
        </p:spPr>
        <p:txBody>
          <a:bodyPr/>
          <a:lstStyle>
            <a:lvl1pPr>
              <a:defRPr/>
            </a:lvl1pPr>
          </a:lstStyle>
          <a:p>
            <a:pPr>
              <a:defRPr/>
            </a:pPr>
            <a:endParaRPr lang="en-US"/>
          </a:p>
        </p:txBody>
      </p:sp>
      <p:sp>
        <p:nvSpPr>
          <p:cNvPr id="7" name="Footer Placeholder 4"/>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8" name="Slide Number Placeholder 5"/>
          <p:cNvSpPr>
            <a:spLocks noGrp="1"/>
          </p:cNvSpPr>
          <p:nvPr>
            <p:ph type="sldNum" sz="quarter" idx="12"/>
          </p:nvPr>
        </p:nvSpPr>
        <p:spPr>
          <a:xfrm>
            <a:off x="1069975" y="6354763"/>
            <a:ext cx="1520825" cy="366712"/>
          </a:xfrm>
        </p:spPr>
        <p:txBody>
          <a:bodyPr/>
          <a:lstStyle>
            <a:lvl1pPr>
              <a:defRPr/>
            </a:lvl1pPr>
          </a:lstStyle>
          <a:p>
            <a:pPr>
              <a:defRPr/>
            </a:pPr>
            <a:fld id="{B60E508E-6B13-4C9F-ACFC-98C4E5436405}" type="slidenum">
              <a:rPr lang="en-US"/>
              <a:pPr>
                <a:defRPr/>
              </a:pPr>
              <a:t>‹#›</a:t>
            </a:fld>
            <a:endParaRPr lang="en-US"/>
          </a:p>
        </p:txBody>
      </p:sp>
    </p:spTree>
    <p:extLst>
      <p:ext uri="{BB962C8B-B14F-4D97-AF65-F5344CB8AC3E}">
        <p14:creationId xmlns:p14="http://schemas.microsoft.com/office/powerpoint/2010/main" val="99674691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632198" y="1216152"/>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D4FF7507-5CBF-44BD-B578-26742F345154}" type="slidenum">
              <a:rPr lang="en-US"/>
              <a:pPr>
                <a:defRPr/>
              </a:pPr>
              <a:t>‹#›</a:t>
            </a:fld>
            <a:endParaRPr lang="en-US"/>
          </a:p>
        </p:txBody>
      </p:sp>
    </p:spTree>
    <p:extLst>
      <p:ext uri="{BB962C8B-B14F-4D97-AF65-F5344CB8AC3E}">
        <p14:creationId xmlns:p14="http://schemas.microsoft.com/office/powerpoint/2010/main" val="440462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p:txBody>
          <a:bodyPr/>
          <a:lstStyle>
            <a:lvl1pPr>
              <a:defRPr/>
            </a:lvl1pPr>
          </a:lstStyle>
          <a:p>
            <a:pPr>
              <a:defRPr/>
            </a:pPr>
            <a:endParaRPr lang="en-US"/>
          </a:p>
        </p:txBody>
      </p:sp>
      <p:sp>
        <p:nvSpPr>
          <p:cNvPr id="8" name="Footer Placeholder 2"/>
          <p:cNvSpPr>
            <a:spLocks noGrp="1"/>
          </p:cNvSpPr>
          <p:nvPr>
            <p:ph type="ftr" sz="quarter" idx="11"/>
          </p:nvPr>
        </p:nvSpPr>
        <p:spPr/>
        <p:txBody>
          <a:bodyPr/>
          <a:lstStyle>
            <a:lvl1pPr>
              <a:defRPr/>
            </a:lvl1pPr>
          </a:lstStyle>
          <a:p>
            <a:pPr>
              <a:defRPr/>
            </a:pPr>
            <a:endParaRPr lang="en-US"/>
          </a:p>
        </p:txBody>
      </p:sp>
      <p:sp>
        <p:nvSpPr>
          <p:cNvPr id="9" name="Slide Number Placeholder 22"/>
          <p:cNvSpPr>
            <a:spLocks noGrp="1"/>
          </p:cNvSpPr>
          <p:nvPr>
            <p:ph type="sldNum" sz="quarter" idx="12"/>
          </p:nvPr>
        </p:nvSpPr>
        <p:spPr/>
        <p:txBody>
          <a:bodyPr/>
          <a:lstStyle>
            <a:lvl1pPr>
              <a:defRPr/>
            </a:lvl1pPr>
          </a:lstStyle>
          <a:p>
            <a:pPr>
              <a:defRPr/>
            </a:pPr>
            <a:fld id="{2A921F75-79C8-4698-87D2-824AE4B6FC7D}" type="slidenum">
              <a:rPr lang="en-US"/>
              <a:pPr>
                <a:defRPr/>
              </a:pPr>
              <a:t>‹#›</a:t>
            </a:fld>
            <a:endParaRPr lang="en-US"/>
          </a:p>
        </p:txBody>
      </p:sp>
    </p:spTree>
    <p:extLst>
      <p:ext uri="{BB962C8B-B14F-4D97-AF65-F5344CB8AC3E}">
        <p14:creationId xmlns:p14="http://schemas.microsoft.com/office/powerpoint/2010/main" val="2739511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Isosceles Triangle 2"/>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4" name="Date Placeholder 2"/>
          <p:cNvSpPr>
            <a:spLocks noGrp="1"/>
          </p:cNvSpPr>
          <p:nvPr>
            <p:ph type="dt" sz="half" idx="10"/>
          </p:nvPr>
        </p:nvSpPr>
        <p:spPr/>
        <p:txBody>
          <a:bodyPr/>
          <a:lstStyle>
            <a:lvl1pPr>
              <a:defRPr/>
            </a:lvl1pPr>
          </a:lstStyle>
          <a:p>
            <a:pPr>
              <a:defRPr/>
            </a:pPr>
            <a:endParaRPr lang="en-US"/>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E11C575D-53F8-4CCA-8265-65540C5348DD}" type="slidenum">
              <a:rPr lang="en-US"/>
              <a:pPr>
                <a:defRPr/>
              </a:pPr>
              <a:t>‹#›</a:t>
            </a:fld>
            <a:endParaRPr lang="en-US"/>
          </a:p>
        </p:txBody>
      </p:sp>
    </p:spTree>
    <p:extLst>
      <p:ext uri="{BB962C8B-B14F-4D97-AF65-F5344CB8AC3E}">
        <p14:creationId xmlns:p14="http://schemas.microsoft.com/office/powerpoint/2010/main" val="362471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0"/>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 name="Isosceles Triangle 2"/>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4" name="Date Placeholder 1"/>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3"/>
          <p:cNvSpPr>
            <a:spLocks noGrp="1"/>
          </p:cNvSpPr>
          <p:nvPr>
            <p:ph type="sldNum" sz="quarter" idx="12"/>
          </p:nvPr>
        </p:nvSpPr>
        <p:spPr/>
        <p:txBody>
          <a:bodyPr/>
          <a:lstStyle>
            <a:lvl1pPr>
              <a:defRPr/>
            </a:lvl1pPr>
          </a:lstStyle>
          <a:p>
            <a:pPr>
              <a:defRPr/>
            </a:pPr>
            <a:fld id="{1496E5B1-24D0-4444-8448-F48244E8255E}" type="slidenum">
              <a:rPr lang="en-US"/>
              <a:pPr>
                <a:defRPr/>
              </a:pPr>
              <a:t>‹#›</a:t>
            </a:fld>
            <a:endParaRPr lang="en-US"/>
          </a:p>
        </p:txBody>
      </p:sp>
    </p:spTree>
    <p:extLst>
      <p:ext uri="{BB962C8B-B14F-4D97-AF65-F5344CB8AC3E}">
        <p14:creationId xmlns:p14="http://schemas.microsoft.com/office/powerpoint/2010/main" val="3850987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10"/>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 name="Straight Connector 11"/>
          <p:cNvSpPr>
            <a:spLocks noChangeShapeType="1"/>
          </p:cNvSpPr>
          <p:nvPr/>
        </p:nvSpPr>
        <p:spPr bwMode="auto">
          <a:xfrm rot="5400000">
            <a:off x="3160712" y="3324226"/>
            <a:ext cx="6035675"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 name="Isosceles Triangle 6"/>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4"/>
          <p:cNvSpPr>
            <a:spLocks noGrp="1"/>
          </p:cNvSpPr>
          <p:nvPr>
            <p:ph type="dt" sz="half" idx="10"/>
          </p:nvPr>
        </p:nvSpPr>
        <p:spPr/>
        <p:txBody>
          <a:bodyPr/>
          <a:lstStyle>
            <a:lvl1pPr>
              <a:defRPr/>
            </a:lvl1pPr>
          </a:lstStyle>
          <a:p>
            <a:pPr>
              <a:defRPr/>
            </a:pPr>
            <a:endParaRPr lang="en-US"/>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p:txBody>
          <a:bodyPr/>
          <a:lstStyle>
            <a:lvl1pPr>
              <a:defRPr/>
            </a:lvl1pPr>
          </a:lstStyle>
          <a:p>
            <a:pPr>
              <a:defRPr/>
            </a:pPr>
            <a:fld id="{9EE77744-8D7D-4226-8957-658584643A55}" type="slidenum">
              <a:rPr lang="en-US"/>
              <a:pPr>
                <a:defRPr/>
              </a:pPr>
              <a:t>‹#›</a:t>
            </a:fld>
            <a:endParaRPr lang="en-US"/>
          </a:p>
        </p:txBody>
      </p:sp>
    </p:spTree>
    <p:extLst>
      <p:ext uri="{BB962C8B-B14F-4D97-AF65-F5344CB8AC3E}">
        <p14:creationId xmlns:p14="http://schemas.microsoft.com/office/powerpoint/2010/main" val="3745251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5" name="Straight Connector 10"/>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 name="Isosceles Triangle 5"/>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p:txBody>
          <a:bodyPr/>
          <a:lstStyle>
            <a:lvl1pPr>
              <a:defRPr/>
            </a:lvl1pPr>
          </a:lstStyle>
          <a:p>
            <a:pPr>
              <a:defRPr/>
            </a:pPr>
            <a:fld id="{529E1B17-FCA7-423F-A7C3-C8E2BBB3CF25}" type="slidenum">
              <a:rPr lang="en-US"/>
              <a:pPr>
                <a:defRPr/>
              </a:pPr>
              <a:t>‹#›</a:t>
            </a:fld>
            <a:endParaRPr lang="en-US"/>
          </a:p>
        </p:txBody>
      </p:sp>
    </p:spTree>
    <p:extLst>
      <p:ext uri="{BB962C8B-B14F-4D97-AF65-F5344CB8AC3E}">
        <p14:creationId xmlns:p14="http://schemas.microsoft.com/office/powerpoint/2010/main" val="3638828577"/>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E755BCD9-D832-4A5A-9A8F-6C52C950009A}" type="slidenum">
              <a:rPr lang="en-US"/>
              <a:pPr>
                <a:defRPr/>
              </a:pPr>
              <a:t>‹#›</a:t>
            </a:fld>
            <a:endParaRPr lang="en-US"/>
          </a:p>
        </p:txBody>
      </p:sp>
    </p:spTree>
    <p:extLst>
      <p:ext uri="{BB962C8B-B14F-4D97-AF65-F5344CB8AC3E}">
        <p14:creationId xmlns:p14="http://schemas.microsoft.com/office/powerpoint/2010/main" val="3881930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10"/>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 name="Isosceles Triangle 4"/>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Straight Connector 14"/>
          <p:cNvSpPr>
            <a:spLocks noChangeShapeType="1"/>
          </p:cNvSpPr>
          <p:nvPr/>
        </p:nvSpPr>
        <p:spPr bwMode="auto">
          <a:xfrm rot="5400000">
            <a:off x="3630612" y="3201988"/>
            <a:ext cx="5851525"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0B31E2B8-A822-4C0F-B855-685F46A580E3}" type="slidenum">
              <a:rPr lang="en-US"/>
              <a:pPr>
                <a:defRPr/>
              </a:pPr>
              <a:t>‹#›</a:t>
            </a:fld>
            <a:endParaRPr lang="en-US"/>
          </a:p>
        </p:txBody>
      </p:sp>
    </p:spTree>
    <p:extLst>
      <p:ext uri="{BB962C8B-B14F-4D97-AF65-F5344CB8AC3E}">
        <p14:creationId xmlns:p14="http://schemas.microsoft.com/office/powerpoint/2010/main" val="946276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10/8/2026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pP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pP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pP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pPr>
            <a:endParaRPr lang="en-US">
              <a:solidFill>
                <a:prstClr val="white"/>
              </a:solidFill>
            </a:endParaRPr>
          </a:p>
        </p:txBody>
      </p:sp>
    </p:spTree>
    <p:extLst>
      <p:ext uri="{BB962C8B-B14F-4D97-AF65-F5344CB8AC3E}">
        <p14:creationId xmlns:p14="http://schemas.microsoft.com/office/powerpoint/2010/main" val="33671026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10/8/2026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453708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10/8/2026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pP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pPr>
            <a:endParaRPr lang="en-US">
              <a:solidFill>
                <a:prstClr val="white"/>
              </a:solidFill>
            </a:endParaRPr>
          </a:p>
        </p:txBody>
      </p:sp>
    </p:spTree>
    <p:extLst>
      <p:ext uri="{BB962C8B-B14F-4D97-AF65-F5344CB8AC3E}">
        <p14:creationId xmlns:p14="http://schemas.microsoft.com/office/powerpoint/2010/main" val="285436164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10/8/2026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3254214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10/8/2026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265350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10/8/2026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pPr>
            <a:endParaRPr lang="en-US">
              <a:solidFill>
                <a:prstClr val="white"/>
              </a:solidFill>
            </a:endParaRPr>
          </a:p>
        </p:txBody>
      </p:sp>
    </p:spTree>
    <p:extLst>
      <p:ext uri="{BB962C8B-B14F-4D97-AF65-F5344CB8AC3E}">
        <p14:creationId xmlns:p14="http://schemas.microsoft.com/office/powerpoint/2010/main" val="27578297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10/8/2026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eaLnBrk="1" fontAlgn="auto" hangingPunct="1">
              <a:spcBef>
                <a:spcPts val="0"/>
              </a:spcBef>
              <a:spcAft>
                <a:spcPts val="0"/>
              </a:spcAft>
            </a:pPr>
            <a:endParaRPr lang="en-US">
              <a:solidFill>
                <a:prstClr val="black"/>
              </a:solidFill>
              <a:latin typeface="Gill Sans MT"/>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pPr>
            <a:endParaRPr lang="en-US">
              <a:solidFill>
                <a:prstClr val="white"/>
              </a:solidFill>
            </a:endParaRPr>
          </a:p>
        </p:txBody>
      </p:sp>
    </p:spTree>
    <p:extLst>
      <p:ext uri="{BB962C8B-B14F-4D97-AF65-F5344CB8AC3E}">
        <p14:creationId xmlns:p14="http://schemas.microsoft.com/office/powerpoint/2010/main" val="30295959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10/8/2026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eaLnBrk="1" fontAlgn="auto" hangingPunct="1">
              <a:spcBef>
                <a:spcPts val="0"/>
              </a:spcBef>
              <a:spcAft>
                <a:spcPts val="0"/>
              </a:spcAft>
            </a:pPr>
            <a:endParaRPr lang="en-US">
              <a:solidFill>
                <a:prstClr val="black"/>
              </a:solidFill>
              <a:latin typeface="Gill Sans MT"/>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eaLnBrk="1" fontAlgn="auto" hangingPunct="1">
              <a:spcBef>
                <a:spcPts val="0"/>
              </a:spcBef>
              <a:spcAft>
                <a:spcPts val="0"/>
              </a:spcAft>
            </a:pPr>
            <a:endParaRPr lang="en-US" dirty="0">
              <a:solidFill>
                <a:prstClr val="black"/>
              </a:solidFill>
              <a:latin typeface="Gill Sans MT"/>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pP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0151065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10/8/2026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eaLnBrk="1" fontAlgn="auto" hangingPunct="1">
              <a:spcBef>
                <a:spcPts val="0"/>
              </a:spcBef>
              <a:spcAft>
                <a:spcPts val="0"/>
              </a:spcAft>
            </a:pPr>
            <a:endParaRPr lang="en-US">
              <a:solidFill>
                <a:prstClr val="white"/>
              </a:solidFill>
              <a:latin typeface="Gill Sans MT"/>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pP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pPr>
            <a:endParaRPr lang="en-US">
              <a:solidFill>
                <a:prstClr val="white"/>
              </a:solidFill>
            </a:endParaRPr>
          </a:p>
        </p:txBody>
      </p:sp>
    </p:spTree>
    <p:extLst>
      <p:ext uri="{BB962C8B-B14F-4D97-AF65-F5344CB8AC3E}">
        <p14:creationId xmlns:p14="http://schemas.microsoft.com/office/powerpoint/2010/main" val="3462163885"/>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10/8/2026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18378461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10/8/2026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eaLnBrk="1" fontAlgn="auto" hangingPunct="1">
              <a:spcBef>
                <a:spcPts val="0"/>
              </a:spcBef>
              <a:spcAft>
                <a:spcPts val="0"/>
              </a:spcAft>
            </a:pPr>
            <a:endParaRPr lang="en-US">
              <a:solidFill>
                <a:prstClr val="black"/>
              </a:solidFill>
              <a:latin typeface="Gill Sans MT"/>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pP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eaLnBrk="1" fontAlgn="auto" hangingPunct="1">
              <a:spcBef>
                <a:spcPts val="0"/>
              </a:spcBef>
              <a:spcAft>
                <a:spcPts val="0"/>
              </a:spcAft>
            </a:pPr>
            <a:endParaRPr lang="en-US">
              <a:solidFill>
                <a:prstClr val="black"/>
              </a:solidFill>
              <a:latin typeface="Gill Sans MT"/>
            </a:endParaRPr>
          </a:p>
        </p:txBody>
      </p:sp>
    </p:spTree>
    <p:extLst>
      <p:ext uri="{BB962C8B-B14F-4D97-AF65-F5344CB8AC3E}">
        <p14:creationId xmlns:p14="http://schemas.microsoft.com/office/powerpoint/2010/main" val="2471875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010400" cy="1527175"/>
          </a:xfrm>
        </p:spPr>
        <p:txBody>
          <a:bodyPr/>
          <a:lstStyle/>
          <a:p>
            <a:r>
              <a:rPr lang="en-US"/>
              <a:t>Click to edit Master title style</a:t>
            </a:r>
          </a:p>
        </p:txBody>
      </p:sp>
      <p:sp>
        <p:nvSpPr>
          <p:cNvPr id="3" name="Table Placeholder 2"/>
          <p:cNvSpPr>
            <a:spLocks noGrp="1"/>
          </p:cNvSpPr>
          <p:nvPr>
            <p:ph type="tbl" idx="1"/>
          </p:nvPr>
        </p:nvSpPr>
        <p:spPr>
          <a:xfrm>
            <a:off x="1524000" y="1905000"/>
            <a:ext cx="7010400" cy="4114800"/>
          </a:xfrm>
        </p:spPr>
        <p:txBody>
          <a:bodyPr>
            <a:normAutofit/>
          </a:bodyPr>
          <a:lstStyle/>
          <a:p>
            <a:pPr lvl="0"/>
            <a:endParaRPr lang="en-US" noProof="0"/>
          </a:p>
        </p:txBody>
      </p:sp>
      <p:sp>
        <p:nvSpPr>
          <p:cNvPr id="4" name="Date Placeholder 13"/>
          <p:cNvSpPr>
            <a:spLocks noGrp="1"/>
          </p:cNvSpPr>
          <p:nvPr>
            <p:ph type="dt" sz="half" idx="10"/>
          </p:nvPr>
        </p:nvSpPr>
        <p:spPr/>
        <p:txBody>
          <a:bodyPr/>
          <a:lstStyle>
            <a:lvl1pPr>
              <a:defRPr/>
            </a:lvl1pPr>
          </a:lstStyle>
          <a:p>
            <a:pPr>
              <a:defRPr/>
            </a:pPr>
            <a:endParaRPr lang="en-US">
              <a:solidFill>
                <a:srgbClr val="464653"/>
              </a:solidFill>
            </a:endParaRPr>
          </a:p>
        </p:txBody>
      </p:sp>
      <p:sp>
        <p:nvSpPr>
          <p:cNvPr id="5" name="Footer Placeholder 2"/>
          <p:cNvSpPr>
            <a:spLocks noGrp="1"/>
          </p:cNvSpPr>
          <p:nvPr>
            <p:ph type="ftr" sz="quarter" idx="11"/>
          </p:nvPr>
        </p:nvSpPr>
        <p:spPr/>
        <p:txBody>
          <a:bodyPr/>
          <a:lstStyle>
            <a:lvl1pPr>
              <a:defRPr/>
            </a:lvl1pPr>
          </a:lstStyle>
          <a:p>
            <a:pPr>
              <a:defRPr/>
            </a:pPr>
            <a:endParaRPr lang="en-US">
              <a:solidFill>
                <a:srgbClr val="464653"/>
              </a:solidFill>
            </a:endParaRPr>
          </a:p>
        </p:txBody>
      </p:sp>
      <p:sp>
        <p:nvSpPr>
          <p:cNvPr id="6" name="Slide Number Placeholder 22"/>
          <p:cNvSpPr>
            <a:spLocks noGrp="1"/>
          </p:cNvSpPr>
          <p:nvPr>
            <p:ph type="sldNum" sz="quarter" idx="12"/>
          </p:nvPr>
        </p:nvSpPr>
        <p:spPr/>
        <p:txBody>
          <a:bodyPr/>
          <a:lstStyle>
            <a:lvl1pPr>
              <a:defRPr/>
            </a:lvl1pPr>
          </a:lstStyle>
          <a:p>
            <a:pPr>
              <a:defRPr/>
            </a:pPr>
            <a:fld id="{DF14308C-09F3-41F1-86D1-785A210D56D2}" type="slidenum">
              <a:rPr lang="en-US">
                <a:solidFill>
                  <a:srgbClr val="464653"/>
                </a:solidFill>
              </a:rPr>
              <a:pPr>
                <a:defRPr/>
              </a:pPr>
              <a:t>‹#›</a:t>
            </a:fld>
            <a:endParaRPr lang="en-US">
              <a:solidFill>
                <a:srgbClr val="464653"/>
              </a:solidFill>
            </a:endParaRPr>
          </a:p>
        </p:txBody>
      </p:sp>
    </p:spTree>
    <p:extLst>
      <p:ext uri="{BB962C8B-B14F-4D97-AF65-F5344CB8AC3E}">
        <p14:creationId xmlns:p14="http://schemas.microsoft.com/office/powerpoint/2010/main" val="2195199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457200" y="152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Text Placeholder 12"/>
          <p:cNvSpPr>
            <a:spLocks noGrp="1"/>
          </p:cNvSpPr>
          <p:nvPr>
            <p:ph type="body" idx="1"/>
          </p:nvPr>
        </p:nvSpPr>
        <p:spPr bwMode="auto">
          <a:xfrm>
            <a:off x="457200" y="1219200"/>
            <a:ext cx="8229600"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400800" y="6356350"/>
            <a:ext cx="2289175" cy="365125"/>
          </a:xfrm>
          <a:prstGeom prst="rect">
            <a:avLst/>
          </a:prstGeom>
        </p:spPr>
        <p:txBody>
          <a:bodyPr vert="horz"/>
          <a:lstStyle>
            <a:lvl1pPr algn="l" eaLnBrk="1" latinLnBrk="0" hangingPunct="1">
              <a:defRPr kumimoji="0" sz="1400">
                <a:solidFill>
                  <a:schemeClr val="tx2"/>
                </a:solidFill>
              </a:defRPr>
            </a:lvl1pPr>
          </a:lstStyle>
          <a:p>
            <a:pPr>
              <a:defRPr/>
            </a:pPr>
            <a:endParaRPr lang="en-US"/>
          </a:p>
        </p:txBody>
      </p:sp>
      <p:sp>
        <p:nvSpPr>
          <p:cNvPr id="3" name="Footer Placeholder 2"/>
          <p:cNvSpPr>
            <a:spLocks noGrp="1"/>
          </p:cNvSpPr>
          <p:nvPr>
            <p:ph type="ftr" sz="quarter" idx="3"/>
          </p:nvPr>
        </p:nvSpPr>
        <p:spPr>
          <a:xfrm>
            <a:off x="2898775" y="6356350"/>
            <a:ext cx="3505200" cy="365125"/>
          </a:xfrm>
          <a:prstGeom prst="rect">
            <a:avLst/>
          </a:prstGeom>
        </p:spPr>
        <p:txBody>
          <a:bodyPr vert="horz"/>
          <a:lstStyle>
            <a:lvl1pPr algn="r" eaLnBrk="1" latinLnBrk="0" hangingPunct="1">
              <a:defRPr kumimoji="0" sz="1400">
                <a:solidFill>
                  <a:schemeClr val="tx2"/>
                </a:solidFill>
              </a:defRPr>
            </a:lvl1pPr>
          </a:lstStyle>
          <a:p>
            <a:pPr>
              <a:defRPr/>
            </a:pPr>
            <a:endParaRPr lang="en-US"/>
          </a:p>
        </p:txBody>
      </p:sp>
      <p:sp>
        <p:nvSpPr>
          <p:cNvPr id="23" name="Slide Number Placeholder 22"/>
          <p:cNvSpPr>
            <a:spLocks noGrp="1"/>
          </p:cNvSpPr>
          <p:nvPr>
            <p:ph type="sldNum" sz="quarter" idx="4"/>
          </p:nvPr>
        </p:nvSpPr>
        <p:spPr>
          <a:xfrm>
            <a:off x="612775" y="6356350"/>
            <a:ext cx="1981200" cy="365125"/>
          </a:xfrm>
          <a:prstGeom prst="rect">
            <a:avLst/>
          </a:prstGeom>
        </p:spPr>
        <p:txBody>
          <a:bodyPr vert="horz"/>
          <a:lstStyle>
            <a:lvl1pPr algn="l" eaLnBrk="1" latinLnBrk="0" hangingPunct="1">
              <a:defRPr kumimoji="0" sz="1400">
                <a:solidFill>
                  <a:schemeClr val="tx2"/>
                </a:solidFill>
              </a:defRPr>
            </a:lvl1pPr>
          </a:lstStyle>
          <a:p>
            <a:pPr>
              <a:defRPr/>
            </a:pPr>
            <a:fld id="{878D4C80-3A69-4215-B14C-340C514200D0}" type="slidenum">
              <a:rPr lang="en-US"/>
              <a:pPr>
                <a:defRPr/>
              </a:pPr>
              <a:t>‹#›</a:t>
            </a:fld>
            <a:endParaRPr lang="en-US"/>
          </a:p>
        </p:txBody>
      </p:sp>
      <p:sp>
        <p:nvSpPr>
          <p:cNvPr id="1031" name="Straight Connector 27"/>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32" name="Straight Connector 28"/>
          <p:cNvSpPr>
            <a:spLocks noChangeShapeType="1"/>
          </p:cNvSpPr>
          <p:nvPr/>
        </p:nvSpPr>
        <p:spPr bwMode="auto">
          <a:xfrm>
            <a:off x="457200" y="1143000"/>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Isosceles Triangle 9"/>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Tree>
  </p:cSld>
  <p:clrMap bg1="lt1" tx1="dk1" bg2="lt2" tx2="dk2" accent1="accent1" accent2="accent2" accent3="accent3" accent4="accent4" accent5="accent5" accent6="accent6" hlink="hlink" folHlink="folHlink"/>
  <p:sldLayoutIdLst>
    <p:sldLayoutId id="2147484021" r:id="rId1"/>
    <p:sldLayoutId id="2147484017" r:id="rId2"/>
    <p:sldLayoutId id="2147484022" r:id="rId3"/>
    <p:sldLayoutId id="2147484018" r:id="rId4"/>
    <p:sldLayoutId id="2147484019" r:id="rId5"/>
    <p:sldLayoutId id="2147484023" r:id="rId6"/>
    <p:sldLayoutId id="2147484024" r:id="rId7"/>
    <p:sldLayoutId id="2147484025" r:id="rId8"/>
    <p:sldLayoutId id="2147484026" r:id="rId9"/>
    <p:sldLayoutId id="2147484020" r:id="rId10"/>
    <p:sldLayoutId id="2147484027" r:id="rId11"/>
  </p:sldLayoutIdLst>
  <p:txStyles>
    <p:title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pitchFamily="18" charset="2"/>
        <a:buChar char=""/>
        <a:defRPr sz="2600" kern="12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itchFamily="18" charset="2"/>
        <a:buChar char=""/>
        <a:defRPr sz="2000" kern="1200">
          <a:solidFill>
            <a:schemeClr val="tx1"/>
          </a:solidFill>
          <a:latin typeface="+mn-lt"/>
          <a:ea typeface="+mn-ea"/>
          <a:cs typeface="+mn-cs"/>
        </a:defRPr>
      </a:lvl3pPr>
      <a:lvl4pPr marL="1096963" indent="-228600" algn="l" rtl="0" eaLnBrk="0" fontAlgn="base" hangingPunct="0">
        <a:spcBef>
          <a:spcPts val="400"/>
        </a:spcBef>
        <a:spcAft>
          <a:spcPct val="0"/>
        </a:spcAft>
        <a:buClr>
          <a:srgbClr val="8BA2B4"/>
        </a:buClr>
        <a:buSzPct val="70000"/>
        <a:buFont typeface="Wingdings" pitchFamily="2" charset="2"/>
        <a:buChar char=""/>
        <a:defRPr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fontAlgn="auto">
              <a:spcBef>
                <a:spcPts val="0"/>
              </a:spcBef>
              <a:spcAft>
                <a:spcPts val="0"/>
              </a:spcAft>
            </a:pPr>
            <a:fld id="{8B999E3D-45A9-497C-BEB0-B4F0C3D298AF}" type="datetimeFigureOut">
              <a:rPr lang="en-US" smtClean="0">
                <a:solidFill>
                  <a:srgbClr val="464653"/>
                </a:solidFill>
                <a:latin typeface="Gill Sans MT"/>
              </a:rPr>
              <a:pPr fontAlgn="auto">
                <a:spcBef>
                  <a:spcPts val="0"/>
                </a:spcBef>
                <a:spcAft>
                  <a:spcPts val="0"/>
                </a:spcAft>
              </a:pPr>
              <a:t>10/8/2026</a:t>
            </a:fld>
            <a:endParaRPr lang="en-US">
              <a:solidFill>
                <a:srgbClr val="464653"/>
              </a:solidFill>
              <a:latin typeface="Gill Sans MT"/>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fontAlgn="auto">
              <a:spcBef>
                <a:spcPts val="0"/>
              </a:spcBef>
              <a:spcAft>
                <a:spcPts val="0"/>
              </a:spcAft>
            </a:pPr>
            <a:endParaRPr lang="en-US">
              <a:solidFill>
                <a:srgbClr val="464653"/>
              </a:solidFill>
              <a:latin typeface="Gill Sans MT"/>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fontAlgn="auto">
              <a:spcBef>
                <a:spcPts val="0"/>
              </a:spcBef>
              <a:spcAft>
                <a:spcPts val="0"/>
              </a:spcAft>
            </a:pPr>
            <a:fld id="{994B729A-5F0B-4B52-BE6D-A579B7D0035B}" type="slidenum">
              <a:rPr lang="en-US" smtClean="0">
                <a:solidFill>
                  <a:srgbClr val="464653"/>
                </a:solidFill>
                <a:latin typeface="Gill Sans MT"/>
              </a:rPr>
              <a:pPr fontAlgn="auto">
                <a:spcBef>
                  <a:spcPts val="0"/>
                </a:spcBef>
                <a:spcAft>
                  <a:spcPts val="0"/>
                </a:spcAft>
              </a:pPr>
              <a:t>‹#›</a:t>
            </a:fld>
            <a:endParaRPr lang="en-US">
              <a:solidFill>
                <a:srgbClr val="464653"/>
              </a:solidFill>
              <a:latin typeface="Gill Sans MT"/>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eaLnBrk="1" fontAlgn="auto" hangingPunct="1">
              <a:spcBef>
                <a:spcPts val="0"/>
              </a:spcBef>
              <a:spcAft>
                <a:spcPts val="0"/>
              </a:spcAft>
            </a:pPr>
            <a:endParaRPr lang="en-US">
              <a:solidFill>
                <a:prstClr val="black"/>
              </a:solidFill>
              <a:latin typeface="Gill Sans MT"/>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eaLnBrk="1" fontAlgn="auto" hangingPunct="1">
              <a:spcBef>
                <a:spcPts val="0"/>
              </a:spcBef>
              <a:spcAft>
                <a:spcPts val="0"/>
              </a:spcAft>
            </a:pPr>
            <a:endParaRPr lang="en-US">
              <a:solidFill>
                <a:prstClr val="black"/>
              </a:solidFill>
              <a:latin typeface="Gill Sans MT"/>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pPr>
            <a:endParaRPr lang="en-US">
              <a:solidFill>
                <a:prstClr val="white"/>
              </a:solidFill>
            </a:endParaRPr>
          </a:p>
        </p:txBody>
      </p:sp>
    </p:spTree>
    <p:extLst>
      <p:ext uri="{BB962C8B-B14F-4D97-AF65-F5344CB8AC3E}">
        <p14:creationId xmlns:p14="http://schemas.microsoft.com/office/powerpoint/2010/main" val="3451421580"/>
      </p:ext>
    </p:extLst>
  </p:cSld>
  <p:clrMap bg1="lt1" tx1="dk1" bg2="lt2" tx2="dk2" accent1="accent1" accent2="accent2" accent3="accent3" accent4="accent4" accent5="accent5" accent6="accent6" hlink="hlink" folHlink="folHlink"/>
  <p:sldLayoutIdLst>
    <p:sldLayoutId id="2147484029" r:id="rId1"/>
    <p:sldLayoutId id="2147484030" r:id="rId2"/>
    <p:sldLayoutId id="2147484031" r:id="rId3"/>
    <p:sldLayoutId id="2147484032" r:id="rId4"/>
    <p:sldLayoutId id="2147484033" r:id="rId5"/>
    <p:sldLayoutId id="2147484034" r:id="rId6"/>
    <p:sldLayoutId id="2147484035" r:id="rId7"/>
    <p:sldLayoutId id="2147484036" r:id="rId8"/>
    <p:sldLayoutId id="2147484037" r:id="rId9"/>
    <p:sldLayoutId id="2147484038" r:id="rId10"/>
    <p:sldLayoutId id="2147484039" r:id="rId11"/>
    <p:sldLayoutId id="2147484040"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3"/>
          <p:cNvSpPr>
            <a:spLocks noGrp="1"/>
          </p:cNvSpPr>
          <p:nvPr>
            <p:ph type="ctrTitle"/>
          </p:nvPr>
        </p:nvSpPr>
        <p:spPr/>
        <p:txBody>
          <a:bodyPr/>
          <a:lstStyle/>
          <a:p>
            <a:pPr eaLnBrk="1" hangingPunct="1"/>
            <a:r>
              <a:rPr lang="en-US" dirty="0"/>
              <a:t>Class 14: The plain meaning rule</a:t>
            </a:r>
          </a:p>
        </p:txBody>
      </p:sp>
      <p:sp>
        <p:nvSpPr>
          <p:cNvPr id="10243" name="Subtitle 4"/>
          <p:cNvSpPr>
            <a:spLocks noGrp="1"/>
          </p:cNvSpPr>
          <p:nvPr>
            <p:ph type="subTitle" idx="1"/>
          </p:nvPr>
        </p:nvSpPr>
        <p:spPr/>
        <p:txBody>
          <a:bodyPr>
            <a:normAutofit/>
          </a:bodyPr>
          <a:lstStyle/>
          <a:p>
            <a:pPr eaLnBrk="1" fontAlgn="auto" hangingPunct="1">
              <a:spcAft>
                <a:spcPts val="0"/>
              </a:spcAft>
              <a:buFont typeface="Wingdings 3"/>
              <a:buNone/>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questions</a:t>
            </a:r>
          </a:p>
        </p:txBody>
      </p:sp>
      <p:sp>
        <p:nvSpPr>
          <p:cNvPr id="5" name="Content Placeholder 4"/>
          <p:cNvSpPr>
            <a:spLocks noGrp="1"/>
          </p:cNvSpPr>
          <p:nvPr>
            <p:ph sz="quarter" idx="1"/>
          </p:nvPr>
        </p:nvSpPr>
        <p:spPr/>
        <p:txBody>
          <a:bodyPr/>
          <a:lstStyle/>
          <a:p>
            <a:r>
              <a:rPr lang="en-US" dirty="0"/>
              <a:t>Is there an enforceable promise?</a:t>
            </a:r>
          </a:p>
          <a:p>
            <a:r>
              <a:rPr lang="en-US" b="1" dirty="0"/>
              <a:t>Has it been performed?</a:t>
            </a:r>
          </a:p>
          <a:p>
            <a:pPr lvl="1"/>
            <a:r>
              <a:rPr lang="en-US" b="1" dirty="0"/>
              <a:t>Sources of terms</a:t>
            </a:r>
          </a:p>
          <a:p>
            <a:pPr lvl="1"/>
            <a:r>
              <a:rPr lang="en-US" b="1" dirty="0"/>
              <a:t>Rules of construction</a:t>
            </a:r>
          </a:p>
          <a:p>
            <a:pPr lvl="1"/>
            <a:r>
              <a:rPr lang="en-US" dirty="0"/>
              <a:t>Hierarchy of sources</a:t>
            </a:r>
          </a:p>
          <a:p>
            <a:r>
              <a:rPr lang="en-US" dirty="0"/>
              <a:t>Has performance been excused?</a:t>
            </a:r>
          </a:p>
          <a:p>
            <a:r>
              <a:rPr lang="en-US" dirty="0"/>
              <a:t>How should it be enforced?</a:t>
            </a:r>
          </a:p>
        </p:txBody>
      </p:sp>
    </p:spTree>
    <p:extLst>
      <p:ext uri="{BB962C8B-B14F-4D97-AF65-F5344CB8AC3E}">
        <p14:creationId xmlns:p14="http://schemas.microsoft.com/office/powerpoint/2010/main" val="1035677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Overview of rules on extrinsic evidence</a:t>
            </a:r>
          </a:p>
        </p:txBody>
      </p:sp>
      <p:sp>
        <p:nvSpPr>
          <p:cNvPr id="3" name="Content Placeholder 2"/>
          <p:cNvSpPr>
            <a:spLocks noGrp="1"/>
          </p:cNvSpPr>
          <p:nvPr>
            <p:ph sz="quarter" idx="1"/>
          </p:nvPr>
        </p:nvSpPr>
        <p:spPr>
          <a:xfrm>
            <a:off x="457200" y="1219200"/>
            <a:ext cx="8229600" cy="5029200"/>
          </a:xfrm>
        </p:spPr>
        <p:txBody>
          <a:bodyPr>
            <a:normAutofit fontScale="25000" lnSpcReduction="20000"/>
          </a:bodyPr>
          <a:lstStyle/>
          <a:p>
            <a:pPr marL="0" indent="0">
              <a:buNone/>
            </a:pPr>
            <a:r>
              <a:rPr lang="en-US" sz="8400" dirty="0"/>
              <a:t>Extrinsic evidence </a:t>
            </a:r>
            <a:r>
              <a:rPr lang="en-US" sz="8400" i="1" dirty="0"/>
              <a:t>cannot</a:t>
            </a:r>
            <a:r>
              <a:rPr lang="en-US" sz="8400" dirty="0"/>
              <a:t> be used to:</a:t>
            </a:r>
          </a:p>
          <a:p>
            <a:pPr lvl="0"/>
            <a:r>
              <a:rPr lang="en-US" sz="8400" dirty="0"/>
              <a:t>Vary/contradict integrated [final] written agreements</a:t>
            </a:r>
          </a:p>
          <a:p>
            <a:pPr lvl="0"/>
            <a:r>
              <a:rPr lang="en-US" sz="8400" dirty="0"/>
              <a:t>Add to/supplement completely integrated [final, complete and exclusive] written agreements within their scope</a:t>
            </a:r>
          </a:p>
          <a:p>
            <a:pPr lvl="0">
              <a:buClr>
                <a:srgbClr val="727CA3"/>
              </a:buClr>
            </a:pPr>
            <a:r>
              <a:rPr lang="en-US" sz="8400" dirty="0">
                <a:solidFill>
                  <a:prstClr val="black"/>
                </a:solidFill>
              </a:rPr>
              <a:t>Explain unambiguous agreements</a:t>
            </a:r>
          </a:p>
          <a:p>
            <a:pPr marL="0" indent="0">
              <a:buNone/>
            </a:pPr>
            <a:endParaRPr lang="en-US" sz="8400" dirty="0"/>
          </a:p>
          <a:p>
            <a:pPr marL="0" indent="0">
              <a:buNone/>
            </a:pPr>
            <a:r>
              <a:rPr lang="en-US" sz="8400" dirty="0"/>
              <a:t>Extrinsic evidence </a:t>
            </a:r>
            <a:r>
              <a:rPr lang="en-US" sz="8400" i="1" dirty="0"/>
              <a:t>can</a:t>
            </a:r>
            <a:r>
              <a:rPr lang="en-US" sz="8400" dirty="0"/>
              <a:t> be used to:</a:t>
            </a:r>
          </a:p>
          <a:p>
            <a:pPr lvl="0"/>
            <a:r>
              <a:rPr lang="en-US" sz="8400" dirty="0"/>
              <a:t>Invalidate a written agreement</a:t>
            </a:r>
          </a:p>
          <a:p>
            <a:pPr lvl="0"/>
            <a:r>
              <a:rPr lang="en-US" sz="8400" dirty="0"/>
              <a:t>Reform a written agreement</a:t>
            </a:r>
          </a:p>
          <a:p>
            <a:r>
              <a:rPr lang="en-US" sz="8400" dirty="0"/>
              <a:t>Show grounds for granting a remedy</a:t>
            </a:r>
          </a:p>
          <a:p>
            <a:pPr lvl="0"/>
            <a:r>
              <a:rPr lang="en-US" sz="8400" dirty="0"/>
              <a:t>Establish a collateral agreement which either is beyond the scope of, or for some other reason might naturally be omitted from, the writing</a:t>
            </a:r>
          </a:p>
          <a:p>
            <a:r>
              <a:rPr lang="en-US" sz="8400" dirty="0"/>
              <a:t>Establish the meaning of ambiguous writings</a:t>
            </a:r>
          </a:p>
          <a:p>
            <a:r>
              <a:rPr lang="en-US" sz="8400" dirty="0"/>
              <a:t>Establish meaning, supplement or qualify, if the evidence relates to commercial context</a:t>
            </a:r>
          </a:p>
          <a:p>
            <a:r>
              <a:rPr lang="en-US" sz="8400" dirty="0"/>
              <a:t>Establish that performance is subject to a condition</a:t>
            </a:r>
          </a:p>
          <a:p>
            <a:endParaRPr lang="en-US" sz="2200" dirty="0"/>
          </a:p>
          <a:p>
            <a:endParaRPr lang="en-US" sz="2400" dirty="0"/>
          </a:p>
          <a:p>
            <a:pPr lvl="0"/>
            <a:endParaRPr lang="en-US" dirty="0"/>
          </a:p>
          <a:p>
            <a:endParaRPr lang="en-US" dirty="0"/>
          </a:p>
        </p:txBody>
      </p:sp>
    </p:spTree>
    <p:extLst>
      <p:ext uri="{BB962C8B-B14F-4D97-AF65-F5344CB8AC3E}">
        <p14:creationId xmlns:p14="http://schemas.microsoft.com/office/powerpoint/2010/main" val="4142340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t>Topics</a:t>
            </a:r>
          </a:p>
        </p:txBody>
      </p:sp>
      <p:sp>
        <p:nvSpPr>
          <p:cNvPr id="10243" name="Content Placeholder 2"/>
          <p:cNvSpPr>
            <a:spLocks noGrp="1"/>
          </p:cNvSpPr>
          <p:nvPr>
            <p:ph sz="quarter" idx="1"/>
          </p:nvPr>
        </p:nvSpPr>
        <p:spPr>
          <a:xfrm>
            <a:off x="457200" y="1219200"/>
            <a:ext cx="8229600" cy="4937125"/>
          </a:xfrm>
        </p:spPr>
        <p:txBody>
          <a:bodyPr/>
          <a:lstStyle/>
          <a:p>
            <a:pPr eaLnBrk="1" hangingPunct="1"/>
            <a:r>
              <a:rPr lang="en-US" dirty="0"/>
              <a:t>Types of ambiguity</a:t>
            </a:r>
          </a:p>
          <a:p>
            <a:pPr eaLnBrk="1" hangingPunct="1"/>
            <a:r>
              <a:rPr lang="en-US" dirty="0"/>
              <a:t>Rules of construction</a:t>
            </a:r>
          </a:p>
          <a:p>
            <a:pPr eaLnBrk="1" hangingPunct="1"/>
            <a:r>
              <a:rPr lang="en-US"/>
              <a:t>California’s </a:t>
            </a:r>
            <a:r>
              <a:rPr lang="en-US" dirty="0"/>
              <a:t>approach to the plain meaning rule</a:t>
            </a:r>
          </a:p>
          <a:p>
            <a:pPr eaLnBrk="1" hangingPunct="1"/>
            <a:r>
              <a:rPr lang="en-US" dirty="0"/>
              <a:t>New York’s approach to the plain meaning rule</a:t>
            </a:r>
          </a:p>
          <a:p>
            <a:pPr eaLnBrk="1" hangingPunct="1"/>
            <a:r>
              <a:rPr lang="en-US" dirty="0"/>
              <a:t>Policy considerations</a:t>
            </a:r>
          </a:p>
          <a:p>
            <a:pPr eaLnBrk="1" hangingPunct="1"/>
            <a:endParaRPr lang="en-US" dirty="0"/>
          </a:p>
          <a:p>
            <a:pPr eaLnBrk="1" hangingPunct="1"/>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Ambiguity and vagueness</a:t>
            </a:r>
          </a:p>
        </p:txBody>
      </p:sp>
      <p:sp>
        <p:nvSpPr>
          <p:cNvPr id="3" name="Content Placeholder 2"/>
          <p:cNvSpPr>
            <a:spLocks noGrp="1"/>
          </p:cNvSpPr>
          <p:nvPr>
            <p:ph sz="quarter" idx="1"/>
          </p:nvPr>
        </p:nvSpPr>
        <p:spPr/>
        <p:txBody>
          <a:bodyPr>
            <a:normAutofit lnSpcReduction="10000"/>
          </a:bodyPr>
          <a:lstStyle/>
          <a:p>
            <a:r>
              <a:rPr lang="en-US" dirty="0"/>
              <a:t>A word, phrase, sentence or clause is ambiguous if it has more than one sense. It is vague when it has borderline cases.</a:t>
            </a:r>
          </a:p>
          <a:p>
            <a:endParaRPr lang="en-US" dirty="0"/>
          </a:p>
          <a:p>
            <a:r>
              <a:rPr lang="en-US" dirty="0"/>
              <a:t>Technician will not compete “within fifty miles of the Company office.”  Does this bar competition at a location that is 45 miles as the crow flies but 55 miles by road?</a:t>
            </a:r>
          </a:p>
          <a:p>
            <a:r>
              <a:rPr lang="en-US" dirty="0"/>
              <a:t>Seller of photo studio will not compete with the buyer “for school photography work in any school in Grant county, with the exception of Marion High School and Bennett High School.” Does this bar competition for work in Marion College?</a:t>
            </a:r>
          </a:p>
          <a:p>
            <a:endParaRPr lang="en-US" dirty="0"/>
          </a:p>
          <a:p>
            <a:endParaRPr lang="en-US" dirty="0"/>
          </a:p>
        </p:txBody>
      </p:sp>
    </p:spTree>
    <p:extLst>
      <p:ext uri="{BB962C8B-B14F-4D97-AF65-F5344CB8AC3E}">
        <p14:creationId xmlns:p14="http://schemas.microsoft.com/office/powerpoint/2010/main" val="434952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Ambiguity and vagueness</a:t>
            </a:r>
          </a:p>
        </p:txBody>
      </p:sp>
      <p:sp>
        <p:nvSpPr>
          <p:cNvPr id="3" name="Content Placeholder 2"/>
          <p:cNvSpPr>
            <a:spLocks noGrp="1"/>
          </p:cNvSpPr>
          <p:nvPr>
            <p:ph sz="quarter" idx="1"/>
          </p:nvPr>
        </p:nvSpPr>
        <p:spPr/>
        <p:txBody>
          <a:bodyPr>
            <a:normAutofit/>
          </a:bodyPr>
          <a:lstStyle/>
          <a:p>
            <a:endParaRPr lang="en-US" dirty="0"/>
          </a:p>
          <a:p>
            <a:endParaRPr lang="en-US" dirty="0"/>
          </a:p>
        </p:txBody>
      </p:sp>
      <p:pic>
        <p:nvPicPr>
          <p:cNvPr id="4" name="Picture 3">
            <a:extLst>
              <a:ext uri="{FF2B5EF4-FFF2-40B4-BE49-F238E27FC236}">
                <a16:creationId xmlns:a16="http://schemas.microsoft.com/office/drawing/2014/main" id="{609945B1-DF7B-9C93-1C69-9E67B8CCB0FF}"/>
              </a:ext>
            </a:extLst>
          </p:cNvPr>
          <p:cNvPicPr>
            <a:picLocks noChangeAspect="1"/>
          </p:cNvPicPr>
          <p:nvPr/>
        </p:nvPicPr>
        <p:blipFill>
          <a:blip r:embed="rId2"/>
          <a:stretch>
            <a:fillRect/>
          </a:stretch>
        </p:blipFill>
        <p:spPr>
          <a:xfrm>
            <a:off x="-10886" y="1607807"/>
            <a:ext cx="9144000" cy="4160546"/>
          </a:xfrm>
          <a:prstGeom prst="rect">
            <a:avLst/>
          </a:prstGeom>
        </p:spPr>
      </p:pic>
    </p:spTree>
    <p:extLst>
      <p:ext uri="{BB962C8B-B14F-4D97-AF65-F5344CB8AC3E}">
        <p14:creationId xmlns:p14="http://schemas.microsoft.com/office/powerpoint/2010/main" val="1676189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Ambiguity and vagueness</a:t>
            </a:r>
          </a:p>
        </p:txBody>
      </p:sp>
      <p:sp>
        <p:nvSpPr>
          <p:cNvPr id="3" name="Content Placeholder 2"/>
          <p:cNvSpPr>
            <a:spLocks noGrp="1"/>
          </p:cNvSpPr>
          <p:nvPr>
            <p:ph sz="quarter" idx="1"/>
          </p:nvPr>
        </p:nvSpPr>
        <p:spPr/>
        <p:txBody>
          <a:bodyPr>
            <a:normAutofit/>
          </a:bodyPr>
          <a:lstStyle/>
          <a:p>
            <a:endParaRPr lang="en-US" dirty="0"/>
          </a:p>
          <a:p>
            <a:endParaRPr lang="en-US" dirty="0"/>
          </a:p>
        </p:txBody>
      </p:sp>
      <p:pic>
        <p:nvPicPr>
          <p:cNvPr id="5" name="Picture 4">
            <a:extLst>
              <a:ext uri="{FF2B5EF4-FFF2-40B4-BE49-F238E27FC236}">
                <a16:creationId xmlns:a16="http://schemas.microsoft.com/office/drawing/2014/main" id="{4E31EFC3-6E87-01D2-E2A2-D904AC017691}"/>
              </a:ext>
            </a:extLst>
          </p:cNvPr>
          <p:cNvPicPr>
            <a:picLocks noChangeAspect="1"/>
          </p:cNvPicPr>
          <p:nvPr/>
        </p:nvPicPr>
        <p:blipFill>
          <a:blip r:embed="rId2"/>
          <a:stretch>
            <a:fillRect/>
          </a:stretch>
        </p:blipFill>
        <p:spPr>
          <a:xfrm>
            <a:off x="0" y="1529328"/>
            <a:ext cx="9144000" cy="4317504"/>
          </a:xfrm>
          <a:prstGeom prst="rect">
            <a:avLst/>
          </a:prstGeom>
        </p:spPr>
      </p:pic>
    </p:spTree>
    <p:extLst>
      <p:ext uri="{BB962C8B-B14F-4D97-AF65-F5344CB8AC3E}">
        <p14:creationId xmlns:p14="http://schemas.microsoft.com/office/powerpoint/2010/main" val="3954771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Structural/syntactic ambiguity (566)</a:t>
            </a:r>
          </a:p>
        </p:txBody>
      </p:sp>
      <p:sp>
        <p:nvSpPr>
          <p:cNvPr id="3" name="Content Placeholder 2"/>
          <p:cNvSpPr>
            <a:spLocks noGrp="1"/>
          </p:cNvSpPr>
          <p:nvPr>
            <p:ph sz="quarter" idx="1"/>
          </p:nvPr>
        </p:nvSpPr>
        <p:spPr/>
        <p:txBody>
          <a:bodyPr>
            <a:normAutofit/>
          </a:bodyPr>
          <a:lstStyle/>
          <a:p>
            <a:pPr marL="0" indent="0">
              <a:buNone/>
            </a:pPr>
            <a:r>
              <a:rPr lang="en-US" dirty="0"/>
              <a:t>“For one year after my employment with you ends, I will not [manage for] any firm who shall have been your client within the period of one year prior to the termination of my employment or with whom you may have been negotiating during my employment by you if I have participated in such negotiations or had contact with that firm in the course of my employment with you.”</a:t>
            </a:r>
          </a:p>
          <a:p>
            <a:pPr marL="0" indent="0">
              <a:buNone/>
            </a:pPr>
            <a:endParaRPr lang="en-US" dirty="0"/>
          </a:p>
          <a:p>
            <a:pPr marL="0" indent="0">
              <a:buNone/>
            </a:pPr>
            <a:r>
              <a:rPr lang="en-US" dirty="0"/>
              <a:t>Suppose employee moves to a new firm that was a client three months earlier but with which she had no contact?</a:t>
            </a:r>
          </a:p>
        </p:txBody>
      </p:sp>
    </p:spTree>
    <p:extLst>
      <p:ext uri="{BB962C8B-B14F-4D97-AF65-F5344CB8AC3E}">
        <p14:creationId xmlns:p14="http://schemas.microsoft.com/office/powerpoint/2010/main" val="2545670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Structural/syntactic ambiguity (566)</a:t>
            </a:r>
          </a:p>
        </p:txBody>
      </p:sp>
      <p:sp>
        <p:nvSpPr>
          <p:cNvPr id="3" name="Content Placeholder 2"/>
          <p:cNvSpPr>
            <a:spLocks noGrp="1"/>
          </p:cNvSpPr>
          <p:nvPr>
            <p:ph sz="quarter" idx="1"/>
          </p:nvPr>
        </p:nvSpPr>
        <p:spPr>
          <a:xfrm>
            <a:off x="457200" y="1219200"/>
            <a:ext cx="8610600" cy="4937760"/>
          </a:xfrm>
        </p:spPr>
        <p:txBody>
          <a:bodyPr>
            <a:normAutofit fontScale="92500"/>
          </a:bodyPr>
          <a:lstStyle/>
          <a:p>
            <a:pPr marL="0" indent="0">
              <a:buNone/>
            </a:pPr>
            <a:r>
              <a:rPr lang="en-US" sz="2400" dirty="0"/>
              <a:t>“For one year after my employment with you ends, I will not [manage for] any firm</a:t>
            </a:r>
          </a:p>
          <a:p>
            <a:pPr marL="0" indent="0">
              <a:buNone/>
            </a:pPr>
            <a:endParaRPr lang="en-US" sz="2400" dirty="0"/>
          </a:p>
          <a:p>
            <a:pPr marL="457200" indent="-457200">
              <a:buFont typeface="+mj-lt"/>
              <a:buAutoNum type="alphaLcParenR"/>
            </a:pPr>
            <a:r>
              <a:rPr lang="en-US" sz="2400" dirty="0"/>
              <a:t>who shall have been your client within the period of one year prior to the termination of my employment</a:t>
            </a:r>
          </a:p>
          <a:p>
            <a:pPr marL="0" indent="0">
              <a:buNone/>
            </a:pPr>
            <a:r>
              <a:rPr lang="en-US" sz="2400" dirty="0"/>
              <a:t>or</a:t>
            </a:r>
          </a:p>
          <a:p>
            <a:pPr marL="457200" indent="-457200">
              <a:buFont typeface="+mj-lt"/>
              <a:buAutoNum type="alphaLcParenR" startAt="2"/>
            </a:pPr>
            <a:r>
              <a:rPr lang="en-US" sz="2400" dirty="0"/>
              <a:t>with whom you may have been negotiating during my employment by you </a:t>
            </a:r>
          </a:p>
          <a:p>
            <a:pPr marL="0" indent="0">
              <a:buNone/>
            </a:pPr>
            <a:r>
              <a:rPr lang="en-US" sz="2400" dirty="0"/>
              <a:t>if I</a:t>
            </a:r>
          </a:p>
          <a:p>
            <a:pPr marL="457200" indent="-457200">
              <a:buFont typeface="+mj-lt"/>
              <a:buAutoNum type="alphaLcParenR" startAt="3"/>
            </a:pPr>
            <a:r>
              <a:rPr lang="en-US" sz="2400" dirty="0"/>
              <a:t>have participated in such negotiations</a:t>
            </a:r>
          </a:p>
          <a:p>
            <a:pPr marL="0" indent="0">
              <a:buNone/>
            </a:pPr>
            <a:r>
              <a:rPr lang="en-US" sz="2400" dirty="0"/>
              <a:t>or </a:t>
            </a:r>
          </a:p>
          <a:p>
            <a:pPr marL="457200" indent="-457200">
              <a:buFont typeface="+mj-lt"/>
              <a:buAutoNum type="alphaLcParenR" startAt="4"/>
            </a:pPr>
            <a:r>
              <a:rPr lang="en-US" sz="2400" dirty="0"/>
              <a:t>had contact with that firm in the course of my employment with you.”</a:t>
            </a:r>
          </a:p>
        </p:txBody>
      </p:sp>
    </p:spTree>
    <p:extLst>
      <p:ext uri="{BB962C8B-B14F-4D97-AF65-F5344CB8AC3E}">
        <p14:creationId xmlns:p14="http://schemas.microsoft.com/office/powerpoint/2010/main" val="2438881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Structural/syntactic ambiguity (566)</a:t>
            </a:r>
          </a:p>
        </p:txBody>
      </p:sp>
      <p:sp>
        <p:nvSpPr>
          <p:cNvPr id="3" name="Content Placeholder 2"/>
          <p:cNvSpPr>
            <a:spLocks noGrp="1"/>
          </p:cNvSpPr>
          <p:nvPr>
            <p:ph sz="quarter" idx="1"/>
          </p:nvPr>
        </p:nvSpPr>
        <p:spPr>
          <a:xfrm>
            <a:off x="457200" y="1371600"/>
            <a:ext cx="8610600" cy="4937760"/>
          </a:xfrm>
        </p:spPr>
        <p:txBody>
          <a:bodyPr>
            <a:normAutofit fontScale="92500"/>
          </a:bodyPr>
          <a:lstStyle/>
          <a:p>
            <a:pPr marL="0" indent="0">
              <a:buNone/>
            </a:pPr>
            <a:r>
              <a:rPr lang="en-US" sz="2400" dirty="0"/>
              <a:t>“For one year after my employment with you ends, I will not [manage for] any firm</a:t>
            </a:r>
          </a:p>
          <a:p>
            <a:pPr marL="0" indent="0">
              <a:buNone/>
            </a:pPr>
            <a:endParaRPr lang="en-US" sz="2400" dirty="0"/>
          </a:p>
          <a:p>
            <a:pPr marL="457200" indent="-457200">
              <a:buFont typeface="+mj-lt"/>
              <a:buAutoNum type="alphaLcParenR"/>
            </a:pPr>
            <a:r>
              <a:rPr lang="en-US" sz="2400" dirty="0"/>
              <a:t>who shall have been your client within the period of one year prior to the termination of my employment</a:t>
            </a:r>
          </a:p>
          <a:p>
            <a:pPr marL="0" indent="0">
              <a:buNone/>
            </a:pPr>
            <a:r>
              <a:rPr lang="en-US" sz="2400" dirty="0"/>
              <a:t>or</a:t>
            </a:r>
          </a:p>
          <a:p>
            <a:pPr marL="457200" indent="-457200">
              <a:buFont typeface="+mj-lt"/>
              <a:buAutoNum type="alphaLcParenR" startAt="2"/>
            </a:pPr>
            <a:r>
              <a:rPr lang="en-US" sz="2400" dirty="0"/>
              <a:t>with whom you may have been negotiating during my employment by you </a:t>
            </a:r>
          </a:p>
          <a:p>
            <a:pPr marL="0" indent="0">
              <a:buNone/>
            </a:pPr>
            <a:r>
              <a:rPr lang="en-US" sz="2400" dirty="0"/>
              <a:t>if I</a:t>
            </a:r>
          </a:p>
          <a:p>
            <a:pPr marL="457200" indent="-457200">
              <a:buFont typeface="+mj-lt"/>
              <a:buAutoNum type="alphaLcParenR" startAt="3"/>
            </a:pPr>
            <a:r>
              <a:rPr lang="en-US" sz="2400" dirty="0"/>
              <a:t>have participated in such negotiations</a:t>
            </a:r>
          </a:p>
          <a:p>
            <a:pPr marL="0" indent="0">
              <a:buNone/>
            </a:pPr>
            <a:r>
              <a:rPr lang="en-US" sz="2400" dirty="0"/>
              <a:t>or </a:t>
            </a:r>
          </a:p>
          <a:p>
            <a:pPr marL="457200" indent="-457200">
              <a:buFont typeface="+mj-lt"/>
              <a:buAutoNum type="alphaLcParenR" startAt="4"/>
            </a:pPr>
            <a:r>
              <a:rPr lang="en-US" sz="2400" dirty="0"/>
              <a:t>had contact with that firm in the course of my employment with you.”</a:t>
            </a:r>
          </a:p>
        </p:txBody>
      </p:sp>
      <p:sp>
        <p:nvSpPr>
          <p:cNvPr id="4" name="Right Brace 3"/>
          <p:cNvSpPr/>
          <p:nvPr/>
        </p:nvSpPr>
        <p:spPr>
          <a:xfrm>
            <a:off x="8839200" y="3581400"/>
            <a:ext cx="228600" cy="257556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C00000"/>
              </a:solidFill>
            </a:endParaRPr>
          </a:p>
        </p:txBody>
      </p:sp>
    </p:spTree>
    <p:extLst>
      <p:ext uri="{BB962C8B-B14F-4D97-AF65-F5344CB8AC3E}">
        <p14:creationId xmlns:p14="http://schemas.microsoft.com/office/powerpoint/2010/main" val="4071910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Structural/syntactic ambiguity (566)</a:t>
            </a:r>
          </a:p>
        </p:txBody>
      </p:sp>
      <p:sp>
        <p:nvSpPr>
          <p:cNvPr id="3" name="Content Placeholder 2"/>
          <p:cNvSpPr>
            <a:spLocks noGrp="1"/>
          </p:cNvSpPr>
          <p:nvPr>
            <p:ph sz="quarter" idx="1"/>
          </p:nvPr>
        </p:nvSpPr>
        <p:spPr>
          <a:xfrm>
            <a:off x="441742" y="1295400"/>
            <a:ext cx="8610600" cy="4937760"/>
          </a:xfrm>
        </p:spPr>
        <p:txBody>
          <a:bodyPr>
            <a:normAutofit fontScale="92500"/>
          </a:bodyPr>
          <a:lstStyle/>
          <a:p>
            <a:pPr marL="0" indent="0">
              <a:buNone/>
            </a:pPr>
            <a:r>
              <a:rPr lang="en-US" sz="2400" dirty="0"/>
              <a:t>“For one year after my employment with you ends, I will not [manage for] any firm</a:t>
            </a:r>
          </a:p>
          <a:p>
            <a:pPr marL="0" indent="0">
              <a:buNone/>
            </a:pPr>
            <a:endParaRPr lang="en-US" sz="2400" dirty="0"/>
          </a:p>
          <a:p>
            <a:pPr marL="457200" indent="-457200">
              <a:buFont typeface="+mj-lt"/>
              <a:buAutoNum type="alphaLcParenR"/>
            </a:pPr>
            <a:r>
              <a:rPr lang="en-US" sz="2400" dirty="0"/>
              <a:t>who shall have been your client within the period of one year prior to the termination of my employment</a:t>
            </a:r>
          </a:p>
          <a:p>
            <a:pPr marL="0" indent="0">
              <a:buNone/>
            </a:pPr>
            <a:r>
              <a:rPr lang="en-US" sz="2400" dirty="0"/>
              <a:t>or</a:t>
            </a:r>
          </a:p>
          <a:p>
            <a:pPr marL="457200" indent="-457200">
              <a:buFont typeface="+mj-lt"/>
              <a:buAutoNum type="alphaLcParenR" startAt="2"/>
            </a:pPr>
            <a:r>
              <a:rPr lang="en-US" sz="2400" dirty="0"/>
              <a:t>with whom you may have been negotiating during my employment by you </a:t>
            </a:r>
          </a:p>
          <a:p>
            <a:pPr marL="0" indent="0">
              <a:buNone/>
            </a:pPr>
            <a:r>
              <a:rPr lang="en-US" sz="2400" dirty="0"/>
              <a:t>if I</a:t>
            </a:r>
          </a:p>
          <a:p>
            <a:pPr marL="457200" indent="-457200">
              <a:buFont typeface="+mj-lt"/>
              <a:buAutoNum type="alphaLcParenR" startAt="3"/>
            </a:pPr>
            <a:r>
              <a:rPr lang="en-US" sz="2400" dirty="0"/>
              <a:t>have participated in such negotiations</a:t>
            </a:r>
          </a:p>
          <a:p>
            <a:pPr marL="0" indent="0">
              <a:buNone/>
            </a:pPr>
            <a:r>
              <a:rPr lang="en-US" sz="2400" dirty="0"/>
              <a:t>or </a:t>
            </a:r>
          </a:p>
          <a:p>
            <a:pPr marL="457200" indent="-457200">
              <a:buFont typeface="+mj-lt"/>
              <a:buAutoNum type="alphaLcParenR" startAt="4"/>
            </a:pPr>
            <a:r>
              <a:rPr lang="en-US" sz="2400" dirty="0"/>
              <a:t>had contact with that firm in the course of my employment with you.”</a:t>
            </a:r>
          </a:p>
        </p:txBody>
      </p:sp>
      <p:sp>
        <p:nvSpPr>
          <p:cNvPr id="4" name="Right Brace 3"/>
          <p:cNvSpPr/>
          <p:nvPr/>
        </p:nvSpPr>
        <p:spPr>
          <a:xfrm>
            <a:off x="8870330" y="2267315"/>
            <a:ext cx="221653" cy="6858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 name="Straight Connector 8"/>
          <p:cNvCxnSpPr>
            <a:cxnSpLocks/>
            <a:stCxn id="4" idx="1"/>
          </p:cNvCxnSpPr>
          <p:nvPr/>
        </p:nvCxnSpPr>
        <p:spPr>
          <a:xfrm flipH="1">
            <a:off x="9063002" y="2610215"/>
            <a:ext cx="28981" cy="311067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cxnSpLocks/>
            <a:stCxn id="4" idx="1"/>
            <a:endCxn id="4" idx="1"/>
          </p:cNvCxnSpPr>
          <p:nvPr/>
        </p:nvCxnSpPr>
        <p:spPr>
          <a:xfrm>
            <a:off x="9091983" y="2610215"/>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Right Brace 9"/>
          <p:cNvSpPr/>
          <p:nvPr/>
        </p:nvSpPr>
        <p:spPr>
          <a:xfrm>
            <a:off x="8835442" y="3526302"/>
            <a:ext cx="232358" cy="1618488"/>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p:cNvSpPr/>
          <p:nvPr/>
        </p:nvSpPr>
        <p:spPr>
          <a:xfrm>
            <a:off x="8835442" y="5376965"/>
            <a:ext cx="232358" cy="694944"/>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090607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of construction</a:t>
            </a:r>
          </a:p>
        </p:txBody>
      </p:sp>
      <p:sp>
        <p:nvSpPr>
          <p:cNvPr id="3" name="Content Placeholder 2"/>
          <p:cNvSpPr>
            <a:spLocks noGrp="1"/>
          </p:cNvSpPr>
          <p:nvPr>
            <p:ph sz="quarter" idx="1"/>
          </p:nvPr>
        </p:nvSpPr>
        <p:spPr/>
        <p:txBody>
          <a:bodyPr>
            <a:normAutofit/>
          </a:bodyPr>
          <a:lstStyle/>
          <a:p>
            <a:pPr marL="0" indent="0">
              <a:buNone/>
            </a:pPr>
            <a:r>
              <a:rPr lang="en-US" dirty="0"/>
              <a:t>“Sophisticated lawyers…must be presumed to know how to use parallel construction and identical wording to impart identical meaning when they intend to do so, and how to use different words and construction to establish distinctions in meaning. They must also be presumed to be familiar with standard maxims of contract construction, including the maxim </a:t>
            </a:r>
            <a:r>
              <a:rPr lang="en-US" dirty="0" err="1"/>
              <a:t>expressio</a:t>
            </a:r>
            <a:r>
              <a:rPr lang="en-US" dirty="0"/>
              <a:t> </a:t>
            </a:r>
            <a:r>
              <a:rPr lang="en-US" dirty="0" err="1"/>
              <a:t>unius</a:t>
            </a:r>
            <a:r>
              <a:rPr lang="en-US" dirty="0"/>
              <a:t> </a:t>
            </a:r>
            <a:r>
              <a:rPr lang="en-US" dirty="0" err="1"/>
              <a:t>est</a:t>
            </a:r>
            <a:r>
              <a:rPr lang="en-US" dirty="0"/>
              <a:t> </a:t>
            </a:r>
            <a:r>
              <a:rPr lang="en-US" dirty="0" err="1"/>
              <a:t>exclusio</a:t>
            </a:r>
            <a:r>
              <a:rPr lang="en-US" dirty="0"/>
              <a:t> </a:t>
            </a:r>
            <a:r>
              <a:rPr lang="en-US" dirty="0" err="1"/>
              <a:t>alterius</a:t>
            </a:r>
            <a:r>
              <a:rPr lang="en-US" dirty="0"/>
              <a:t>…”</a:t>
            </a:r>
          </a:p>
          <a:p>
            <a:pPr marL="0" indent="0">
              <a:buNone/>
            </a:pPr>
            <a:endParaRPr lang="en-US" dirty="0"/>
          </a:p>
          <a:p>
            <a:pPr marL="0" indent="0">
              <a:buNone/>
            </a:pPr>
            <a:r>
              <a:rPr lang="en-US" dirty="0"/>
              <a:t>International Fidelity Insurance Company v. County of Rockland, United States, 98 F.Supp.2d 400, 412 (S.D.N.Y. 2000).</a:t>
            </a:r>
          </a:p>
        </p:txBody>
      </p:sp>
    </p:spTree>
    <p:extLst>
      <p:ext uri="{BB962C8B-B14F-4D97-AF65-F5344CB8AC3E}">
        <p14:creationId xmlns:p14="http://schemas.microsoft.com/office/powerpoint/2010/main" val="4189343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of construction (567)</a:t>
            </a:r>
          </a:p>
        </p:txBody>
      </p:sp>
      <p:sp>
        <p:nvSpPr>
          <p:cNvPr id="3" name="Content Placeholder 2"/>
          <p:cNvSpPr>
            <a:spLocks noGrp="1"/>
          </p:cNvSpPr>
          <p:nvPr>
            <p:ph sz="quarter" idx="1"/>
          </p:nvPr>
        </p:nvSpPr>
        <p:spPr/>
        <p:txBody>
          <a:bodyPr/>
          <a:lstStyle/>
          <a:p>
            <a:r>
              <a:rPr lang="en-US" dirty="0"/>
              <a:t>Purpose</a:t>
            </a:r>
          </a:p>
          <a:p>
            <a:r>
              <a:rPr lang="en-US" dirty="0"/>
              <a:t>Contract must be read as a whole, consistently, giving meaning to every term</a:t>
            </a:r>
          </a:p>
          <a:p>
            <a:r>
              <a:rPr lang="en-US" dirty="0"/>
              <a:t>Public interest</a:t>
            </a:r>
          </a:p>
          <a:p>
            <a:r>
              <a:rPr lang="en-US" dirty="0" err="1"/>
              <a:t>Ejusdem</a:t>
            </a:r>
            <a:r>
              <a:rPr lang="en-US" dirty="0"/>
              <a:t> generis</a:t>
            </a:r>
          </a:p>
          <a:p>
            <a:r>
              <a:rPr lang="en-US" dirty="0" err="1"/>
              <a:t>Expressio</a:t>
            </a:r>
            <a:r>
              <a:rPr lang="en-US" dirty="0"/>
              <a:t> </a:t>
            </a:r>
            <a:r>
              <a:rPr lang="en-US" dirty="0" err="1"/>
              <a:t>unius</a:t>
            </a:r>
            <a:r>
              <a:rPr lang="en-US" dirty="0"/>
              <a:t> </a:t>
            </a:r>
            <a:r>
              <a:rPr lang="en-US" dirty="0" err="1"/>
              <a:t>est</a:t>
            </a:r>
            <a:r>
              <a:rPr lang="en-US" dirty="0"/>
              <a:t> </a:t>
            </a:r>
            <a:r>
              <a:rPr lang="en-US" dirty="0" err="1"/>
              <a:t>exclusio</a:t>
            </a:r>
            <a:r>
              <a:rPr lang="en-US" dirty="0"/>
              <a:t> </a:t>
            </a:r>
            <a:r>
              <a:rPr lang="en-US" dirty="0" err="1"/>
              <a:t>alterius</a:t>
            </a:r>
            <a:endParaRPr lang="en-US" dirty="0"/>
          </a:p>
          <a:p>
            <a:r>
              <a:rPr lang="en-US" dirty="0" err="1"/>
              <a:t>Noscitur</a:t>
            </a:r>
            <a:r>
              <a:rPr lang="en-US" dirty="0"/>
              <a:t> a </a:t>
            </a:r>
            <a:r>
              <a:rPr lang="en-US" dirty="0" err="1"/>
              <a:t>sociis</a:t>
            </a:r>
            <a:endParaRPr lang="en-US" dirty="0"/>
          </a:p>
          <a:p>
            <a:r>
              <a:rPr lang="en-US" dirty="0"/>
              <a:t>Contra </a:t>
            </a:r>
            <a:r>
              <a:rPr lang="en-US" dirty="0" err="1"/>
              <a:t>proferentem</a:t>
            </a:r>
            <a:r>
              <a:rPr lang="en-US" dirty="0"/>
              <a:t> [often described as a last resort]</a:t>
            </a:r>
          </a:p>
        </p:txBody>
      </p:sp>
    </p:spTree>
    <p:extLst>
      <p:ext uri="{BB962C8B-B14F-4D97-AF65-F5344CB8AC3E}">
        <p14:creationId xmlns:p14="http://schemas.microsoft.com/office/powerpoint/2010/main" val="3046508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(based on problem on 569)</a:t>
            </a:r>
          </a:p>
        </p:txBody>
      </p:sp>
      <p:sp>
        <p:nvSpPr>
          <p:cNvPr id="3" name="Content Placeholder 2"/>
          <p:cNvSpPr>
            <a:spLocks noGrp="1"/>
          </p:cNvSpPr>
          <p:nvPr>
            <p:ph sz="quarter" idx="1"/>
          </p:nvPr>
        </p:nvSpPr>
        <p:spPr>
          <a:xfrm>
            <a:off x="457200" y="1219200"/>
            <a:ext cx="8686800" cy="4937760"/>
          </a:xfrm>
        </p:spPr>
        <p:txBody>
          <a:bodyPr>
            <a:normAutofit lnSpcReduction="10000"/>
          </a:bodyPr>
          <a:lstStyle/>
          <a:p>
            <a:pPr marL="0" indent="0">
              <a:buNone/>
            </a:pPr>
            <a:r>
              <a:rPr lang="en-US" dirty="0"/>
              <a:t>Prospective tenant is a self-professed “animal lover” and currently owns sheep, cows, pigs, cats and dogs. Should landlord draft lease of a farm to state that she is permitted to keep:</a:t>
            </a:r>
          </a:p>
          <a:p>
            <a:r>
              <a:rPr lang="en-US" dirty="0"/>
              <a:t>“animals”?</a:t>
            </a:r>
          </a:p>
          <a:p>
            <a:r>
              <a:rPr lang="en-US" dirty="0"/>
              <a:t>“sheep, cows, and pigs”?</a:t>
            </a:r>
          </a:p>
          <a:p>
            <a:r>
              <a:rPr lang="en-US" dirty="0"/>
              <a:t>“sheep, cows, pigs and other animals”?</a:t>
            </a:r>
          </a:p>
          <a:p>
            <a:pPr marL="0" indent="0">
              <a:buNone/>
            </a:pPr>
            <a:endParaRPr lang="en-US" dirty="0"/>
          </a:p>
          <a:p>
            <a:pPr marL="0" indent="0">
              <a:buNone/>
            </a:pPr>
            <a:r>
              <a:rPr lang="en-US" dirty="0"/>
              <a:t>What if she wants a guinea pig? A wild boar? A tiger?</a:t>
            </a:r>
          </a:p>
          <a:p>
            <a:pPr marL="0" indent="0">
              <a:buNone/>
            </a:pPr>
            <a:endParaRPr lang="en-US" dirty="0"/>
          </a:p>
          <a:p>
            <a:pPr marL="0" indent="0">
              <a:buNone/>
            </a:pPr>
            <a:r>
              <a:rPr lang="en-US" dirty="0"/>
              <a:t>Recall: e</a:t>
            </a:r>
            <a:r>
              <a:rPr lang="pt-BR" dirty="0"/>
              <a:t>jusdem generis, expressio unius est exclusio alterius, noscitur a sociis and contra proferentem.</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990628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Overview of rules on extrinsic evidence</a:t>
            </a:r>
          </a:p>
        </p:txBody>
      </p:sp>
      <p:sp>
        <p:nvSpPr>
          <p:cNvPr id="3" name="Content Placeholder 2"/>
          <p:cNvSpPr>
            <a:spLocks noGrp="1"/>
          </p:cNvSpPr>
          <p:nvPr>
            <p:ph sz="quarter" idx="1"/>
          </p:nvPr>
        </p:nvSpPr>
        <p:spPr>
          <a:xfrm>
            <a:off x="457200" y="1219200"/>
            <a:ext cx="8229600" cy="5029200"/>
          </a:xfrm>
        </p:spPr>
        <p:txBody>
          <a:bodyPr>
            <a:normAutofit fontScale="25000" lnSpcReduction="20000"/>
          </a:bodyPr>
          <a:lstStyle/>
          <a:p>
            <a:pPr marL="0" indent="0">
              <a:buNone/>
            </a:pPr>
            <a:r>
              <a:rPr lang="en-US" sz="8400" dirty="0"/>
              <a:t>Extrinsic evidence </a:t>
            </a:r>
            <a:r>
              <a:rPr lang="en-US" sz="8400" i="1" dirty="0"/>
              <a:t>cannot</a:t>
            </a:r>
            <a:r>
              <a:rPr lang="en-US" sz="8400" dirty="0"/>
              <a:t> be used to:</a:t>
            </a:r>
          </a:p>
          <a:p>
            <a:pPr lvl="0"/>
            <a:r>
              <a:rPr lang="en-US" sz="8400" dirty="0"/>
              <a:t>Vary/contradict integrated [final] written agreements</a:t>
            </a:r>
          </a:p>
          <a:p>
            <a:pPr lvl="0"/>
            <a:r>
              <a:rPr lang="en-US" sz="8400" dirty="0"/>
              <a:t>Add to/supplement completely integrated [final, complete and exclusive] written agreements within their scope</a:t>
            </a:r>
          </a:p>
          <a:p>
            <a:pPr lvl="0">
              <a:buClr>
                <a:srgbClr val="727CA3"/>
              </a:buClr>
            </a:pPr>
            <a:r>
              <a:rPr lang="en-US" sz="8400" dirty="0">
                <a:solidFill>
                  <a:prstClr val="black"/>
                </a:solidFill>
              </a:rPr>
              <a:t>Explain unambiguous agreements</a:t>
            </a:r>
          </a:p>
          <a:p>
            <a:pPr marL="0" indent="0">
              <a:buNone/>
            </a:pPr>
            <a:endParaRPr lang="en-US" sz="8400" dirty="0"/>
          </a:p>
          <a:p>
            <a:pPr marL="0" indent="0">
              <a:buNone/>
            </a:pPr>
            <a:r>
              <a:rPr lang="en-US" sz="8400" dirty="0"/>
              <a:t>Extrinsic evidence </a:t>
            </a:r>
            <a:r>
              <a:rPr lang="en-US" sz="8400" i="1" dirty="0"/>
              <a:t>can</a:t>
            </a:r>
            <a:r>
              <a:rPr lang="en-US" sz="8400" dirty="0"/>
              <a:t> be used to:</a:t>
            </a:r>
          </a:p>
          <a:p>
            <a:pPr lvl="0"/>
            <a:r>
              <a:rPr lang="en-US" sz="8400" dirty="0"/>
              <a:t>Invalidate a written agreement</a:t>
            </a:r>
          </a:p>
          <a:p>
            <a:pPr lvl="0"/>
            <a:r>
              <a:rPr lang="en-US" sz="8400" dirty="0"/>
              <a:t>Reform a written agreement</a:t>
            </a:r>
          </a:p>
          <a:p>
            <a:r>
              <a:rPr lang="en-US" sz="8400" dirty="0"/>
              <a:t>Show grounds for granting a remedy</a:t>
            </a:r>
          </a:p>
          <a:p>
            <a:pPr lvl="0"/>
            <a:r>
              <a:rPr lang="en-US" sz="8400" dirty="0"/>
              <a:t>Establish a collateral agreement which either is beyond the scope of, or for some other reason might naturally be omitted from, the writing</a:t>
            </a:r>
          </a:p>
          <a:p>
            <a:r>
              <a:rPr lang="en-US" sz="8400" dirty="0"/>
              <a:t>Establish the meaning of ambiguous writings</a:t>
            </a:r>
          </a:p>
          <a:p>
            <a:r>
              <a:rPr lang="en-US" sz="8400" dirty="0"/>
              <a:t>Establish meaning, supplement or qualify, if the evidence relates to commercial context</a:t>
            </a:r>
          </a:p>
          <a:p>
            <a:r>
              <a:rPr lang="en-US" sz="8400" dirty="0"/>
              <a:t>Establish that performance is subject to a condition</a:t>
            </a:r>
          </a:p>
          <a:p>
            <a:endParaRPr lang="en-US" sz="2200" dirty="0"/>
          </a:p>
          <a:p>
            <a:endParaRPr lang="en-US" sz="2400" dirty="0"/>
          </a:p>
          <a:p>
            <a:pPr lvl="0"/>
            <a:endParaRPr lang="en-US" dirty="0"/>
          </a:p>
          <a:p>
            <a:endParaRPr lang="en-US" dirty="0"/>
          </a:p>
        </p:txBody>
      </p:sp>
    </p:spTree>
    <p:extLst>
      <p:ext uri="{BB962C8B-B14F-4D97-AF65-F5344CB8AC3E}">
        <p14:creationId xmlns:p14="http://schemas.microsoft.com/office/powerpoint/2010/main" val="3583478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Contentious issues</a:t>
            </a:r>
          </a:p>
        </p:txBody>
      </p:sp>
      <p:sp>
        <p:nvSpPr>
          <p:cNvPr id="3" name="Content Placeholder 2"/>
          <p:cNvSpPr>
            <a:spLocks noGrp="1"/>
          </p:cNvSpPr>
          <p:nvPr>
            <p:ph sz="quarter" idx="1"/>
          </p:nvPr>
        </p:nvSpPr>
        <p:spPr/>
        <p:txBody>
          <a:bodyPr/>
          <a:lstStyle/>
          <a:p>
            <a:r>
              <a:rPr lang="en-US" dirty="0"/>
              <a:t>Does/should the </a:t>
            </a:r>
            <a:r>
              <a:rPr lang="en-US" dirty="0" err="1"/>
              <a:t>parol</a:t>
            </a:r>
            <a:r>
              <a:rPr lang="en-US" dirty="0"/>
              <a:t> evidence rule apply to consumer contracts?</a:t>
            </a:r>
          </a:p>
          <a:p>
            <a:r>
              <a:rPr lang="en-US" dirty="0"/>
              <a:t>Can extrinsic evidence be used to determine whether and to what extent a writing is integrated?</a:t>
            </a:r>
          </a:p>
          <a:p>
            <a:r>
              <a:rPr lang="en-US" b="1" dirty="0"/>
              <a:t>Can extrinsic evidence be used to determine whether a writing is ambiguous?</a:t>
            </a:r>
          </a:p>
          <a:p>
            <a:r>
              <a:rPr lang="en-US" dirty="0"/>
              <a:t>Can evidence of commercial context always be used to explain or supplement a writing? </a:t>
            </a:r>
          </a:p>
          <a:p>
            <a:endParaRPr lang="en-US" dirty="0"/>
          </a:p>
        </p:txBody>
      </p:sp>
    </p:spTree>
    <p:extLst>
      <p:ext uri="{BB962C8B-B14F-4D97-AF65-F5344CB8AC3E}">
        <p14:creationId xmlns:p14="http://schemas.microsoft.com/office/powerpoint/2010/main" val="1563861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Policy considerations</a:t>
            </a:r>
          </a:p>
        </p:txBody>
      </p:sp>
      <p:sp>
        <p:nvSpPr>
          <p:cNvPr id="3" name="Content Placeholder 2"/>
          <p:cNvSpPr>
            <a:spLocks noGrp="1"/>
          </p:cNvSpPr>
          <p:nvPr>
            <p:ph sz="quarter" idx="1"/>
          </p:nvPr>
        </p:nvSpPr>
        <p:spPr/>
        <p:txBody>
          <a:bodyPr>
            <a:normAutofit lnSpcReduction="10000"/>
          </a:bodyPr>
          <a:lstStyle/>
          <a:p>
            <a:pPr marL="0" indent="0">
              <a:buNone/>
            </a:pPr>
            <a:r>
              <a:rPr lang="en-US" dirty="0"/>
              <a:t>Benefits include:</a:t>
            </a:r>
          </a:p>
          <a:p>
            <a:r>
              <a:rPr lang="en-US" dirty="0"/>
              <a:t>Cautionary effect</a:t>
            </a:r>
          </a:p>
          <a:p>
            <a:r>
              <a:rPr lang="en-US" dirty="0"/>
              <a:t>Reduced risk of interpretive error</a:t>
            </a:r>
          </a:p>
          <a:p>
            <a:pPr lvl="1"/>
            <a:r>
              <a:rPr lang="en-US" dirty="0"/>
              <a:t>Relative ease of interpreting writings</a:t>
            </a:r>
          </a:p>
          <a:p>
            <a:pPr lvl="1"/>
            <a:r>
              <a:rPr lang="en-US" dirty="0"/>
              <a:t>Biased juries</a:t>
            </a:r>
          </a:p>
          <a:p>
            <a:r>
              <a:rPr lang="en-US" dirty="0"/>
              <a:t>Reduced reading costs</a:t>
            </a:r>
          </a:p>
          <a:p>
            <a:r>
              <a:rPr lang="en-US" dirty="0"/>
              <a:t>Reduced litigation costs</a:t>
            </a:r>
          </a:p>
          <a:p>
            <a:endParaRPr lang="en-US" dirty="0"/>
          </a:p>
          <a:p>
            <a:pPr marL="0" indent="0">
              <a:buNone/>
            </a:pPr>
            <a:r>
              <a:rPr lang="en-US" dirty="0"/>
              <a:t>Competing considerations:</a:t>
            </a:r>
          </a:p>
          <a:p>
            <a:r>
              <a:rPr lang="en-US" dirty="0"/>
              <a:t>Increased drafting costs</a:t>
            </a:r>
          </a:p>
          <a:p>
            <a:r>
              <a:rPr lang="en-US" dirty="0"/>
              <a:t>Frustration of intentions of unsophisticated parties</a:t>
            </a:r>
          </a:p>
          <a:p>
            <a:endParaRPr lang="en-US" dirty="0"/>
          </a:p>
        </p:txBody>
      </p:sp>
    </p:spTree>
    <p:extLst>
      <p:ext uri="{BB962C8B-B14F-4D97-AF65-F5344CB8AC3E}">
        <p14:creationId xmlns:p14="http://schemas.microsoft.com/office/powerpoint/2010/main" val="1909309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Pacific Gas &amp; Electric (548)</a:t>
            </a:r>
          </a:p>
        </p:txBody>
      </p:sp>
      <p:sp>
        <p:nvSpPr>
          <p:cNvPr id="3" name="Content Placeholder 2"/>
          <p:cNvSpPr>
            <a:spLocks noGrp="1"/>
          </p:cNvSpPr>
          <p:nvPr>
            <p:ph sz="quarter" idx="1"/>
          </p:nvPr>
        </p:nvSpPr>
        <p:spPr/>
        <p:txBody>
          <a:bodyPr/>
          <a:lstStyle/>
          <a:p>
            <a:pPr marL="0" indent="0">
              <a:buNone/>
            </a:pPr>
            <a:r>
              <a:rPr lang="en-US" dirty="0"/>
              <a:t>D agreed to “indemnify [plaintiff] against all loss, damage, expense and liability resulting from…injury to property arising out of or in any way connected with the performance of this contract.”</a:t>
            </a:r>
          </a:p>
          <a:p>
            <a:pPr marL="0" indent="0">
              <a:buNone/>
            </a:pPr>
            <a:r>
              <a:rPr lang="en-US" dirty="0"/>
              <a:t> </a:t>
            </a:r>
          </a:p>
          <a:p>
            <a:r>
              <a:rPr lang="en-US" dirty="0"/>
              <a:t>What meaning did the defendant give to this provision?</a:t>
            </a:r>
          </a:p>
          <a:p>
            <a:r>
              <a:rPr lang="en-US" dirty="0"/>
              <a:t>What evidence did it offer in support of its interpretation?</a:t>
            </a:r>
          </a:p>
          <a:p>
            <a:r>
              <a:rPr lang="en-US" dirty="0"/>
              <a:t>How did </a:t>
            </a:r>
            <a:r>
              <a:rPr lang="en-US" dirty="0" err="1"/>
              <a:t>Traynor</a:t>
            </a:r>
            <a:r>
              <a:rPr lang="en-US" dirty="0"/>
              <a:t> justify admission of that evidence?  What are the countervailing policy concerns?</a:t>
            </a:r>
          </a:p>
          <a:p>
            <a:pPr marL="274638" lvl="1" indent="0">
              <a:buNone/>
            </a:pPr>
            <a:endParaRPr lang="en-US" dirty="0"/>
          </a:p>
        </p:txBody>
      </p:sp>
    </p:spTree>
    <p:extLst>
      <p:ext uri="{BB962C8B-B14F-4D97-AF65-F5344CB8AC3E}">
        <p14:creationId xmlns:p14="http://schemas.microsoft.com/office/powerpoint/2010/main" val="2919619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Trident Center (560)</a:t>
            </a:r>
          </a:p>
        </p:txBody>
      </p:sp>
      <p:sp>
        <p:nvSpPr>
          <p:cNvPr id="3" name="Content Placeholder 2"/>
          <p:cNvSpPr>
            <a:spLocks noGrp="1"/>
          </p:cNvSpPr>
          <p:nvPr>
            <p:ph sz="quarter" idx="1"/>
          </p:nvPr>
        </p:nvSpPr>
        <p:spPr>
          <a:xfrm>
            <a:off x="457200" y="1219200"/>
            <a:ext cx="8686800" cy="4937760"/>
          </a:xfrm>
        </p:spPr>
        <p:txBody>
          <a:bodyPr/>
          <a:lstStyle/>
          <a:p>
            <a:pPr marL="0" indent="0">
              <a:buNone/>
            </a:pPr>
            <a:r>
              <a:rPr lang="en-US" dirty="0"/>
              <a:t>“[m]</a:t>
            </a:r>
            <a:r>
              <a:rPr lang="en-US" dirty="0" err="1"/>
              <a:t>aker</a:t>
            </a:r>
            <a:r>
              <a:rPr lang="en-US" dirty="0"/>
              <a:t> shall not have the right to prepay the principal amount hereof in whole or in part [for the first 12 years]”</a:t>
            </a:r>
          </a:p>
          <a:p>
            <a:pPr marL="0" indent="0">
              <a:buNone/>
            </a:pPr>
            <a:endParaRPr lang="en-US" dirty="0"/>
          </a:p>
          <a:p>
            <a:r>
              <a:rPr lang="en-US" dirty="0"/>
              <a:t>What meaning did Trident give to this provision?</a:t>
            </a:r>
          </a:p>
          <a:p>
            <a:r>
              <a:rPr lang="en-US" dirty="0"/>
              <a:t>What evidence did it offer in support of its interpretation?</a:t>
            </a:r>
          </a:p>
          <a:p>
            <a:r>
              <a:rPr lang="en-US" dirty="0"/>
              <a:t>Does PG&amp;E dictate admission of all such evidence? </a:t>
            </a:r>
          </a:p>
          <a:p>
            <a:r>
              <a:rPr lang="en-US" dirty="0"/>
              <a:t>Is Trident likely to prevail on the merits?</a:t>
            </a:r>
          </a:p>
          <a:p>
            <a:r>
              <a:rPr lang="en-US" dirty="0"/>
              <a:t>Is this rule consistent with the intentions of the parties?</a:t>
            </a:r>
          </a:p>
          <a:p>
            <a:r>
              <a:rPr lang="en-US" dirty="0"/>
              <a:t>Would this rule make more sense for foreign borrowers?</a:t>
            </a:r>
          </a:p>
          <a:p>
            <a:r>
              <a:rPr lang="en-US" dirty="0"/>
              <a:t>Can parties in California opt out of the PG&amp;E rule?</a:t>
            </a:r>
          </a:p>
          <a:p>
            <a:endParaRPr lang="en-US" dirty="0"/>
          </a:p>
          <a:p>
            <a:endParaRPr lang="en-US" dirty="0"/>
          </a:p>
        </p:txBody>
      </p:sp>
    </p:spTree>
    <p:extLst>
      <p:ext uri="{BB962C8B-B14F-4D97-AF65-F5344CB8AC3E}">
        <p14:creationId xmlns:p14="http://schemas.microsoft.com/office/powerpoint/2010/main" val="787549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W.W.W. Associates v. </a:t>
            </a:r>
            <a:r>
              <a:rPr lang="en-US" dirty="0" err="1"/>
              <a:t>Giancontieri</a:t>
            </a:r>
            <a:r>
              <a:rPr lang="en-US" dirty="0"/>
              <a:t> (553)</a:t>
            </a:r>
          </a:p>
        </p:txBody>
      </p:sp>
      <p:sp>
        <p:nvSpPr>
          <p:cNvPr id="3" name="Content Placeholder 2"/>
          <p:cNvSpPr>
            <a:spLocks noGrp="1"/>
          </p:cNvSpPr>
          <p:nvPr>
            <p:ph sz="quarter" idx="1"/>
          </p:nvPr>
        </p:nvSpPr>
        <p:spPr/>
        <p:txBody>
          <a:bodyPr/>
          <a:lstStyle/>
          <a:p>
            <a:pPr marL="0" indent="0">
              <a:buNone/>
            </a:pPr>
            <a:r>
              <a:rPr lang="en-US" dirty="0"/>
              <a:t>“… in the event such litigation is not concluded, by or before 6–1–87 either party shall have the right to cancel this contract…”</a:t>
            </a:r>
          </a:p>
          <a:p>
            <a:pPr marL="0" indent="0">
              <a:buNone/>
            </a:pPr>
            <a:endParaRPr lang="en-US" dirty="0"/>
          </a:p>
          <a:p>
            <a:r>
              <a:rPr lang="en-US" dirty="0"/>
              <a:t>What meaning did the plaintiff give to this provision?</a:t>
            </a:r>
          </a:p>
          <a:p>
            <a:r>
              <a:rPr lang="en-US" dirty="0"/>
              <a:t>How did the plaintiffs seek to use the extrinsic evidence?</a:t>
            </a:r>
          </a:p>
          <a:p>
            <a:r>
              <a:rPr lang="en-US" dirty="0"/>
              <a:t>Would the result have been different under California law?</a:t>
            </a:r>
          </a:p>
          <a:p>
            <a:r>
              <a:rPr lang="en-US" dirty="0"/>
              <a:t>How did the court’s reasoning differ from California law?</a:t>
            </a:r>
          </a:p>
          <a:p>
            <a:endParaRPr lang="en-US" dirty="0"/>
          </a:p>
          <a:p>
            <a:endParaRPr lang="en-US" dirty="0"/>
          </a:p>
        </p:txBody>
      </p:sp>
    </p:spTree>
    <p:extLst>
      <p:ext uri="{BB962C8B-B14F-4D97-AF65-F5344CB8AC3E}">
        <p14:creationId xmlns:p14="http://schemas.microsoft.com/office/powerpoint/2010/main" val="477061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Greenfield v. </a:t>
            </a:r>
            <a:r>
              <a:rPr lang="en-US" dirty="0" err="1"/>
              <a:t>Philles</a:t>
            </a:r>
            <a:r>
              <a:rPr lang="en-US" dirty="0"/>
              <a:t> Records (556)</a:t>
            </a:r>
          </a:p>
        </p:txBody>
      </p:sp>
      <p:sp>
        <p:nvSpPr>
          <p:cNvPr id="3" name="Content Placeholder 2"/>
          <p:cNvSpPr>
            <a:spLocks noGrp="1"/>
          </p:cNvSpPr>
          <p:nvPr>
            <p:ph sz="quarter" idx="1"/>
          </p:nvPr>
        </p:nvSpPr>
        <p:spPr/>
        <p:txBody>
          <a:bodyPr/>
          <a:lstStyle/>
          <a:p>
            <a:pPr marL="0" indent="0">
              <a:buNone/>
            </a:pPr>
            <a:r>
              <a:rPr lang="en-US" dirty="0"/>
              <a:t>“All recordings made hereunder and all records and reproductions made therefrom together with the performances embodied therein, shall be entirely [</a:t>
            </a:r>
            <a:r>
              <a:rPr lang="en-US" dirty="0" err="1"/>
              <a:t>Philles</a:t>
            </a:r>
            <a:r>
              <a:rPr lang="en-US" dirty="0"/>
              <a:t>'] property, free of any claims whatsoever by you or any person deriving any rights of interest from you. Without limitation of the foregoing, [</a:t>
            </a:r>
            <a:r>
              <a:rPr lang="en-US" dirty="0" err="1"/>
              <a:t>Philles</a:t>
            </a:r>
            <a:r>
              <a:rPr lang="en-US" dirty="0"/>
              <a:t>] shall have the right to make phonograph records, tape recordings or other reproductions of the performances embodied in such recordings by any method now or hereafter known, and to sell and deal in the same under any trade mark or trade names or labels designated by us, or we may at our election refrain therefrom.”</a:t>
            </a:r>
          </a:p>
          <a:p>
            <a:endParaRPr lang="en-US" dirty="0"/>
          </a:p>
          <a:p>
            <a:endParaRPr lang="en-US" dirty="0"/>
          </a:p>
          <a:p>
            <a:endParaRPr lang="en-US" dirty="0"/>
          </a:p>
        </p:txBody>
      </p:sp>
    </p:spTree>
    <p:extLst>
      <p:ext uri="{BB962C8B-B14F-4D97-AF65-F5344CB8AC3E}">
        <p14:creationId xmlns:p14="http://schemas.microsoft.com/office/powerpoint/2010/main" val="3774641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Greenfield v. </a:t>
            </a:r>
            <a:r>
              <a:rPr lang="en-US" dirty="0" err="1"/>
              <a:t>Philles</a:t>
            </a:r>
            <a:r>
              <a:rPr lang="en-US" dirty="0"/>
              <a:t> Records (556)</a:t>
            </a:r>
          </a:p>
        </p:txBody>
      </p:sp>
      <p:sp>
        <p:nvSpPr>
          <p:cNvPr id="3" name="Content Placeholder 2"/>
          <p:cNvSpPr>
            <a:spLocks noGrp="1"/>
          </p:cNvSpPr>
          <p:nvPr>
            <p:ph sz="quarter" idx="1"/>
          </p:nvPr>
        </p:nvSpPr>
        <p:spPr/>
        <p:txBody>
          <a:bodyPr/>
          <a:lstStyle/>
          <a:p>
            <a:r>
              <a:rPr lang="en-US" dirty="0"/>
              <a:t>What meaning did the plaintiffs give to this provision?</a:t>
            </a:r>
          </a:p>
          <a:p>
            <a:r>
              <a:rPr lang="en-US" dirty="0"/>
              <a:t>Is the agreement ambiguous? Under California law?</a:t>
            </a:r>
          </a:p>
          <a:p>
            <a:r>
              <a:rPr lang="en-US" dirty="0"/>
              <a:t>What if it had been ambiguous?</a:t>
            </a:r>
          </a:p>
          <a:p>
            <a:r>
              <a:rPr lang="en-US" dirty="0"/>
              <a:t>Why was the claim not barred by the 1974 release?</a:t>
            </a:r>
          </a:p>
          <a:p>
            <a:r>
              <a:rPr lang="en-US" dirty="0"/>
              <a:t>What are the policy justifications for this decision?</a:t>
            </a:r>
          </a:p>
          <a:p>
            <a:r>
              <a:rPr lang="en-US" dirty="0"/>
              <a:t>How could the </a:t>
            </a:r>
            <a:r>
              <a:rPr lang="en-US" dirty="0" err="1"/>
              <a:t>Ronettes</a:t>
            </a:r>
            <a:r>
              <a:rPr lang="en-US" dirty="0"/>
              <a:t> have protected their interests?</a:t>
            </a:r>
          </a:p>
        </p:txBody>
      </p:sp>
    </p:spTree>
    <p:extLst>
      <p:ext uri="{BB962C8B-B14F-4D97-AF65-F5344CB8AC3E}">
        <p14:creationId xmlns:p14="http://schemas.microsoft.com/office/powerpoint/2010/main" val="3644804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Greenfield v. </a:t>
            </a:r>
            <a:r>
              <a:rPr lang="en-US" dirty="0" err="1"/>
              <a:t>Philles</a:t>
            </a:r>
            <a:r>
              <a:rPr lang="en-US" dirty="0"/>
              <a:t> Records (556) </a:t>
            </a:r>
          </a:p>
        </p:txBody>
      </p:sp>
      <p:sp>
        <p:nvSpPr>
          <p:cNvPr id="3" name="Content Placeholder 2"/>
          <p:cNvSpPr>
            <a:spLocks noGrp="1"/>
          </p:cNvSpPr>
          <p:nvPr>
            <p:ph sz="quarter" idx="1"/>
          </p:nvPr>
        </p:nvSpPr>
        <p:spPr>
          <a:xfrm>
            <a:off x="457200" y="1219200"/>
            <a:ext cx="8534400" cy="4937760"/>
          </a:xfrm>
        </p:spPr>
        <p:txBody>
          <a:bodyPr/>
          <a:lstStyle/>
          <a:p>
            <a:pPr marL="0" indent="0">
              <a:buNone/>
            </a:pPr>
            <a:r>
              <a:rPr lang="en-US" dirty="0"/>
              <a:t>Per </a:t>
            </a:r>
            <a:r>
              <a:rPr lang="en-US" dirty="0" err="1"/>
              <a:t>Graffeo</a:t>
            </a:r>
            <a:r>
              <a:rPr lang="en-US" dirty="0"/>
              <a:t> J:</a:t>
            </a:r>
          </a:p>
          <a:p>
            <a:pPr marL="0" indent="0">
              <a:buNone/>
            </a:pPr>
            <a:r>
              <a:rPr lang="en-US" sz="2400" dirty="0"/>
              <a:t>“We also reject plaintiffs' assertion that the royalty schedule restricts the scope of defendants' ownership rights. That section of the agreement provides compensation rights to plaintiffs; it does not inhibit defendants' ability to use the master recordings….	 We realize that our conclusion here effectively prevents plaintiffs from sharing in the profits that defendants have received from synchronization licensing. However sympathetic plaintiffs’ plight, we cannot resolve the case on that ground under the guise of contract construction. Our guiding principle must be to neutrally apply the rules of contract interpretation because only in this way can we ensure stability in the law and provide guidance to parties weighing the risks and advantages of entering a binding agreement.”</a:t>
            </a:r>
          </a:p>
          <a:p>
            <a:endParaRPr lang="en-US" dirty="0"/>
          </a:p>
        </p:txBody>
      </p:sp>
    </p:spTree>
    <p:extLst>
      <p:ext uri="{BB962C8B-B14F-4D97-AF65-F5344CB8AC3E}">
        <p14:creationId xmlns:p14="http://schemas.microsoft.com/office/powerpoint/2010/main" val="2765413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2.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
  <TotalTime>7954</TotalTime>
  <Words>1752</Words>
  <Application>Microsoft Office PowerPoint</Application>
  <PresentationFormat>On-screen Show (4:3)</PresentationFormat>
  <Paragraphs>167</Paragraphs>
  <Slides>23</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23</vt:i4>
      </vt:variant>
    </vt:vector>
  </HeadingPairs>
  <TitlesOfParts>
    <vt:vector size="30" baseType="lpstr">
      <vt:lpstr>Arial</vt:lpstr>
      <vt:lpstr>Bookman Old Style</vt:lpstr>
      <vt:lpstr>Gill Sans MT</vt:lpstr>
      <vt:lpstr>Wingdings</vt:lpstr>
      <vt:lpstr>Wingdings 3</vt:lpstr>
      <vt:lpstr>Origin</vt:lpstr>
      <vt:lpstr>1_Origin</vt:lpstr>
      <vt:lpstr>Class 14: The plain meaning rule</vt:lpstr>
      <vt:lpstr>Key questions</vt:lpstr>
      <vt:lpstr>Overview of rules on extrinsic evidence</vt:lpstr>
      <vt:lpstr>Topics</vt:lpstr>
      <vt:lpstr>Ambiguity and vagueness</vt:lpstr>
      <vt:lpstr>Ambiguity and vagueness</vt:lpstr>
      <vt:lpstr>Ambiguity and vagueness</vt:lpstr>
      <vt:lpstr>Structural/syntactic ambiguity (566)</vt:lpstr>
      <vt:lpstr>Structural/syntactic ambiguity (566)</vt:lpstr>
      <vt:lpstr>Structural/syntactic ambiguity (566)</vt:lpstr>
      <vt:lpstr>Structural/syntactic ambiguity (566)</vt:lpstr>
      <vt:lpstr>Rules of construction</vt:lpstr>
      <vt:lpstr>Rules of construction (567)</vt:lpstr>
      <vt:lpstr>Problem (based on problem on 569)</vt:lpstr>
      <vt:lpstr>Overview of rules on extrinsic evidence</vt:lpstr>
      <vt:lpstr>Contentious issues</vt:lpstr>
      <vt:lpstr>Policy considerations</vt:lpstr>
      <vt:lpstr>Pacific Gas &amp; Electric (548)</vt:lpstr>
      <vt:lpstr>Trident Center (560)</vt:lpstr>
      <vt:lpstr>W.W.W. Associates v. Giancontieri (553)</vt:lpstr>
      <vt:lpstr>Greenfield v. Philles Records (556)</vt:lpstr>
      <vt:lpstr>Greenfield v. Philles Records (556)</vt:lpstr>
      <vt:lpstr>Greenfield v. Philles Records (556) </vt:lpstr>
    </vt:vector>
  </TitlesOfParts>
  <Company>NYU School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CONCEPTIONS OF EFFICIENCY</dc:title>
  <dc:creator>davisk</dc:creator>
  <cp:lastModifiedBy>Davis, Kevin</cp:lastModifiedBy>
  <cp:revision>295</cp:revision>
  <cp:lastPrinted>2015-10-13T12:50:53Z</cp:lastPrinted>
  <dcterms:created xsi:type="dcterms:W3CDTF">2004-09-08T15:54:52Z</dcterms:created>
  <dcterms:modified xsi:type="dcterms:W3CDTF">2026-10-08T14:48:50Z</dcterms:modified>
</cp:coreProperties>
</file>