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88" r:id="rId2"/>
    <p:sldId id="289" r:id="rId3"/>
    <p:sldId id="317" r:id="rId4"/>
    <p:sldId id="318" r:id="rId5"/>
    <p:sldId id="320" r:id="rId6"/>
    <p:sldId id="321" r:id="rId7"/>
    <p:sldId id="322" r:id="rId8"/>
    <p:sldId id="323" r:id="rId9"/>
    <p:sldId id="324" r:id="rId10"/>
    <p:sldId id="300" r:id="rId11"/>
    <p:sldId id="301" r:id="rId12"/>
    <p:sldId id="302" r:id="rId13"/>
    <p:sldId id="325" r:id="rId14"/>
    <p:sldId id="303" r:id="rId15"/>
    <p:sldId id="326" r:id="rId16"/>
    <p:sldId id="327" r:id="rId17"/>
    <p:sldId id="306" r:id="rId18"/>
    <p:sldId id="316" r:id="rId19"/>
    <p:sldId id="313" r:id="rId20"/>
    <p:sldId id="272" r:id="rId21"/>
    <p:sldId id="264" r:id="rId22"/>
    <p:sldId id="257" r:id="rId23"/>
    <p:sldId id="265" r:id="rId24"/>
    <p:sldId id="266" r:id="rId25"/>
    <p:sldId id="267" r:id="rId26"/>
    <p:sldId id="258" r:id="rId27"/>
    <p:sldId id="270" r:id="rId28"/>
    <p:sldId id="269" r:id="rId29"/>
    <p:sldId id="268" r:id="rId30"/>
    <p:sldId id="271" r:id="rId31"/>
    <p:sldId id="261" r:id="rId32"/>
    <p:sldId id="260" r:id="rId33"/>
    <p:sldId id="25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sorterViewPr>
    <p:cViewPr>
      <p:scale>
        <a:sx n="41" d="100"/>
        <a:sy n="4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F102BF-1088-4122-BAE7-679AC9FAEDF8}" type="datetimeFigureOut">
              <a:rPr lang="en-US" smtClean="0"/>
              <a:t>9/16/2026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EFCB08-204C-4913-B3F2-0EA2C6896B7F}" type="slidenum">
              <a:rPr lang="en-US" smtClean="0"/>
              <a:t>‹#›</a:t>
            </a:fld>
            <a:endParaRPr lang="en-US"/>
          </a:p>
        </p:txBody>
      </p:sp>
    </p:spTree>
    <p:extLst>
      <p:ext uri="{BB962C8B-B14F-4D97-AF65-F5344CB8AC3E}">
        <p14:creationId xmlns:p14="http://schemas.microsoft.com/office/powerpoint/2010/main" val="1304619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496C1BBC-04C9-4B01-88BC-5E2D4582958B}" type="slidenum">
              <a:rPr lang="en-US" altLang="en-US"/>
              <a:pPr eaLnBrk="1" hangingPunct="1">
                <a:spcBef>
                  <a:spcPct val="0"/>
                </a:spcBef>
              </a:pPr>
              <a:t>3</a:t>
            </a:fld>
            <a:endParaRPr lang="en-US" altLang="en-US"/>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89213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F0C9FD32-08B6-6D3A-F985-F559F71C25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5963B0C6-5BB8-4DCA-BA95-83E5EAE1E88F}" type="slidenum">
              <a:rPr lang="en-US" altLang="en-US"/>
              <a:pPr eaLnBrk="1" hangingPunct="1">
                <a:spcBef>
                  <a:spcPct val="0"/>
                </a:spcBef>
              </a:pPr>
              <a:t>4</a:t>
            </a:fld>
            <a:endParaRPr lang="en-US" altLang="en-US"/>
          </a:p>
        </p:txBody>
      </p:sp>
      <p:sp>
        <p:nvSpPr>
          <p:cNvPr id="43011" name="Rectangle 2">
            <a:extLst>
              <a:ext uri="{FF2B5EF4-FFF2-40B4-BE49-F238E27FC236}">
                <a16:creationId xmlns:a16="http://schemas.microsoft.com/office/drawing/2014/main" id="{55B45B08-FF72-A35A-1537-67F0FB4C5E97}"/>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05835B97-1F9C-4F2F-37C1-A1CF44EE25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9779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974F66E2-C73F-9ECD-F49B-11EFED1846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54063" indent="-288925"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58875" indent="-231775"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24013" indent="-231775"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87563" indent="-231775"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44763" indent="-23177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001963" indent="-23177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59163" indent="-23177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916363" indent="-23177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8097275C-B12D-4145-A810-2BE5C2C7A53A}" type="slidenum">
              <a:rPr lang="en-US" altLang="en-US"/>
              <a:pPr eaLnBrk="1" hangingPunct="1">
                <a:spcBef>
                  <a:spcPct val="0"/>
                </a:spcBef>
              </a:pPr>
              <a:t>8</a:t>
            </a:fld>
            <a:endParaRPr lang="en-US" altLang="en-US"/>
          </a:p>
        </p:txBody>
      </p:sp>
      <p:sp>
        <p:nvSpPr>
          <p:cNvPr id="33795" name="Rectangle 2">
            <a:extLst>
              <a:ext uri="{FF2B5EF4-FFF2-40B4-BE49-F238E27FC236}">
                <a16:creationId xmlns:a16="http://schemas.microsoft.com/office/drawing/2014/main" id="{6942CF3A-CAF6-B0F8-AFA3-558E680E1CF3}"/>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0E11BBF8-5F2A-C8F2-E240-AA0B04627A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10524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1DF32E7A-7933-BAAB-9CEB-79DB16CABA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54063" indent="-288925"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58875" indent="-231775"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24013" indent="-231775"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87563" indent="-231775"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44763" indent="-23177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001963" indent="-23177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59163" indent="-23177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916363" indent="-23177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BAED539E-E8BC-4C18-9BA0-9CE656ED7A06}" type="slidenum">
              <a:rPr lang="en-US" altLang="en-US"/>
              <a:pPr eaLnBrk="1" hangingPunct="1">
                <a:spcBef>
                  <a:spcPct val="0"/>
                </a:spcBef>
              </a:pPr>
              <a:t>9</a:t>
            </a:fld>
            <a:endParaRPr lang="en-US" altLang="en-US"/>
          </a:p>
        </p:txBody>
      </p:sp>
      <p:sp>
        <p:nvSpPr>
          <p:cNvPr id="34819" name="Rectangle 2">
            <a:extLst>
              <a:ext uri="{FF2B5EF4-FFF2-40B4-BE49-F238E27FC236}">
                <a16:creationId xmlns:a16="http://schemas.microsoft.com/office/drawing/2014/main" id="{7CC73990-0F94-8BC0-1030-33F4C548BD31}"/>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95BA187E-9994-798B-B602-BCEE77897D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59750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5A8A82DB-9408-4720-4413-DC6DED9879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54063" indent="-288925"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58875" indent="-231775"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24013" indent="-231775"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87563" indent="-231775"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44763" indent="-23177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001963" indent="-23177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59163" indent="-23177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916363" indent="-231775"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895C099C-991F-4C50-82D6-869949F8B1D8}" type="slidenum">
              <a:rPr lang="en-US" altLang="en-US"/>
              <a:pPr eaLnBrk="1" hangingPunct="1">
                <a:spcBef>
                  <a:spcPct val="0"/>
                </a:spcBef>
              </a:pPr>
              <a:t>10</a:t>
            </a:fld>
            <a:endParaRPr lang="en-US" altLang="en-US"/>
          </a:p>
        </p:txBody>
      </p:sp>
      <p:sp>
        <p:nvSpPr>
          <p:cNvPr id="44035" name="Rectangle 2">
            <a:extLst>
              <a:ext uri="{FF2B5EF4-FFF2-40B4-BE49-F238E27FC236}">
                <a16:creationId xmlns:a16="http://schemas.microsoft.com/office/drawing/2014/main" id="{5E91998C-610B-919E-38D1-368485546996}"/>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AA8E02A6-BEE9-3893-ECE9-14BE3BCF1A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97090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323932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033766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150914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825071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403325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3BFC0-35B0-91FD-3CAF-7C9DE0AE34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D033580-CCD0-FBED-6D0F-379623914A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68BC59-7EFF-8664-D53E-AA0977D472B1}"/>
              </a:ext>
            </a:extLst>
          </p:cNvPr>
          <p:cNvSpPr>
            <a:spLocks noGrp="1"/>
          </p:cNvSpPr>
          <p:nvPr>
            <p:ph type="dt" sz="half" idx="10"/>
          </p:nvPr>
        </p:nvSpPr>
        <p:spPr/>
        <p:txBody>
          <a:bodyPr/>
          <a:lstStyle/>
          <a:p>
            <a:fld id="{A845BE4D-B39B-483F-BCD4-181AF5777B34}" type="datetime1">
              <a:rPr lang="en-US" smtClean="0"/>
              <a:t>9/16/2026</a:t>
            </a:fld>
            <a:endParaRPr lang="en-US"/>
          </a:p>
        </p:txBody>
      </p:sp>
      <p:sp>
        <p:nvSpPr>
          <p:cNvPr id="5" name="Footer Placeholder 4">
            <a:extLst>
              <a:ext uri="{FF2B5EF4-FFF2-40B4-BE49-F238E27FC236}">
                <a16:creationId xmlns:a16="http://schemas.microsoft.com/office/drawing/2014/main" id="{FB2A09D5-0CFF-89F0-3D6B-C6DC4D848D34}"/>
              </a:ext>
            </a:extLst>
          </p:cNvPr>
          <p:cNvSpPr>
            <a:spLocks noGrp="1"/>
          </p:cNvSpPr>
          <p:nvPr>
            <p:ph type="ftr" sz="quarter" idx="11"/>
          </p:nvPr>
        </p:nvSpPr>
        <p:spPr/>
        <p:txBody>
          <a:bodyPr/>
          <a:lstStyle/>
          <a:p>
            <a:r>
              <a:rPr lang="en-US"/>
              <a:t>© Copyright 2026.  Peter M. Shane All rights reserved. </a:t>
            </a:r>
          </a:p>
        </p:txBody>
      </p:sp>
      <p:sp>
        <p:nvSpPr>
          <p:cNvPr id="6" name="Slide Number Placeholder 5">
            <a:extLst>
              <a:ext uri="{FF2B5EF4-FFF2-40B4-BE49-F238E27FC236}">
                <a16:creationId xmlns:a16="http://schemas.microsoft.com/office/drawing/2014/main" id="{235CCA52-BABC-10DA-CB56-9F1AB7743342}"/>
              </a:ext>
            </a:extLst>
          </p:cNvPr>
          <p:cNvSpPr>
            <a:spLocks noGrp="1"/>
          </p:cNvSpPr>
          <p:nvPr>
            <p:ph type="sldNum" sz="quarter" idx="12"/>
          </p:nvPr>
        </p:nvSpPr>
        <p:spPr/>
        <p:txBody>
          <a:bodyPr/>
          <a:lstStyle/>
          <a:p>
            <a:fld id="{F763E2BD-C0C0-4EFC-BBAE-6FAF0A3AFE41}" type="slidenum">
              <a:rPr lang="en-US" smtClean="0"/>
              <a:t>‹#›</a:t>
            </a:fld>
            <a:endParaRPr lang="en-US"/>
          </a:p>
        </p:txBody>
      </p:sp>
    </p:spTree>
    <p:extLst>
      <p:ext uri="{BB962C8B-B14F-4D97-AF65-F5344CB8AC3E}">
        <p14:creationId xmlns:p14="http://schemas.microsoft.com/office/powerpoint/2010/main" val="1769758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CD7BF-C772-508C-2969-97B8BB5050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3B9329-69B4-297A-7F17-267DF20CDE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187C8-E41C-565E-62EA-DC6421D6BD3A}"/>
              </a:ext>
            </a:extLst>
          </p:cNvPr>
          <p:cNvSpPr>
            <a:spLocks noGrp="1"/>
          </p:cNvSpPr>
          <p:nvPr>
            <p:ph type="dt" sz="half" idx="10"/>
          </p:nvPr>
        </p:nvSpPr>
        <p:spPr/>
        <p:txBody>
          <a:bodyPr/>
          <a:lstStyle/>
          <a:p>
            <a:fld id="{49997718-1C74-4B81-BB9E-56493A8915E0}" type="datetime1">
              <a:rPr lang="en-US" smtClean="0"/>
              <a:t>9/16/2026</a:t>
            </a:fld>
            <a:endParaRPr lang="en-US"/>
          </a:p>
        </p:txBody>
      </p:sp>
      <p:sp>
        <p:nvSpPr>
          <p:cNvPr id="5" name="Footer Placeholder 4">
            <a:extLst>
              <a:ext uri="{FF2B5EF4-FFF2-40B4-BE49-F238E27FC236}">
                <a16:creationId xmlns:a16="http://schemas.microsoft.com/office/drawing/2014/main" id="{E1D2E77B-ED77-2F5B-5273-298401F200A2}"/>
              </a:ext>
            </a:extLst>
          </p:cNvPr>
          <p:cNvSpPr>
            <a:spLocks noGrp="1"/>
          </p:cNvSpPr>
          <p:nvPr>
            <p:ph type="ftr" sz="quarter" idx="11"/>
          </p:nvPr>
        </p:nvSpPr>
        <p:spPr/>
        <p:txBody>
          <a:bodyPr/>
          <a:lstStyle/>
          <a:p>
            <a:r>
              <a:rPr lang="en-US"/>
              <a:t>© Copyright 2026.  Peter M. Shane All rights reserved. </a:t>
            </a:r>
          </a:p>
        </p:txBody>
      </p:sp>
      <p:sp>
        <p:nvSpPr>
          <p:cNvPr id="6" name="Slide Number Placeholder 5">
            <a:extLst>
              <a:ext uri="{FF2B5EF4-FFF2-40B4-BE49-F238E27FC236}">
                <a16:creationId xmlns:a16="http://schemas.microsoft.com/office/drawing/2014/main" id="{FA714DF5-722E-A686-37B7-C13AA01B2D5B}"/>
              </a:ext>
            </a:extLst>
          </p:cNvPr>
          <p:cNvSpPr>
            <a:spLocks noGrp="1"/>
          </p:cNvSpPr>
          <p:nvPr>
            <p:ph type="sldNum" sz="quarter" idx="12"/>
          </p:nvPr>
        </p:nvSpPr>
        <p:spPr/>
        <p:txBody>
          <a:bodyPr/>
          <a:lstStyle/>
          <a:p>
            <a:fld id="{F763E2BD-C0C0-4EFC-BBAE-6FAF0A3AFE41}" type="slidenum">
              <a:rPr lang="en-US" smtClean="0"/>
              <a:t>‹#›</a:t>
            </a:fld>
            <a:endParaRPr lang="en-US"/>
          </a:p>
        </p:txBody>
      </p:sp>
    </p:spTree>
    <p:extLst>
      <p:ext uri="{BB962C8B-B14F-4D97-AF65-F5344CB8AC3E}">
        <p14:creationId xmlns:p14="http://schemas.microsoft.com/office/powerpoint/2010/main" val="1804444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F57BA-4FE8-3DD3-6F05-CA0E771B1B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F1BACD-8A11-C747-F6C8-CE902A859E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15958A-7622-9D5B-B0AF-1B285F7C2BF4}"/>
              </a:ext>
            </a:extLst>
          </p:cNvPr>
          <p:cNvSpPr>
            <a:spLocks noGrp="1"/>
          </p:cNvSpPr>
          <p:nvPr>
            <p:ph type="dt" sz="half" idx="10"/>
          </p:nvPr>
        </p:nvSpPr>
        <p:spPr/>
        <p:txBody>
          <a:bodyPr/>
          <a:lstStyle/>
          <a:p>
            <a:fld id="{C106F55E-BB87-429D-BB00-B5370ABB6C40}" type="datetime1">
              <a:rPr lang="en-US" smtClean="0"/>
              <a:t>9/16/2026</a:t>
            </a:fld>
            <a:endParaRPr lang="en-US"/>
          </a:p>
        </p:txBody>
      </p:sp>
      <p:sp>
        <p:nvSpPr>
          <p:cNvPr id="5" name="Footer Placeholder 4">
            <a:extLst>
              <a:ext uri="{FF2B5EF4-FFF2-40B4-BE49-F238E27FC236}">
                <a16:creationId xmlns:a16="http://schemas.microsoft.com/office/drawing/2014/main" id="{04197737-F3F3-5E76-8073-00F9FF8A4EEB}"/>
              </a:ext>
            </a:extLst>
          </p:cNvPr>
          <p:cNvSpPr>
            <a:spLocks noGrp="1"/>
          </p:cNvSpPr>
          <p:nvPr>
            <p:ph type="ftr" sz="quarter" idx="11"/>
          </p:nvPr>
        </p:nvSpPr>
        <p:spPr/>
        <p:txBody>
          <a:bodyPr/>
          <a:lstStyle/>
          <a:p>
            <a:r>
              <a:rPr lang="en-US"/>
              <a:t>© Copyright 2026.  Peter M. Shane All rights reserved. </a:t>
            </a:r>
          </a:p>
        </p:txBody>
      </p:sp>
      <p:sp>
        <p:nvSpPr>
          <p:cNvPr id="6" name="Slide Number Placeholder 5">
            <a:extLst>
              <a:ext uri="{FF2B5EF4-FFF2-40B4-BE49-F238E27FC236}">
                <a16:creationId xmlns:a16="http://schemas.microsoft.com/office/drawing/2014/main" id="{DD8F3B41-2DFF-7F3E-71A5-7EA3213BB263}"/>
              </a:ext>
            </a:extLst>
          </p:cNvPr>
          <p:cNvSpPr>
            <a:spLocks noGrp="1"/>
          </p:cNvSpPr>
          <p:nvPr>
            <p:ph type="sldNum" sz="quarter" idx="12"/>
          </p:nvPr>
        </p:nvSpPr>
        <p:spPr/>
        <p:txBody>
          <a:bodyPr/>
          <a:lstStyle/>
          <a:p>
            <a:fld id="{F763E2BD-C0C0-4EFC-BBAE-6FAF0A3AFE41}" type="slidenum">
              <a:rPr lang="en-US" smtClean="0"/>
              <a:t>‹#›</a:t>
            </a:fld>
            <a:endParaRPr lang="en-US"/>
          </a:p>
        </p:txBody>
      </p:sp>
    </p:spTree>
    <p:extLst>
      <p:ext uri="{BB962C8B-B14F-4D97-AF65-F5344CB8AC3E}">
        <p14:creationId xmlns:p14="http://schemas.microsoft.com/office/powerpoint/2010/main" val="2546312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06D5F-65CD-3BEF-5BD9-5221951713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7C974C-5A80-1D39-DDFA-C26F985829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3E58C9-92C1-F593-3F2C-D64F3F0E3C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A48A6F7-4E9E-3E7C-8CA7-F2DF7EF12046}"/>
              </a:ext>
            </a:extLst>
          </p:cNvPr>
          <p:cNvSpPr>
            <a:spLocks noGrp="1"/>
          </p:cNvSpPr>
          <p:nvPr>
            <p:ph type="dt" sz="half" idx="10"/>
          </p:nvPr>
        </p:nvSpPr>
        <p:spPr/>
        <p:txBody>
          <a:bodyPr/>
          <a:lstStyle/>
          <a:p>
            <a:fld id="{C55C86D0-59AA-4DD5-B1B9-F18FC3DD21D5}" type="datetime1">
              <a:rPr lang="en-US" smtClean="0"/>
              <a:t>9/16/2026</a:t>
            </a:fld>
            <a:endParaRPr lang="en-US"/>
          </a:p>
        </p:txBody>
      </p:sp>
      <p:sp>
        <p:nvSpPr>
          <p:cNvPr id="6" name="Footer Placeholder 5">
            <a:extLst>
              <a:ext uri="{FF2B5EF4-FFF2-40B4-BE49-F238E27FC236}">
                <a16:creationId xmlns:a16="http://schemas.microsoft.com/office/drawing/2014/main" id="{277230D1-3AE7-679C-A42F-3D375C304722}"/>
              </a:ext>
            </a:extLst>
          </p:cNvPr>
          <p:cNvSpPr>
            <a:spLocks noGrp="1"/>
          </p:cNvSpPr>
          <p:nvPr>
            <p:ph type="ftr" sz="quarter" idx="11"/>
          </p:nvPr>
        </p:nvSpPr>
        <p:spPr/>
        <p:txBody>
          <a:bodyPr/>
          <a:lstStyle/>
          <a:p>
            <a:r>
              <a:rPr lang="en-US"/>
              <a:t>© Copyright 2026.  Peter M. Shane All rights reserved. </a:t>
            </a:r>
          </a:p>
        </p:txBody>
      </p:sp>
      <p:sp>
        <p:nvSpPr>
          <p:cNvPr id="7" name="Slide Number Placeholder 6">
            <a:extLst>
              <a:ext uri="{FF2B5EF4-FFF2-40B4-BE49-F238E27FC236}">
                <a16:creationId xmlns:a16="http://schemas.microsoft.com/office/drawing/2014/main" id="{4A9DF84E-5C92-6582-8515-33ED86959566}"/>
              </a:ext>
            </a:extLst>
          </p:cNvPr>
          <p:cNvSpPr>
            <a:spLocks noGrp="1"/>
          </p:cNvSpPr>
          <p:nvPr>
            <p:ph type="sldNum" sz="quarter" idx="12"/>
          </p:nvPr>
        </p:nvSpPr>
        <p:spPr/>
        <p:txBody>
          <a:bodyPr/>
          <a:lstStyle/>
          <a:p>
            <a:fld id="{F763E2BD-C0C0-4EFC-BBAE-6FAF0A3AFE41}" type="slidenum">
              <a:rPr lang="en-US" smtClean="0"/>
              <a:t>‹#›</a:t>
            </a:fld>
            <a:endParaRPr lang="en-US"/>
          </a:p>
        </p:txBody>
      </p:sp>
    </p:spTree>
    <p:extLst>
      <p:ext uri="{BB962C8B-B14F-4D97-AF65-F5344CB8AC3E}">
        <p14:creationId xmlns:p14="http://schemas.microsoft.com/office/powerpoint/2010/main" val="2230112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4B0AF-0A87-248F-2411-5553383F554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CC6F2B-0774-0A86-5B67-412068A3C4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1B345D-5922-C3AB-3E74-D46723A712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FDA5EE-013A-7B25-4775-436DDB5FB7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CCFB91-D8A2-F1D3-8086-0BC2905F9F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07B9AC8-3A66-9BAA-EADC-21DE5D90C88F}"/>
              </a:ext>
            </a:extLst>
          </p:cNvPr>
          <p:cNvSpPr>
            <a:spLocks noGrp="1"/>
          </p:cNvSpPr>
          <p:nvPr>
            <p:ph type="dt" sz="half" idx="10"/>
          </p:nvPr>
        </p:nvSpPr>
        <p:spPr/>
        <p:txBody>
          <a:bodyPr/>
          <a:lstStyle/>
          <a:p>
            <a:fld id="{67F2E27B-1428-4210-AB7B-F6CF5873B00E}" type="datetime1">
              <a:rPr lang="en-US" smtClean="0"/>
              <a:t>9/16/2026</a:t>
            </a:fld>
            <a:endParaRPr lang="en-US"/>
          </a:p>
        </p:txBody>
      </p:sp>
      <p:sp>
        <p:nvSpPr>
          <p:cNvPr id="8" name="Footer Placeholder 7">
            <a:extLst>
              <a:ext uri="{FF2B5EF4-FFF2-40B4-BE49-F238E27FC236}">
                <a16:creationId xmlns:a16="http://schemas.microsoft.com/office/drawing/2014/main" id="{18F4AA33-D454-CAD8-E6CF-D6104EB64430}"/>
              </a:ext>
            </a:extLst>
          </p:cNvPr>
          <p:cNvSpPr>
            <a:spLocks noGrp="1"/>
          </p:cNvSpPr>
          <p:nvPr>
            <p:ph type="ftr" sz="quarter" idx="11"/>
          </p:nvPr>
        </p:nvSpPr>
        <p:spPr/>
        <p:txBody>
          <a:bodyPr/>
          <a:lstStyle/>
          <a:p>
            <a:r>
              <a:rPr lang="en-US"/>
              <a:t>© Copyright 2026.  Peter M. Shane All rights reserved. </a:t>
            </a:r>
          </a:p>
        </p:txBody>
      </p:sp>
      <p:sp>
        <p:nvSpPr>
          <p:cNvPr id="9" name="Slide Number Placeholder 8">
            <a:extLst>
              <a:ext uri="{FF2B5EF4-FFF2-40B4-BE49-F238E27FC236}">
                <a16:creationId xmlns:a16="http://schemas.microsoft.com/office/drawing/2014/main" id="{4EB30FFE-E66A-0E95-DD39-3FBB06470150}"/>
              </a:ext>
            </a:extLst>
          </p:cNvPr>
          <p:cNvSpPr>
            <a:spLocks noGrp="1"/>
          </p:cNvSpPr>
          <p:nvPr>
            <p:ph type="sldNum" sz="quarter" idx="12"/>
          </p:nvPr>
        </p:nvSpPr>
        <p:spPr/>
        <p:txBody>
          <a:bodyPr/>
          <a:lstStyle/>
          <a:p>
            <a:fld id="{F763E2BD-C0C0-4EFC-BBAE-6FAF0A3AFE41}" type="slidenum">
              <a:rPr lang="en-US" smtClean="0"/>
              <a:t>‹#›</a:t>
            </a:fld>
            <a:endParaRPr lang="en-US"/>
          </a:p>
        </p:txBody>
      </p:sp>
    </p:spTree>
    <p:extLst>
      <p:ext uri="{BB962C8B-B14F-4D97-AF65-F5344CB8AC3E}">
        <p14:creationId xmlns:p14="http://schemas.microsoft.com/office/powerpoint/2010/main" val="704700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B2B99-F898-B32E-AFF8-CF10C871BA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AAA900-AE57-10F3-EBE8-30C93F967647}"/>
              </a:ext>
            </a:extLst>
          </p:cNvPr>
          <p:cNvSpPr>
            <a:spLocks noGrp="1"/>
          </p:cNvSpPr>
          <p:nvPr>
            <p:ph type="dt" sz="half" idx="10"/>
          </p:nvPr>
        </p:nvSpPr>
        <p:spPr/>
        <p:txBody>
          <a:bodyPr/>
          <a:lstStyle/>
          <a:p>
            <a:fld id="{91FD9CA0-2D11-47B2-9AB7-16C4ACA403AB}" type="datetime1">
              <a:rPr lang="en-US" smtClean="0"/>
              <a:t>9/16/2026</a:t>
            </a:fld>
            <a:endParaRPr lang="en-US"/>
          </a:p>
        </p:txBody>
      </p:sp>
      <p:sp>
        <p:nvSpPr>
          <p:cNvPr id="4" name="Footer Placeholder 3">
            <a:extLst>
              <a:ext uri="{FF2B5EF4-FFF2-40B4-BE49-F238E27FC236}">
                <a16:creationId xmlns:a16="http://schemas.microsoft.com/office/drawing/2014/main" id="{3A156FE5-568D-55EE-4AE5-6CB26A2F0A7E}"/>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ED3BEDC9-4B37-9953-8B7C-26A42AE57D3D}"/>
              </a:ext>
            </a:extLst>
          </p:cNvPr>
          <p:cNvSpPr>
            <a:spLocks noGrp="1"/>
          </p:cNvSpPr>
          <p:nvPr>
            <p:ph type="sldNum" sz="quarter" idx="12"/>
          </p:nvPr>
        </p:nvSpPr>
        <p:spPr/>
        <p:txBody>
          <a:bodyPr/>
          <a:lstStyle/>
          <a:p>
            <a:fld id="{F763E2BD-C0C0-4EFC-BBAE-6FAF0A3AFE41}" type="slidenum">
              <a:rPr lang="en-US" smtClean="0"/>
              <a:t>‹#›</a:t>
            </a:fld>
            <a:endParaRPr lang="en-US"/>
          </a:p>
        </p:txBody>
      </p:sp>
    </p:spTree>
    <p:extLst>
      <p:ext uri="{BB962C8B-B14F-4D97-AF65-F5344CB8AC3E}">
        <p14:creationId xmlns:p14="http://schemas.microsoft.com/office/powerpoint/2010/main" val="58348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805335-61B4-3A06-72F8-E34C15F3CF49}"/>
              </a:ext>
            </a:extLst>
          </p:cNvPr>
          <p:cNvSpPr>
            <a:spLocks noGrp="1"/>
          </p:cNvSpPr>
          <p:nvPr>
            <p:ph type="dt" sz="half" idx="10"/>
          </p:nvPr>
        </p:nvSpPr>
        <p:spPr/>
        <p:txBody>
          <a:bodyPr/>
          <a:lstStyle/>
          <a:p>
            <a:fld id="{9296675B-EC66-410E-A34B-2AED9927E65A}" type="datetime1">
              <a:rPr lang="en-US" smtClean="0"/>
              <a:t>9/16/2026</a:t>
            </a:fld>
            <a:endParaRPr lang="en-US"/>
          </a:p>
        </p:txBody>
      </p:sp>
      <p:sp>
        <p:nvSpPr>
          <p:cNvPr id="3" name="Footer Placeholder 2">
            <a:extLst>
              <a:ext uri="{FF2B5EF4-FFF2-40B4-BE49-F238E27FC236}">
                <a16:creationId xmlns:a16="http://schemas.microsoft.com/office/drawing/2014/main" id="{48B6A23B-EB81-CC3E-5F53-2FC67F881D13}"/>
              </a:ext>
            </a:extLst>
          </p:cNvPr>
          <p:cNvSpPr>
            <a:spLocks noGrp="1"/>
          </p:cNvSpPr>
          <p:nvPr>
            <p:ph type="ftr" sz="quarter" idx="11"/>
          </p:nvPr>
        </p:nvSpPr>
        <p:spPr/>
        <p:txBody>
          <a:bodyPr/>
          <a:lstStyle/>
          <a:p>
            <a:r>
              <a:rPr lang="en-US"/>
              <a:t>© Copyright 2026.  Peter M. Shane All rights reserved. </a:t>
            </a:r>
          </a:p>
        </p:txBody>
      </p:sp>
      <p:sp>
        <p:nvSpPr>
          <p:cNvPr id="4" name="Slide Number Placeholder 3">
            <a:extLst>
              <a:ext uri="{FF2B5EF4-FFF2-40B4-BE49-F238E27FC236}">
                <a16:creationId xmlns:a16="http://schemas.microsoft.com/office/drawing/2014/main" id="{045774ED-5963-463A-B9D9-8A315F14930C}"/>
              </a:ext>
            </a:extLst>
          </p:cNvPr>
          <p:cNvSpPr>
            <a:spLocks noGrp="1"/>
          </p:cNvSpPr>
          <p:nvPr>
            <p:ph type="sldNum" sz="quarter" idx="12"/>
          </p:nvPr>
        </p:nvSpPr>
        <p:spPr/>
        <p:txBody>
          <a:bodyPr/>
          <a:lstStyle/>
          <a:p>
            <a:fld id="{F763E2BD-C0C0-4EFC-BBAE-6FAF0A3AFE41}" type="slidenum">
              <a:rPr lang="en-US" smtClean="0"/>
              <a:t>‹#›</a:t>
            </a:fld>
            <a:endParaRPr lang="en-US"/>
          </a:p>
        </p:txBody>
      </p:sp>
    </p:spTree>
    <p:extLst>
      <p:ext uri="{BB962C8B-B14F-4D97-AF65-F5344CB8AC3E}">
        <p14:creationId xmlns:p14="http://schemas.microsoft.com/office/powerpoint/2010/main" val="3131895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405EC-6F6D-FEF9-889C-AE14E81A9E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57DB33-C48E-45E1-ACA4-AE78C22D70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E24443-2CE3-7962-6969-8754F988FF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EF927E-8F80-83BC-BAFC-D8A5220369F3}"/>
              </a:ext>
            </a:extLst>
          </p:cNvPr>
          <p:cNvSpPr>
            <a:spLocks noGrp="1"/>
          </p:cNvSpPr>
          <p:nvPr>
            <p:ph type="dt" sz="half" idx="10"/>
          </p:nvPr>
        </p:nvSpPr>
        <p:spPr/>
        <p:txBody>
          <a:bodyPr/>
          <a:lstStyle/>
          <a:p>
            <a:fld id="{B830B0D6-71A1-4815-BCC5-501E45C8B1FB}" type="datetime1">
              <a:rPr lang="en-US" smtClean="0"/>
              <a:t>9/16/2026</a:t>
            </a:fld>
            <a:endParaRPr lang="en-US"/>
          </a:p>
        </p:txBody>
      </p:sp>
      <p:sp>
        <p:nvSpPr>
          <p:cNvPr id="6" name="Footer Placeholder 5">
            <a:extLst>
              <a:ext uri="{FF2B5EF4-FFF2-40B4-BE49-F238E27FC236}">
                <a16:creationId xmlns:a16="http://schemas.microsoft.com/office/drawing/2014/main" id="{8864FBEF-A3A0-D5E1-D7E0-E4B449DCA487}"/>
              </a:ext>
            </a:extLst>
          </p:cNvPr>
          <p:cNvSpPr>
            <a:spLocks noGrp="1"/>
          </p:cNvSpPr>
          <p:nvPr>
            <p:ph type="ftr" sz="quarter" idx="11"/>
          </p:nvPr>
        </p:nvSpPr>
        <p:spPr/>
        <p:txBody>
          <a:bodyPr/>
          <a:lstStyle/>
          <a:p>
            <a:r>
              <a:rPr lang="en-US"/>
              <a:t>© Copyright 2026.  Peter M. Shane All rights reserved. </a:t>
            </a:r>
          </a:p>
        </p:txBody>
      </p:sp>
      <p:sp>
        <p:nvSpPr>
          <p:cNvPr id="7" name="Slide Number Placeholder 6">
            <a:extLst>
              <a:ext uri="{FF2B5EF4-FFF2-40B4-BE49-F238E27FC236}">
                <a16:creationId xmlns:a16="http://schemas.microsoft.com/office/drawing/2014/main" id="{321AB66D-C197-F878-7F03-B3DFD49CB054}"/>
              </a:ext>
            </a:extLst>
          </p:cNvPr>
          <p:cNvSpPr>
            <a:spLocks noGrp="1"/>
          </p:cNvSpPr>
          <p:nvPr>
            <p:ph type="sldNum" sz="quarter" idx="12"/>
          </p:nvPr>
        </p:nvSpPr>
        <p:spPr/>
        <p:txBody>
          <a:bodyPr/>
          <a:lstStyle/>
          <a:p>
            <a:fld id="{F763E2BD-C0C0-4EFC-BBAE-6FAF0A3AFE41}" type="slidenum">
              <a:rPr lang="en-US" smtClean="0"/>
              <a:t>‹#›</a:t>
            </a:fld>
            <a:endParaRPr lang="en-US"/>
          </a:p>
        </p:txBody>
      </p:sp>
    </p:spTree>
    <p:extLst>
      <p:ext uri="{BB962C8B-B14F-4D97-AF65-F5344CB8AC3E}">
        <p14:creationId xmlns:p14="http://schemas.microsoft.com/office/powerpoint/2010/main" val="426997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53795-3D6E-B24C-5B02-284F6E7013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49A58A-B22F-BBD2-66B6-272DB51F19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47FCE0-6556-173E-8173-B96C2F7DA7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0FAF7F-5817-9781-EEE2-E38ABA4A5642}"/>
              </a:ext>
            </a:extLst>
          </p:cNvPr>
          <p:cNvSpPr>
            <a:spLocks noGrp="1"/>
          </p:cNvSpPr>
          <p:nvPr>
            <p:ph type="dt" sz="half" idx="10"/>
          </p:nvPr>
        </p:nvSpPr>
        <p:spPr/>
        <p:txBody>
          <a:bodyPr/>
          <a:lstStyle/>
          <a:p>
            <a:fld id="{03591757-BF2F-4E7B-9D34-780F239E4AAB}" type="datetime1">
              <a:rPr lang="en-US" smtClean="0"/>
              <a:t>9/16/2026</a:t>
            </a:fld>
            <a:endParaRPr lang="en-US"/>
          </a:p>
        </p:txBody>
      </p:sp>
      <p:sp>
        <p:nvSpPr>
          <p:cNvPr id="6" name="Footer Placeholder 5">
            <a:extLst>
              <a:ext uri="{FF2B5EF4-FFF2-40B4-BE49-F238E27FC236}">
                <a16:creationId xmlns:a16="http://schemas.microsoft.com/office/drawing/2014/main" id="{6A3A25D6-5466-25B0-D626-F2960ABF82C7}"/>
              </a:ext>
            </a:extLst>
          </p:cNvPr>
          <p:cNvSpPr>
            <a:spLocks noGrp="1"/>
          </p:cNvSpPr>
          <p:nvPr>
            <p:ph type="ftr" sz="quarter" idx="11"/>
          </p:nvPr>
        </p:nvSpPr>
        <p:spPr/>
        <p:txBody>
          <a:bodyPr/>
          <a:lstStyle/>
          <a:p>
            <a:r>
              <a:rPr lang="en-US"/>
              <a:t>© Copyright 2026.  Peter M. Shane All rights reserved. </a:t>
            </a:r>
          </a:p>
        </p:txBody>
      </p:sp>
      <p:sp>
        <p:nvSpPr>
          <p:cNvPr id="7" name="Slide Number Placeholder 6">
            <a:extLst>
              <a:ext uri="{FF2B5EF4-FFF2-40B4-BE49-F238E27FC236}">
                <a16:creationId xmlns:a16="http://schemas.microsoft.com/office/drawing/2014/main" id="{1EA77400-0E46-96EB-2868-B40D3EC75653}"/>
              </a:ext>
            </a:extLst>
          </p:cNvPr>
          <p:cNvSpPr>
            <a:spLocks noGrp="1"/>
          </p:cNvSpPr>
          <p:nvPr>
            <p:ph type="sldNum" sz="quarter" idx="12"/>
          </p:nvPr>
        </p:nvSpPr>
        <p:spPr/>
        <p:txBody>
          <a:bodyPr/>
          <a:lstStyle/>
          <a:p>
            <a:fld id="{F763E2BD-C0C0-4EFC-BBAE-6FAF0A3AFE41}" type="slidenum">
              <a:rPr lang="en-US" smtClean="0"/>
              <a:t>‹#›</a:t>
            </a:fld>
            <a:endParaRPr lang="en-US"/>
          </a:p>
        </p:txBody>
      </p:sp>
    </p:spTree>
    <p:extLst>
      <p:ext uri="{BB962C8B-B14F-4D97-AF65-F5344CB8AC3E}">
        <p14:creationId xmlns:p14="http://schemas.microsoft.com/office/powerpoint/2010/main" val="1343768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EA25B-7E65-EF2F-A069-B9E88EE2B2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037043-E400-F4FF-94E6-747B9FAF32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8E740B-BB93-45F8-9FCE-8EFB006EDC68}"/>
              </a:ext>
            </a:extLst>
          </p:cNvPr>
          <p:cNvSpPr>
            <a:spLocks noGrp="1"/>
          </p:cNvSpPr>
          <p:nvPr>
            <p:ph type="dt" sz="half" idx="10"/>
          </p:nvPr>
        </p:nvSpPr>
        <p:spPr/>
        <p:txBody>
          <a:bodyPr/>
          <a:lstStyle/>
          <a:p>
            <a:fld id="{0D42AC8D-AC94-4CBB-9D08-3500210750F5}" type="datetime1">
              <a:rPr lang="en-US" smtClean="0"/>
              <a:t>9/16/2026</a:t>
            </a:fld>
            <a:endParaRPr lang="en-US"/>
          </a:p>
        </p:txBody>
      </p:sp>
      <p:sp>
        <p:nvSpPr>
          <p:cNvPr id="5" name="Footer Placeholder 4">
            <a:extLst>
              <a:ext uri="{FF2B5EF4-FFF2-40B4-BE49-F238E27FC236}">
                <a16:creationId xmlns:a16="http://schemas.microsoft.com/office/drawing/2014/main" id="{345B2267-CE99-AB36-AE23-CF751A35CEA7}"/>
              </a:ext>
            </a:extLst>
          </p:cNvPr>
          <p:cNvSpPr>
            <a:spLocks noGrp="1"/>
          </p:cNvSpPr>
          <p:nvPr>
            <p:ph type="ftr" sz="quarter" idx="11"/>
          </p:nvPr>
        </p:nvSpPr>
        <p:spPr/>
        <p:txBody>
          <a:bodyPr/>
          <a:lstStyle/>
          <a:p>
            <a:r>
              <a:rPr lang="en-US"/>
              <a:t>© Copyright 2026.  Peter M. Shane All rights reserved. </a:t>
            </a:r>
          </a:p>
        </p:txBody>
      </p:sp>
      <p:sp>
        <p:nvSpPr>
          <p:cNvPr id="6" name="Slide Number Placeholder 5">
            <a:extLst>
              <a:ext uri="{FF2B5EF4-FFF2-40B4-BE49-F238E27FC236}">
                <a16:creationId xmlns:a16="http://schemas.microsoft.com/office/drawing/2014/main" id="{7B1CCE69-F182-220B-C57F-69CD64B1C92C}"/>
              </a:ext>
            </a:extLst>
          </p:cNvPr>
          <p:cNvSpPr>
            <a:spLocks noGrp="1"/>
          </p:cNvSpPr>
          <p:nvPr>
            <p:ph type="sldNum" sz="quarter" idx="12"/>
          </p:nvPr>
        </p:nvSpPr>
        <p:spPr/>
        <p:txBody>
          <a:bodyPr/>
          <a:lstStyle/>
          <a:p>
            <a:fld id="{F763E2BD-C0C0-4EFC-BBAE-6FAF0A3AFE41}" type="slidenum">
              <a:rPr lang="en-US" smtClean="0"/>
              <a:t>‹#›</a:t>
            </a:fld>
            <a:endParaRPr lang="en-US"/>
          </a:p>
        </p:txBody>
      </p:sp>
    </p:spTree>
    <p:extLst>
      <p:ext uri="{BB962C8B-B14F-4D97-AF65-F5344CB8AC3E}">
        <p14:creationId xmlns:p14="http://schemas.microsoft.com/office/powerpoint/2010/main" val="2368785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75DF79-60A4-1517-96DF-1BCB4FE748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69B774F-DDCC-B843-0976-3FD0C6BE94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DD07FC-4390-7DF2-E10D-EBA7F31126F5}"/>
              </a:ext>
            </a:extLst>
          </p:cNvPr>
          <p:cNvSpPr>
            <a:spLocks noGrp="1"/>
          </p:cNvSpPr>
          <p:nvPr>
            <p:ph type="dt" sz="half" idx="10"/>
          </p:nvPr>
        </p:nvSpPr>
        <p:spPr/>
        <p:txBody>
          <a:bodyPr/>
          <a:lstStyle/>
          <a:p>
            <a:fld id="{A517D123-FE92-4380-8800-1DFCA716005D}" type="datetime1">
              <a:rPr lang="en-US" smtClean="0"/>
              <a:t>9/16/2026</a:t>
            </a:fld>
            <a:endParaRPr lang="en-US"/>
          </a:p>
        </p:txBody>
      </p:sp>
      <p:sp>
        <p:nvSpPr>
          <p:cNvPr id="5" name="Footer Placeholder 4">
            <a:extLst>
              <a:ext uri="{FF2B5EF4-FFF2-40B4-BE49-F238E27FC236}">
                <a16:creationId xmlns:a16="http://schemas.microsoft.com/office/drawing/2014/main" id="{90F9A8DE-7B7F-AADE-B8CF-DCC154CB5CA9}"/>
              </a:ext>
            </a:extLst>
          </p:cNvPr>
          <p:cNvSpPr>
            <a:spLocks noGrp="1"/>
          </p:cNvSpPr>
          <p:nvPr>
            <p:ph type="ftr" sz="quarter" idx="11"/>
          </p:nvPr>
        </p:nvSpPr>
        <p:spPr/>
        <p:txBody>
          <a:bodyPr/>
          <a:lstStyle/>
          <a:p>
            <a:r>
              <a:rPr lang="en-US"/>
              <a:t>© Copyright 2026.  Peter M. Shane All rights reserved. </a:t>
            </a:r>
          </a:p>
        </p:txBody>
      </p:sp>
      <p:sp>
        <p:nvSpPr>
          <p:cNvPr id="6" name="Slide Number Placeholder 5">
            <a:extLst>
              <a:ext uri="{FF2B5EF4-FFF2-40B4-BE49-F238E27FC236}">
                <a16:creationId xmlns:a16="http://schemas.microsoft.com/office/drawing/2014/main" id="{F177DD00-4B92-3DCE-C69E-4B49DA2E3EFF}"/>
              </a:ext>
            </a:extLst>
          </p:cNvPr>
          <p:cNvSpPr>
            <a:spLocks noGrp="1"/>
          </p:cNvSpPr>
          <p:nvPr>
            <p:ph type="sldNum" sz="quarter" idx="12"/>
          </p:nvPr>
        </p:nvSpPr>
        <p:spPr/>
        <p:txBody>
          <a:bodyPr/>
          <a:lstStyle/>
          <a:p>
            <a:fld id="{F763E2BD-C0C0-4EFC-BBAE-6FAF0A3AFE41}" type="slidenum">
              <a:rPr lang="en-US" smtClean="0"/>
              <a:t>‹#›</a:t>
            </a:fld>
            <a:endParaRPr lang="en-US"/>
          </a:p>
        </p:txBody>
      </p:sp>
    </p:spTree>
    <p:extLst>
      <p:ext uri="{BB962C8B-B14F-4D97-AF65-F5344CB8AC3E}">
        <p14:creationId xmlns:p14="http://schemas.microsoft.com/office/powerpoint/2010/main" val="3845880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21A075-A653-FA8C-D2BA-BBAA93D374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431708F-EF95-F819-4ACA-8441E5AF98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CDFF09-01FB-CFC9-357A-C1DF18447E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76E46E-D323-4E16-BD67-932CE6920E08}" type="datetime1">
              <a:rPr lang="en-US" smtClean="0"/>
              <a:t>9/16/2026</a:t>
            </a:fld>
            <a:endParaRPr lang="en-US"/>
          </a:p>
        </p:txBody>
      </p:sp>
      <p:sp>
        <p:nvSpPr>
          <p:cNvPr id="5" name="Footer Placeholder 4">
            <a:extLst>
              <a:ext uri="{FF2B5EF4-FFF2-40B4-BE49-F238E27FC236}">
                <a16:creationId xmlns:a16="http://schemas.microsoft.com/office/drawing/2014/main" id="{3F8B1122-24D3-27A0-6979-7ED12489E3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 Copyright 2026.  Peter M. Shane All rights reserved. </a:t>
            </a:r>
          </a:p>
        </p:txBody>
      </p:sp>
      <p:sp>
        <p:nvSpPr>
          <p:cNvPr id="6" name="Slide Number Placeholder 5">
            <a:extLst>
              <a:ext uri="{FF2B5EF4-FFF2-40B4-BE49-F238E27FC236}">
                <a16:creationId xmlns:a16="http://schemas.microsoft.com/office/drawing/2014/main" id="{02BAF381-F200-1106-320B-26F25F6D9B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63E2BD-C0C0-4EFC-BBAE-6FAF0A3AFE41}" type="slidenum">
              <a:rPr lang="en-US" smtClean="0"/>
              <a:t>‹#›</a:t>
            </a:fld>
            <a:endParaRPr lang="en-US"/>
          </a:p>
        </p:txBody>
      </p:sp>
    </p:spTree>
    <p:extLst>
      <p:ext uri="{BB962C8B-B14F-4D97-AF65-F5344CB8AC3E}">
        <p14:creationId xmlns:p14="http://schemas.microsoft.com/office/powerpoint/2010/main" val="1600805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407A5-0B3A-FFFA-69E4-3A11FBC9B2AD}"/>
              </a:ext>
            </a:extLst>
          </p:cNvPr>
          <p:cNvSpPr>
            <a:spLocks noGrp="1"/>
          </p:cNvSpPr>
          <p:nvPr>
            <p:ph type="title"/>
          </p:nvPr>
        </p:nvSpPr>
        <p:spPr/>
        <p:txBody>
          <a:bodyPr/>
          <a:lstStyle/>
          <a:p>
            <a:r>
              <a:rPr lang="en-US" dirty="0"/>
              <a:t>Recap of Class 5</a:t>
            </a:r>
          </a:p>
        </p:txBody>
      </p:sp>
      <p:sp>
        <p:nvSpPr>
          <p:cNvPr id="3" name="Content Placeholder 2">
            <a:extLst>
              <a:ext uri="{FF2B5EF4-FFF2-40B4-BE49-F238E27FC236}">
                <a16:creationId xmlns:a16="http://schemas.microsoft.com/office/drawing/2014/main" id="{B23D5FEC-E094-934A-5F09-5AA80A9F974E}"/>
              </a:ext>
            </a:extLst>
          </p:cNvPr>
          <p:cNvSpPr>
            <a:spLocks noGrp="1"/>
          </p:cNvSpPr>
          <p:nvPr>
            <p:ph idx="1"/>
          </p:nvPr>
        </p:nvSpPr>
        <p:spPr/>
        <p:txBody>
          <a:bodyPr/>
          <a:lstStyle/>
          <a:p>
            <a:r>
              <a:rPr lang="en-US" dirty="0"/>
              <a:t>Judges have multiple tools for deriving the operational meaning/construction of statutes</a:t>
            </a:r>
          </a:p>
          <a:p>
            <a:pPr lvl="1"/>
            <a:r>
              <a:rPr lang="en-US" dirty="0"/>
              <a:t>Disputes prompting extensive litigation likely to present alternative coherent arguments based on some combination of considerations arising out of both text and larger context</a:t>
            </a:r>
          </a:p>
          <a:p>
            <a:pPr lvl="1"/>
            <a:r>
              <a:rPr lang="en-US" dirty="0"/>
              <a:t>Knowing what you know now about the menu of oft-used textualist and </a:t>
            </a:r>
            <a:r>
              <a:rPr lang="en-US" dirty="0" err="1"/>
              <a:t>purposivist</a:t>
            </a:r>
            <a:r>
              <a:rPr lang="en-US" dirty="0"/>
              <a:t> approaches, you can approach questions by asking:</a:t>
            </a:r>
          </a:p>
          <a:p>
            <a:pPr lvl="2"/>
            <a:r>
              <a:rPr lang="en-US" dirty="0"/>
              <a:t>What are the competing contenders? (Or if planning an initiative, what interpretation would get me the desired outcome and what are the arguments for and against it?)</a:t>
            </a:r>
          </a:p>
          <a:p>
            <a:pPr lvl="2"/>
            <a:r>
              <a:rPr lang="en-US" dirty="0"/>
              <a:t>Assess your intended audience – whom are you trying to persuade and what are they likely to find most persuasive?</a:t>
            </a:r>
          </a:p>
          <a:p>
            <a:pPr lvl="2"/>
            <a:r>
              <a:rPr lang="en-US" dirty="0"/>
              <a:t>If possible rely on more than one tool!</a:t>
            </a:r>
          </a:p>
        </p:txBody>
      </p:sp>
      <p:sp>
        <p:nvSpPr>
          <p:cNvPr id="4" name="Footer Placeholder 3">
            <a:extLst>
              <a:ext uri="{FF2B5EF4-FFF2-40B4-BE49-F238E27FC236}">
                <a16:creationId xmlns:a16="http://schemas.microsoft.com/office/drawing/2014/main" id="{A0C9FADB-8665-02DD-1AD5-B50B2F6A4DF6}"/>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3638810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407A5-0B3A-FFFA-69E4-3A11FBC9B2AD}"/>
              </a:ext>
            </a:extLst>
          </p:cNvPr>
          <p:cNvSpPr>
            <a:spLocks noGrp="1"/>
          </p:cNvSpPr>
          <p:nvPr>
            <p:ph type="title"/>
          </p:nvPr>
        </p:nvSpPr>
        <p:spPr/>
        <p:txBody>
          <a:bodyPr/>
          <a:lstStyle/>
          <a:p>
            <a:r>
              <a:rPr lang="en-US" dirty="0"/>
              <a:t>Recap of Class 5 – Cont’d</a:t>
            </a:r>
          </a:p>
        </p:txBody>
      </p:sp>
      <p:sp>
        <p:nvSpPr>
          <p:cNvPr id="3" name="Content Placeholder 2">
            <a:extLst>
              <a:ext uri="{FF2B5EF4-FFF2-40B4-BE49-F238E27FC236}">
                <a16:creationId xmlns:a16="http://schemas.microsoft.com/office/drawing/2014/main" id="{B23D5FEC-E094-934A-5F09-5AA80A9F974E}"/>
              </a:ext>
            </a:extLst>
          </p:cNvPr>
          <p:cNvSpPr>
            <a:spLocks noGrp="1"/>
          </p:cNvSpPr>
          <p:nvPr>
            <p:ph idx="1"/>
          </p:nvPr>
        </p:nvSpPr>
        <p:spPr/>
        <p:txBody>
          <a:bodyPr/>
          <a:lstStyle/>
          <a:p>
            <a:r>
              <a:rPr lang="en-US" dirty="0"/>
              <a:t>Some of the tools most frequently used = canons of construction</a:t>
            </a:r>
          </a:p>
          <a:p>
            <a:pPr lvl="1"/>
            <a:r>
              <a:rPr lang="en-US" sz="2800" dirty="0"/>
              <a:t>Not likely by themselves to dictate outcomes</a:t>
            </a:r>
          </a:p>
          <a:p>
            <a:pPr lvl="2"/>
            <a:r>
              <a:rPr lang="en-US" sz="2400" dirty="0"/>
              <a:t>Might point in different directions</a:t>
            </a:r>
          </a:p>
          <a:p>
            <a:pPr lvl="2"/>
            <a:r>
              <a:rPr lang="en-US" sz="2400" dirty="0"/>
              <a:t>Usually presumptions which are not conclusive</a:t>
            </a:r>
          </a:p>
          <a:p>
            <a:pPr lvl="2"/>
            <a:r>
              <a:rPr lang="en-US" sz="2400" dirty="0"/>
              <a:t>Context may persuade different judges whether a canon does or does not apply</a:t>
            </a:r>
          </a:p>
        </p:txBody>
      </p:sp>
      <p:sp>
        <p:nvSpPr>
          <p:cNvPr id="4" name="Footer Placeholder 3">
            <a:extLst>
              <a:ext uri="{FF2B5EF4-FFF2-40B4-BE49-F238E27FC236}">
                <a16:creationId xmlns:a16="http://schemas.microsoft.com/office/drawing/2014/main" id="{A0C9FADB-8665-02DD-1AD5-B50B2F6A4DF6}"/>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3304919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ltLang="en-US" sz="3600"/>
              <a:t>Semantic Canons: Within the Statute</a:t>
            </a:r>
          </a:p>
        </p:txBody>
      </p:sp>
      <p:sp>
        <p:nvSpPr>
          <p:cNvPr id="5123" name="Rectangle 3"/>
          <p:cNvSpPr>
            <a:spLocks noGrp="1" noChangeArrowheads="1"/>
          </p:cNvSpPr>
          <p:nvPr>
            <p:ph type="body" idx="1"/>
          </p:nvPr>
        </p:nvSpPr>
        <p:spPr/>
        <p:txBody>
          <a:bodyPr/>
          <a:lstStyle/>
          <a:p>
            <a:pPr eaLnBrk="1" hangingPunct="1">
              <a:lnSpc>
                <a:spcPct val="90000"/>
              </a:lnSpc>
            </a:pPr>
            <a:r>
              <a:rPr lang="en-US" altLang="en-US" sz="2400" i="1" dirty="0" err="1"/>
              <a:t>Expressio</a:t>
            </a:r>
            <a:r>
              <a:rPr lang="en-US" altLang="en-US" sz="2400" i="1" dirty="0"/>
              <a:t> </a:t>
            </a:r>
            <a:r>
              <a:rPr lang="en-US" altLang="en-US" sz="2400" i="1" dirty="0" err="1"/>
              <a:t>unius</a:t>
            </a:r>
            <a:r>
              <a:rPr lang="en-US" altLang="en-US" sz="2400" i="1" dirty="0"/>
              <a:t> </a:t>
            </a:r>
            <a:r>
              <a:rPr lang="en-US" altLang="en-US" sz="2400" i="1" dirty="0" err="1"/>
              <a:t>est</a:t>
            </a:r>
            <a:r>
              <a:rPr lang="en-US" altLang="en-US" sz="2400" i="1" dirty="0"/>
              <a:t> </a:t>
            </a:r>
            <a:r>
              <a:rPr lang="en-US" altLang="en-US" sz="2400" i="1" dirty="0" err="1"/>
              <a:t>exclusio</a:t>
            </a:r>
            <a:r>
              <a:rPr lang="en-US" altLang="en-US" sz="2400" i="1" dirty="0"/>
              <a:t> </a:t>
            </a:r>
            <a:r>
              <a:rPr lang="en-US" altLang="en-US" sz="2400" i="1" dirty="0" err="1"/>
              <a:t>alterius</a:t>
            </a:r>
            <a:r>
              <a:rPr lang="en-US" altLang="en-US" sz="2400" dirty="0"/>
              <a:t>:  the expression of one thing implies the exclusion of another</a:t>
            </a:r>
          </a:p>
          <a:p>
            <a:pPr eaLnBrk="1" hangingPunct="1">
              <a:lnSpc>
                <a:spcPct val="90000"/>
              </a:lnSpc>
            </a:pPr>
            <a:r>
              <a:rPr lang="en-US" altLang="en-US" sz="2400" i="1" dirty="0"/>
              <a:t>Noscitur a sociis</a:t>
            </a:r>
            <a:r>
              <a:rPr lang="en-US" altLang="en-US" sz="2400" dirty="0"/>
              <a:t>:  A word is known by its associates</a:t>
            </a:r>
          </a:p>
          <a:p>
            <a:pPr eaLnBrk="1" hangingPunct="1">
              <a:lnSpc>
                <a:spcPct val="90000"/>
              </a:lnSpc>
            </a:pPr>
            <a:r>
              <a:rPr lang="en-US" altLang="en-US" sz="2400" i="1" dirty="0"/>
              <a:t>Ejusdem generis: </a:t>
            </a:r>
            <a:r>
              <a:rPr lang="en-US" altLang="en-US" sz="2400" dirty="0"/>
              <a:t>residual terms are presumptively of the same kind or within the same category of the specific terms that come before</a:t>
            </a:r>
            <a:endParaRPr lang="en-US" altLang="en-US" sz="2400" i="1" dirty="0"/>
          </a:p>
          <a:p>
            <a:pPr eaLnBrk="1" hangingPunct="1">
              <a:lnSpc>
                <a:spcPct val="90000"/>
              </a:lnSpc>
            </a:pPr>
            <a:r>
              <a:rPr lang="en-US" altLang="en-US" sz="2400" dirty="0"/>
              <a:t>Presumption that word or phrase enjoys a consistent meaning whenever used in the same statute</a:t>
            </a:r>
          </a:p>
          <a:p>
            <a:pPr eaLnBrk="1" hangingPunct="1">
              <a:lnSpc>
                <a:spcPct val="90000"/>
              </a:lnSpc>
            </a:pPr>
            <a:r>
              <a:rPr lang="en-US" altLang="en-US" sz="2400" dirty="0"/>
              <a:t>Presumption that every word in a statute has meaning</a:t>
            </a:r>
          </a:p>
          <a:p>
            <a:pPr eaLnBrk="1" hangingPunct="1">
              <a:lnSpc>
                <a:spcPct val="90000"/>
              </a:lnSpc>
            </a:pPr>
            <a:r>
              <a:rPr lang="en-US" altLang="en-US" sz="2400" dirty="0"/>
              <a:t>Others include canons on Punctuation, Last antecedent rule, Conjunctive v. Disjunctive, May v. Shall</a:t>
            </a:r>
          </a:p>
          <a:p>
            <a:pPr eaLnBrk="1" hangingPunct="1">
              <a:lnSpc>
                <a:spcPct val="90000"/>
              </a:lnSpc>
            </a:pPr>
            <a:endParaRPr lang="en-US" altLang="en-US" sz="2400" dirty="0"/>
          </a:p>
        </p:txBody>
      </p:sp>
      <p:sp>
        <p:nvSpPr>
          <p:cNvPr id="4100"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6405ECD0-249D-4B8D-BCD4-2CA4BDE24621}" type="slidenum">
              <a:rPr lang="en-US" altLang="en-US" sz="1400"/>
              <a:pPr eaLnBrk="1" hangingPunct="1">
                <a:spcBef>
                  <a:spcPct val="0"/>
                </a:spcBef>
                <a:buFontTx/>
                <a:buNone/>
              </a:pPr>
              <a:t>3</a:t>
            </a:fld>
            <a:endParaRPr lang="en-US" altLang="en-US" sz="1400"/>
          </a:p>
        </p:txBody>
      </p:sp>
      <p:sp>
        <p:nvSpPr>
          <p:cNvPr id="2" name="Footer Placeholder 1">
            <a:extLst>
              <a:ext uri="{FF2B5EF4-FFF2-40B4-BE49-F238E27FC236}">
                <a16:creationId xmlns:a16="http://schemas.microsoft.com/office/drawing/2014/main" id="{CD3D3258-0DF1-98EB-5F1A-A9EBBAD5731C}"/>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11570329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 calcmode="lin" valueType="num">
                                      <p:cBhvr additive="base">
                                        <p:cTn id="7" dur="500" fill="hold"/>
                                        <p:tgtEl>
                                          <p:spTgt spid="51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anim calcmode="lin" valueType="num">
                                      <p:cBhvr additive="base">
                                        <p:cTn id="11" dur="500" fill="hold"/>
                                        <p:tgtEl>
                                          <p:spTgt spid="512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12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anim calcmode="lin" valueType="num">
                                      <p:cBhvr additive="base">
                                        <p:cTn id="15" dur="500" fill="hold"/>
                                        <p:tgtEl>
                                          <p:spTgt spid="512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12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123">
                                            <p:txEl>
                                              <p:pRg st="3" end="3"/>
                                            </p:txEl>
                                          </p:spTgt>
                                        </p:tgtEl>
                                        <p:attrNameLst>
                                          <p:attrName>style.visibility</p:attrName>
                                        </p:attrNameLst>
                                      </p:cBhvr>
                                      <p:to>
                                        <p:strVal val="visible"/>
                                      </p:to>
                                    </p:set>
                                    <p:anim calcmode="lin" valueType="num">
                                      <p:cBhvr additive="base">
                                        <p:cTn id="19" dur="500" fill="hold"/>
                                        <p:tgtEl>
                                          <p:spTgt spid="512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2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123">
                                            <p:txEl>
                                              <p:pRg st="4" end="4"/>
                                            </p:txEl>
                                          </p:spTgt>
                                        </p:tgtEl>
                                        <p:attrNameLst>
                                          <p:attrName>style.visibility</p:attrName>
                                        </p:attrNameLst>
                                      </p:cBhvr>
                                      <p:to>
                                        <p:strVal val="visible"/>
                                      </p:to>
                                    </p:set>
                                    <p:anim calcmode="lin" valueType="num">
                                      <p:cBhvr additive="base">
                                        <p:cTn id="23" dur="500" fill="hold"/>
                                        <p:tgtEl>
                                          <p:spTgt spid="512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12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123">
                                            <p:txEl>
                                              <p:pRg st="5" end="5"/>
                                            </p:txEl>
                                          </p:spTgt>
                                        </p:tgtEl>
                                        <p:attrNameLst>
                                          <p:attrName>style.visibility</p:attrName>
                                        </p:attrNameLst>
                                      </p:cBhvr>
                                      <p:to>
                                        <p:strVal val="visible"/>
                                      </p:to>
                                    </p:set>
                                    <p:anim calcmode="lin" valueType="num">
                                      <p:cBhvr additive="base">
                                        <p:cTn id="27" dur="500" fill="hold"/>
                                        <p:tgtEl>
                                          <p:spTgt spid="512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12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D1FDA154-FC9E-A4E7-DCD0-642426BE0E5A}"/>
              </a:ext>
            </a:extLst>
          </p:cNvPr>
          <p:cNvSpPr>
            <a:spLocks noGrp="1" noChangeArrowheads="1"/>
          </p:cNvSpPr>
          <p:nvPr>
            <p:ph type="title"/>
          </p:nvPr>
        </p:nvSpPr>
        <p:spPr/>
        <p:txBody>
          <a:bodyPr/>
          <a:lstStyle/>
          <a:p>
            <a:pPr eaLnBrk="1" hangingPunct="1"/>
            <a:r>
              <a:rPr lang="en-US" altLang="en-US"/>
              <a:t>Language Across Statutes</a:t>
            </a:r>
          </a:p>
        </p:txBody>
      </p:sp>
      <p:sp>
        <p:nvSpPr>
          <p:cNvPr id="20483" name="Rectangle 3">
            <a:extLst>
              <a:ext uri="{FF2B5EF4-FFF2-40B4-BE49-F238E27FC236}">
                <a16:creationId xmlns:a16="http://schemas.microsoft.com/office/drawing/2014/main" id="{62EF33DD-17FC-6130-7364-820D0B436174}"/>
              </a:ext>
            </a:extLst>
          </p:cNvPr>
          <p:cNvSpPr>
            <a:spLocks noGrp="1" noChangeArrowheads="1"/>
          </p:cNvSpPr>
          <p:nvPr>
            <p:ph type="body" idx="1"/>
          </p:nvPr>
        </p:nvSpPr>
        <p:spPr/>
        <p:txBody>
          <a:bodyPr/>
          <a:lstStyle/>
          <a:p>
            <a:pPr eaLnBrk="1" hangingPunct="1"/>
            <a:r>
              <a:rPr lang="en-US" altLang="en-US" i="1"/>
              <a:t>In pari materia – </a:t>
            </a:r>
            <a:r>
              <a:rPr lang="en-US" altLang="en-US"/>
              <a:t>presumption that statutes on the same subject use words the same way</a:t>
            </a:r>
          </a:p>
          <a:p>
            <a:pPr lvl="1" eaLnBrk="1" hangingPunct="1"/>
            <a:r>
              <a:rPr lang="en-US" altLang="en-US"/>
              <a:t>Empirically plausible?</a:t>
            </a:r>
          </a:p>
          <a:p>
            <a:pPr lvl="1" eaLnBrk="1" hangingPunct="1"/>
            <a:r>
              <a:rPr lang="en-US" altLang="en-US"/>
              <a:t>Justifiable as a goad to legislative coherence?</a:t>
            </a:r>
          </a:p>
        </p:txBody>
      </p:sp>
      <p:sp>
        <p:nvSpPr>
          <p:cNvPr id="20484" name="Slide Number Placeholder 1">
            <a:extLst>
              <a:ext uri="{FF2B5EF4-FFF2-40B4-BE49-F238E27FC236}">
                <a16:creationId xmlns:a16="http://schemas.microsoft.com/office/drawing/2014/main" id="{28A6C31A-62CF-F667-CC6D-48D052525F1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DC4BE02B-6BC7-49FE-AC34-524BC69099F1}" type="slidenum">
              <a:rPr lang="en-US" altLang="en-US" sz="1400"/>
              <a:pPr eaLnBrk="1" hangingPunct="1">
                <a:spcBef>
                  <a:spcPct val="0"/>
                </a:spcBef>
                <a:buFontTx/>
                <a:buNone/>
              </a:pPr>
              <a:t>4</a:t>
            </a:fld>
            <a:endParaRPr lang="en-US" altLang="en-US" sz="1400"/>
          </a:p>
        </p:txBody>
      </p:sp>
      <p:sp>
        <p:nvSpPr>
          <p:cNvPr id="2" name="Footer Placeholder 1">
            <a:extLst>
              <a:ext uri="{FF2B5EF4-FFF2-40B4-BE49-F238E27FC236}">
                <a16:creationId xmlns:a16="http://schemas.microsoft.com/office/drawing/2014/main" id="{442FD3D6-8659-77AB-5F17-CFB95C64F199}"/>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4117215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ltLang="en-US" sz="3600"/>
              <a:t>Looking to Other Parts of Same Statute</a:t>
            </a:r>
          </a:p>
        </p:txBody>
      </p:sp>
      <p:sp>
        <p:nvSpPr>
          <p:cNvPr id="12291" name="Content Placeholder 2"/>
          <p:cNvSpPr>
            <a:spLocks noGrp="1"/>
          </p:cNvSpPr>
          <p:nvPr>
            <p:ph idx="1"/>
          </p:nvPr>
        </p:nvSpPr>
        <p:spPr/>
        <p:txBody>
          <a:bodyPr/>
          <a:lstStyle/>
          <a:p>
            <a:r>
              <a:rPr lang="en-US" altLang="en-US" dirty="0"/>
              <a:t>The Whole Act Rule</a:t>
            </a:r>
          </a:p>
          <a:p>
            <a:r>
              <a:rPr lang="en-US" altLang="en-US" dirty="0"/>
              <a:t>Identical Words – Consistent Meaning</a:t>
            </a:r>
          </a:p>
          <a:p>
            <a:pPr lvl="1"/>
            <a:r>
              <a:rPr lang="en-US" altLang="en-US" dirty="0"/>
              <a:t>But see </a:t>
            </a:r>
            <a:r>
              <a:rPr lang="en-US" altLang="en-US" i="1" dirty="0"/>
              <a:t>General Dynamics Land Systems v. Cline</a:t>
            </a:r>
            <a:r>
              <a:rPr lang="en-US" altLang="en-US" dirty="0"/>
              <a:t> (2004) – age in ADEA means “old age” and “chronological age” in different parts</a:t>
            </a:r>
          </a:p>
          <a:p>
            <a:r>
              <a:rPr lang="en-US" altLang="en-US" dirty="0"/>
              <a:t>Avoiding Redundancy/Surplusage</a:t>
            </a:r>
          </a:p>
          <a:p>
            <a:r>
              <a:rPr lang="en-US" altLang="en-US" dirty="0"/>
              <a:t>Limited weight for:</a:t>
            </a:r>
          </a:p>
          <a:p>
            <a:pPr lvl="1"/>
            <a:r>
              <a:rPr lang="en-US" altLang="en-US" dirty="0"/>
              <a:t>Titles </a:t>
            </a:r>
          </a:p>
          <a:p>
            <a:pPr lvl="1"/>
            <a:r>
              <a:rPr lang="en-US" altLang="en-US" dirty="0"/>
              <a:t>Provisos</a:t>
            </a:r>
          </a:p>
        </p:txBody>
      </p:sp>
      <p:sp>
        <p:nvSpPr>
          <p:cNvPr id="1229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950C690-8649-46E0-8B7E-E038895E91AC}" type="slidenum">
              <a:rPr lang="en-US" altLang="en-US"/>
              <a:pPr eaLnBrk="1" hangingPunct="1"/>
              <a:t>5</a:t>
            </a:fld>
            <a:endParaRPr lang="en-US" altLang="en-US"/>
          </a:p>
        </p:txBody>
      </p:sp>
      <p:sp>
        <p:nvSpPr>
          <p:cNvPr id="2" name="Footer Placeholder 1">
            <a:extLst>
              <a:ext uri="{FF2B5EF4-FFF2-40B4-BE49-F238E27FC236}">
                <a16:creationId xmlns:a16="http://schemas.microsoft.com/office/drawing/2014/main" id="{0565835C-26E2-1F38-E1B0-FF7C2E32686C}"/>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3051192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ltLang="en-US" sz="4000"/>
              <a:t>Identical Words in Disparate Acts</a:t>
            </a:r>
          </a:p>
        </p:txBody>
      </p:sp>
      <p:sp>
        <p:nvSpPr>
          <p:cNvPr id="14339" name="Content Placeholder 2"/>
          <p:cNvSpPr>
            <a:spLocks noGrp="1"/>
          </p:cNvSpPr>
          <p:nvPr>
            <p:ph idx="1"/>
          </p:nvPr>
        </p:nvSpPr>
        <p:spPr/>
        <p:txBody>
          <a:bodyPr/>
          <a:lstStyle/>
          <a:p>
            <a:r>
              <a:rPr lang="en-US" altLang="en-US" dirty="0"/>
              <a:t>“A reasonable attorney's fee” under EAJA does not include fees paid by attorneys to experts who helped with successful case</a:t>
            </a:r>
          </a:p>
          <a:p>
            <a:pPr>
              <a:buFontTx/>
              <a:buChar char="-"/>
            </a:pPr>
            <a:r>
              <a:rPr lang="en-US" altLang="en-US" i="1" dirty="0"/>
              <a:t>W. Va. Univ. Hospitals v. Casey </a:t>
            </a:r>
            <a:r>
              <a:rPr lang="en-US" altLang="en-US" dirty="0"/>
              <a:t>(1991) – excluded expert fees from “attorney’s fees” in 42 U.S.C. § 1988</a:t>
            </a:r>
          </a:p>
          <a:p>
            <a:pPr>
              <a:buFontTx/>
              <a:buChar char="-"/>
            </a:pPr>
            <a:r>
              <a:rPr lang="en-US" altLang="en-US" dirty="0"/>
              <a:t>Majority looks to use of “attorney’s fees” in multiple, but unrelated statutes</a:t>
            </a:r>
          </a:p>
          <a:p>
            <a:endParaRPr lang="en-US" altLang="en-US" dirty="0"/>
          </a:p>
        </p:txBody>
      </p:sp>
      <p:sp>
        <p:nvSpPr>
          <p:cNvPr id="1434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DB61BBB-D95B-4C57-BCFC-64340F5796E7}" type="slidenum">
              <a:rPr lang="en-US" altLang="en-US"/>
              <a:pPr eaLnBrk="1" hangingPunct="1"/>
              <a:t>6</a:t>
            </a:fld>
            <a:endParaRPr lang="en-US" altLang="en-US"/>
          </a:p>
        </p:txBody>
      </p:sp>
      <p:sp>
        <p:nvSpPr>
          <p:cNvPr id="2" name="Footer Placeholder 1">
            <a:extLst>
              <a:ext uri="{FF2B5EF4-FFF2-40B4-BE49-F238E27FC236}">
                <a16:creationId xmlns:a16="http://schemas.microsoft.com/office/drawing/2014/main" id="{545C3F15-3249-5D12-7ED6-604D037AB038}"/>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59741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ltLang="en-US" sz="4000"/>
              <a:t>Repeal By Implication Disfavored</a:t>
            </a:r>
          </a:p>
        </p:txBody>
      </p:sp>
      <p:sp>
        <p:nvSpPr>
          <p:cNvPr id="15363" name="Content Placeholder 2"/>
          <p:cNvSpPr>
            <a:spLocks noGrp="1"/>
          </p:cNvSpPr>
          <p:nvPr>
            <p:ph idx="1"/>
          </p:nvPr>
        </p:nvSpPr>
        <p:spPr/>
        <p:txBody>
          <a:bodyPr/>
          <a:lstStyle/>
          <a:p>
            <a:r>
              <a:rPr lang="en-US" altLang="en-US"/>
              <a:t>Later statute presumed not to overturn earlier statute unless absolutely necessary to make sense of the later statute</a:t>
            </a:r>
          </a:p>
          <a:p>
            <a:r>
              <a:rPr lang="en-US" altLang="en-US"/>
              <a:t>This canon operates as a “clear statement rule,” that is, if Congress wants this to happen, it must speak clearly</a:t>
            </a:r>
          </a:p>
        </p:txBody>
      </p:sp>
      <p:sp>
        <p:nvSpPr>
          <p:cNvPr id="1536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AC18CCC-07BF-4EDD-902C-748EE25E3E7F}" type="slidenum">
              <a:rPr lang="en-US" altLang="en-US"/>
              <a:pPr eaLnBrk="1" hangingPunct="1"/>
              <a:t>7</a:t>
            </a:fld>
            <a:endParaRPr lang="en-US" altLang="en-US"/>
          </a:p>
        </p:txBody>
      </p:sp>
      <p:sp>
        <p:nvSpPr>
          <p:cNvPr id="2" name="Footer Placeholder 1">
            <a:extLst>
              <a:ext uri="{FF2B5EF4-FFF2-40B4-BE49-F238E27FC236}">
                <a16:creationId xmlns:a16="http://schemas.microsoft.com/office/drawing/2014/main" id="{68200490-4089-4B55-5AF5-8B0A0FBD83C1}"/>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1688340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F019B8F4-3596-B554-9F32-9EBC12D61C60}"/>
              </a:ext>
            </a:extLst>
          </p:cNvPr>
          <p:cNvSpPr>
            <a:spLocks noGrp="1" noChangeArrowheads="1"/>
          </p:cNvSpPr>
          <p:nvPr>
            <p:ph type="title"/>
          </p:nvPr>
        </p:nvSpPr>
        <p:spPr/>
        <p:txBody>
          <a:bodyPr/>
          <a:lstStyle/>
          <a:p>
            <a:pPr eaLnBrk="1" hangingPunct="1"/>
            <a:r>
              <a:rPr lang="en-US" altLang="en-US" sz="4000"/>
              <a:t>The Constitutional Avoidance Canons</a:t>
            </a:r>
          </a:p>
        </p:txBody>
      </p:sp>
      <p:sp>
        <p:nvSpPr>
          <p:cNvPr id="15363" name="Rectangle 3">
            <a:extLst>
              <a:ext uri="{FF2B5EF4-FFF2-40B4-BE49-F238E27FC236}">
                <a16:creationId xmlns:a16="http://schemas.microsoft.com/office/drawing/2014/main" id="{4C8D7F39-2A0D-4D85-1685-F5D75344A5A5}"/>
              </a:ext>
            </a:extLst>
          </p:cNvPr>
          <p:cNvSpPr>
            <a:spLocks noGrp="1" noChangeArrowheads="1"/>
          </p:cNvSpPr>
          <p:nvPr>
            <p:ph type="body" idx="1"/>
          </p:nvPr>
        </p:nvSpPr>
        <p:spPr/>
        <p:txBody>
          <a:bodyPr/>
          <a:lstStyle/>
          <a:p>
            <a:pPr eaLnBrk="1" hangingPunct="1"/>
            <a:r>
              <a:rPr lang="en-US" altLang="en-US"/>
              <a:t>Classic Avoidance:  If either of two statutory interpretations are possible, but one would violate the Constitution, presume Congress intended the other</a:t>
            </a:r>
          </a:p>
          <a:p>
            <a:pPr eaLnBrk="1" hangingPunct="1"/>
            <a:r>
              <a:rPr lang="en-US" altLang="en-US" i="1"/>
              <a:t>Ashwander</a:t>
            </a:r>
            <a:r>
              <a:rPr lang="en-US" altLang="en-US"/>
              <a:t> Avoidance:  A statutory interpretation that raises a serious constitutional question should be avoided if another interpretation is plausible</a:t>
            </a:r>
          </a:p>
        </p:txBody>
      </p:sp>
      <p:sp>
        <p:nvSpPr>
          <p:cNvPr id="15364" name="Slide Number Placeholder 1">
            <a:extLst>
              <a:ext uri="{FF2B5EF4-FFF2-40B4-BE49-F238E27FC236}">
                <a16:creationId xmlns:a16="http://schemas.microsoft.com/office/drawing/2014/main" id="{BA42CD62-816F-63FD-F218-82F9C48699A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F9E25C0D-5BEF-4BF4-AC7B-32D48EF666B8}" type="slidenum">
              <a:rPr lang="en-US" altLang="en-US" sz="1400"/>
              <a:pPr eaLnBrk="1" hangingPunct="1">
                <a:spcBef>
                  <a:spcPct val="0"/>
                </a:spcBef>
                <a:buFontTx/>
                <a:buNone/>
              </a:pPr>
              <a:t>8</a:t>
            </a:fld>
            <a:endParaRPr lang="en-US" altLang="en-US" sz="1400"/>
          </a:p>
        </p:txBody>
      </p:sp>
      <p:sp>
        <p:nvSpPr>
          <p:cNvPr id="2" name="Footer Placeholder 1">
            <a:extLst>
              <a:ext uri="{FF2B5EF4-FFF2-40B4-BE49-F238E27FC236}">
                <a16:creationId xmlns:a16="http://schemas.microsoft.com/office/drawing/2014/main" id="{95190260-F99F-227C-EC74-A9CE8FA628F6}"/>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3809745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4A4554D-530C-32BF-D2D8-2ADD047F3D31}"/>
              </a:ext>
            </a:extLst>
          </p:cNvPr>
          <p:cNvSpPr>
            <a:spLocks noGrp="1" noChangeArrowheads="1"/>
          </p:cNvSpPr>
          <p:nvPr>
            <p:ph type="title"/>
          </p:nvPr>
        </p:nvSpPr>
        <p:spPr/>
        <p:txBody>
          <a:bodyPr/>
          <a:lstStyle/>
          <a:p>
            <a:pPr eaLnBrk="1" hangingPunct="1"/>
            <a:r>
              <a:rPr lang="en-US" altLang="en-US"/>
              <a:t>Federal Advisory Committee Act</a:t>
            </a:r>
          </a:p>
        </p:txBody>
      </p:sp>
      <p:sp>
        <p:nvSpPr>
          <p:cNvPr id="16387" name="Rectangle 3">
            <a:extLst>
              <a:ext uri="{FF2B5EF4-FFF2-40B4-BE49-F238E27FC236}">
                <a16:creationId xmlns:a16="http://schemas.microsoft.com/office/drawing/2014/main" id="{D6941627-510D-290A-6B8A-8EE49658C737}"/>
              </a:ext>
            </a:extLst>
          </p:cNvPr>
          <p:cNvSpPr>
            <a:spLocks noGrp="1" noChangeArrowheads="1"/>
          </p:cNvSpPr>
          <p:nvPr>
            <p:ph type="body" idx="1"/>
          </p:nvPr>
        </p:nvSpPr>
        <p:spPr/>
        <p:txBody>
          <a:bodyPr/>
          <a:lstStyle/>
          <a:p>
            <a:pPr eaLnBrk="1" hangingPunct="1">
              <a:buFontTx/>
              <a:buNone/>
            </a:pPr>
            <a:r>
              <a:rPr lang="en-US" altLang="en-US" sz="2000"/>
              <a:t>The term "advisory committee" means any committee . . ., task force, or other similar group, . . .which is-- . . . (B) established or utilized by the President, . . .In the interest of obtaining advice or recommendations for the President or one or more agencies or officers of the Federal Government, except that such term excludes (i) any committee that is composed wholly of full-time, or permanent part-time, officers or employees of the Federal Government . . .</a:t>
            </a:r>
            <a:endParaRPr lang="en-US" altLang="en-US" sz="2000" i="1"/>
          </a:p>
          <a:p>
            <a:pPr eaLnBrk="1" hangingPunct="1"/>
            <a:r>
              <a:rPr lang="en-US" altLang="en-US" sz="2400" b="1" i="1"/>
              <a:t>Public Citizen v. DOJ – </a:t>
            </a:r>
            <a:r>
              <a:rPr lang="en-US" altLang="en-US" sz="2000"/>
              <a:t>Avoided separation of powers question by holding that President did not “use” the ABA committee within the meaning of the Act</a:t>
            </a:r>
          </a:p>
          <a:p>
            <a:pPr eaLnBrk="1" hangingPunct="1"/>
            <a:r>
              <a:rPr lang="en-US" altLang="en-US" sz="2000" b="1" i="1"/>
              <a:t>In re Cheney</a:t>
            </a:r>
            <a:r>
              <a:rPr lang="en-US" altLang="en-US" sz="2000" i="1"/>
              <a:t>, </a:t>
            </a:r>
            <a:r>
              <a:rPr lang="en-US" altLang="en-US" sz="2000"/>
              <a:t>406 F.3d 723 (D.C.Cir. 2005) (en banc) – held that advisory group not created if private parties meet with government officials, but have no vote regarding, or veto over, the decisions of the group</a:t>
            </a:r>
          </a:p>
        </p:txBody>
      </p:sp>
      <p:sp>
        <p:nvSpPr>
          <p:cNvPr id="16388" name="Slide Number Placeholder 1">
            <a:extLst>
              <a:ext uri="{FF2B5EF4-FFF2-40B4-BE49-F238E27FC236}">
                <a16:creationId xmlns:a16="http://schemas.microsoft.com/office/drawing/2014/main" id="{C0895E69-1D10-0502-281F-404A520563E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F46F4715-8C2B-436C-A86D-3F2ED12D0D75}" type="slidenum">
              <a:rPr lang="en-US" altLang="en-US" sz="1400"/>
              <a:pPr eaLnBrk="1" hangingPunct="1">
                <a:spcBef>
                  <a:spcPct val="0"/>
                </a:spcBef>
                <a:buFontTx/>
                <a:buNone/>
              </a:pPr>
              <a:t>9</a:t>
            </a:fld>
            <a:endParaRPr lang="en-US" altLang="en-US" sz="1400"/>
          </a:p>
        </p:txBody>
      </p:sp>
      <p:sp>
        <p:nvSpPr>
          <p:cNvPr id="2" name="Footer Placeholder 1">
            <a:extLst>
              <a:ext uri="{FF2B5EF4-FFF2-40B4-BE49-F238E27FC236}">
                <a16:creationId xmlns:a16="http://schemas.microsoft.com/office/drawing/2014/main" id="{BE87B584-04B1-C5DE-5A24-3C21E1F3529A}"/>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1598172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E2064259-A7D2-88C2-D9AF-08B1FAC0E00E}"/>
              </a:ext>
            </a:extLst>
          </p:cNvPr>
          <p:cNvSpPr>
            <a:spLocks noGrp="1" noChangeArrowheads="1"/>
          </p:cNvSpPr>
          <p:nvPr>
            <p:ph type="title"/>
          </p:nvPr>
        </p:nvSpPr>
        <p:spPr/>
        <p:txBody>
          <a:bodyPr/>
          <a:lstStyle/>
          <a:p>
            <a:pPr eaLnBrk="1" hangingPunct="1"/>
            <a:r>
              <a:rPr lang="en-US" altLang="en-US" dirty="0"/>
              <a:t>Can the Canon Be Justified?</a:t>
            </a:r>
          </a:p>
        </p:txBody>
      </p:sp>
      <p:sp>
        <p:nvSpPr>
          <p:cNvPr id="28675" name="Rectangle 3">
            <a:extLst>
              <a:ext uri="{FF2B5EF4-FFF2-40B4-BE49-F238E27FC236}">
                <a16:creationId xmlns:a16="http://schemas.microsoft.com/office/drawing/2014/main" id="{9584DB30-A908-FDCC-9CEB-D20FD91C46CD}"/>
              </a:ext>
            </a:extLst>
          </p:cNvPr>
          <p:cNvSpPr>
            <a:spLocks noGrp="1" noChangeArrowheads="1"/>
          </p:cNvSpPr>
          <p:nvPr>
            <p:ph type="body" idx="1"/>
          </p:nvPr>
        </p:nvSpPr>
        <p:spPr/>
        <p:txBody>
          <a:bodyPr/>
          <a:lstStyle/>
          <a:p>
            <a:pPr eaLnBrk="1" hangingPunct="1">
              <a:buFontTx/>
              <a:buNone/>
            </a:pPr>
            <a:endParaRPr lang="en-US" altLang="en-US" sz="1600" dirty="0"/>
          </a:p>
        </p:txBody>
      </p:sp>
      <p:graphicFrame>
        <p:nvGraphicFramePr>
          <p:cNvPr id="4" name="Table 3">
            <a:extLst>
              <a:ext uri="{FF2B5EF4-FFF2-40B4-BE49-F238E27FC236}">
                <a16:creationId xmlns:a16="http://schemas.microsoft.com/office/drawing/2014/main" id="{66249934-8598-11F6-1FD2-9C88D3AA207C}"/>
              </a:ext>
            </a:extLst>
          </p:cNvPr>
          <p:cNvGraphicFramePr>
            <a:graphicFrameLocks noGrp="1"/>
          </p:cNvGraphicFramePr>
          <p:nvPr>
            <p:extLst>
              <p:ext uri="{D42A27DB-BD31-4B8C-83A1-F6EECF244321}">
                <p14:modId xmlns:p14="http://schemas.microsoft.com/office/powerpoint/2010/main" val="3057750352"/>
              </p:ext>
            </p:extLst>
          </p:nvPr>
        </p:nvGraphicFramePr>
        <p:xfrm>
          <a:off x="1981200" y="1600200"/>
          <a:ext cx="8229600" cy="4480488"/>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143245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Theory of Congressional Intent</a:t>
                      </a:r>
                    </a:p>
                  </a:txBody>
                  <a:tcPr marT="45708" marB="45708"/>
                </a:tc>
                <a:tc>
                  <a:txBody>
                    <a:bodyPr/>
                    <a:lstStyle/>
                    <a:p>
                      <a:pPr lvl="0">
                        <a:buFont typeface="Arial" pitchFamily="34" charset="0"/>
                        <a:buChar char="•"/>
                      </a:pPr>
                      <a:r>
                        <a:rPr lang="en-US" dirty="0"/>
                        <a:t>  Congress would not intend a statute to raise serious constitutional questions</a:t>
                      </a:r>
                    </a:p>
                    <a:p>
                      <a:pPr lvl="1">
                        <a:buFont typeface="Arial" pitchFamily="34" charset="0"/>
                        <a:buChar char="•"/>
                      </a:pPr>
                      <a:r>
                        <a:rPr lang="en-US" dirty="0"/>
                        <a:t>  Any empirical support?</a:t>
                      </a:r>
                    </a:p>
                    <a:p>
                      <a:pPr lvl="0">
                        <a:buFont typeface="Arial" pitchFamily="34" charset="0"/>
                        <a:buChar char="•"/>
                      </a:pPr>
                      <a:r>
                        <a:rPr lang="en-US" dirty="0"/>
                        <a:t>  Congress would prefer that the Court act as if this were its intent because that preserves its legislative discretion?</a:t>
                      </a:r>
                    </a:p>
                  </a:txBody>
                  <a:tcPr marT="45708" marB="45708"/>
                </a:tc>
                <a:extLst>
                  <a:ext uri="{0D108BD9-81ED-4DB2-BD59-A6C34878D82A}">
                    <a16:rowId xmlns:a16="http://schemas.microsoft.com/office/drawing/2014/main" val="10000"/>
                  </a:ext>
                </a:extLst>
              </a:tr>
              <a:tr h="1005763">
                <a:tc>
                  <a:txBody>
                    <a:bodyPr/>
                    <a:lstStyle/>
                    <a:p>
                      <a:r>
                        <a:rPr lang="en-US" sz="2000" b="1" dirty="0"/>
                        <a:t>Theory of Judicial Restraint</a:t>
                      </a:r>
                    </a:p>
                  </a:txBody>
                  <a:tcPr marT="45708" marB="45708"/>
                </a:tc>
                <a:tc>
                  <a:txBody>
                    <a:bodyPr/>
                    <a:lstStyle/>
                    <a:p>
                      <a:pPr lvl="0">
                        <a:buFont typeface="Arial" pitchFamily="34" charset="0"/>
                        <a:buChar char="•"/>
                      </a:pPr>
                      <a:r>
                        <a:rPr lang="en-US" sz="1800" dirty="0"/>
                        <a:t>  How restraining is the doctrine if it allows courts to make quasi-constitutional rulings? (“Restraint” is ambiguous.)</a:t>
                      </a:r>
                    </a:p>
                    <a:p>
                      <a:pPr lvl="0">
                        <a:buFont typeface="Arial" pitchFamily="34" charset="0"/>
                        <a:buChar char="•"/>
                      </a:pPr>
                      <a:r>
                        <a:rPr lang="en-US" sz="1800" dirty="0"/>
                        <a:t>  Isn’t constitutional adjudication the court’s business?</a:t>
                      </a:r>
                    </a:p>
                  </a:txBody>
                  <a:tcPr marT="45708" marB="45708"/>
                </a:tc>
                <a:extLst>
                  <a:ext uri="{0D108BD9-81ED-4DB2-BD59-A6C34878D82A}">
                    <a16:rowId xmlns:a16="http://schemas.microsoft.com/office/drawing/2014/main" val="10001"/>
                  </a:ext>
                </a:extLst>
              </a:tr>
              <a:tr h="2011543">
                <a:tc>
                  <a:txBody>
                    <a:bodyPr/>
                    <a:lstStyle/>
                    <a:p>
                      <a:r>
                        <a:rPr lang="en-US" sz="2000" b="1" dirty="0"/>
                        <a:t>Theory of Constitutional Meaning</a:t>
                      </a:r>
                    </a:p>
                  </a:txBody>
                  <a:tcPr marT="45708" marB="45708"/>
                </a:tc>
                <a:tc>
                  <a:txBody>
                    <a:bodyPr/>
                    <a:lstStyle/>
                    <a:p>
                      <a:pPr lvl="0">
                        <a:buFont typeface="Arial" pitchFamily="34" charset="0"/>
                        <a:buChar char="•"/>
                      </a:pPr>
                      <a:r>
                        <a:rPr lang="en-US" sz="1800" dirty="0"/>
                        <a:t>  Courts can improve the legislative process by forcing more thorough consideration when legislature is running risk of breaching some constitutional value</a:t>
                      </a:r>
                    </a:p>
                    <a:p>
                      <a:pPr lvl="0">
                        <a:buFont typeface="Arial" pitchFamily="34" charset="0"/>
                        <a:buChar char="•"/>
                      </a:pPr>
                      <a:r>
                        <a:rPr lang="en-US" sz="1800" dirty="0"/>
                        <a:t>  Where does Court get off policing deliberative process, not just outcomes?</a:t>
                      </a:r>
                    </a:p>
                    <a:p>
                      <a:pPr lvl="0">
                        <a:buFont typeface="Arial" pitchFamily="34" charset="0"/>
                        <a:buChar char="•"/>
                      </a:pPr>
                      <a:r>
                        <a:rPr lang="en-US" sz="1800" dirty="0"/>
                        <a:t>  Constitution does not include free-standing values</a:t>
                      </a:r>
                    </a:p>
                    <a:p>
                      <a:pPr lvl="0">
                        <a:buFont typeface="Arial" pitchFamily="34" charset="0"/>
                        <a:buChar char="•"/>
                      </a:pPr>
                      <a:r>
                        <a:rPr lang="en-US" sz="1800" dirty="0"/>
                        <a:t>  Gives courts too much leeway</a:t>
                      </a:r>
                    </a:p>
                  </a:txBody>
                  <a:tcPr marT="45708" marB="45708"/>
                </a:tc>
                <a:extLst>
                  <a:ext uri="{0D108BD9-81ED-4DB2-BD59-A6C34878D82A}">
                    <a16:rowId xmlns:a16="http://schemas.microsoft.com/office/drawing/2014/main" val="10002"/>
                  </a:ext>
                </a:extLst>
              </a:tr>
            </a:tbl>
          </a:graphicData>
        </a:graphic>
      </p:graphicFrame>
      <p:sp>
        <p:nvSpPr>
          <p:cNvPr id="28690" name="Slide Number Placeholder 1">
            <a:extLst>
              <a:ext uri="{FF2B5EF4-FFF2-40B4-BE49-F238E27FC236}">
                <a16:creationId xmlns:a16="http://schemas.microsoft.com/office/drawing/2014/main" id="{922DCBEB-1FDC-729A-76AC-3AF9E562DC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741707DF-34D4-44B5-867C-6FD5FF322319}" type="slidenum">
              <a:rPr lang="en-US" altLang="en-US" sz="1400"/>
              <a:pPr eaLnBrk="1" hangingPunct="1">
                <a:spcBef>
                  <a:spcPct val="0"/>
                </a:spcBef>
                <a:buFontTx/>
                <a:buNone/>
              </a:pPr>
              <a:t>10</a:t>
            </a:fld>
            <a:endParaRPr lang="en-US" altLang="en-US" sz="1400"/>
          </a:p>
        </p:txBody>
      </p:sp>
      <p:sp>
        <p:nvSpPr>
          <p:cNvPr id="2" name="Footer Placeholder 1">
            <a:extLst>
              <a:ext uri="{FF2B5EF4-FFF2-40B4-BE49-F238E27FC236}">
                <a16:creationId xmlns:a16="http://schemas.microsoft.com/office/drawing/2014/main" id="{EB9CC376-C922-342B-4876-B07778590E3E}"/>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393175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dirty="0"/>
              <a:t>Background to Discussion of</a:t>
            </a:r>
            <a:br>
              <a:rPr lang="en-US" dirty="0"/>
            </a:br>
            <a:r>
              <a:rPr lang="en-US" dirty="0"/>
              <a:t>Pro-Federalism Canons</a:t>
            </a:r>
          </a:p>
        </p:txBody>
      </p:sp>
      <p:sp>
        <p:nvSpPr>
          <p:cNvPr id="3" name="Content Placeholder 2"/>
          <p:cNvSpPr>
            <a:spLocks noGrp="1"/>
          </p:cNvSpPr>
          <p:nvPr>
            <p:ph idx="1"/>
          </p:nvPr>
        </p:nvSpPr>
        <p:spPr/>
        <p:txBody>
          <a:bodyPr rtlCol="0">
            <a:normAutofit/>
          </a:bodyPr>
          <a:lstStyle/>
          <a:p>
            <a:pPr>
              <a:defRPr/>
            </a:pPr>
            <a:r>
              <a:rPr lang="en-US" i="1" dirty="0"/>
              <a:t>U.S. v. Darby </a:t>
            </a:r>
            <a:r>
              <a:rPr lang="en-US" dirty="0"/>
              <a:t>(1941) – Congress entitled under the Commerce Clause to regulate wages and hours of workers affecting interstate commerce</a:t>
            </a:r>
          </a:p>
          <a:p>
            <a:pPr>
              <a:defRPr/>
            </a:pPr>
            <a:r>
              <a:rPr lang="en-US" i="1" dirty="0"/>
              <a:t>Maryland v. </a:t>
            </a:r>
            <a:r>
              <a:rPr lang="en-US" i="1" dirty="0" err="1"/>
              <a:t>Wirtz</a:t>
            </a:r>
            <a:r>
              <a:rPr lang="en-US" i="1" dirty="0"/>
              <a:t> </a:t>
            </a:r>
            <a:r>
              <a:rPr lang="en-US" dirty="0"/>
              <a:t>(1968) – FLSA’s extension of state employees is constitutional</a:t>
            </a:r>
          </a:p>
          <a:p>
            <a:pPr>
              <a:defRPr/>
            </a:pPr>
            <a:r>
              <a:rPr lang="en-US" i="1" dirty="0"/>
              <a:t>National League of Cities v. </a:t>
            </a:r>
            <a:r>
              <a:rPr lang="en-US" i="1" dirty="0" err="1"/>
              <a:t>Usery</a:t>
            </a:r>
            <a:r>
              <a:rPr lang="en-US" i="1" dirty="0"/>
              <a:t> </a:t>
            </a:r>
            <a:r>
              <a:rPr lang="en-US" dirty="0"/>
              <a:t>(1976) – FLSA unconstitutional if it impaired power of states to make essential decisions integral to state functions in traditional areas (5-4)</a:t>
            </a:r>
          </a:p>
          <a:p>
            <a:pPr>
              <a:defRPr/>
            </a:pPr>
            <a:r>
              <a:rPr lang="en-US" i="1" dirty="0"/>
              <a:t>Garcia v. San Antonio Metropolitan Transit Authority </a:t>
            </a:r>
            <a:r>
              <a:rPr lang="en-US" dirty="0"/>
              <a:t>(1985) – overrule NLC v. </a:t>
            </a:r>
            <a:r>
              <a:rPr lang="en-US" dirty="0" err="1"/>
              <a:t>Usery</a:t>
            </a:r>
            <a:r>
              <a:rPr lang="en-US" dirty="0"/>
              <a:t> (5-4)</a:t>
            </a:r>
          </a:p>
        </p:txBody>
      </p:sp>
      <p:sp>
        <p:nvSpPr>
          <p:cNvPr id="4" name="Slide Number Placeholder 3"/>
          <p:cNvSpPr>
            <a:spLocks noGrp="1"/>
          </p:cNvSpPr>
          <p:nvPr>
            <p:ph type="sldNum" sz="quarter" idx="12"/>
          </p:nvPr>
        </p:nvSpPr>
        <p:spPr/>
        <p:txBody>
          <a:bodyPr/>
          <a:lstStyle/>
          <a:p>
            <a:pPr>
              <a:defRPr/>
            </a:pPr>
            <a:fld id="{8A878ACC-B073-4B05-B774-DC16744E75C1}" type="slidenum">
              <a:rPr lang="en-US" smtClean="0"/>
              <a:pPr>
                <a:defRPr/>
              </a:pPr>
              <a:t>11</a:t>
            </a:fld>
            <a:endParaRPr lang="en-US"/>
          </a:p>
        </p:txBody>
      </p:sp>
      <p:sp>
        <p:nvSpPr>
          <p:cNvPr id="5" name="Footer Placeholder 4">
            <a:extLst>
              <a:ext uri="{FF2B5EF4-FFF2-40B4-BE49-F238E27FC236}">
                <a16:creationId xmlns:a16="http://schemas.microsoft.com/office/drawing/2014/main" id="{7DDD66A1-4FE9-E448-8197-34243FA772B2}"/>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3746157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p:cNvSpPr>
            <a:spLocks noGrp="1"/>
          </p:cNvSpPr>
          <p:nvPr>
            <p:ph type="title"/>
          </p:nvPr>
        </p:nvSpPr>
        <p:spPr/>
        <p:txBody>
          <a:bodyPr/>
          <a:lstStyle/>
          <a:p>
            <a:r>
              <a:rPr lang="en-US" i="1"/>
              <a:t>Gregory v. Ashcroft </a:t>
            </a:r>
            <a:r>
              <a:rPr lang="en-US"/>
              <a:t>(1991)</a:t>
            </a:r>
          </a:p>
        </p:txBody>
      </p:sp>
      <p:sp>
        <p:nvSpPr>
          <p:cNvPr id="3" name="Content Placeholder 2"/>
          <p:cNvSpPr>
            <a:spLocks noGrp="1"/>
          </p:cNvSpPr>
          <p:nvPr>
            <p:ph idx="1"/>
          </p:nvPr>
        </p:nvSpPr>
        <p:spPr>
          <a:xfrm>
            <a:off x="1981200" y="1447801"/>
            <a:ext cx="8229600" cy="4525963"/>
          </a:xfrm>
        </p:spPr>
        <p:txBody>
          <a:bodyPr rtlCol="0">
            <a:normAutofit fontScale="25000" lnSpcReduction="20000"/>
          </a:bodyPr>
          <a:lstStyle/>
          <a:p>
            <a:pPr>
              <a:buNone/>
              <a:defRPr/>
            </a:pPr>
            <a:r>
              <a:rPr lang="en-US" sz="9600" b="1" dirty="0"/>
              <a:t>29 U.S.C. § 623. Prohibition of age discrimination</a:t>
            </a:r>
          </a:p>
          <a:p>
            <a:pPr marL="514350" indent="-514350">
              <a:buFont typeface="Arial" pitchFamily="34" charset="0"/>
              <a:buAutoNum type="alphaLcParenBoth"/>
              <a:defRPr/>
            </a:pPr>
            <a:r>
              <a:rPr lang="en-US" sz="9600" b="1" dirty="0"/>
              <a:t>Employer practices </a:t>
            </a:r>
            <a:r>
              <a:rPr lang="en-US" sz="9600" dirty="0"/>
              <a:t>It shall be unlawful for an employer— to . . . discharge any individual . . . because of such individual’s age</a:t>
            </a:r>
          </a:p>
          <a:p>
            <a:pPr>
              <a:buNone/>
              <a:defRPr/>
            </a:pPr>
            <a:r>
              <a:rPr lang="en-US" sz="9600" b="1" dirty="0"/>
              <a:t>29 U.S.C. § 630. Definitions</a:t>
            </a:r>
            <a:endParaRPr lang="en-US" sz="9600" dirty="0"/>
          </a:p>
          <a:p>
            <a:pPr>
              <a:buNone/>
              <a:defRPr/>
            </a:pPr>
            <a:r>
              <a:rPr lang="en-US" sz="9600" dirty="0"/>
              <a:t> (b) The term “employer” means a person engaged in an industry affecting commerce who has twenty or more employees for each working day in each of twenty or more calendar weeks in the current or preceding calendar year: . . . The term also means . . . (2) a State or political subdivision of a State and any agency or instrumentality of a State or a political subdivision of a State, and any interstate agency, but such term does not include the United States, or a corporation wholly owned by the Government of the United States. </a:t>
            </a:r>
          </a:p>
          <a:p>
            <a:pPr marL="514350" indent="-514350">
              <a:buNone/>
              <a:defRPr/>
            </a:pPr>
            <a:endParaRPr lang="en-US" dirty="0"/>
          </a:p>
          <a:p>
            <a:pPr lvl="1">
              <a:buFont typeface="Arial" pitchFamily="34" charset="0"/>
              <a:buChar char="–"/>
              <a:defRPr/>
            </a:pPr>
            <a:endParaRPr lang="en-US" dirty="0"/>
          </a:p>
        </p:txBody>
      </p:sp>
      <p:sp>
        <p:nvSpPr>
          <p:cNvPr id="2" name="Slide Number Placeholder 1"/>
          <p:cNvSpPr>
            <a:spLocks noGrp="1"/>
          </p:cNvSpPr>
          <p:nvPr>
            <p:ph type="sldNum" sz="quarter" idx="12"/>
          </p:nvPr>
        </p:nvSpPr>
        <p:spPr/>
        <p:txBody>
          <a:bodyPr/>
          <a:lstStyle/>
          <a:p>
            <a:pPr>
              <a:defRPr/>
            </a:pPr>
            <a:fld id="{8A878ACC-B073-4B05-B774-DC16744E75C1}" type="slidenum">
              <a:rPr lang="en-US" smtClean="0"/>
              <a:pPr>
                <a:defRPr/>
              </a:pPr>
              <a:t>12</a:t>
            </a:fld>
            <a:endParaRPr lang="en-US"/>
          </a:p>
        </p:txBody>
      </p:sp>
      <p:sp>
        <p:nvSpPr>
          <p:cNvPr id="4" name="Footer Placeholder 3">
            <a:extLst>
              <a:ext uri="{FF2B5EF4-FFF2-40B4-BE49-F238E27FC236}">
                <a16:creationId xmlns:a16="http://schemas.microsoft.com/office/drawing/2014/main" id="{713260D6-7E59-3F6B-008F-EA9460BB5AEB}"/>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1029315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p:txBody>
          <a:bodyPr/>
          <a:lstStyle/>
          <a:p>
            <a:r>
              <a:rPr lang="en-US" i="1"/>
              <a:t>Gregory v. Ashcroft </a:t>
            </a:r>
            <a:r>
              <a:rPr lang="en-US"/>
              <a:t>(2)</a:t>
            </a:r>
          </a:p>
        </p:txBody>
      </p:sp>
      <p:sp>
        <p:nvSpPr>
          <p:cNvPr id="3" name="Content Placeholder 2"/>
          <p:cNvSpPr>
            <a:spLocks noGrp="1"/>
          </p:cNvSpPr>
          <p:nvPr>
            <p:ph idx="1"/>
          </p:nvPr>
        </p:nvSpPr>
        <p:spPr/>
        <p:txBody>
          <a:bodyPr rtlCol="0">
            <a:normAutofit/>
          </a:bodyPr>
          <a:lstStyle/>
          <a:p>
            <a:pPr>
              <a:defRPr/>
            </a:pPr>
            <a:r>
              <a:rPr lang="en-US" dirty="0"/>
              <a:t>(f) The term “employee” means an individual employed by any employer except that the term “employee” shall not include any person elected to public office in any State or political subdivision of any State by the qualified voters thereof, or any person chosen by such officer to be on such officer’s personal staff, or an appointee on the policymaking level or an immediate adviser with respect to the exercise of the constitutional or legal powers of the office. . . </a:t>
            </a:r>
          </a:p>
          <a:p>
            <a:pPr>
              <a:defRPr/>
            </a:pPr>
            <a:r>
              <a:rPr lang="en-US" dirty="0">
                <a:solidFill>
                  <a:srgbClr val="FF0000"/>
                </a:solidFill>
              </a:rPr>
              <a:t>Issue:  Does ADEA prohibit mandatory retirement for state judges under state law?</a:t>
            </a:r>
          </a:p>
          <a:p>
            <a:pPr>
              <a:defRPr/>
            </a:pPr>
            <a:endParaRPr lang="en-US" dirty="0"/>
          </a:p>
        </p:txBody>
      </p:sp>
      <p:sp>
        <p:nvSpPr>
          <p:cNvPr id="2" name="Slide Number Placeholder 1"/>
          <p:cNvSpPr>
            <a:spLocks noGrp="1"/>
          </p:cNvSpPr>
          <p:nvPr>
            <p:ph type="sldNum" sz="quarter" idx="12"/>
          </p:nvPr>
        </p:nvSpPr>
        <p:spPr/>
        <p:txBody>
          <a:bodyPr/>
          <a:lstStyle/>
          <a:p>
            <a:pPr>
              <a:defRPr/>
            </a:pPr>
            <a:fld id="{8A878ACC-B073-4B05-B774-DC16744E75C1}" type="slidenum">
              <a:rPr lang="en-US" smtClean="0"/>
              <a:pPr>
                <a:defRPr/>
              </a:pPr>
              <a:t>13</a:t>
            </a:fld>
            <a:endParaRPr lang="en-US"/>
          </a:p>
        </p:txBody>
      </p:sp>
      <p:sp>
        <p:nvSpPr>
          <p:cNvPr id="4" name="Footer Placeholder 3">
            <a:extLst>
              <a:ext uri="{FF2B5EF4-FFF2-40B4-BE49-F238E27FC236}">
                <a16:creationId xmlns:a16="http://schemas.microsoft.com/office/drawing/2014/main" id="{543C85A4-152A-28D5-97F7-544348F4DC59}"/>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2347082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p:txBody>
          <a:bodyPr/>
          <a:lstStyle/>
          <a:p>
            <a:r>
              <a:rPr lang="en-US"/>
              <a:t>Majority’s Analysis</a:t>
            </a:r>
          </a:p>
        </p:txBody>
      </p:sp>
      <p:sp>
        <p:nvSpPr>
          <p:cNvPr id="3" name="Content Placeholder 2"/>
          <p:cNvSpPr>
            <a:spLocks noGrp="1"/>
          </p:cNvSpPr>
          <p:nvPr>
            <p:ph idx="1"/>
          </p:nvPr>
        </p:nvSpPr>
        <p:spPr/>
        <p:txBody>
          <a:bodyPr>
            <a:normAutofit/>
          </a:bodyPr>
          <a:lstStyle/>
          <a:p>
            <a:pPr>
              <a:lnSpc>
                <a:spcPct val="80000"/>
              </a:lnSpc>
            </a:pPr>
            <a:r>
              <a:rPr lang="en-US" sz="2500"/>
              <a:t>Federal regulation of judicial retirement age addresses a decision of “the most fundamental sort” for a sovereign entity</a:t>
            </a:r>
          </a:p>
          <a:p>
            <a:pPr>
              <a:lnSpc>
                <a:spcPct val="80000"/>
              </a:lnSpc>
            </a:pPr>
            <a:r>
              <a:rPr lang="en-US" sz="2500"/>
              <a:t>When statutory language threatens to upset federal-state balance, court must be “absolutely certain” of congressional intent before so applying the statute (“plain statement rule”)</a:t>
            </a:r>
          </a:p>
          <a:p>
            <a:pPr>
              <a:lnSpc>
                <a:spcPct val="80000"/>
              </a:lnSpc>
            </a:pPr>
            <a:r>
              <a:rPr lang="en-US" sz="2500"/>
              <a:t>Statute </a:t>
            </a:r>
            <a:r>
              <a:rPr lang="en-US" sz="2500" i="1"/>
              <a:t>could</a:t>
            </a:r>
            <a:r>
              <a:rPr lang="en-US" sz="2500"/>
              <a:t> be read to exclude judges as appointees “on the policymaking level”</a:t>
            </a:r>
          </a:p>
          <a:p>
            <a:pPr>
              <a:lnSpc>
                <a:spcPct val="80000"/>
              </a:lnSpc>
            </a:pPr>
            <a:r>
              <a:rPr lang="en-US" sz="2500"/>
              <a:t>Need not definitively resolve whether judges included within that language, because they would not be included unless that statement plainly compelled their coverage</a:t>
            </a:r>
          </a:p>
        </p:txBody>
      </p:sp>
      <p:sp>
        <p:nvSpPr>
          <p:cNvPr id="2" name="Slide Number Placeholder 1"/>
          <p:cNvSpPr>
            <a:spLocks noGrp="1"/>
          </p:cNvSpPr>
          <p:nvPr>
            <p:ph type="sldNum" sz="quarter" idx="12"/>
          </p:nvPr>
        </p:nvSpPr>
        <p:spPr/>
        <p:txBody>
          <a:bodyPr/>
          <a:lstStyle/>
          <a:p>
            <a:pPr>
              <a:defRPr/>
            </a:pPr>
            <a:fld id="{8A878ACC-B073-4B05-B774-DC16744E75C1}" type="slidenum">
              <a:rPr lang="en-US" smtClean="0"/>
              <a:pPr>
                <a:defRPr/>
              </a:pPr>
              <a:t>14</a:t>
            </a:fld>
            <a:endParaRPr lang="en-US"/>
          </a:p>
        </p:txBody>
      </p:sp>
      <p:sp>
        <p:nvSpPr>
          <p:cNvPr id="4" name="Footer Placeholder 3">
            <a:extLst>
              <a:ext uri="{FF2B5EF4-FFF2-40B4-BE49-F238E27FC236}">
                <a16:creationId xmlns:a16="http://schemas.microsoft.com/office/drawing/2014/main" id="{5B685A20-189E-9DA1-18C9-DAB00DABA01E}"/>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743505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p:txBody>
          <a:bodyPr/>
          <a:lstStyle/>
          <a:p>
            <a:r>
              <a:rPr lang="en-US"/>
              <a:t>What is the </a:t>
            </a:r>
            <a:r>
              <a:rPr lang="en-US" i="1"/>
              <a:t>Gregory</a:t>
            </a:r>
            <a:r>
              <a:rPr lang="en-US"/>
              <a:t> Canon?</a:t>
            </a:r>
          </a:p>
        </p:txBody>
      </p:sp>
      <p:sp>
        <p:nvSpPr>
          <p:cNvPr id="3" name="Content Placeholder 2"/>
          <p:cNvSpPr>
            <a:spLocks noGrp="1"/>
          </p:cNvSpPr>
          <p:nvPr>
            <p:ph idx="1"/>
          </p:nvPr>
        </p:nvSpPr>
        <p:spPr/>
        <p:txBody>
          <a:bodyPr>
            <a:normAutofit/>
          </a:bodyPr>
          <a:lstStyle/>
          <a:p>
            <a:pPr>
              <a:lnSpc>
                <a:spcPct val="90000"/>
              </a:lnSpc>
            </a:pPr>
            <a:r>
              <a:rPr lang="en-US" sz="4000" dirty="0"/>
              <a:t>If a federal statute, read broadly, “upsets the usual constitutional balance between federal and state powers,” Congress must make its intent to do so “unmistakably clear in the language of the statute” before the statute is so applied by a court.</a:t>
            </a:r>
          </a:p>
        </p:txBody>
      </p:sp>
      <p:sp>
        <p:nvSpPr>
          <p:cNvPr id="2" name="Slide Number Placeholder 1"/>
          <p:cNvSpPr>
            <a:spLocks noGrp="1"/>
          </p:cNvSpPr>
          <p:nvPr>
            <p:ph type="sldNum" sz="quarter" idx="12"/>
          </p:nvPr>
        </p:nvSpPr>
        <p:spPr/>
        <p:txBody>
          <a:bodyPr/>
          <a:lstStyle/>
          <a:p>
            <a:pPr>
              <a:defRPr/>
            </a:pPr>
            <a:fld id="{8A878ACC-B073-4B05-B774-DC16744E75C1}" type="slidenum">
              <a:rPr lang="en-US" smtClean="0"/>
              <a:pPr>
                <a:defRPr/>
              </a:pPr>
              <a:t>15</a:t>
            </a:fld>
            <a:endParaRPr lang="en-US"/>
          </a:p>
        </p:txBody>
      </p:sp>
      <p:sp>
        <p:nvSpPr>
          <p:cNvPr id="4" name="Footer Placeholder 3">
            <a:extLst>
              <a:ext uri="{FF2B5EF4-FFF2-40B4-BE49-F238E27FC236}">
                <a16:creationId xmlns:a16="http://schemas.microsoft.com/office/drawing/2014/main" id="{1CEA006A-A68A-1A98-45AD-291B0C171002}"/>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246649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6A941-1C79-6318-21DB-604E08280654}"/>
              </a:ext>
            </a:extLst>
          </p:cNvPr>
          <p:cNvSpPr>
            <a:spLocks noGrp="1"/>
          </p:cNvSpPr>
          <p:nvPr>
            <p:ph type="title"/>
          </p:nvPr>
        </p:nvSpPr>
        <p:spPr/>
        <p:txBody>
          <a:bodyPr>
            <a:normAutofit fontScale="90000"/>
          </a:bodyPr>
          <a:lstStyle/>
          <a:p>
            <a:br>
              <a:rPr lang="en-US" dirty="0"/>
            </a:br>
            <a:r>
              <a:rPr lang="en-US" dirty="0"/>
              <a:t>Smith v. United States, 508 U.S. 223 (1993)</a:t>
            </a:r>
            <a:br>
              <a:rPr lang="en-US" dirty="0"/>
            </a:br>
            <a:endParaRPr lang="en-US" dirty="0"/>
          </a:p>
        </p:txBody>
      </p:sp>
      <p:sp>
        <p:nvSpPr>
          <p:cNvPr id="3" name="Content Placeholder 2">
            <a:extLst>
              <a:ext uri="{FF2B5EF4-FFF2-40B4-BE49-F238E27FC236}">
                <a16:creationId xmlns:a16="http://schemas.microsoft.com/office/drawing/2014/main" id="{69F820C3-22EA-A65B-6414-78621584B545}"/>
              </a:ext>
            </a:extLst>
          </p:cNvPr>
          <p:cNvSpPr>
            <a:spLocks noGrp="1"/>
          </p:cNvSpPr>
          <p:nvPr>
            <p:ph idx="1"/>
          </p:nvPr>
        </p:nvSpPr>
        <p:spPr/>
        <p:txBody>
          <a:bodyPr>
            <a:normAutofit fontScale="92500"/>
          </a:bodyPr>
          <a:lstStyle/>
          <a:p>
            <a:r>
              <a:rPr lang="en-US" dirty="0"/>
              <a:t>After petitioner Smith offered to trade an automatic weapon to an undercover officer for cocaine, he was charged with numerous firearm and drug trafficking offenses. Title 18 U. S. C. § 924(c)(I) requires the imposition of specified penalties if the defendant, "during and in relation to ... [a] drug trafficking crime[,] uses ... a firearm." In affirming Smith's conviction and sentence, the Court of Appeals held that § 924(c)(I)'s plain language imposes no requirement that a firearm be "use[d]" as a weapon, but applies to any use of a gun that facilitates in any manner the commission of a drug offense.</a:t>
            </a:r>
          </a:p>
          <a:p>
            <a:r>
              <a:rPr lang="en-US" dirty="0"/>
              <a:t>Held: A criminal who trades his firearm for drugs "uses" it "during and in relation to ... [a] drug trafficking crime" within the meaning of § 924(c)(I). </a:t>
            </a:r>
          </a:p>
        </p:txBody>
      </p:sp>
      <p:sp>
        <p:nvSpPr>
          <p:cNvPr id="4" name="Footer Placeholder 3">
            <a:extLst>
              <a:ext uri="{FF2B5EF4-FFF2-40B4-BE49-F238E27FC236}">
                <a16:creationId xmlns:a16="http://schemas.microsoft.com/office/drawing/2014/main" id="{14B6CE21-9FB9-5458-B3F0-6FF6A5506850}"/>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32760792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 of Lenity</a:t>
            </a:r>
          </a:p>
        </p:txBody>
      </p:sp>
      <p:sp>
        <p:nvSpPr>
          <p:cNvPr id="3" name="Content Placeholder 2"/>
          <p:cNvSpPr>
            <a:spLocks noGrp="1"/>
          </p:cNvSpPr>
          <p:nvPr>
            <p:ph idx="1"/>
          </p:nvPr>
        </p:nvSpPr>
        <p:spPr/>
        <p:txBody>
          <a:bodyPr>
            <a:normAutofit/>
          </a:bodyPr>
          <a:lstStyle/>
          <a:p>
            <a:r>
              <a:rPr lang="en-US" dirty="0"/>
              <a:t>When Invoked?</a:t>
            </a:r>
          </a:p>
          <a:p>
            <a:pPr lvl="1"/>
            <a:r>
              <a:rPr lang="en-US" dirty="0"/>
              <a:t>[T]hat venerable rule is reserved for cases where, “[a]</a:t>
            </a:r>
            <a:r>
              <a:rPr lang="en-US" dirty="0" err="1"/>
              <a:t>fter</a:t>
            </a:r>
            <a:r>
              <a:rPr lang="en-US" dirty="0"/>
              <a:t> ‘</a:t>
            </a:r>
            <a:r>
              <a:rPr lang="en-US" dirty="0" err="1"/>
              <a:t>seiz</a:t>
            </a:r>
            <a:r>
              <a:rPr lang="en-US" dirty="0"/>
              <a:t>[</a:t>
            </a:r>
            <a:r>
              <a:rPr lang="en-US" dirty="0" err="1"/>
              <a:t>ing</a:t>
            </a:r>
            <a:r>
              <a:rPr lang="en-US" dirty="0"/>
              <a:t>] every thing from which aid can be derived,’ ” the Court is “left with an ambiguous statute.” </a:t>
            </a:r>
            <a:r>
              <a:rPr lang="en-US" i="1" dirty="0"/>
              <a:t>Smith</a:t>
            </a:r>
            <a:r>
              <a:rPr lang="en-US" dirty="0"/>
              <a:t> (O’Connor for the majority)</a:t>
            </a:r>
          </a:p>
          <a:p>
            <a:pPr lvl="1"/>
            <a:r>
              <a:rPr lang="en-US" dirty="0"/>
              <a:t>“At the very least, it may be said that the issue is subject to some doubt. Under these circumstances, we adhere to the familiar rule that, ‘where there is ambiguity in a criminal statute, doubts are resolved in favor of the defendant.’ ” </a:t>
            </a:r>
            <a:r>
              <a:rPr lang="en-US" i="1" dirty="0"/>
              <a:t>Smith</a:t>
            </a:r>
            <a:r>
              <a:rPr lang="en-US" dirty="0"/>
              <a:t> (Scalia dissent)</a:t>
            </a:r>
          </a:p>
          <a:p>
            <a:r>
              <a:rPr lang="en-US" dirty="0"/>
              <a:t>Justification?</a:t>
            </a:r>
          </a:p>
        </p:txBody>
      </p:sp>
      <p:sp>
        <p:nvSpPr>
          <p:cNvPr id="4" name="Slide Number Placeholder 3"/>
          <p:cNvSpPr>
            <a:spLocks noGrp="1"/>
          </p:cNvSpPr>
          <p:nvPr>
            <p:ph type="sldNum" sz="quarter" idx="12"/>
          </p:nvPr>
        </p:nvSpPr>
        <p:spPr/>
        <p:txBody>
          <a:bodyPr/>
          <a:lstStyle/>
          <a:p>
            <a:fld id="{B0FE7727-F9E3-4687-946D-CE13F2D351A0}" type="slidenum">
              <a:rPr lang="en-US" smtClean="0"/>
              <a:pPr/>
              <a:t>17</a:t>
            </a:fld>
            <a:endParaRPr lang="en-US"/>
          </a:p>
        </p:txBody>
      </p:sp>
      <p:sp>
        <p:nvSpPr>
          <p:cNvPr id="5" name="Footer Placeholder 4">
            <a:extLst>
              <a:ext uri="{FF2B5EF4-FFF2-40B4-BE49-F238E27FC236}">
                <a16:creationId xmlns:a16="http://schemas.microsoft.com/office/drawing/2014/main" id="{D005F494-8940-E903-6F89-7C462445F4B5}"/>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2536666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Other Canons Rooted in “Constitutional Values”</a:t>
            </a:r>
          </a:p>
        </p:txBody>
      </p:sp>
      <p:sp>
        <p:nvSpPr>
          <p:cNvPr id="3" name="Content Placeholder 2"/>
          <p:cNvSpPr>
            <a:spLocks noGrp="1"/>
          </p:cNvSpPr>
          <p:nvPr>
            <p:ph idx="1"/>
          </p:nvPr>
        </p:nvSpPr>
        <p:spPr/>
        <p:txBody>
          <a:bodyPr>
            <a:normAutofit/>
          </a:bodyPr>
          <a:lstStyle/>
          <a:p>
            <a:r>
              <a:rPr lang="en-US" sz="3600" b="1" dirty="0"/>
              <a:t>Presumption Against Preemption (federalism)</a:t>
            </a:r>
          </a:p>
          <a:p>
            <a:r>
              <a:rPr lang="en-US" sz="3600" b="1" dirty="0"/>
              <a:t>Anti-Retroactivity (due process)</a:t>
            </a:r>
          </a:p>
        </p:txBody>
      </p:sp>
      <p:sp>
        <p:nvSpPr>
          <p:cNvPr id="4" name="Slide Number Placeholder 3"/>
          <p:cNvSpPr>
            <a:spLocks noGrp="1"/>
          </p:cNvSpPr>
          <p:nvPr>
            <p:ph type="sldNum" sz="quarter" idx="12"/>
          </p:nvPr>
        </p:nvSpPr>
        <p:spPr/>
        <p:txBody>
          <a:bodyPr/>
          <a:lstStyle/>
          <a:p>
            <a:fld id="{B0FE7727-F9E3-4687-946D-CE13F2D351A0}" type="slidenum">
              <a:rPr lang="en-US" smtClean="0"/>
              <a:pPr/>
              <a:t>18</a:t>
            </a:fld>
            <a:endParaRPr lang="en-US"/>
          </a:p>
        </p:txBody>
      </p:sp>
      <p:sp>
        <p:nvSpPr>
          <p:cNvPr id="5" name="Footer Placeholder 4">
            <a:extLst>
              <a:ext uri="{FF2B5EF4-FFF2-40B4-BE49-F238E27FC236}">
                <a16:creationId xmlns:a16="http://schemas.microsoft.com/office/drawing/2014/main" id="{90B47955-2174-3533-F05A-6A1451D30839}"/>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2967540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Foreign Relations Canons</a:t>
            </a:r>
          </a:p>
        </p:txBody>
      </p:sp>
      <p:sp>
        <p:nvSpPr>
          <p:cNvPr id="3" name="Content Placeholder 2"/>
          <p:cNvSpPr>
            <a:spLocks noGrp="1"/>
          </p:cNvSpPr>
          <p:nvPr>
            <p:ph idx="1"/>
          </p:nvPr>
        </p:nvSpPr>
        <p:spPr/>
        <p:txBody>
          <a:bodyPr/>
          <a:lstStyle/>
          <a:p>
            <a:r>
              <a:rPr lang="en-US" dirty="0"/>
              <a:t>The </a:t>
            </a:r>
            <a:r>
              <a:rPr lang="en-US" i="1" dirty="0"/>
              <a:t>Charming Betsy </a:t>
            </a:r>
            <a:r>
              <a:rPr lang="en-US" dirty="0"/>
              <a:t>canon – Acts of Congress should not be interpreted to violate international law if possible</a:t>
            </a:r>
          </a:p>
          <a:p>
            <a:r>
              <a:rPr lang="en-US" dirty="0"/>
              <a:t>Extraterritorial application of U.S. law is disfavored</a:t>
            </a:r>
          </a:p>
        </p:txBody>
      </p:sp>
      <p:sp>
        <p:nvSpPr>
          <p:cNvPr id="4" name="Slide Number Placeholder 3"/>
          <p:cNvSpPr>
            <a:spLocks noGrp="1"/>
          </p:cNvSpPr>
          <p:nvPr>
            <p:ph type="sldNum" sz="quarter" idx="12"/>
          </p:nvPr>
        </p:nvSpPr>
        <p:spPr/>
        <p:txBody>
          <a:bodyPr/>
          <a:lstStyle/>
          <a:p>
            <a:fld id="{B0FE7727-F9E3-4687-946D-CE13F2D351A0}" type="slidenum">
              <a:rPr lang="en-US" smtClean="0"/>
              <a:pPr/>
              <a:t>19</a:t>
            </a:fld>
            <a:endParaRPr lang="en-US"/>
          </a:p>
        </p:txBody>
      </p:sp>
      <p:sp>
        <p:nvSpPr>
          <p:cNvPr id="5" name="Footer Placeholder 4">
            <a:extLst>
              <a:ext uri="{FF2B5EF4-FFF2-40B4-BE49-F238E27FC236}">
                <a16:creationId xmlns:a16="http://schemas.microsoft.com/office/drawing/2014/main" id="{6E726177-BB8F-4EE4-0D2B-25E51AC58715}"/>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14289657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81CEB-CDEC-CFF2-A9CE-B2318BBACCB4}"/>
              </a:ext>
            </a:extLst>
          </p:cNvPr>
          <p:cNvSpPr>
            <a:spLocks noGrp="1"/>
          </p:cNvSpPr>
          <p:nvPr>
            <p:ph type="title"/>
          </p:nvPr>
        </p:nvSpPr>
        <p:spPr/>
        <p:txBody>
          <a:bodyPr/>
          <a:lstStyle/>
          <a:p>
            <a:pPr algn="ctr"/>
            <a:r>
              <a:rPr lang="en-US" i="1" dirty="0"/>
              <a:t>Trump v. U.S.</a:t>
            </a:r>
          </a:p>
        </p:txBody>
      </p:sp>
      <p:pic>
        <p:nvPicPr>
          <p:cNvPr id="6" name="Content Placeholder 5">
            <a:extLst>
              <a:ext uri="{FF2B5EF4-FFF2-40B4-BE49-F238E27FC236}">
                <a16:creationId xmlns:a16="http://schemas.microsoft.com/office/drawing/2014/main" id="{76EBA83F-B0A4-0FA8-5547-B079D28F77F0}"/>
              </a:ext>
            </a:extLst>
          </p:cNvPr>
          <p:cNvPicPr>
            <a:picLocks noGrp="1" noChangeAspect="1"/>
          </p:cNvPicPr>
          <p:nvPr>
            <p:ph idx="1"/>
          </p:nvPr>
        </p:nvPicPr>
        <p:blipFill>
          <a:blip r:embed="rId2"/>
          <a:stretch>
            <a:fillRect/>
          </a:stretch>
        </p:blipFill>
        <p:spPr>
          <a:xfrm>
            <a:off x="3016056" y="1825625"/>
            <a:ext cx="6159887" cy="4351338"/>
          </a:xfrm>
          <a:prstGeom prst="rect">
            <a:avLst/>
          </a:prstGeom>
        </p:spPr>
      </p:pic>
      <p:sp>
        <p:nvSpPr>
          <p:cNvPr id="4" name="Footer Placeholder 3">
            <a:extLst>
              <a:ext uri="{FF2B5EF4-FFF2-40B4-BE49-F238E27FC236}">
                <a16:creationId xmlns:a16="http://schemas.microsoft.com/office/drawing/2014/main" id="{880CC9FB-C4F9-55E1-11B3-66C27AA617B3}"/>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31409596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AD647-9E12-05D8-5DB0-AEF3713F0280}"/>
              </a:ext>
            </a:extLst>
          </p:cNvPr>
          <p:cNvSpPr>
            <a:spLocks noGrp="1"/>
          </p:cNvSpPr>
          <p:nvPr>
            <p:ph type="title"/>
          </p:nvPr>
        </p:nvSpPr>
        <p:spPr/>
        <p:txBody>
          <a:bodyPr/>
          <a:lstStyle/>
          <a:p>
            <a:r>
              <a:rPr lang="en-US" i="1" dirty="0"/>
              <a:t>Trump v. U.S</a:t>
            </a:r>
            <a:r>
              <a:rPr lang="en-US" dirty="0"/>
              <a:t>. – How Did it Get to SCOTUS?</a:t>
            </a:r>
          </a:p>
        </p:txBody>
      </p:sp>
      <p:sp>
        <p:nvSpPr>
          <p:cNvPr id="3" name="Content Placeholder 2">
            <a:extLst>
              <a:ext uri="{FF2B5EF4-FFF2-40B4-BE49-F238E27FC236}">
                <a16:creationId xmlns:a16="http://schemas.microsoft.com/office/drawing/2014/main" id="{4A356EC1-B2B9-8CA8-5B8B-EF3BC28FDC29}"/>
              </a:ext>
            </a:extLst>
          </p:cNvPr>
          <p:cNvSpPr>
            <a:spLocks noGrp="1"/>
          </p:cNvSpPr>
          <p:nvPr>
            <p:ph idx="1"/>
          </p:nvPr>
        </p:nvSpPr>
        <p:spPr/>
        <p:txBody>
          <a:bodyPr/>
          <a:lstStyle/>
          <a:p>
            <a:r>
              <a:rPr lang="en-US" dirty="0"/>
              <a:t>POTUS called members of Illinois and Texas National Guard into service in response to sometimes violent protests against federal immigration enforcement in Chicago</a:t>
            </a:r>
          </a:p>
          <a:p>
            <a:r>
              <a:rPr lang="en-US" dirty="0"/>
              <a:t>District Court enjoined federalization and deployment; 7</a:t>
            </a:r>
            <a:r>
              <a:rPr lang="en-US" baseline="30000" dirty="0"/>
              <a:t>th</a:t>
            </a:r>
            <a:r>
              <a:rPr lang="en-US" dirty="0"/>
              <a:t> Circuit reversed on federalization, but upheld bar on deployment</a:t>
            </a:r>
          </a:p>
          <a:p>
            <a:r>
              <a:rPr lang="en-US" dirty="0"/>
              <a:t>U.S. sought stay of district court order from SCOTUS</a:t>
            </a:r>
          </a:p>
          <a:p>
            <a:r>
              <a:rPr lang="en-US" dirty="0"/>
              <a:t>Emergency applications filed with the Circuit Justice</a:t>
            </a:r>
          </a:p>
          <a:p>
            <a:r>
              <a:rPr lang="en-US" dirty="0"/>
              <a:t>Barrett refers for full-Court consideration</a:t>
            </a:r>
          </a:p>
          <a:p>
            <a:r>
              <a:rPr lang="en-US" dirty="0"/>
              <a:t>Court votes 6-3 to deny the stay</a:t>
            </a:r>
          </a:p>
        </p:txBody>
      </p:sp>
      <p:sp>
        <p:nvSpPr>
          <p:cNvPr id="4" name="Footer Placeholder 3">
            <a:extLst>
              <a:ext uri="{FF2B5EF4-FFF2-40B4-BE49-F238E27FC236}">
                <a16:creationId xmlns:a16="http://schemas.microsoft.com/office/drawing/2014/main" id="{E186E871-345E-194E-D468-971C365172EA}"/>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2237531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B28F8-E813-5CB7-2D93-5CC744B35876}"/>
              </a:ext>
            </a:extLst>
          </p:cNvPr>
          <p:cNvSpPr>
            <a:spLocks noGrp="1"/>
          </p:cNvSpPr>
          <p:nvPr>
            <p:ph type="title"/>
          </p:nvPr>
        </p:nvSpPr>
        <p:spPr/>
        <p:txBody>
          <a:bodyPr/>
          <a:lstStyle/>
          <a:p>
            <a:r>
              <a:rPr lang="en-US" dirty="0"/>
              <a:t>10 U.S.C. § 12406 – Calling National Guard into Federal Service</a:t>
            </a:r>
          </a:p>
        </p:txBody>
      </p:sp>
      <p:sp>
        <p:nvSpPr>
          <p:cNvPr id="3" name="Content Placeholder 2">
            <a:extLst>
              <a:ext uri="{FF2B5EF4-FFF2-40B4-BE49-F238E27FC236}">
                <a16:creationId xmlns:a16="http://schemas.microsoft.com/office/drawing/2014/main" id="{7E049ECB-1D98-2ACF-E8B9-3CB0F0B7ECD0}"/>
              </a:ext>
            </a:extLst>
          </p:cNvPr>
          <p:cNvSpPr>
            <a:spLocks noGrp="1"/>
          </p:cNvSpPr>
          <p:nvPr>
            <p:ph idx="1"/>
          </p:nvPr>
        </p:nvSpPr>
        <p:spPr/>
        <p:txBody>
          <a:bodyPr>
            <a:normAutofit fontScale="85000" lnSpcReduction="20000"/>
          </a:bodyPr>
          <a:lstStyle/>
          <a:p>
            <a:pPr marL="0" indent="0">
              <a:buNone/>
            </a:pPr>
            <a:r>
              <a:rPr lang="en-US" dirty="0"/>
              <a:t>Whenever—</a:t>
            </a:r>
          </a:p>
          <a:p>
            <a:r>
              <a:rPr lang="en-US" dirty="0"/>
              <a:t>(1)the United States, or any of the Commonwealths or possessions, is invaded or is in danger of invasion by a foreign nation;</a:t>
            </a:r>
          </a:p>
          <a:p>
            <a:r>
              <a:rPr lang="en-US" dirty="0"/>
              <a:t>(2)there is a rebellion or danger of a rebellion against the authority of the Government of the United States; or</a:t>
            </a:r>
          </a:p>
          <a:p>
            <a:r>
              <a:rPr lang="en-US" u="sng" dirty="0">
                <a:solidFill>
                  <a:srgbClr val="FF0000"/>
                </a:solidFill>
              </a:rPr>
              <a:t>(3)the President is unable with the regular forces to execute the laws of the United States</a:t>
            </a:r>
            <a:r>
              <a:rPr lang="en-US" dirty="0"/>
              <a:t>;</a:t>
            </a:r>
          </a:p>
          <a:p>
            <a:pPr marL="0" indent="0">
              <a:buNone/>
            </a:pPr>
            <a:r>
              <a:rPr lang="en-US" dirty="0"/>
              <a:t>the President may call into Federal service members and units of the National Guard of any State in such numbers as he considers necessary to repel the invasion, suppress the rebellion, or execute those laws. Orders for these purposes shall be issued through the governors of the States or, in the case of the District of Columbia, through the commanding general of the National Guard of the District of Columbia.</a:t>
            </a:r>
          </a:p>
        </p:txBody>
      </p:sp>
      <p:sp>
        <p:nvSpPr>
          <p:cNvPr id="4" name="Footer Placeholder 3">
            <a:extLst>
              <a:ext uri="{FF2B5EF4-FFF2-40B4-BE49-F238E27FC236}">
                <a16:creationId xmlns:a16="http://schemas.microsoft.com/office/drawing/2014/main" id="{2E051936-3B5C-14A9-778E-D1333150C41D}"/>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41384370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B2D8A-3BE6-23F3-CF4D-0FCF5DEA7A3E}"/>
              </a:ext>
            </a:extLst>
          </p:cNvPr>
          <p:cNvSpPr>
            <a:spLocks noGrp="1"/>
          </p:cNvSpPr>
          <p:nvPr>
            <p:ph type="title"/>
          </p:nvPr>
        </p:nvSpPr>
        <p:spPr/>
        <p:txBody>
          <a:bodyPr/>
          <a:lstStyle/>
          <a:p>
            <a:r>
              <a:rPr lang="en-US" dirty="0"/>
              <a:t>Law and Fact as Bases for Action</a:t>
            </a:r>
          </a:p>
        </p:txBody>
      </p:sp>
      <p:sp>
        <p:nvSpPr>
          <p:cNvPr id="3" name="Content Placeholder 2">
            <a:extLst>
              <a:ext uri="{FF2B5EF4-FFF2-40B4-BE49-F238E27FC236}">
                <a16:creationId xmlns:a16="http://schemas.microsoft.com/office/drawing/2014/main" id="{17E9D4AB-F5CB-D07B-094F-C66FD2B069DB}"/>
              </a:ext>
            </a:extLst>
          </p:cNvPr>
          <p:cNvSpPr>
            <a:spLocks noGrp="1"/>
          </p:cNvSpPr>
          <p:nvPr>
            <p:ph idx="1"/>
          </p:nvPr>
        </p:nvSpPr>
        <p:spPr/>
        <p:txBody>
          <a:bodyPr/>
          <a:lstStyle/>
          <a:p>
            <a:r>
              <a:rPr lang="en-US" dirty="0"/>
              <a:t>Key Title 10 language: </a:t>
            </a:r>
          </a:p>
          <a:p>
            <a:pPr lvl="1"/>
            <a:r>
              <a:rPr lang="en-US" sz="2800" dirty="0"/>
              <a:t>“the President is unable with the regular forces to execute the laws of the United States”</a:t>
            </a:r>
          </a:p>
          <a:p>
            <a:r>
              <a:rPr lang="en-US" sz="3200" dirty="0"/>
              <a:t>When the exercise of statutory authority depends on factual circumstances, proper implementation requires:</a:t>
            </a:r>
          </a:p>
          <a:p>
            <a:pPr lvl="1"/>
            <a:r>
              <a:rPr lang="en-US" sz="2800" dirty="0"/>
              <a:t>Someone to “find” that the triggering facts actually exist – question of fact</a:t>
            </a:r>
          </a:p>
          <a:p>
            <a:pPr lvl="1"/>
            <a:r>
              <a:rPr lang="en-US" sz="2800" dirty="0"/>
              <a:t>An assessment of whether the administrative reaction to those facts fell within the terms of the statute – question of law</a:t>
            </a:r>
          </a:p>
          <a:p>
            <a:pPr lvl="1"/>
            <a:endParaRPr lang="en-US" sz="2800" dirty="0"/>
          </a:p>
          <a:p>
            <a:pPr lvl="1"/>
            <a:endParaRPr lang="en-US" dirty="0"/>
          </a:p>
        </p:txBody>
      </p:sp>
      <p:sp>
        <p:nvSpPr>
          <p:cNvPr id="4" name="Footer Placeholder 3">
            <a:extLst>
              <a:ext uri="{FF2B5EF4-FFF2-40B4-BE49-F238E27FC236}">
                <a16:creationId xmlns:a16="http://schemas.microsoft.com/office/drawing/2014/main" id="{A8BD51BE-66AC-01BE-D24E-1D0DD4A4385C}"/>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2987478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5A981-3D53-A047-80FB-A906949CAD31}"/>
              </a:ext>
            </a:extLst>
          </p:cNvPr>
          <p:cNvSpPr>
            <a:spLocks noGrp="1"/>
          </p:cNvSpPr>
          <p:nvPr>
            <p:ph type="title"/>
          </p:nvPr>
        </p:nvSpPr>
        <p:spPr/>
        <p:txBody>
          <a:bodyPr/>
          <a:lstStyle/>
          <a:p>
            <a:r>
              <a:rPr lang="en-US" dirty="0"/>
              <a:t>Hypo</a:t>
            </a:r>
          </a:p>
        </p:txBody>
      </p:sp>
      <p:sp>
        <p:nvSpPr>
          <p:cNvPr id="3" name="Content Placeholder 2">
            <a:extLst>
              <a:ext uri="{FF2B5EF4-FFF2-40B4-BE49-F238E27FC236}">
                <a16:creationId xmlns:a16="http://schemas.microsoft.com/office/drawing/2014/main" id="{4FB96D6D-82CC-D627-06D9-DF091C820AE4}"/>
              </a:ext>
            </a:extLst>
          </p:cNvPr>
          <p:cNvSpPr>
            <a:spLocks noGrp="1"/>
          </p:cNvSpPr>
          <p:nvPr>
            <p:ph idx="1"/>
          </p:nvPr>
        </p:nvSpPr>
        <p:spPr/>
        <p:txBody>
          <a:bodyPr>
            <a:normAutofit/>
          </a:bodyPr>
          <a:lstStyle/>
          <a:p>
            <a:r>
              <a:rPr lang="en-US" sz="3200" dirty="0"/>
              <a:t>You to a friend: “I am going to let you choose a well-written, well-acted light comedy for us to watch tonight.”</a:t>
            </a:r>
          </a:p>
          <a:p>
            <a:r>
              <a:rPr lang="en-US" sz="3200" dirty="0"/>
              <a:t>Your friend chooses “Friday the 13</a:t>
            </a:r>
            <a:r>
              <a:rPr lang="en-US" sz="3200" baseline="30000" dirty="0"/>
              <a:t>th</a:t>
            </a:r>
            <a:r>
              <a:rPr lang="en-US" sz="3200" dirty="0"/>
              <a:t>” (1970) with a critics Rotten Tomatoes Score of 70%</a:t>
            </a:r>
          </a:p>
          <a:p>
            <a:r>
              <a:rPr lang="en-US" sz="3200" dirty="0"/>
              <a:t>Your friend chooses “Superbabies: Baby Geniuses 2,” with a critics Rotten Tomatoes Score of 0%</a:t>
            </a:r>
          </a:p>
          <a:p>
            <a:r>
              <a:rPr lang="en-US" sz="3200" b="1" dirty="0">
                <a:solidFill>
                  <a:srgbClr val="FF0000"/>
                </a:solidFill>
              </a:rPr>
              <a:t>In </a:t>
            </a:r>
            <a:r>
              <a:rPr lang="en-US" sz="3200" b="1" i="1" dirty="0">
                <a:solidFill>
                  <a:srgbClr val="FF0000"/>
                </a:solidFill>
              </a:rPr>
              <a:t>Trump v. Illinois</a:t>
            </a:r>
            <a:r>
              <a:rPr lang="en-US" sz="3200" b="1" dirty="0">
                <a:solidFill>
                  <a:srgbClr val="FF0000"/>
                </a:solidFill>
              </a:rPr>
              <a:t>, did the Court hold that POTUS misjudged the facts or misread the law?</a:t>
            </a:r>
          </a:p>
        </p:txBody>
      </p:sp>
      <p:sp>
        <p:nvSpPr>
          <p:cNvPr id="4" name="Footer Placeholder 3">
            <a:extLst>
              <a:ext uri="{FF2B5EF4-FFF2-40B4-BE49-F238E27FC236}">
                <a16:creationId xmlns:a16="http://schemas.microsoft.com/office/drawing/2014/main" id="{26FD415F-A608-7A3E-6F7E-57A552988FA6}"/>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8204104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C06ED-1F65-69B2-6CBF-6F9F9115FE9C}"/>
              </a:ext>
            </a:extLst>
          </p:cNvPr>
          <p:cNvSpPr>
            <a:spLocks noGrp="1"/>
          </p:cNvSpPr>
          <p:nvPr>
            <p:ph type="title"/>
          </p:nvPr>
        </p:nvSpPr>
        <p:spPr/>
        <p:txBody>
          <a:bodyPr/>
          <a:lstStyle/>
          <a:p>
            <a:r>
              <a:rPr lang="en-US" dirty="0"/>
              <a:t>Majority Persuaded by Amicus Brief on Meaning of “Regular Forces”</a:t>
            </a:r>
          </a:p>
        </p:txBody>
      </p:sp>
      <p:sp>
        <p:nvSpPr>
          <p:cNvPr id="3" name="Content Placeholder 2">
            <a:extLst>
              <a:ext uri="{FF2B5EF4-FFF2-40B4-BE49-F238E27FC236}">
                <a16:creationId xmlns:a16="http://schemas.microsoft.com/office/drawing/2014/main" id="{3FD8C1A7-51FC-7FB1-5E0E-657D75165570}"/>
              </a:ext>
            </a:extLst>
          </p:cNvPr>
          <p:cNvSpPr>
            <a:spLocks noGrp="1"/>
          </p:cNvSpPr>
          <p:nvPr>
            <p:ph idx="1"/>
          </p:nvPr>
        </p:nvSpPr>
        <p:spPr/>
        <p:txBody>
          <a:bodyPr>
            <a:normAutofit fontScale="85000" lnSpcReduction="20000"/>
          </a:bodyPr>
          <a:lstStyle/>
          <a:p>
            <a:r>
              <a:rPr lang="en-US" dirty="0"/>
              <a:t>Legislative history of Militia Act of 1903 intended “to regulate and provide for … various relations of the National Guard and its members to the general system; to conform the organization armament, and discipline of the guard to that of the Regular and Volunteer armies of the United States; to establish closer relations and better cooperation between the National Guard and the Regular Army; [and] to promote the efficiency and dignity of the guard as a part of the military system of the United States.” S. Rep. 57-2129 at 2 (1902)</a:t>
            </a:r>
          </a:p>
          <a:p>
            <a:r>
              <a:rPr lang="en-US" dirty="0"/>
              <a:t>Current language adopted in 1908</a:t>
            </a:r>
          </a:p>
          <a:p>
            <a:r>
              <a:rPr lang="en-US" dirty="0"/>
              <a:t>National Guard repeatedly referred to in comparison to standing, professional military forces, commonly known as “Regulars.” The effect of the law was to prescribe the National Guard as the “second line of defense,” S. Rep. 61-216, at 1, i.e., as a supplement to the regular army.</a:t>
            </a:r>
          </a:p>
          <a:p>
            <a:r>
              <a:rPr lang="en-US" dirty="0"/>
              <a:t>Commonplace usage in federal law and, more broadly, in writings within all three branches concerning the militia and the army</a:t>
            </a:r>
          </a:p>
          <a:p>
            <a:endParaRPr lang="en-US" dirty="0"/>
          </a:p>
        </p:txBody>
      </p:sp>
      <p:sp>
        <p:nvSpPr>
          <p:cNvPr id="4" name="Footer Placeholder 3">
            <a:extLst>
              <a:ext uri="{FF2B5EF4-FFF2-40B4-BE49-F238E27FC236}">
                <a16:creationId xmlns:a16="http://schemas.microsoft.com/office/drawing/2014/main" id="{AD77435F-2952-D4BA-AFD0-4282B3122B6D}"/>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1723245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A09D9-05C2-AACC-C8DD-59F92AF4D174}"/>
              </a:ext>
            </a:extLst>
          </p:cNvPr>
          <p:cNvSpPr>
            <a:spLocks noGrp="1"/>
          </p:cNvSpPr>
          <p:nvPr>
            <p:ph type="title"/>
          </p:nvPr>
        </p:nvSpPr>
        <p:spPr/>
        <p:txBody>
          <a:bodyPr/>
          <a:lstStyle/>
          <a:p>
            <a:r>
              <a:rPr lang="en-US" dirty="0"/>
              <a:t>18 U.S.C. § 1385 – Posse Comitatus Act</a:t>
            </a:r>
          </a:p>
        </p:txBody>
      </p:sp>
      <p:sp>
        <p:nvSpPr>
          <p:cNvPr id="3" name="Content Placeholder 2">
            <a:extLst>
              <a:ext uri="{FF2B5EF4-FFF2-40B4-BE49-F238E27FC236}">
                <a16:creationId xmlns:a16="http://schemas.microsoft.com/office/drawing/2014/main" id="{CF0F7870-C139-A4C2-FB78-F032BEBAA6E0}"/>
              </a:ext>
            </a:extLst>
          </p:cNvPr>
          <p:cNvSpPr>
            <a:spLocks noGrp="1"/>
          </p:cNvSpPr>
          <p:nvPr>
            <p:ph idx="1"/>
          </p:nvPr>
        </p:nvSpPr>
        <p:spPr/>
        <p:txBody>
          <a:bodyPr>
            <a:normAutofit lnSpcReduction="10000"/>
          </a:bodyPr>
          <a:lstStyle/>
          <a:p>
            <a:r>
              <a:rPr lang="en-US" b="1" dirty="0"/>
              <a:t>Whoever, except in cases and under circumstances expressly authorized by the Constitution or Act of Congress, willfully uses any part of the Army, the Navy, the Marine Corps, the Air Force, or the Space Force as a posse comitatus or otherwise </a:t>
            </a:r>
            <a:r>
              <a:rPr lang="en-US" b="1" u="heavy" dirty="0"/>
              <a:t>to execute the laws</a:t>
            </a:r>
            <a:r>
              <a:rPr lang="en-US" b="1" dirty="0"/>
              <a:t> shall be fined under this title or imprisoned not more than two years, or both.</a:t>
            </a:r>
            <a:endParaRPr lang="en-US" dirty="0"/>
          </a:p>
          <a:p>
            <a:r>
              <a:rPr lang="en-US" dirty="0"/>
              <a:t>So, POTUS could not use regular military to “execute the law” in Chicago with an authorizing statute and there is none</a:t>
            </a:r>
          </a:p>
          <a:p>
            <a:r>
              <a:rPr lang="en-US" dirty="0"/>
              <a:t>Why doesn’t this satisfy the condition that “the President is unable with the regular forces to execute the laws of the United States” in Chicago?</a:t>
            </a:r>
          </a:p>
          <a:p>
            <a:endParaRPr lang="en-US" dirty="0"/>
          </a:p>
        </p:txBody>
      </p:sp>
      <p:sp>
        <p:nvSpPr>
          <p:cNvPr id="4" name="Footer Placeholder 3">
            <a:extLst>
              <a:ext uri="{FF2B5EF4-FFF2-40B4-BE49-F238E27FC236}">
                <a16:creationId xmlns:a16="http://schemas.microsoft.com/office/drawing/2014/main" id="{30333D00-6BC7-B0AC-5E0B-9F6CD6549C5C}"/>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32961338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6F134-9CCD-6E96-B149-CF464906E4CD}"/>
              </a:ext>
            </a:extLst>
          </p:cNvPr>
          <p:cNvSpPr>
            <a:spLocks noGrp="1"/>
          </p:cNvSpPr>
          <p:nvPr>
            <p:ph type="title"/>
          </p:nvPr>
        </p:nvSpPr>
        <p:spPr/>
        <p:txBody>
          <a:bodyPr/>
          <a:lstStyle/>
          <a:p>
            <a:r>
              <a:rPr lang="en-US" dirty="0"/>
              <a:t>Critical Majority Construction</a:t>
            </a:r>
          </a:p>
        </p:txBody>
      </p:sp>
      <p:sp>
        <p:nvSpPr>
          <p:cNvPr id="3" name="Content Placeholder 2">
            <a:extLst>
              <a:ext uri="{FF2B5EF4-FFF2-40B4-BE49-F238E27FC236}">
                <a16:creationId xmlns:a16="http://schemas.microsoft.com/office/drawing/2014/main" id="{78A1879C-8CD2-633B-CD14-2E4EC637B239}"/>
              </a:ext>
            </a:extLst>
          </p:cNvPr>
          <p:cNvSpPr>
            <a:spLocks noGrp="1"/>
          </p:cNvSpPr>
          <p:nvPr>
            <p:ph idx="1"/>
          </p:nvPr>
        </p:nvSpPr>
        <p:spPr/>
        <p:txBody>
          <a:bodyPr/>
          <a:lstStyle/>
          <a:p>
            <a:r>
              <a:rPr lang="en-US" dirty="0"/>
              <a:t>“Because the statute requires an assessment of the military's ability to execute the laws, it likely applies only where the military could legally execute the laws. Such circumstances are exceptional: Under the Posse Comitatus Act, the military is prohibited from ‘</a:t>
            </a:r>
            <a:r>
              <a:rPr lang="en-US" dirty="0" err="1"/>
              <a:t>execut</a:t>
            </a:r>
            <a:r>
              <a:rPr lang="en-US" dirty="0"/>
              <a:t>[</a:t>
            </a:r>
            <a:r>
              <a:rPr lang="en-US" dirty="0" err="1"/>
              <a:t>ing</a:t>
            </a:r>
            <a:r>
              <a:rPr lang="en-US" dirty="0"/>
              <a:t>] the laws’ ‘except in cases and under circumstances expressly authorized by the Constitution or Act of Congress.’ 18 U.S.C. § 1385. So before the President can federalize the Guard under § 12406(3), he likely must have statutory or constitutional authority to execute the laws with the regular military and must be ‘unable’ with those forces to perform that function.”</a:t>
            </a:r>
          </a:p>
        </p:txBody>
      </p:sp>
      <p:sp>
        <p:nvSpPr>
          <p:cNvPr id="4" name="Footer Placeholder 3">
            <a:extLst>
              <a:ext uri="{FF2B5EF4-FFF2-40B4-BE49-F238E27FC236}">
                <a16:creationId xmlns:a16="http://schemas.microsoft.com/office/drawing/2014/main" id="{D58B2956-8614-7EC3-F0EC-A0AC24E7AF11}"/>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144163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E174D-736B-CFCA-B222-A2B39EABF9D3}"/>
              </a:ext>
            </a:extLst>
          </p:cNvPr>
          <p:cNvSpPr>
            <a:spLocks noGrp="1"/>
          </p:cNvSpPr>
          <p:nvPr>
            <p:ph type="title"/>
          </p:nvPr>
        </p:nvSpPr>
        <p:spPr/>
        <p:txBody>
          <a:bodyPr/>
          <a:lstStyle/>
          <a:p>
            <a:r>
              <a:rPr lang="en-US" dirty="0"/>
              <a:t>Two Ways of Looking at the Activity of Federal Authorities in Response to Protests</a:t>
            </a:r>
          </a:p>
        </p:txBody>
      </p:sp>
      <p:sp>
        <p:nvSpPr>
          <p:cNvPr id="3" name="Content Placeholder 2">
            <a:extLst>
              <a:ext uri="{FF2B5EF4-FFF2-40B4-BE49-F238E27FC236}">
                <a16:creationId xmlns:a16="http://schemas.microsoft.com/office/drawing/2014/main" id="{C4316D09-66CA-9BB3-81D0-FBE3DF35DFD5}"/>
              </a:ext>
            </a:extLst>
          </p:cNvPr>
          <p:cNvSpPr>
            <a:spLocks noGrp="1"/>
          </p:cNvSpPr>
          <p:nvPr>
            <p:ph idx="1"/>
          </p:nvPr>
        </p:nvSpPr>
        <p:spPr/>
        <p:txBody>
          <a:bodyPr>
            <a:normAutofit fontScale="92500" lnSpcReduction="10000"/>
          </a:bodyPr>
          <a:lstStyle/>
          <a:p>
            <a:pPr marL="514350" indent="-514350">
              <a:buFont typeface="+mj-lt"/>
              <a:buAutoNum type="arabicPeriod"/>
            </a:pPr>
            <a:r>
              <a:rPr lang="en-US" dirty="0"/>
              <a:t>“Executing the laws” = deterring or responding to breaches of federal statutes protecting federal personnel and property</a:t>
            </a:r>
          </a:p>
          <a:p>
            <a:pPr marL="514350" indent="-514350">
              <a:buFont typeface="+mj-lt"/>
              <a:buAutoNum type="arabicPeriod"/>
            </a:pPr>
            <a:r>
              <a:rPr lang="en-US" dirty="0"/>
              <a:t>“Protective Power” = implementing an implicit presidential authority under Article II to protect federal personnel and property</a:t>
            </a:r>
          </a:p>
          <a:p>
            <a:r>
              <a:rPr lang="en-US" dirty="0"/>
              <a:t>Historically, executive branch has insisted that Posse Comitatus Act does not limit authority to do #2</a:t>
            </a:r>
          </a:p>
          <a:p>
            <a:pPr lvl="1"/>
            <a:r>
              <a:rPr lang="en-US" dirty="0"/>
              <a:t>Exercise of “Protective Power” does not constitute “executing the law” under Posse Comitatus Act</a:t>
            </a:r>
          </a:p>
          <a:p>
            <a:pPr lvl="1"/>
            <a:r>
              <a:rPr lang="en-US" dirty="0"/>
              <a:t>“This Court does not lightly assume that Congress silently attaches different meanings to the same term in the same or related statutes”</a:t>
            </a:r>
          </a:p>
          <a:p>
            <a:r>
              <a:rPr lang="en-US" dirty="0"/>
              <a:t>Conclusion: Inability of “regular forces” to implement POTUS’s protective power ≠ inability to “execute the law” under Title 10</a:t>
            </a:r>
          </a:p>
          <a:p>
            <a:endParaRPr lang="en-US" dirty="0"/>
          </a:p>
        </p:txBody>
      </p:sp>
      <p:sp>
        <p:nvSpPr>
          <p:cNvPr id="4" name="Footer Placeholder 3">
            <a:extLst>
              <a:ext uri="{FF2B5EF4-FFF2-40B4-BE49-F238E27FC236}">
                <a16:creationId xmlns:a16="http://schemas.microsoft.com/office/drawing/2014/main" id="{86EA4370-6858-FE6A-032D-E259006A10BE}"/>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3566074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 calcmode="lin" valueType="num">
                                      <p:cBhvr additive="base">
                                        <p:cTn id="1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9BA55-8A48-9BBE-705B-4ADF7CD36E7F}"/>
              </a:ext>
            </a:extLst>
          </p:cNvPr>
          <p:cNvSpPr>
            <a:spLocks noGrp="1"/>
          </p:cNvSpPr>
          <p:nvPr>
            <p:ph type="title"/>
          </p:nvPr>
        </p:nvSpPr>
        <p:spPr/>
        <p:txBody>
          <a:bodyPr/>
          <a:lstStyle/>
          <a:p>
            <a:r>
              <a:rPr lang="en-US" dirty="0"/>
              <a:t>Alito (with Thomas) dissent</a:t>
            </a:r>
          </a:p>
        </p:txBody>
      </p:sp>
      <p:sp>
        <p:nvSpPr>
          <p:cNvPr id="3" name="Content Placeholder 2">
            <a:extLst>
              <a:ext uri="{FF2B5EF4-FFF2-40B4-BE49-F238E27FC236}">
                <a16:creationId xmlns:a16="http://schemas.microsoft.com/office/drawing/2014/main" id="{0369A869-EBAF-A99A-E1AA-5F202A96DC05}"/>
              </a:ext>
            </a:extLst>
          </p:cNvPr>
          <p:cNvSpPr>
            <a:spLocks noGrp="1"/>
          </p:cNvSpPr>
          <p:nvPr>
            <p:ph idx="1"/>
          </p:nvPr>
        </p:nvSpPr>
        <p:spPr/>
        <p:txBody>
          <a:bodyPr/>
          <a:lstStyle/>
          <a:p>
            <a:r>
              <a:rPr lang="en-US" dirty="0"/>
              <a:t>Objects to relying on an argument not pressed below</a:t>
            </a:r>
          </a:p>
          <a:p>
            <a:r>
              <a:rPr lang="en-US" dirty="0"/>
              <a:t>Argues that being unable to execute the President’s protective power qualifies as being unable to “execute the laws of the United States” under the National Guard Act even if executing the protective power does not constitute “executing the laws of the United States” under Posse Comitatus</a:t>
            </a:r>
          </a:p>
          <a:p>
            <a:pPr lvl="1"/>
            <a:endParaRPr lang="en-US" dirty="0"/>
          </a:p>
        </p:txBody>
      </p:sp>
      <p:sp>
        <p:nvSpPr>
          <p:cNvPr id="4" name="Footer Placeholder 3">
            <a:extLst>
              <a:ext uri="{FF2B5EF4-FFF2-40B4-BE49-F238E27FC236}">
                <a16:creationId xmlns:a16="http://schemas.microsoft.com/office/drawing/2014/main" id="{2571478E-EEBD-D7E6-4C0D-196F42E712D4}"/>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1467913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B1289-25CD-0252-671E-F45C5A09D4A4}"/>
              </a:ext>
            </a:extLst>
          </p:cNvPr>
          <p:cNvSpPr>
            <a:spLocks noGrp="1"/>
          </p:cNvSpPr>
          <p:nvPr>
            <p:ph type="title"/>
          </p:nvPr>
        </p:nvSpPr>
        <p:spPr/>
        <p:txBody>
          <a:bodyPr>
            <a:noAutofit/>
          </a:bodyPr>
          <a:lstStyle/>
          <a:p>
            <a:r>
              <a:rPr lang="en-US" sz="3200" dirty="0"/>
              <a:t>What about the canon that the same words used in closely related statutory provisions have the same meaning?</a:t>
            </a:r>
          </a:p>
        </p:txBody>
      </p:sp>
      <p:sp>
        <p:nvSpPr>
          <p:cNvPr id="3" name="Content Placeholder 2">
            <a:extLst>
              <a:ext uri="{FF2B5EF4-FFF2-40B4-BE49-F238E27FC236}">
                <a16:creationId xmlns:a16="http://schemas.microsoft.com/office/drawing/2014/main" id="{CB900585-5D37-ECA6-E8AF-D2D02655C6C0}"/>
              </a:ext>
            </a:extLst>
          </p:cNvPr>
          <p:cNvSpPr>
            <a:spLocks noGrp="1"/>
          </p:cNvSpPr>
          <p:nvPr>
            <p:ph idx="1"/>
          </p:nvPr>
        </p:nvSpPr>
        <p:spPr/>
        <p:txBody>
          <a:bodyPr>
            <a:normAutofit lnSpcReduction="10000"/>
          </a:bodyPr>
          <a:lstStyle/>
          <a:p>
            <a:r>
              <a:rPr lang="en-US" dirty="0"/>
              <a:t>Alito:</a:t>
            </a:r>
          </a:p>
          <a:p>
            <a:pPr lvl="1"/>
            <a:r>
              <a:rPr lang="en-US" dirty="0"/>
              <a:t>The presumption is not conclusive</a:t>
            </a:r>
          </a:p>
          <a:p>
            <a:pPr lvl="1"/>
            <a:r>
              <a:rPr lang="en-US" dirty="0"/>
              <a:t>OLC read posse comitatus narrowly using the constitutional avoidance canon, which doesn’t apply to the National Guard Act</a:t>
            </a:r>
          </a:p>
          <a:p>
            <a:pPr lvl="1"/>
            <a:r>
              <a:rPr lang="en-US" dirty="0"/>
              <a:t>Use of same words in the Insurrection Act doesn’t preclude use of militia and armed forces to serve protective functions</a:t>
            </a:r>
          </a:p>
          <a:p>
            <a:r>
              <a:rPr lang="en-US" dirty="0"/>
              <a:t>Kavanaugh:</a:t>
            </a:r>
          </a:p>
          <a:p>
            <a:pPr lvl="1"/>
            <a:r>
              <a:rPr lang="en-US" dirty="0"/>
              <a:t>Majority reading would force POTUS to use the military, no matter how impracticable, to serve protective functions even under dire circumstances</a:t>
            </a:r>
          </a:p>
          <a:p>
            <a:r>
              <a:rPr lang="en-US" dirty="0"/>
              <a:t>What do you think motivates each side of the disagreement?</a:t>
            </a:r>
          </a:p>
        </p:txBody>
      </p:sp>
      <p:sp>
        <p:nvSpPr>
          <p:cNvPr id="4" name="Footer Placeholder 3">
            <a:extLst>
              <a:ext uri="{FF2B5EF4-FFF2-40B4-BE49-F238E27FC236}">
                <a16:creationId xmlns:a16="http://schemas.microsoft.com/office/drawing/2014/main" id="{A5CFE212-3727-3BA6-8A18-CC5D65CB8D02}"/>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41625685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B2070-24FF-3775-526B-BAECC15480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590EC1-2444-76F2-0367-CE1465AFDDDE}"/>
              </a:ext>
            </a:extLst>
          </p:cNvPr>
          <p:cNvSpPr>
            <a:spLocks noGrp="1"/>
          </p:cNvSpPr>
          <p:nvPr>
            <p:ph type="title"/>
          </p:nvPr>
        </p:nvSpPr>
        <p:spPr/>
        <p:txBody>
          <a:bodyPr/>
          <a:lstStyle/>
          <a:p>
            <a:r>
              <a:rPr lang="en-US" dirty="0"/>
              <a:t>10 U.S.C. § 251 – Insurrections against state authority</a:t>
            </a:r>
          </a:p>
        </p:txBody>
      </p:sp>
      <p:sp>
        <p:nvSpPr>
          <p:cNvPr id="3" name="Content Placeholder 2">
            <a:extLst>
              <a:ext uri="{FF2B5EF4-FFF2-40B4-BE49-F238E27FC236}">
                <a16:creationId xmlns:a16="http://schemas.microsoft.com/office/drawing/2014/main" id="{DA5821EE-B1EF-8149-42A7-D6DE564856D6}"/>
              </a:ext>
            </a:extLst>
          </p:cNvPr>
          <p:cNvSpPr>
            <a:spLocks noGrp="1"/>
          </p:cNvSpPr>
          <p:nvPr>
            <p:ph idx="1"/>
          </p:nvPr>
        </p:nvSpPr>
        <p:spPr/>
        <p:txBody>
          <a:bodyPr/>
          <a:lstStyle/>
          <a:p>
            <a:r>
              <a:rPr lang="en-US" dirty="0"/>
              <a:t>Whenever there is an insurrection in any State against its government, the President may, upon the request of its legislature or of its governor if the legislature cannot be convened, call into Federal service such of the militia of the other States, in the number requested by that State, and use such of the armed forces, as he considers necessary to suppress the insurrection.</a:t>
            </a:r>
          </a:p>
        </p:txBody>
      </p:sp>
      <p:sp>
        <p:nvSpPr>
          <p:cNvPr id="4" name="Footer Placeholder 3">
            <a:extLst>
              <a:ext uri="{FF2B5EF4-FFF2-40B4-BE49-F238E27FC236}">
                <a16:creationId xmlns:a16="http://schemas.microsoft.com/office/drawing/2014/main" id="{75845F85-56E4-3378-9DF0-23CFF6B36E3F}"/>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9026504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51326-7089-1BCC-4B44-35971F1AF2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1C5091-477E-06DD-2D9F-FD33ED254E36}"/>
              </a:ext>
            </a:extLst>
          </p:cNvPr>
          <p:cNvSpPr>
            <a:spLocks noGrp="1"/>
          </p:cNvSpPr>
          <p:nvPr>
            <p:ph type="title"/>
          </p:nvPr>
        </p:nvSpPr>
        <p:spPr/>
        <p:txBody>
          <a:bodyPr/>
          <a:lstStyle/>
          <a:p>
            <a:r>
              <a:rPr lang="en-US" dirty="0"/>
              <a:t>10 U.S.C. § 253 – Insurrections that threaten to violate equal protection</a:t>
            </a:r>
          </a:p>
        </p:txBody>
      </p:sp>
      <p:sp>
        <p:nvSpPr>
          <p:cNvPr id="3" name="Content Placeholder 2">
            <a:extLst>
              <a:ext uri="{FF2B5EF4-FFF2-40B4-BE49-F238E27FC236}">
                <a16:creationId xmlns:a16="http://schemas.microsoft.com/office/drawing/2014/main" id="{7EDEC1F9-7B30-9A6F-F2E2-3A5A4A4CBCF5}"/>
              </a:ext>
            </a:extLst>
          </p:cNvPr>
          <p:cNvSpPr>
            <a:spLocks noGrp="1"/>
          </p:cNvSpPr>
          <p:nvPr>
            <p:ph idx="1"/>
          </p:nvPr>
        </p:nvSpPr>
        <p:spPr/>
        <p:txBody>
          <a:bodyPr>
            <a:normAutofit fontScale="85000" lnSpcReduction="10000"/>
          </a:bodyPr>
          <a:lstStyle/>
          <a:p>
            <a:r>
              <a:rPr lang="en-US" dirty="0"/>
              <a:t>The President, by using the militia or the armed forces, or both, or by any other means, shall take such measures as he considers necessary to suppress, in a State, any insurrection, domestic violence, unlawful combination, or conspiracy, if it—</a:t>
            </a:r>
          </a:p>
          <a:p>
            <a:r>
              <a:rPr lang="en-US" dirty="0"/>
              <a:t>(1) so hinders the execution of the laws of that State, and of the United States within the State, that any part or class of its people is deprived of a right, privilege, immunity, or protection named in the Constitution and secured by law, and the constituted authorities of that State are unable, fail, or refuse to protect that right, privilege, or immunity, or to give that protection; or</a:t>
            </a:r>
          </a:p>
          <a:p>
            <a:r>
              <a:rPr lang="en-US" dirty="0"/>
              <a:t>(2) opposes or obstructs the execution of the laws of the United States or impedes the course of justice under those laws.</a:t>
            </a:r>
          </a:p>
          <a:p>
            <a:pPr marL="0" indent="0">
              <a:buNone/>
            </a:pPr>
            <a:r>
              <a:rPr lang="en-US" dirty="0"/>
              <a:t>In any situation covered by clause (1), the State shall be considered to have denied the equal protection of the laws secured by the Constitution.</a:t>
            </a:r>
          </a:p>
        </p:txBody>
      </p:sp>
      <p:sp>
        <p:nvSpPr>
          <p:cNvPr id="4" name="Footer Placeholder 3">
            <a:extLst>
              <a:ext uri="{FF2B5EF4-FFF2-40B4-BE49-F238E27FC236}">
                <a16:creationId xmlns:a16="http://schemas.microsoft.com/office/drawing/2014/main" id="{3418AF0C-07A5-8456-EEDC-B978107D9B95}"/>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36500469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0B586-BD0D-1C4C-0789-D5560B6912EF}"/>
              </a:ext>
            </a:extLst>
          </p:cNvPr>
          <p:cNvSpPr>
            <a:spLocks noGrp="1"/>
          </p:cNvSpPr>
          <p:nvPr>
            <p:ph type="title"/>
          </p:nvPr>
        </p:nvSpPr>
        <p:spPr/>
        <p:txBody>
          <a:bodyPr/>
          <a:lstStyle/>
          <a:p>
            <a:r>
              <a:rPr lang="en-US" dirty="0"/>
              <a:t>10 U.S.C. § 252 – Insurrection against federal authority</a:t>
            </a:r>
          </a:p>
        </p:txBody>
      </p:sp>
      <p:sp>
        <p:nvSpPr>
          <p:cNvPr id="3" name="Content Placeholder 2">
            <a:extLst>
              <a:ext uri="{FF2B5EF4-FFF2-40B4-BE49-F238E27FC236}">
                <a16:creationId xmlns:a16="http://schemas.microsoft.com/office/drawing/2014/main" id="{E0AE8838-88DB-29C9-3893-FFF56F1A6A94}"/>
              </a:ext>
            </a:extLst>
          </p:cNvPr>
          <p:cNvSpPr>
            <a:spLocks noGrp="1"/>
          </p:cNvSpPr>
          <p:nvPr>
            <p:ph idx="1"/>
          </p:nvPr>
        </p:nvSpPr>
        <p:spPr/>
        <p:txBody>
          <a:bodyPr/>
          <a:lstStyle/>
          <a:p>
            <a:r>
              <a:rPr lang="en-US" dirty="0"/>
              <a:t>Whenever the President considers that unlawful obstructions, combinations, or assemblages, or rebellion against the authority of the United States, make it </a:t>
            </a:r>
            <a:r>
              <a:rPr lang="en-US" b="1" u="sng" dirty="0"/>
              <a:t>impracticable to enforce the laws of the United States </a:t>
            </a:r>
            <a:r>
              <a:rPr lang="en-US" dirty="0"/>
              <a:t>in any State by the ordinary course of judicial proceedings, he may call into Federal service such of the militia of any State, and use such of the armed forces, as he considers necessary to enforce those laws or to suppress the rebellion.</a:t>
            </a:r>
          </a:p>
        </p:txBody>
      </p:sp>
      <p:sp>
        <p:nvSpPr>
          <p:cNvPr id="4" name="Footer Placeholder 3">
            <a:extLst>
              <a:ext uri="{FF2B5EF4-FFF2-40B4-BE49-F238E27FC236}">
                <a16:creationId xmlns:a16="http://schemas.microsoft.com/office/drawing/2014/main" id="{785F02B5-81D1-09C5-39FB-4068B9ACFDBF}"/>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14504136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392</TotalTime>
  <Words>3698</Words>
  <Application>Microsoft Office PowerPoint</Application>
  <PresentationFormat>Widescreen</PresentationFormat>
  <Paragraphs>210</Paragraphs>
  <Slides>33</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Aptos</vt:lpstr>
      <vt:lpstr>Aptos Display</vt:lpstr>
      <vt:lpstr>Arial</vt:lpstr>
      <vt:lpstr>Office Theme</vt:lpstr>
      <vt:lpstr>Recap of Class 5</vt:lpstr>
      <vt:lpstr>Recap of Class 5 – Cont’d</vt:lpstr>
      <vt:lpstr>Semantic Canons: Within the Statute</vt:lpstr>
      <vt:lpstr>Language Across Statutes</vt:lpstr>
      <vt:lpstr>Looking to Other Parts of Same Statute</vt:lpstr>
      <vt:lpstr>Identical Words in Disparate Acts</vt:lpstr>
      <vt:lpstr>Repeal By Implication Disfavored</vt:lpstr>
      <vt:lpstr>The Constitutional Avoidance Canons</vt:lpstr>
      <vt:lpstr>Federal Advisory Committee Act</vt:lpstr>
      <vt:lpstr>Can the Canon Be Justified?</vt:lpstr>
      <vt:lpstr>Background to Discussion of Pro-Federalism Canons</vt:lpstr>
      <vt:lpstr>Gregory v. Ashcroft (1991)</vt:lpstr>
      <vt:lpstr>Gregory v. Ashcroft (2)</vt:lpstr>
      <vt:lpstr>Majority’s Analysis</vt:lpstr>
      <vt:lpstr>What is the Gregory Canon?</vt:lpstr>
      <vt:lpstr> Smith v. United States, 508 U.S. 223 (1993) </vt:lpstr>
      <vt:lpstr>Rule of Lenity</vt:lpstr>
      <vt:lpstr>Other Canons Rooted in “Constitutional Values”</vt:lpstr>
      <vt:lpstr>Foreign Relations Canons</vt:lpstr>
      <vt:lpstr>Trump v. U.S.</vt:lpstr>
      <vt:lpstr>Trump v. U.S. – How Did it Get to SCOTUS?</vt:lpstr>
      <vt:lpstr>10 U.S.C. § 12406 – Calling National Guard into Federal Service</vt:lpstr>
      <vt:lpstr>Law and Fact as Bases for Action</vt:lpstr>
      <vt:lpstr>Hypo</vt:lpstr>
      <vt:lpstr>Majority Persuaded by Amicus Brief on Meaning of “Regular Forces”</vt:lpstr>
      <vt:lpstr>18 U.S.C. § 1385 – Posse Comitatus Act</vt:lpstr>
      <vt:lpstr>Critical Majority Construction</vt:lpstr>
      <vt:lpstr>Two Ways of Looking at the Activity of Federal Authorities in Response to Protests</vt:lpstr>
      <vt:lpstr>Alito (with Thomas) dissent</vt:lpstr>
      <vt:lpstr>What about the canon that the same words used in closely related statutory provisions have the same meaning?</vt:lpstr>
      <vt:lpstr>10 U.S.C. § 251 – Insurrections against state authority</vt:lpstr>
      <vt:lpstr>10 U.S.C. § 253 – Insurrections that threaten to violate equal protection</vt:lpstr>
      <vt:lpstr>10 U.S.C. § 252 – Insurrection against federal authority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Shane</dc:creator>
  <cp:lastModifiedBy>Shane, Peter</cp:lastModifiedBy>
  <cp:revision>11</cp:revision>
  <dcterms:created xsi:type="dcterms:W3CDTF">2026-09-01T20:48:52Z</dcterms:created>
  <dcterms:modified xsi:type="dcterms:W3CDTF">2026-09-16T18:07:15Z</dcterms:modified>
</cp:coreProperties>
</file>