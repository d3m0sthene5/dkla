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80" r:id="rId3"/>
    <p:sldId id="258" r:id="rId4"/>
    <p:sldId id="284" r:id="rId5"/>
    <p:sldId id="259" r:id="rId6"/>
    <p:sldId id="277" r:id="rId7"/>
    <p:sldId id="278" r:id="rId8"/>
    <p:sldId id="276" r:id="rId9"/>
    <p:sldId id="279" r:id="rId10"/>
    <p:sldId id="285" r:id="rId11"/>
    <p:sldId id="260" r:id="rId12"/>
    <p:sldId id="261" r:id="rId13"/>
    <p:sldId id="263" r:id="rId14"/>
    <p:sldId id="264" r:id="rId15"/>
    <p:sldId id="265" r:id="rId16"/>
    <p:sldId id="266" r:id="rId17"/>
    <p:sldId id="262" r:id="rId18"/>
    <p:sldId id="281" r:id="rId19"/>
    <p:sldId id="282" r:id="rId20"/>
    <p:sldId id="28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10/1/2026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526097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10/1/2026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299563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10/1/2026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67294073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10/1/2026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9652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10/1/2026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587293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10/1/2026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770217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10/1/2026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947978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10/1/2026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638097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10/1/2026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39080427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10/1/2026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967033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10/1/2026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40022536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2582998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10/1/2026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8606654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nytimes.com/2006/09/06/business/worldbusiness/06iht-dance.2715133.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
          <p:cNvSpPr>
            <a:spLocks noGrp="1"/>
          </p:cNvSpPr>
          <p:nvPr>
            <p:ph type="ctrTitle"/>
          </p:nvPr>
        </p:nvSpPr>
        <p:spPr/>
        <p:txBody>
          <a:bodyPr/>
          <a:lstStyle/>
          <a:p>
            <a:pPr eaLnBrk="1" hangingPunct="1"/>
            <a:r>
              <a:rPr lang="en-US" dirty="0"/>
              <a:t>Class 12: Misrepresentation</a:t>
            </a:r>
          </a:p>
        </p:txBody>
      </p:sp>
      <p:sp>
        <p:nvSpPr>
          <p:cNvPr id="10243" name="Subtitle 4"/>
          <p:cNvSpPr>
            <a:spLocks noGrp="1"/>
          </p:cNvSpPr>
          <p:nvPr>
            <p:ph type="subTitle" idx="1"/>
          </p:nvPr>
        </p:nvSpPr>
        <p:spPr/>
        <p:txBody>
          <a:bodyPr>
            <a:normAutofit/>
          </a:bodyPr>
          <a:lstStyle/>
          <a:p>
            <a:pPr eaLnBrk="1" fontAlgn="auto" hangingPunct="1">
              <a:spcAft>
                <a:spcPts val="0"/>
              </a:spcAft>
              <a:buFont typeface="Wingdings 3"/>
              <a:buNone/>
              <a:defRPr/>
            </a:pPr>
            <a:endParaRPr lang="en-US" dirty="0"/>
          </a:p>
        </p:txBody>
      </p:sp>
    </p:spTree>
    <p:extLst>
      <p:ext uri="{BB962C8B-B14F-4D97-AF65-F5344CB8AC3E}">
        <p14:creationId xmlns:p14="http://schemas.microsoft.com/office/powerpoint/2010/main" val="3810695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4"/>
          <p:cNvSpPr>
            <a:spLocks noGrp="1"/>
          </p:cNvSpPr>
          <p:nvPr>
            <p:ph type="title"/>
          </p:nvPr>
        </p:nvSpPr>
        <p:spPr/>
        <p:txBody>
          <a:bodyPr/>
          <a:lstStyle/>
          <a:p>
            <a:r>
              <a:rPr lang="en-US" altLang="en-US"/>
              <a:t>Key questions</a:t>
            </a:r>
          </a:p>
        </p:txBody>
      </p:sp>
      <p:sp>
        <p:nvSpPr>
          <p:cNvPr id="11267" name="Content Placeholder 5"/>
          <p:cNvSpPr>
            <a:spLocks noGrp="1"/>
          </p:cNvSpPr>
          <p:nvPr>
            <p:ph sz="quarter" idx="1"/>
          </p:nvPr>
        </p:nvSpPr>
        <p:spPr>
          <a:xfrm>
            <a:off x="457200" y="1219200"/>
            <a:ext cx="8229600" cy="4937125"/>
          </a:xfrm>
        </p:spPr>
        <p:txBody>
          <a:bodyPr/>
          <a:lstStyle/>
          <a:p>
            <a:r>
              <a:rPr lang="en-US" altLang="en-US" b="1" dirty="0"/>
              <a:t>Is there an enforceable promise?</a:t>
            </a:r>
          </a:p>
          <a:p>
            <a:pPr lvl="1"/>
            <a:r>
              <a:rPr lang="en-US" altLang="en-US" dirty="0"/>
              <a:t>Mutual assent</a:t>
            </a:r>
          </a:p>
          <a:p>
            <a:pPr lvl="1"/>
            <a:r>
              <a:rPr lang="en-US" altLang="en-US" dirty="0"/>
              <a:t>Consideration</a:t>
            </a:r>
          </a:p>
          <a:p>
            <a:pPr lvl="1"/>
            <a:r>
              <a:rPr lang="en-US" altLang="en-US" dirty="0"/>
              <a:t>Definiteness</a:t>
            </a:r>
          </a:p>
          <a:p>
            <a:pPr lvl="1"/>
            <a:r>
              <a:rPr lang="en-US" altLang="en-US" dirty="0"/>
              <a:t>Defenses</a:t>
            </a:r>
          </a:p>
          <a:p>
            <a:pPr lvl="2"/>
            <a:r>
              <a:rPr lang="en-US" altLang="en-US" sz="2300" dirty="0"/>
              <a:t>Duress</a:t>
            </a:r>
          </a:p>
          <a:p>
            <a:pPr lvl="2"/>
            <a:r>
              <a:rPr lang="en-US" altLang="en-US" sz="2300" dirty="0"/>
              <a:t>Misrepresentation</a:t>
            </a:r>
          </a:p>
          <a:p>
            <a:r>
              <a:rPr lang="en-US" altLang="en-US" dirty="0"/>
              <a:t>Has it been performed?</a:t>
            </a:r>
          </a:p>
          <a:p>
            <a:r>
              <a:rPr lang="en-US" altLang="en-US" dirty="0"/>
              <a:t>Was performance excused?</a:t>
            </a:r>
          </a:p>
          <a:p>
            <a:r>
              <a:rPr lang="en-US" altLang="en-US" dirty="0"/>
              <a:t>How should it be enforced?</a:t>
            </a:r>
          </a:p>
        </p:txBody>
      </p:sp>
    </p:spTree>
    <p:extLst>
      <p:ext uri="{BB962C8B-B14F-4D97-AF65-F5344CB8AC3E}">
        <p14:creationId xmlns:p14="http://schemas.microsoft.com/office/powerpoint/2010/main" val="2019041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t>Topics</a:t>
            </a:r>
          </a:p>
        </p:txBody>
      </p:sp>
      <p:sp>
        <p:nvSpPr>
          <p:cNvPr id="10243" name="Content Placeholder 2"/>
          <p:cNvSpPr>
            <a:spLocks noGrp="1"/>
          </p:cNvSpPr>
          <p:nvPr>
            <p:ph sz="quarter" idx="1"/>
          </p:nvPr>
        </p:nvSpPr>
        <p:spPr>
          <a:xfrm>
            <a:off x="457200" y="1219200"/>
            <a:ext cx="8229600" cy="4937125"/>
          </a:xfrm>
        </p:spPr>
        <p:txBody>
          <a:bodyPr/>
          <a:lstStyle/>
          <a:p>
            <a:pPr eaLnBrk="1" hangingPunct="1"/>
            <a:r>
              <a:rPr lang="en-US" dirty="0"/>
              <a:t>Overview of misrepresentation and related claims</a:t>
            </a:r>
          </a:p>
          <a:p>
            <a:r>
              <a:rPr lang="en-US" dirty="0"/>
              <a:t>Opinion and puffery</a:t>
            </a:r>
          </a:p>
          <a:p>
            <a:pPr eaLnBrk="1" hangingPunct="1"/>
            <a:r>
              <a:rPr lang="en-US" dirty="0"/>
              <a:t>Non-disclosure</a:t>
            </a:r>
          </a:p>
          <a:p>
            <a:pPr eaLnBrk="1" hangingPunct="1"/>
            <a:r>
              <a:rPr lang="en-US" dirty="0"/>
              <a:t>Disclaimers of liability for misrepresentation</a:t>
            </a:r>
          </a:p>
          <a:p>
            <a:pPr eaLnBrk="1" hangingPunct="1"/>
            <a:endParaRPr lang="en-US" dirty="0"/>
          </a:p>
          <a:p>
            <a:pPr eaLnBrk="1" hangingPunct="1"/>
            <a:endParaRPr lang="en-US" dirty="0"/>
          </a:p>
        </p:txBody>
      </p:sp>
    </p:spTree>
    <p:extLst>
      <p:ext uri="{BB962C8B-B14F-4D97-AF65-F5344CB8AC3E}">
        <p14:creationId xmlns:p14="http://schemas.microsoft.com/office/powerpoint/2010/main" val="2731602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Policy considerations: misrepresentation</a:t>
            </a:r>
          </a:p>
        </p:txBody>
      </p:sp>
      <p:sp>
        <p:nvSpPr>
          <p:cNvPr id="3" name="Content Placeholder 2"/>
          <p:cNvSpPr>
            <a:spLocks noGrp="1"/>
          </p:cNvSpPr>
          <p:nvPr>
            <p:ph sz="quarter" idx="1"/>
          </p:nvPr>
        </p:nvSpPr>
        <p:spPr/>
        <p:txBody>
          <a:bodyPr/>
          <a:lstStyle/>
          <a:p>
            <a:r>
              <a:rPr lang="en-US" dirty="0"/>
              <a:t>immorality of deliberate deception</a:t>
            </a:r>
          </a:p>
          <a:p>
            <a:r>
              <a:rPr lang="en-US" dirty="0"/>
              <a:t>unfairness of unequal access to information</a:t>
            </a:r>
          </a:p>
          <a:p>
            <a:r>
              <a:rPr lang="en-US" dirty="0"/>
              <a:t>value of preventing mistaken transactions</a:t>
            </a:r>
          </a:p>
          <a:p>
            <a:pPr marL="0" indent="0">
              <a:buNone/>
            </a:pPr>
            <a:endParaRPr lang="en-US" dirty="0"/>
          </a:p>
          <a:p>
            <a:endParaRPr lang="en-US" dirty="0"/>
          </a:p>
        </p:txBody>
      </p:sp>
    </p:spTree>
    <p:extLst>
      <p:ext uri="{BB962C8B-B14F-4D97-AF65-F5344CB8AC3E}">
        <p14:creationId xmlns:p14="http://schemas.microsoft.com/office/powerpoint/2010/main" val="667228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Misrepresentation and related claims</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424743883"/>
              </p:ext>
            </p:extLst>
          </p:nvPr>
        </p:nvGraphicFramePr>
        <p:xfrm>
          <a:off x="76200" y="1219201"/>
          <a:ext cx="8915401" cy="5550990"/>
        </p:xfrm>
        <a:graphic>
          <a:graphicData uri="http://schemas.openxmlformats.org/drawingml/2006/table">
            <a:tbl>
              <a:tblPr>
                <a:tableStyleId>{5C22544A-7EE6-4342-B048-85BDC9FD1C3A}</a:tableStyleId>
              </a:tblPr>
              <a:tblGrid>
                <a:gridCol w="19812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1469572">
                  <a:extLst>
                    <a:ext uri="{9D8B030D-6E8A-4147-A177-3AD203B41FA5}">
                      <a16:colId xmlns:a16="http://schemas.microsoft.com/office/drawing/2014/main" val="20002"/>
                    </a:ext>
                  </a:extLst>
                </a:gridCol>
                <a:gridCol w="1273629">
                  <a:extLst>
                    <a:ext uri="{9D8B030D-6E8A-4147-A177-3AD203B41FA5}">
                      <a16:colId xmlns:a16="http://schemas.microsoft.com/office/drawing/2014/main" val="20003"/>
                    </a:ext>
                  </a:extLst>
                </a:gridCol>
              </a:tblGrid>
              <a:tr h="630404">
                <a:tc>
                  <a:txBody>
                    <a:bodyPr/>
                    <a:lstStyle/>
                    <a:p>
                      <a:pPr marL="0" marR="0">
                        <a:spcBef>
                          <a:spcPts val="0"/>
                        </a:spcBef>
                        <a:spcAft>
                          <a:spcPts val="0"/>
                        </a:spcAft>
                      </a:pPr>
                      <a:r>
                        <a:rPr lang="en-US" sz="1800" b="1" dirty="0">
                          <a:effectLst/>
                        </a:rPr>
                        <a:t>Claim</a:t>
                      </a:r>
                      <a:endParaRPr lang="en-US" sz="1800" b="1" dirty="0">
                        <a:effectLst/>
                        <a:latin typeface="Times New Roman"/>
                        <a:ea typeface="Times New Roman"/>
                      </a:endParaRPr>
                    </a:p>
                  </a:txBody>
                  <a:tcPr marL="68580" marR="68580" marT="0" marB="0"/>
                </a:tc>
                <a:tc>
                  <a:txBody>
                    <a:bodyPr/>
                    <a:lstStyle/>
                    <a:p>
                      <a:pPr marL="0" marR="0">
                        <a:spcBef>
                          <a:spcPts val="0"/>
                        </a:spcBef>
                        <a:spcAft>
                          <a:spcPts val="0"/>
                        </a:spcAft>
                      </a:pPr>
                      <a:r>
                        <a:rPr lang="en-US" sz="1800" b="1" dirty="0">
                          <a:effectLst/>
                        </a:rPr>
                        <a:t>Key elements</a:t>
                      </a:r>
                      <a:endParaRPr lang="en-US" sz="1800" b="1" dirty="0">
                        <a:effectLst/>
                        <a:latin typeface="Times New Roman"/>
                        <a:ea typeface="Times New Roman"/>
                      </a:endParaRPr>
                    </a:p>
                  </a:txBody>
                  <a:tcPr marL="68580" marR="68580" marT="0" marB="0"/>
                </a:tc>
                <a:tc>
                  <a:txBody>
                    <a:bodyPr/>
                    <a:lstStyle/>
                    <a:p>
                      <a:pPr marL="0" marR="0">
                        <a:spcBef>
                          <a:spcPts val="0"/>
                        </a:spcBef>
                        <a:spcAft>
                          <a:spcPts val="0"/>
                        </a:spcAft>
                      </a:pPr>
                      <a:r>
                        <a:rPr lang="en-US" sz="1800" b="1" dirty="0">
                          <a:effectLst/>
                          <a:latin typeface="Times New Roman"/>
                          <a:ea typeface="Times New Roman"/>
                        </a:rPr>
                        <a:t>Avoidance/ Cancellation</a:t>
                      </a:r>
                    </a:p>
                  </a:txBody>
                  <a:tcPr marL="68580" marR="68580" marT="0" marB="0"/>
                </a:tc>
                <a:tc>
                  <a:txBody>
                    <a:bodyPr/>
                    <a:lstStyle/>
                    <a:p>
                      <a:pPr marL="0" marR="0">
                        <a:spcBef>
                          <a:spcPts val="0"/>
                        </a:spcBef>
                        <a:spcAft>
                          <a:spcPts val="0"/>
                        </a:spcAft>
                      </a:pPr>
                      <a:r>
                        <a:rPr lang="en-US" sz="1800" b="1" dirty="0">
                          <a:effectLst/>
                        </a:rPr>
                        <a:t>Damages</a:t>
                      </a:r>
                    </a:p>
                    <a:p>
                      <a:pPr marL="0" marR="0">
                        <a:spcBef>
                          <a:spcPts val="0"/>
                        </a:spcBef>
                        <a:spcAft>
                          <a:spcPts val="0"/>
                        </a:spcAft>
                      </a:pPr>
                      <a:endParaRPr lang="en-US" sz="1800" b="1"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r h="945606">
                <a:tc>
                  <a:txBody>
                    <a:bodyPr/>
                    <a:lstStyle/>
                    <a:p>
                      <a:pPr marL="0" marR="0">
                        <a:spcBef>
                          <a:spcPts val="0"/>
                        </a:spcBef>
                        <a:spcAft>
                          <a:spcPts val="0"/>
                        </a:spcAft>
                      </a:pPr>
                      <a:r>
                        <a:rPr lang="en-US" sz="1800" dirty="0">
                          <a:solidFill>
                            <a:schemeClr val="tx1"/>
                          </a:solidFill>
                          <a:effectLst/>
                        </a:rPr>
                        <a:t>Fraudulent misrepresentation/ Deceit</a:t>
                      </a:r>
                      <a:endParaRPr lang="en-US" sz="1800" dirty="0">
                        <a:solidFill>
                          <a:schemeClr val="tx1"/>
                        </a:solidFill>
                        <a:effectLst/>
                        <a:latin typeface="Times New Roman"/>
                        <a:ea typeface="Times New Roman"/>
                      </a:endParaRPr>
                    </a:p>
                  </a:txBody>
                  <a:tcPr marL="68580" marR="68580" marT="0" marB="0"/>
                </a:tc>
                <a:tc>
                  <a:txBody>
                    <a:bodyPr/>
                    <a:lstStyle/>
                    <a:p>
                      <a:pPr marL="285750" marR="0" indent="-285750">
                        <a:spcBef>
                          <a:spcPts val="0"/>
                        </a:spcBef>
                        <a:spcAft>
                          <a:spcPts val="0"/>
                        </a:spcAft>
                        <a:buFont typeface="Arial" pitchFamily="34" charset="0"/>
                        <a:buChar char="•"/>
                      </a:pPr>
                      <a:r>
                        <a:rPr lang="en-US" sz="1800" dirty="0">
                          <a:solidFill>
                            <a:schemeClr val="tx1"/>
                          </a:solidFill>
                          <a:effectLst/>
                        </a:rPr>
                        <a:t>Knowing or reckless false statement</a:t>
                      </a:r>
                    </a:p>
                    <a:p>
                      <a:pPr marL="285750" marR="0" indent="-285750">
                        <a:spcBef>
                          <a:spcPts val="0"/>
                        </a:spcBef>
                        <a:spcAft>
                          <a:spcPts val="0"/>
                        </a:spcAft>
                        <a:buFont typeface="Arial" pitchFamily="34" charset="0"/>
                        <a:buChar char="•"/>
                      </a:pPr>
                      <a:r>
                        <a:rPr lang="en-US" sz="1800" dirty="0">
                          <a:solidFill>
                            <a:schemeClr val="tx1"/>
                          </a:solidFill>
                          <a:effectLst/>
                        </a:rPr>
                        <a:t>Justifiable reliance</a:t>
                      </a:r>
                      <a:endParaRPr lang="en-US" sz="1800" dirty="0">
                        <a:solidFill>
                          <a:schemeClr val="tx1"/>
                        </a:solidFill>
                        <a:effectLst/>
                        <a:latin typeface="Times New Roman"/>
                        <a:ea typeface="Times New Roman"/>
                      </a:endParaRPr>
                    </a:p>
                  </a:txBody>
                  <a:tcPr marL="68580" marR="68580" marT="0" marB="0"/>
                </a:tc>
                <a:tc>
                  <a:txBody>
                    <a:bodyPr/>
                    <a:lstStyle/>
                    <a:p>
                      <a:pPr marL="0" marR="0">
                        <a:spcBef>
                          <a:spcPts val="0"/>
                        </a:spcBef>
                        <a:spcAft>
                          <a:spcPts val="0"/>
                        </a:spcAft>
                      </a:pPr>
                      <a:r>
                        <a:rPr lang="en-US" sz="1800" dirty="0">
                          <a:solidFill>
                            <a:schemeClr val="tx1"/>
                          </a:solidFill>
                          <a:effectLst/>
                        </a:rPr>
                        <a:t>Y</a:t>
                      </a:r>
                      <a:endParaRPr lang="en-US" sz="1800" dirty="0">
                        <a:solidFill>
                          <a:schemeClr val="tx1"/>
                        </a:solidFill>
                        <a:effectLst/>
                        <a:latin typeface="Times New Roman"/>
                        <a:ea typeface="Times New Roman"/>
                      </a:endParaRPr>
                    </a:p>
                  </a:txBody>
                  <a:tcPr marL="68580" marR="68580" marT="0" marB="0"/>
                </a:tc>
                <a:tc>
                  <a:txBody>
                    <a:bodyPr/>
                    <a:lstStyle/>
                    <a:p>
                      <a:pPr marL="0" marR="0">
                        <a:spcBef>
                          <a:spcPts val="0"/>
                        </a:spcBef>
                        <a:spcAft>
                          <a:spcPts val="0"/>
                        </a:spcAft>
                      </a:pPr>
                      <a:r>
                        <a:rPr lang="en-US" sz="1800" dirty="0">
                          <a:solidFill>
                            <a:schemeClr val="tx1"/>
                          </a:solidFill>
                          <a:effectLst/>
                        </a:rPr>
                        <a:t>Y *</a:t>
                      </a:r>
                    </a:p>
                    <a:p>
                      <a:pPr marL="0" marR="0">
                        <a:spcBef>
                          <a:spcPts val="0"/>
                        </a:spcBef>
                        <a:spcAft>
                          <a:spcPts val="0"/>
                        </a:spcAft>
                      </a:pPr>
                      <a:endParaRPr lang="en-US" sz="1800" dirty="0">
                        <a:solidFill>
                          <a:schemeClr val="tx1"/>
                        </a:solidFill>
                        <a:effectLst/>
                        <a:latin typeface="Times New Roman"/>
                        <a:ea typeface="Times New Roman"/>
                      </a:endParaRPr>
                    </a:p>
                  </a:txBody>
                  <a:tcPr marL="68580" marR="68580" marT="0" marB="0"/>
                </a:tc>
                <a:extLst>
                  <a:ext uri="{0D108BD9-81ED-4DB2-BD59-A6C34878D82A}">
                    <a16:rowId xmlns:a16="http://schemas.microsoft.com/office/drawing/2014/main" val="10001"/>
                  </a:ext>
                </a:extLst>
              </a:tr>
              <a:tr h="1260808">
                <a:tc>
                  <a:txBody>
                    <a:bodyPr/>
                    <a:lstStyle/>
                    <a:p>
                      <a:pPr marL="0" marR="0" algn="l" rtl="0" eaLnBrk="1" latinLnBrk="0" hangingPunct="1">
                        <a:spcBef>
                          <a:spcPts val="0"/>
                        </a:spcBef>
                        <a:spcAft>
                          <a:spcPts val="0"/>
                        </a:spcAft>
                      </a:pPr>
                      <a:r>
                        <a:rPr kumimoji="0" lang="en-US" sz="1800" kern="1200" baseline="0" dirty="0">
                          <a:solidFill>
                            <a:schemeClr val="tx1"/>
                          </a:solidFill>
                          <a:effectLst/>
                          <a:latin typeface="+mn-lt"/>
                          <a:ea typeface="+mn-ea"/>
                          <a:cs typeface="+mn-cs"/>
                        </a:rPr>
                        <a:t>Negligent misrepresentation</a:t>
                      </a:r>
                    </a:p>
                  </a:txBody>
                  <a:tcPr marL="68580" marR="68580" marT="0" marB="0"/>
                </a:tc>
                <a:tc>
                  <a:txBody>
                    <a:bodyPr/>
                    <a:lstStyle/>
                    <a:p>
                      <a:pPr marL="285750" marR="0" indent="-285750">
                        <a:spcBef>
                          <a:spcPts val="0"/>
                        </a:spcBef>
                        <a:spcAft>
                          <a:spcPts val="0"/>
                        </a:spcAft>
                        <a:buFont typeface="Arial" pitchFamily="34" charset="0"/>
                        <a:buChar char="•"/>
                      </a:pPr>
                      <a:r>
                        <a:rPr kumimoji="0" lang="en-US" sz="1800" kern="1200" baseline="0" dirty="0">
                          <a:solidFill>
                            <a:schemeClr val="tx1"/>
                          </a:solidFill>
                          <a:effectLst/>
                          <a:latin typeface="+mn-lt"/>
                          <a:ea typeface="+mn-ea"/>
                          <a:cs typeface="+mn-cs"/>
                        </a:rPr>
                        <a:t>False statement without reasonable basis</a:t>
                      </a:r>
                    </a:p>
                    <a:p>
                      <a:pPr marL="285750" marR="0" indent="-285750">
                        <a:spcBef>
                          <a:spcPts val="0"/>
                        </a:spcBef>
                        <a:spcAft>
                          <a:spcPts val="0"/>
                        </a:spcAft>
                        <a:buFont typeface="Arial" pitchFamily="34" charset="0"/>
                        <a:buChar char="•"/>
                      </a:pPr>
                      <a:r>
                        <a:rPr kumimoji="0" lang="en-US" sz="1800" kern="1200" baseline="0" dirty="0">
                          <a:solidFill>
                            <a:schemeClr val="tx1"/>
                          </a:solidFill>
                          <a:effectLst/>
                          <a:latin typeface="+mn-lt"/>
                          <a:ea typeface="+mn-ea"/>
                          <a:cs typeface="+mn-cs"/>
                        </a:rPr>
                        <a:t>Special relationship</a:t>
                      </a:r>
                    </a:p>
                    <a:p>
                      <a:pPr marL="285750" marR="0" indent="-285750">
                        <a:spcBef>
                          <a:spcPts val="0"/>
                        </a:spcBef>
                        <a:spcAft>
                          <a:spcPts val="0"/>
                        </a:spcAft>
                        <a:buFont typeface="Arial" pitchFamily="34" charset="0"/>
                        <a:buChar char="•"/>
                      </a:pPr>
                      <a:r>
                        <a:rPr kumimoji="0" lang="en-US" sz="1800" kern="1200" baseline="0" dirty="0">
                          <a:solidFill>
                            <a:schemeClr val="tx1"/>
                          </a:solidFill>
                          <a:effectLst/>
                          <a:latin typeface="+mn-lt"/>
                          <a:ea typeface="+mn-ea"/>
                          <a:cs typeface="+mn-cs"/>
                        </a:rPr>
                        <a:t>Justifiable reliance</a:t>
                      </a:r>
                    </a:p>
                  </a:txBody>
                  <a:tcPr marL="68580" marR="68580" marT="0" marB="0"/>
                </a:tc>
                <a:tc>
                  <a:txBody>
                    <a:bodyPr/>
                    <a:lstStyle/>
                    <a:p>
                      <a:pPr marL="0" marR="0">
                        <a:spcBef>
                          <a:spcPts val="0"/>
                        </a:spcBef>
                        <a:spcAft>
                          <a:spcPts val="0"/>
                        </a:spcAft>
                      </a:pPr>
                      <a:r>
                        <a:rPr kumimoji="0" lang="en-US" sz="1800" kern="1200" baseline="0" dirty="0">
                          <a:solidFill>
                            <a:schemeClr val="tx1"/>
                          </a:solidFill>
                          <a:effectLst/>
                          <a:latin typeface="+mn-lt"/>
                          <a:ea typeface="+mn-ea"/>
                          <a:cs typeface="+mn-cs"/>
                        </a:rPr>
                        <a:t>Y</a:t>
                      </a:r>
                    </a:p>
                  </a:txBody>
                  <a:tcPr marL="68580" marR="68580" marT="0" marB="0"/>
                </a:tc>
                <a:tc>
                  <a:txBody>
                    <a:bodyPr/>
                    <a:lstStyle/>
                    <a:p>
                      <a:pPr marL="0" marR="0">
                        <a:spcBef>
                          <a:spcPts val="0"/>
                        </a:spcBef>
                        <a:spcAft>
                          <a:spcPts val="0"/>
                        </a:spcAft>
                      </a:pPr>
                      <a:r>
                        <a:rPr kumimoji="0" lang="en-US" sz="1800" kern="1200" baseline="0" dirty="0">
                          <a:solidFill>
                            <a:schemeClr val="tx1"/>
                          </a:solidFill>
                          <a:effectLst/>
                          <a:latin typeface="+mn-lt"/>
                          <a:ea typeface="+mn-ea"/>
                          <a:cs typeface="+mn-cs"/>
                        </a:rPr>
                        <a:t>Y*</a:t>
                      </a:r>
                    </a:p>
                  </a:txBody>
                  <a:tcPr marL="68580" marR="68580" marT="0" marB="0"/>
                </a:tc>
                <a:extLst>
                  <a:ext uri="{0D108BD9-81ED-4DB2-BD59-A6C34878D82A}">
                    <a16:rowId xmlns:a16="http://schemas.microsoft.com/office/drawing/2014/main" val="1636093504"/>
                  </a:ext>
                </a:extLst>
              </a:tr>
              <a:tr h="682169">
                <a:tc>
                  <a:txBody>
                    <a:bodyPr/>
                    <a:lstStyle/>
                    <a:p>
                      <a:pPr marL="0" marR="0">
                        <a:spcBef>
                          <a:spcPts val="0"/>
                        </a:spcBef>
                        <a:spcAft>
                          <a:spcPts val="0"/>
                        </a:spcAft>
                      </a:pPr>
                      <a:r>
                        <a:rPr kumimoji="0" lang="en-US" sz="1800" kern="1200" dirty="0">
                          <a:solidFill>
                            <a:schemeClr val="dk1"/>
                          </a:solidFill>
                          <a:effectLst/>
                          <a:latin typeface="+mn-lt"/>
                          <a:ea typeface="+mn-ea"/>
                          <a:cs typeface="+mn-cs"/>
                        </a:rPr>
                        <a:t>Promissory fraud</a:t>
                      </a:r>
                    </a:p>
                  </a:txBody>
                  <a:tcPr marL="68580" marR="68580" marT="0" marB="0"/>
                </a:tc>
                <a:tc>
                  <a:txBody>
                    <a:bodyPr/>
                    <a:lstStyle/>
                    <a:p>
                      <a:pPr marL="285750" marR="0" indent="-285750">
                        <a:spcBef>
                          <a:spcPts val="0"/>
                        </a:spcBef>
                        <a:spcAft>
                          <a:spcPts val="0"/>
                        </a:spcAft>
                        <a:buFont typeface="Arial" pitchFamily="34" charset="0"/>
                        <a:buChar char="•"/>
                      </a:pPr>
                      <a:r>
                        <a:rPr kumimoji="0" lang="en-US" sz="1800" kern="1200" dirty="0">
                          <a:solidFill>
                            <a:schemeClr val="dk1"/>
                          </a:solidFill>
                          <a:effectLst/>
                          <a:latin typeface="+mn-lt"/>
                          <a:ea typeface="+mn-ea"/>
                          <a:cs typeface="+mn-cs"/>
                        </a:rPr>
                        <a:t>Fraud</a:t>
                      </a:r>
                      <a:r>
                        <a:rPr kumimoji="0" lang="en-US" sz="1800" kern="1200" baseline="0" dirty="0">
                          <a:solidFill>
                            <a:schemeClr val="dk1"/>
                          </a:solidFill>
                          <a:effectLst/>
                          <a:latin typeface="+mn-lt"/>
                          <a:ea typeface="+mn-ea"/>
                          <a:cs typeface="+mn-cs"/>
                        </a:rPr>
                        <a:t>ulent misrepresentation of intention regarding future conduct</a:t>
                      </a:r>
                    </a:p>
                    <a:p>
                      <a:pPr marL="285750" marR="0" indent="-285750">
                        <a:spcBef>
                          <a:spcPts val="0"/>
                        </a:spcBef>
                        <a:spcAft>
                          <a:spcPts val="0"/>
                        </a:spcAft>
                        <a:buFont typeface="Arial" pitchFamily="34" charset="0"/>
                        <a:buChar char="•"/>
                      </a:pPr>
                      <a:r>
                        <a:rPr kumimoji="0" lang="en-US" sz="1800" kern="1200" baseline="0" dirty="0">
                          <a:solidFill>
                            <a:schemeClr val="dk1"/>
                          </a:solidFill>
                          <a:effectLst/>
                          <a:latin typeface="+mn-lt"/>
                          <a:ea typeface="+mn-ea"/>
                          <a:cs typeface="+mn-cs"/>
                        </a:rPr>
                        <a:t>Justifiable reliance</a:t>
                      </a:r>
                      <a:endParaRPr kumimoji="0" lang="en-US" sz="1800" kern="1200" dirty="0">
                        <a:solidFill>
                          <a:schemeClr val="dk1"/>
                        </a:solidFill>
                        <a:effectLst/>
                        <a:latin typeface="+mn-lt"/>
                        <a:ea typeface="+mn-ea"/>
                        <a:cs typeface="+mn-cs"/>
                      </a:endParaRPr>
                    </a:p>
                  </a:txBody>
                  <a:tcPr marL="68580" marR="68580" marT="0" marB="0"/>
                </a:tc>
                <a:tc>
                  <a:txBody>
                    <a:bodyPr/>
                    <a:lstStyle/>
                    <a:p>
                      <a:pPr marL="0" marR="0" indent="0" algn="l" rtl="0" eaLnBrk="1" latinLnBrk="0" hangingPunct="1">
                        <a:spcBef>
                          <a:spcPts val="0"/>
                        </a:spcBef>
                        <a:spcAft>
                          <a:spcPts val="0"/>
                        </a:spcAft>
                        <a:buFont typeface="Arial" pitchFamily="34" charset="0"/>
                        <a:buNone/>
                      </a:pPr>
                      <a:r>
                        <a:rPr kumimoji="0" lang="en-US" sz="1800" kern="1200" dirty="0">
                          <a:solidFill>
                            <a:schemeClr val="dk1"/>
                          </a:solidFill>
                          <a:effectLst/>
                          <a:latin typeface="+mn-lt"/>
                          <a:ea typeface="+mn-ea"/>
                          <a:cs typeface="+mn-cs"/>
                        </a:rPr>
                        <a:t>Y</a:t>
                      </a:r>
                    </a:p>
                  </a:txBody>
                  <a:tcPr marL="68580" marR="68580" marT="0" marB="0"/>
                </a:tc>
                <a:tc>
                  <a:txBody>
                    <a:bodyPr/>
                    <a:lstStyle/>
                    <a:p>
                      <a:pPr marL="0" marR="0" indent="0" algn="l" rtl="0" eaLnBrk="1" latinLnBrk="0" hangingPunct="1">
                        <a:spcBef>
                          <a:spcPts val="0"/>
                        </a:spcBef>
                        <a:spcAft>
                          <a:spcPts val="0"/>
                        </a:spcAft>
                        <a:buFont typeface="Arial" pitchFamily="34" charset="0"/>
                        <a:buNone/>
                      </a:pPr>
                      <a:r>
                        <a:rPr kumimoji="0" lang="en-US" sz="1800" kern="1200" dirty="0">
                          <a:solidFill>
                            <a:schemeClr val="dk1"/>
                          </a:solidFill>
                          <a:effectLst/>
                          <a:latin typeface="+mn-lt"/>
                          <a:ea typeface="+mn-ea"/>
                          <a:cs typeface="+mn-cs"/>
                        </a:rPr>
                        <a:t>Y*</a:t>
                      </a:r>
                    </a:p>
                  </a:txBody>
                  <a:tcPr marL="68580" marR="68580" marT="0" marB="0"/>
                </a:tc>
                <a:extLst>
                  <a:ext uri="{0D108BD9-81ED-4DB2-BD59-A6C34878D82A}">
                    <a16:rowId xmlns:a16="http://schemas.microsoft.com/office/drawing/2014/main" val="10002"/>
                  </a:ext>
                </a:extLst>
              </a:tr>
              <a:tr h="945606">
                <a:tc>
                  <a:txBody>
                    <a:bodyPr/>
                    <a:lstStyle/>
                    <a:p>
                      <a:pPr marL="0" marR="0">
                        <a:spcBef>
                          <a:spcPts val="0"/>
                        </a:spcBef>
                        <a:spcAft>
                          <a:spcPts val="0"/>
                        </a:spcAft>
                      </a:pPr>
                      <a:r>
                        <a:rPr lang="en-US" sz="1800" dirty="0">
                          <a:effectLst/>
                        </a:rPr>
                        <a:t>Innocent misrepresentation  </a:t>
                      </a:r>
                      <a:endParaRPr lang="en-US" sz="1800" dirty="0">
                        <a:effectLst/>
                        <a:latin typeface="Times New Roman"/>
                        <a:ea typeface="Times New Roman"/>
                      </a:endParaRPr>
                    </a:p>
                  </a:txBody>
                  <a:tcPr marL="68580" marR="68580" marT="0" marB="0"/>
                </a:tc>
                <a:tc>
                  <a:txBody>
                    <a:bodyPr/>
                    <a:lstStyle/>
                    <a:p>
                      <a:pPr marL="285750" marR="0" indent="-285750">
                        <a:spcBef>
                          <a:spcPts val="0"/>
                        </a:spcBef>
                        <a:spcAft>
                          <a:spcPts val="0"/>
                        </a:spcAft>
                        <a:buFont typeface="Arial" pitchFamily="34" charset="0"/>
                        <a:buChar char="•"/>
                      </a:pPr>
                      <a:r>
                        <a:rPr lang="en-US" sz="1800" dirty="0">
                          <a:effectLst/>
                        </a:rPr>
                        <a:t>False statement or omission</a:t>
                      </a:r>
                      <a:r>
                        <a:rPr lang="en-US" sz="1800" baseline="0" dirty="0">
                          <a:effectLst/>
                        </a:rPr>
                        <a:t> of material fact</a:t>
                      </a:r>
                      <a:endParaRPr lang="en-US" sz="1800" dirty="0">
                        <a:effectLst/>
                      </a:endParaRPr>
                    </a:p>
                    <a:p>
                      <a:pPr marL="285750" marR="0" indent="-285750">
                        <a:spcBef>
                          <a:spcPts val="0"/>
                        </a:spcBef>
                        <a:spcAft>
                          <a:spcPts val="0"/>
                        </a:spcAft>
                        <a:buFont typeface="Arial" pitchFamily="34" charset="0"/>
                        <a:buChar char="•"/>
                      </a:pPr>
                      <a:r>
                        <a:rPr lang="en-US" sz="1800" dirty="0">
                          <a:effectLst/>
                        </a:rPr>
                        <a:t>Justifiable</a:t>
                      </a:r>
                      <a:r>
                        <a:rPr lang="en-US" sz="1800" baseline="0" dirty="0">
                          <a:effectLst/>
                        </a:rPr>
                        <a:t> </a:t>
                      </a:r>
                      <a:r>
                        <a:rPr lang="en-US" sz="1800" dirty="0">
                          <a:effectLst/>
                        </a:rPr>
                        <a:t>reliance</a:t>
                      </a:r>
                      <a:endParaRPr lang="en-US" sz="1800" dirty="0">
                        <a:effectLst/>
                        <a:latin typeface="Times New Roman"/>
                        <a:ea typeface="Times New Roman"/>
                      </a:endParaRPr>
                    </a:p>
                  </a:txBody>
                  <a:tcPr marL="68580" marR="68580" marT="0" marB="0"/>
                </a:tc>
                <a:tc>
                  <a:txBody>
                    <a:bodyPr/>
                    <a:lstStyle/>
                    <a:p>
                      <a:pPr marL="0" marR="0">
                        <a:spcBef>
                          <a:spcPts val="0"/>
                        </a:spcBef>
                        <a:spcAft>
                          <a:spcPts val="0"/>
                        </a:spcAft>
                      </a:pPr>
                      <a:r>
                        <a:rPr lang="en-US" sz="1800" dirty="0">
                          <a:effectLst/>
                        </a:rPr>
                        <a:t>Y</a:t>
                      </a:r>
                      <a:endParaRPr lang="en-US" sz="1800" dirty="0">
                        <a:effectLst/>
                        <a:latin typeface="Times New Roman"/>
                        <a:ea typeface="Times New Roman"/>
                      </a:endParaRPr>
                    </a:p>
                  </a:txBody>
                  <a:tcPr marL="68580" marR="68580" marT="0" marB="0"/>
                </a:tc>
                <a:tc>
                  <a:txBody>
                    <a:bodyPr/>
                    <a:lstStyle/>
                    <a:p>
                      <a:pPr marL="0" marR="0">
                        <a:spcBef>
                          <a:spcPts val="0"/>
                        </a:spcBef>
                        <a:spcAft>
                          <a:spcPts val="0"/>
                        </a:spcAft>
                      </a:pPr>
                      <a:r>
                        <a:rPr lang="en-US" sz="1800" dirty="0">
                          <a:effectLst/>
                        </a:rPr>
                        <a:t>N </a:t>
                      </a:r>
                      <a:endParaRPr lang="en-US" sz="1800" dirty="0">
                        <a:effectLst/>
                        <a:latin typeface="Times New Roman"/>
                        <a:ea typeface="Times New Roman"/>
                      </a:endParaRPr>
                    </a:p>
                  </a:txBody>
                  <a:tcPr marL="68580" marR="68580" marT="0" marB="0"/>
                </a:tc>
                <a:extLst>
                  <a:ext uri="{0D108BD9-81ED-4DB2-BD59-A6C34878D82A}">
                    <a16:rowId xmlns:a16="http://schemas.microsoft.com/office/drawing/2014/main" val="10004"/>
                  </a:ext>
                </a:extLst>
              </a:tr>
              <a:tr h="945606">
                <a:tc>
                  <a:txBody>
                    <a:bodyPr/>
                    <a:lstStyle/>
                    <a:p>
                      <a:pPr marL="0" marR="0">
                        <a:spcBef>
                          <a:spcPts val="0"/>
                        </a:spcBef>
                        <a:spcAft>
                          <a:spcPts val="0"/>
                        </a:spcAft>
                      </a:pPr>
                      <a:r>
                        <a:rPr kumimoji="0" lang="en-US" sz="1800" kern="1200" dirty="0">
                          <a:solidFill>
                            <a:schemeClr val="dk1"/>
                          </a:solidFill>
                          <a:effectLst/>
                          <a:latin typeface="+mn-lt"/>
                          <a:ea typeface="+mn-ea"/>
                          <a:cs typeface="+mn-cs"/>
                        </a:rPr>
                        <a:t>Breach</a:t>
                      </a:r>
                      <a:r>
                        <a:rPr kumimoji="0" lang="en-US" sz="1800" kern="1200" baseline="0" dirty="0">
                          <a:solidFill>
                            <a:schemeClr val="dk1"/>
                          </a:solidFill>
                          <a:effectLst/>
                          <a:latin typeface="+mn-lt"/>
                          <a:ea typeface="+mn-ea"/>
                          <a:cs typeface="+mn-cs"/>
                        </a:rPr>
                        <a:t> of w</a:t>
                      </a:r>
                      <a:r>
                        <a:rPr kumimoji="0" lang="en-US" sz="1800" kern="1200" dirty="0">
                          <a:solidFill>
                            <a:schemeClr val="dk1"/>
                          </a:solidFill>
                          <a:effectLst/>
                          <a:latin typeface="+mn-lt"/>
                          <a:ea typeface="+mn-ea"/>
                          <a:cs typeface="+mn-cs"/>
                        </a:rPr>
                        <a:t>arranty</a:t>
                      </a:r>
                    </a:p>
                  </a:txBody>
                  <a:tcPr marL="68580" marR="68580" marT="0" marB="0"/>
                </a:tc>
                <a:tc>
                  <a:txBody>
                    <a:bodyPr/>
                    <a:lstStyle/>
                    <a:p>
                      <a:pPr marL="285750" marR="0" indent="-285750">
                        <a:spcBef>
                          <a:spcPts val="0"/>
                        </a:spcBef>
                        <a:spcAft>
                          <a:spcPts val="0"/>
                        </a:spcAft>
                        <a:buFont typeface="Arial" pitchFamily="34" charset="0"/>
                        <a:buChar char="•"/>
                      </a:pPr>
                      <a:r>
                        <a:rPr kumimoji="0" lang="en-US" sz="1800" kern="1200" dirty="0">
                          <a:solidFill>
                            <a:schemeClr val="dk1"/>
                          </a:solidFill>
                          <a:effectLst/>
                          <a:latin typeface="+mn-lt"/>
                          <a:ea typeface="+mn-ea"/>
                          <a:cs typeface="+mn-cs"/>
                        </a:rPr>
                        <a:t>Affirmation of fact or promise which turns out to be untrue</a:t>
                      </a:r>
                    </a:p>
                    <a:p>
                      <a:pPr marL="285750" marR="0" indent="-285750">
                        <a:spcBef>
                          <a:spcPts val="0"/>
                        </a:spcBef>
                        <a:spcAft>
                          <a:spcPts val="0"/>
                        </a:spcAft>
                        <a:buFont typeface="Arial" pitchFamily="34" charset="0"/>
                        <a:buChar char="•"/>
                      </a:pPr>
                      <a:r>
                        <a:rPr kumimoji="0" lang="en-US" sz="1800" kern="1200" dirty="0">
                          <a:solidFill>
                            <a:schemeClr val="dk1"/>
                          </a:solidFill>
                          <a:effectLst/>
                          <a:latin typeface="+mn-lt"/>
                          <a:ea typeface="+mn-ea"/>
                          <a:cs typeface="+mn-cs"/>
                        </a:rPr>
                        <a:t>Basis of the bargain</a:t>
                      </a:r>
                    </a:p>
                  </a:txBody>
                  <a:tcPr marL="68580" marR="68580" marT="0" marB="0"/>
                </a:tc>
                <a:tc>
                  <a:txBody>
                    <a:bodyPr/>
                    <a:lstStyle/>
                    <a:p>
                      <a:pPr marL="0" marR="0">
                        <a:spcBef>
                          <a:spcPts val="0"/>
                        </a:spcBef>
                        <a:spcAft>
                          <a:spcPts val="0"/>
                        </a:spcAft>
                      </a:pPr>
                      <a:r>
                        <a:rPr lang="en-US" sz="1800" dirty="0">
                          <a:effectLst/>
                        </a:rPr>
                        <a:t>Y </a:t>
                      </a:r>
                    </a:p>
                    <a:p>
                      <a:pPr marL="0" marR="0">
                        <a:spcBef>
                          <a:spcPts val="0"/>
                        </a:spcBef>
                        <a:spcAft>
                          <a:spcPts val="0"/>
                        </a:spcAft>
                      </a:pPr>
                      <a:r>
                        <a:rPr lang="en-US" sz="1800" dirty="0">
                          <a:effectLst/>
                        </a:rPr>
                        <a:t>(if</a:t>
                      </a:r>
                      <a:r>
                        <a:rPr lang="en-US" sz="1800" baseline="0" dirty="0">
                          <a:effectLst/>
                        </a:rPr>
                        <a:t> material)</a:t>
                      </a:r>
                      <a:endParaRPr lang="en-US" sz="1800" dirty="0">
                        <a:effectLst/>
                        <a:latin typeface="Times New Roman"/>
                        <a:ea typeface="Times New Roman"/>
                      </a:endParaRPr>
                    </a:p>
                  </a:txBody>
                  <a:tcPr marL="68580" marR="68580" marT="0" marB="0"/>
                </a:tc>
                <a:tc>
                  <a:txBody>
                    <a:bodyPr/>
                    <a:lstStyle/>
                    <a:p>
                      <a:pPr marL="0" marR="0">
                        <a:spcBef>
                          <a:spcPts val="0"/>
                        </a:spcBef>
                        <a:spcAft>
                          <a:spcPts val="0"/>
                        </a:spcAft>
                      </a:pPr>
                      <a:r>
                        <a:rPr lang="en-US" sz="1800" dirty="0">
                          <a:effectLst/>
                        </a:rPr>
                        <a:t>Y</a:t>
                      </a:r>
                      <a:endParaRPr lang="en-US" sz="1800" dirty="0">
                        <a:effectLst/>
                        <a:latin typeface="Times New Roman"/>
                        <a:ea typeface="Times New Roman"/>
                      </a:endParaRPr>
                    </a:p>
                  </a:txBody>
                  <a:tcPr marL="68580" marR="68580" marT="0" marB="0"/>
                </a:tc>
                <a:extLst>
                  <a:ext uri="{0D108BD9-81ED-4DB2-BD59-A6C34878D82A}">
                    <a16:rowId xmlns:a16="http://schemas.microsoft.com/office/drawing/2014/main" val="3547604932"/>
                  </a:ext>
                </a:extLst>
              </a:tr>
            </a:tbl>
          </a:graphicData>
        </a:graphic>
      </p:graphicFrame>
      <p:sp>
        <p:nvSpPr>
          <p:cNvPr id="5" name="TextBox 4"/>
          <p:cNvSpPr txBox="1"/>
          <p:nvPr/>
        </p:nvSpPr>
        <p:spPr>
          <a:xfrm>
            <a:off x="7658101" y="6400859"/>
            <a:ext cx="1333500" cy="369332"/>
          </a:xfrm>
          <a:prstGeom prst="rect">
            <a:avLst/>
          </a:prstGeom>
          <a:solidFill>
            <a:schemeClr val="accent2"/>
          </a:solidFill>
        </p:spPr>
        <p:txBody>
          <a:bodyPr wrap="square" rtlCol="0">
            <a:spAutoFit/>
          </a:bodyPr>
          <a:lstStyle/>
          <a:p>
            <a:r>
              <a:rPr lang="en-US" dirty="0"/>
              <a:t>*In tort</a:t>
            </a:r>
          </a:p>
        </p:txBody>
      </p:sp>
    </p:spTree>
    <p:extLst>
      <p:ext uri="{BB962C8B-B14F-4D97-AF65-F5344CB8AC3E}">
        <p14:creationId xmlns:p14="http://schemas.microsoft.com/office/powerpoint/2010/main" val="4078310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Reliance on assertions of opinion</a:t>
            </a:r>
          </a:p>
        </p:txBody>
      </p:sp>
      <p:sp>
        <p:nvSpPr>
          <p:cNvPr id="3" name="Content Placeholder 2"/>
          <p:cNvSpPr>
            <a:spLocks noGrp="1"/>
          </p:cNvSpPr>
          <p:nvPr>
            <p:ph sz="quarter" idx="1"/>
          </p:nvPr>
        </p:nvSpPr>
        <p:spPr/>
        <p:txBody>
          <a:bodyPr>
            <a:normAutofit/>
          </a:bodyPr>
          <a:lstStyle/>
          <a:p>
            <a:pPr marL="0" indent="0">
              <a:buNone/>
            </a:pPr>
            <a:r>
              <a:rPr lang="en-US" sz="2400" dirty="0"/>
              <a:t>§ 168 Reliance on Assertions of Opinion</a:t>
            </a:r>
          </a:p>
          <a:p>
            <a:pPr marL="0" indent="0">
              <a:buNone/>
            </a:pPr>
            <a:endParaRPr lang="en-US" sz="2400" dirty="0"/>
          </a:p>
          <a:p>
            <a:pPr marL="0" indent="0">
              <a:buNone/>
            </a:pPr>
            <a:r>
              <a:rPr lang="en-US" sz="2400" dirty="0"/>
              <a:t>(1) An assertion is an opinion if it expresses only a belief, without certainty, as to the existence of a fact or expresses only a judgment as to quality, value, authenticity or similar matters.</a:t>
            </a:r>
          </a:p>
          <a:p>
            <a:pPr marL="457200" indent="-457200">
              <a:buAutoNum type="arabicParenBoth"/>
            </a:pPr>
            <a:endParaRPr lang="en-US" sz="2400" dirty="0"/>
          </a:p>
          <a:p>
            <a:pPr marL="0" indent="0">
              <a:buNone/>
            </a:pPr>
            <a:r>
              <a:rPr lang="en-US" sz="2400" dirty="0"/>
              <a:t>(2) If it is reasonable to do so, the recipient of an assertion of a person's opinion as to facts not disclosed and not otherwise known to the recipient may properly interpret it as an assertion</a:t>
            </a:r>
          </a:p>
          <a:p>
            <a:pPr marL="0" indent="0">
              <a:buNone/>
            </a:pPr>
            <a:r>
              <a:rPr lang="en-US" sz="2400" dirty="0"/>
              <a:t>(a) that the facts known to that person are not incompatible with his opinion, or</a:t>
            </a:r>
          </a:p>
          <a:p>
            <a:pPr marL="0" indent="0">
              <a:buNone/>
            </a:pPr>
            <a:r>
              <a:rPr lang="en-US" sz="2400" dirty="0"/>
              <a:t>(b) that he knows facts sufficient to justify him in forming it.</a:t>
            </a:r>
          </a:p>
        </p:txBody>
      </p:sp>
    </p:spTree>
    <p:extLst>
      <p:ext uri="{BB962C8B-B14F-4D97-AF65-F5344CB8AC3E}">
        <p14:creationId xmlns:p14="http://schemas.microsoft.com/office/powerpoint/2010/main" val="2439090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Reliance on assertions of opinion</a:t>
            </a:r>
          </a:p>
        </p:txBody>
      </p:sp>
      <p:sp>
        <p:nvSpPr>
          <p:cNvPr id="3" name="Content Placeholder 2"/>
          <p:cNvSpPr>
            <a:spLocks noGrp="1"/>
          </p:cNvSpPr>
          <p:nvPr>
            <p:ph sz="quarter" idx="1"/>
          </p:nvPr>
        </p:nvSpPr>
        <p:spPr/>
        <p:txBody>
          <a:bodyPr>
            <a:normAutofit/>
          </a:bodyPr>
          <a:lstStyle/>
          <a:p>
            <a:pPr marL="0" indent="0">
              <a:buNone/>
            </a:pPr>
            <a:r>
              <a:rPr lang="en-US" sz="2400" dirty="0"/>
              <a:t>§ 169  When Reliance on an Assertion of Opinion Is Not Justified</a:t>
            </a:r>
          </a:p>
          <a:p>
            <a:pPr marL="0" indent="0">
              <a:buNone/>
            </a:pPr>
            <a:endParaRPr lang="en-US" sz="2400" dirty="0"/>
          </a:p>
          <a:p>
            <a:pPr marL="0" indent="0">
              <a:buNone/>
            </a:pPr>
            <a:r>
              <a:rPr lang="en-US" sz="2400" dirty="0"/>
              <a:t>To the extent that an assertion is one of opinion only, the recipient is not justified in relying on it unless the recipient</a:t>
            </a:r>
          </a:p>
          <a:p>
            <a:pPr marL="0" indent="0">
              <a:buNone/>
            </a:pPr>
            <a:r>
              <a:rPr lang="en-US" sz="2400" dirty="0"/>
              <a:t>(a) stands in such a </a:t>
            </a:r>
            <a:r>
              <a:rPr lang="en-US" sz="2400" b="1" dirty="0"/>
              <a:t>relation of trust and confidence </a:t>
            </a:r>
            <a:r>
              <a:rPr lang="en-US" sz="2400" dirty="0"/>
              <a:t>to the person whose opinion is asserted that the recipient is reasonable in relying on it, or</a:t>
            </a:r>
          </a:p>
          <a:p>
            <a:pPr marL="0" indent="0">
              <a:buNone/>
            </a:pPr>
            <a:r>
              <a:rPr lang="en-US" sz="2400" dirty="0"/>
              <a:t>(b) reasonably believes that, as compared with himself, the person whose opinion is asserted has </a:t>
            </a:r>
            <a:r>
              <a:rPr lang="en-US" sz="2400" b="1" dirty="0"/>
              <a:t>special skill, judgment or objectivity </a:t>
            </a:r>
            <a:r>
              <a:rPr lang="en-US" sz="2400" dirty="0"/>
              <a:t>with respect to the subject matter, or</a:t>
            </a:r>
          </a:p>
          <a:p>
            <a:pPr marL="0" indent="0">
              <a:buNone/>
            </a:pPr>
            <a:r>
              <a:rPr lang="en-US" sz="2400" dirty="0"/>
              <a:t>(c) is for some other special reason</a:t>
            </a:r>
            <a:r>
              <a:rPr lang="en-US" sz="2400" b="1" dirty="0"/>
              <a:t> particularly susceptible to a misrepresentation </a:t>
            </a:r>
            <a:r>
              <a:rPr lang="en-US" sz="2400" dirty="0"/>
              <a:t>of the type involved.</a:t>
            </a:r>
          </a:p>
        </p:txBody>
      </p:sp>
    </p:spTree>
    <p:extLst>
      <p:ext uri="{BB962C8B-B14F-4D97-AF65-F5344CB8AC3E}">
        <p14:creationId xmlns:p14="http://schemas.microsoft.com/office/powerpoint/2010/main" val="3958376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Speakers of Sports v. </a:t>
            </a:r>
            <a:r>
              <a:rPr lang="en-US" dirty="0" err="1"/>
              <a:t>ProServ</a:t>
            </a:r>
            <a:r>
              <a:rPr lang="en-US" dirty="0"/>
              <a:t> (521)</a:t>
            </a:r>
          </a:p>
        </p:txBody>
      </p:sp>
      <p:sp>
        <p:nvSpPr>
          <p:cNvPr id="3" name="Content Placeholder 2"/>
          <p:cNvSpPr>
            <a:spLocks noGrp="1"/>
          </p:cNvSpPr>
          <p:nvPr>
            <p:ph sz="quarter" idx="1"/>
          </p:nvPr>
        </p:nvSpPr>
        <p:spPr/>
        <p:txBody>
          <a:bodyPr/>
          <a:lstStyle/>
          <a:p>
            <a:r>
              <a:rPr lang="en-US" dirty="0"/>
              <a:t>On what grounds was Speakers of Sports suing? </a:t>
            </a:r>
          </a:p>
          <a:p>
            <a:r>
              <a:rPr lang="en-US" dirty="0"/>
              <a:t>What was the relevant promise?</a:t>
            </a:r>
          </a:p>
          <a:p>
            <a:r>
              <a:rPr lang="en-US" dirty="0"/>
              <a:t>What were the false statements or undisclosed facts?</a:t>
            </a:r>
          </a:p>
          <a:p>
            <a:r>
              <a:rPr lang="en-US" dirty="0"/>
              <a:t>What is puffing according to Posner?</a:t>
            </a:r>
          </a:p>
          <a:p>
            <a:r>
              <a:rPr lang="en-US" dirty="0"/>
              <a:t>Why is puffing not actionable?</a:t>
            </a:r>
          </a:p>
        </p:txBody>
      </p:sp>
    </p:spTree>
    <p:extLst>
      <p:ext uri="{BB962C8B-B14F-4D97-AF65-F5344CB8AC3E}">
        <p14:creationId xmlns:p14="http://schemas.microsoft.com/office/powerpoint/2010/main" val="4042373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Vokes</a:t>
            </a:r>
            <a:r>
              <a:rPr lang="en-US" dirty="0"/>
              <a:t> v. Arthur Murray (523)</a:t>
            </a:r>
          </a:p>
        </p:txBody>
      </p:sp>
      <p:sp>
        <p:nvSpPr>
          <p:cNvPr id="3" name="Content Placeholder 2"/>
          <p:cNvSpPr>
            <a:spLocks noGrp="1"/>
          </p:cNvSpPr>
          <p:nvPr>
            <p:ph sz="quarter" idx="1"/>
          </p:nvPr>
        </p:nvSpPr>
        <p:spPr/>
        <p:txBody>
          <a:bodyPr/>
          <a:lstStyle/>
          <a:p>
            <a:r>
              <a:rPr lang="en-US" dirty="0"/>
              <a:t>What were the false statements or undisclosed facts?</a:t>
            </a:r>
          </a:p>
          <a:p>
            <a:r>
              <a:rPr lang="en-US" dirty="0"/>
              <a:t>What remedy did Mrs. </a:t>
            </a:r>
            <a:r>
              <a:rPr lang="en-US" dirty="0" err="1"/>
              <a:t>Vokes</a:t>
            </a:r>
            <a:r>
              <a:rPr lang="en-US" dirty="0"/>
              <a:t> seek?</a:t>
            </a:r>
          </a:p>
          <a:p>
            <a:r>
              <a:rPr lang="en-US" dirty="0"/>
              <a:t>What features of the case made it an exception to the rules limiting liability for statements of opinion and puffing?</a:t>
            </a:r>
          </a:p>
          <a:p>
            <a:r>
              <a:rPr lang="en-US" dirty="0"/>
              <a:t>What incentives does this ruling create for dance studios?  </a:t>
            </a:r>
          </a:p>
        </p:txBody>
      </p:sp>
    </p:spTree>
    <p:extLst>
      <p:ext uri="{BB962C8B-B14F-4D97-AF65-F5344CB8AC3E}">
        <p14:creationId xmlns:p14="http://schemas.microsoft.com/office/powerpoint/2010/main" val="944025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hlinkClick r:id="rId2"/>
              </a:rPr>
              <a:t>Hong Kong banker wins back millions for dance lessons</a:t>
            </a:r>
            <a:endParaRPr lang="en-US" dirty="0"/>
          </a:p>
        </p:txBody>
      </p:sp>
      <p:sp>
        <p:nvSpPr>
          <p:cNvPr id="3" name="Content Placeholder 2"/>
          <p:cNvSpPr>
            <a:spLocks noGrp="1"/>
          </p:cNvSpPr>
          <p:nvPr>
            <p:ph sz="quarter" idx="1"/>
          </p:nvPr>
        </p:nvSpPr>
        <p:spPr/>
        <p:txBody>
          <a:bodyPr/>
          <a:lstStyle/>
          <a:p>
            <a:endParaRPr lang="en-US" dirty="0"/>
          </a:p>
        </p:txBody>
      </p:sp>
    </p:spTree>
    <p:extLst>
      <p:ext uri="{BB962C8B-B14F-4D97-AF65-F5344CB8AC3E}">
        <p14:creationId xmlns:p14="http://schemas.microsoft.com/office/powerpoint/2010/main" val="2421608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Liability for non-disclosure</a:t>
            </a:r>
          </a:p>
        </p:txBody>
      </p:sp>
      <p:sp>
        <p:nvSpPr>
          <p:cNvPr id="3" name="Content Placeholder 2"/>
          <p:cNvSpPr>
            <a:spLocks noGrp="1"/>
          </p:cNvSpPr>
          <p:nvPr>
            <p:ph sz="quarter" idx="1"/>
          </p:nvPr>
        </p:nvSpPr>
        <p:spPr/>
        <p:txBody>
          <a:bodyPr/>
          <a:lstStyle/>
          <a:p>
            <a:r>
              <a:rPr lang="en-US" dirty="0"/>
              <a:t>At common law, silence is treated as an assertion in cases of:</a:t>
            </a:r>
          </a:p>
          <a:p>
            <a:pPr lvl="1"/>
            <a:r>
              <a:rPr lang="en-US" sz="2600" dirty="0"/>
              <a:t>concealment </a:t>
            </a:r>
          </a:p>
          <a:p>
            <a:pPr lvl="1"/>
            <a:r>
              <a:rPr lang="en-US" sz="2600" dirty="0"/>
              <a:t>failure to correct a previous assertion (‘half-truth’)</a:t>
            </a:r>
          </a:p>
          <a:p>
            <a:pPr lvl="1"/>
            <a:r>
              <a:rPr lang="en-US" sz="2600" dirty="0"/>
              <a:t>fiduciary duty or relationship of trust and confidence</a:t>
            </a:r>
          </a:p>
          <a:p>
            <a:pPr lvl="1"/>
            <a:r>
              <a:rPr lang="en-US" sz="2600" dirty="0"/>
              <a:t>“failure to act in good faith and in accordance with reasonable standards of fair dealing”</a:t>
            </a:r>
          </a:p>
          <a:p>
            <a:pPr lvl="1"/>
            <a:endParaRPr lang="en-US" dirty="0"/>
          </a:p>
          <a:p>
            <a:pPr marL="0" indent="0">
              <a:buNone/>
            </a:pPr>
            <a:r>
              <a:rPr lang="en-US" dirty="0"/>
              <a:t>See Restatement </a:t>
            </a:r>
            <a:r>
              <a:rPr lang="en-US" dirty="0">
                <a:latin typeface="Calibri" panose="020F0502020204030204" pitchFamily="34" charset="0"/>
                <a:cs typeface="Calibri" panose="020F0502020204030204" pitchFamily="34" charset="0"/>
              </a:rPr>
              <a:t>§ 161.</a:t>
            </a:r>
            <a:endParaRPr lang="en-US" dirty="0"/>
          </a:p>
        </p:txBody>
      </p:sp>
    </p:spTree>
    <p:extLst>
      <p:ext uri="{BB962C8B-B14F-4D97-AF65-F5344CB8AC3E}">
        <p14:creationId xmlns:p14="http://schemas.microsoft.com/office/powerpoint/2010/main" val="4211443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Liability for non-disclosure</a:t>
            </a:r>
          </a:p>
        </p:txBody>
      </p:sp>
      <p:sp>
        <p:nvSpPr>
          <p:cNvPr id="3" name="Content Placeholder 2"/>
          <p:cNvSpPr>
            <a:spLocks noGrp="1"/>
          </p:cNvSpPr>
          <p:nvPr>
            <p:ph sz="quarter" idx="1"/>
          </p:nvPr>
        </p:nvSpPr>
        <p:spPr/>
        <p:txBody>
          <a:bodyPr/>
          <a:lstStyle/>
          <a:p>
            <a:r>
              <a:rPr lang="en-US" dirty="0"/>
              <a:t>Various statutes effectively impose liability for non-disclosure, e.g:</a:t>
            </a:r>
          </a:p>
          <a:p>
            <a:pPr lvl="1"/>
            <a:r>
              <a:rPr lang="en-US" sz="2600" dirty="0"/>
              <a:t>securities laws</a:t>
            </a:r>
          </a:p>
          <a:p>
            <a:pPr lvl="1"/>
            <a:r>
              <a:rPr lang="en-US" sz="2600" dirty="0"/>
              <a:t>franchising legislation</a:t>
            </a:r>
          </a:p>
          <a:p>
            <a:pPr lvl="1"/>
            <a:r>
              <a:rPr lang="en-US" sz="2600" dirty="0"/>
              <a:t>truth-in-lending laws</a:t>
            </a:r>
          </a:p>
          <a:p>
            <a:endParaRPr lang="en-US" dirty="0"/>
          </a:p>
        </p:txBody>
      </p:sp>
    </p:spTree>
    <p:extLst>
      <p:ext uri="{BB962C8B-B14F-4D97-AF65-F5344CB8AC3E}">
        <p14:creationId xmlns:p14="http://schemas.microsoft.com/office/powerpoint/2010/main" val="3154434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Swinton</a:t>
            </a:r>
            <a:r>
              <a:rPr lang="en-US" dirty="0"/>
              <a:t> v. Whitinsville </a:t>
            </a:r>
            <a:r>
              <a:rPr lang="en-US" dirty="0" err="1"/>
              <a:t>Sav</a:t>
            </a:r>
            <a:r>
              <a:rPr lang="en-US" dirty="0"/>
              <a:t>. Bank (510)</a:t>
            </a:r>
          </a:p>
        </p:txBody>
      </p:sp>
      <p:sp>
        <p:nvSpPr>
          <p:cNvPr id="3" name="Content Placeholder 2"/>
          <p:cNvSpPr>
            <a:spLocks noGrp="1"/>
          </p:cNvSpPr>
          <p:nvPr>
            <p:ph sz="quarter" idx="1"/>
          </p:nvPr>
        </p:nvSpPr>
        <p:spPr/>
        <p:txBody>
          <a:bodyPr/>
          <a:lstStyle/>
          <a:p>
            <a:r>
              <a:rPr lang="en-US" dirty="0"/>
              <a:t>What were the false statements or undisclosed facts?</a:t>
            </a:r>
          </a:p>
          <a:p>
            <a:r>
              <a:rPr lang="en-US" dirty="0"/>
              <a:t>What remedy did the buyer seek?</a:t>
            </a:r>
          </a:p>
          <a:p>
            <a:r>
              <a:rPr lang="en-US" dirty="0"/>
              <a:t>What is the rationale for the decision? </a:t>
            </a:r>
          </a:p>
          <a:p>
            <a:r>
              <a:rPr lang="en-US" dirty="0"/>
              <a:t>What is the countervailing moral argument?</a:t>
            </a:r>
          </a:p>
          <a:p>
            <a:r>
              <a:rPr lang="en-US" dirty="0"/>
              <a:t>What incentives does this decision create for uninformed buyers? Are they efficient?</a:t>
            </a:r>
          </a:p>
          <a:p>
            <a:r>
              <a:rPr lang="en-US" dirty="0"/>
              <a:t>What incentives would be created by imposing liability for non-disclosure?</a:t>
            </a:r>
          </a:p>
          <a:p>
            <a:r>
              <a:rPr lang="en-US" dirty="0"/>
              <a:t>How can uninformed buyers contract around this rule?</a:t>
            </a:r>
          </a:p>
          <a:p>
            <a:endParaRPr lang="en-US" dirty="0"/>
          </a:p>
        </p:txBody>
      </p:sp>
    </p:spTree>
    <p:extLst>
      <p:ext uri="{BB962C8B-B14F-4D97-AF65-F5344CB8AC3E}">
        <p14:creationId xmlns:p14="http://schemas.microsoft.com/office/powerpoint/2010/main" val="497430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to assume liability for nondisclosure</a:t>
            </a:r>
          </a:p>
        </p:txBody>
      </p:sp>
      <p:sp>
        <p:nvSpPr>
          <p:cNvPr id="3" name="Content Placeholder 2"/>
          <p:cNvSpPr>
            <a:spLocks noGrp="1"/>
          </p:cNvSpPr>
          <p:nvPr>
            <p:ph sz="quarter" idx="1"/>
          </p:nvPr>
        </p:nvSpPr>
        <p:spPr/>
        <p:txBody>
          <a:bodyPr/>
          <a:lstStyle/>
          <a:p>
            <a:r>
              <a:rPr lang="en-US" dirty="0"/>
              <a:t>Broad representations and warranties:</a:t>
            </a:r>
          </a:p>
          <a:p>
            <a:pPr lvl="1"/>
            <a:r>
              <a:rPr lang="en-US" sz="2600" dirty="0"/>
              <a:t>‘There are no material defects in this house.’  </a:t>
            </a:r>
          </a:p>
          <a:p>
            <a:pPr lvl="1"/>
            <a:r>
              <a:rPr lang="en-US" sz="2600" dirty="0"/>
              <a:t>‘There is no condition, event or occurrence that is likely to have a material adverse effect on the value of the house.’</a:t>
            </a:r>
          </a:p>
          <a:p>
            <a:endParaRPr lang="en-US" dirty="0"/>
          </a:p>
        </p:txBody>
      </p:sp>
    </p:spTree>
    <p:extLst>
      <p:ext uri="{BB962C8B-B14F-4D97-AF65-F5344CB8AC3E}">
        <p14:creationId xmlns:p14="http://schemas.microsoft.com/office/powerpoint/2010/main" val="4087189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Kannavos</a:t>
            </a:r>
            <a:r>
              <a:rPr lang="en-US" dirty="0"/>
              <a:t> v. </a:t>
            </a:r>
            <a:r>
              <a:rPr lang="en-US" dirty="0" err="1"/>
              <a:t>Annino</a:t>
            </a:r>
            <a:r>
              <a:rPr lang="en-US" dirty="0"/>
              <a:t> (513)</a:t>
            </a:r>
          </a:p>
        </p:txBody>
      </p:sp>
      <p:sp>
        <p:nvSpPr>
          <p:cNvPr id="3" name="Content Placeholder 2"/>
          <p:cNvSpPr>
            <a:spLocks noGrp="1"/>
          </p:cNvSpPr>
          <p:nvPr>
            <p:ph sz="quarter" idx="1"/>
          </p:nvPr>
        </p:nvSpPr>
        <p:spPr/>
        <p:txBody>
          <a:bodyPr/>
          <a:lstStyle/>
          <a:p>
            <a:r>
              <a:rPr lang="en-US" dirty="0"/>
              <a:t>What were the false statements or undisclosed facts?</a:t>
            </a:r>
          </a:p>
          <a:p>
            <a:r>
              <a:rPr lang="en-US" dirty="0"/>
              <a:t>Why did Swinton not bar the claim? Was it overruled?</a:t>
            </a:r>
          </a:p>
          <a:p>
            <a:r>
              <a:rPr lang="en-US" dirty="0"/>
              <a:t>What incentives does this decision create?  Are those incentives efficient?</a:t>
            </a:r>
          </a:p>
          <a:p>
            <a:r>
              <a:rPr lang="en-US" dirty="0"/>
              <a:t>Why not require due diligence?</a:t>
            </a:r>
          </a:p>
          <a:p>
            <a:r>
              <a:rPr lang="en-US" dirty="0"/>
              <a:t>How can sellers contract around this rule?</a:t>
            </a:r>
          </a:p>
          <a:p>
            <a:endParaRPr lang="en-US" dirty="0"/>
          </a:p>
          <a:p>
            <a:endParaRPr lang="en-US" dirty="0"/>
          </a:p>
        </p:txBody>
      </p:sp>
    </p:spTree>
    <p:extLst>
      <p:ext uri="{BB962C8B-B14F-4D97-AF65-F5344CB8AC3E}">
        <p14:creationId xmlns:p14="http://schemas.microsoft.com/office/powerpoint/2010/main" val="2806278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Disclaimers of liability for non-disclosure</a:t>
            </a:r>
          </a:p>
        </p:txBody>
      </p:sp>
      <p:sp>
        <p:nvSpPr>
          <p:cNvPr id="3" name="Content Placeholder 2"/>
          <p:cNvSpPr>
            <a:spLocks noGrp="1"/>
          </p:cNvSpPr>
          <p:nvPr>
            <p:ph sz="quarter" idx="1"/>
          </p:nvPr>
        </p:nvSpPr>
        <p:spPr/>
        <p:txBody>
          <a:bodyPr/>
          <a:lstStyle/>
          <a:p>
            <a:r>
              <a:rPr lang="en-US" dirty="0"/>
              <a:t>As is clause:</a:t>
            </a:r>
          </a:p>
          <a:p>
            <a:pPr lvl="1"/>
            <a:r>
              <a:rPr lang="en-US" sz="2600" dirty="0"/>
              <a:t>Seller and Purchaser agree that Purchaser is taking the Property “AS IS” with any and all latent and patent defects under the express understanding that there are no express or implied warranties.”</a:t>
            </a:r>
          </a:p>
        </p:txBody>
      </p:sp>
    </p:spTree>
    <p:extLst>
      <p:ext uri="{BB962C8B-B14F-4D97-AF65-F5344CB8AC3E}">
        <p14:creationId xmlns:p14="http://schemas.microsoft.com/office/powerpoint/2010/main" val="3674921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Policy considerations: non-disclosure</a:t>
            </a:r>
          </a:p>
        </p:txBody>
      </p:sp>
      <p:sp>
        <p:nvSpPr>
          <p:cNvPr id="3" name="Content Placeholder 2"/>
          <p:cNvSpPr>
            <a:spLocks noGrp="1"/>
          </p:cNvSpPr>
          <p:nvPr>
            <p:ph sz="quarter" idx="1"/>
          </p:nvPr>
        </p:nvSpPr>
        <p:spPr/>
        <p:txBody>
          <a:bodyPr/>
          <a:lstStyle/>
          <a:p>
            <a:r>
              <a:rPr lang="en-US" dirty="0"/>
              <a:t>immorality of deliberate deception</a:t>
            </a:r>
          </a:p>
          <a:p>
            <a:r>
              <a:rPr lang="en-US" dirty="0"/>
              <a:t>unfairness of unequal access to information</a:t>
            </a:r>
          </a:p>
          <a:p>
            <a:r>
              <a:rPr lang="en-US" dirty="0"/>
              <a:t>value of preventing mistaken transactions</a:t>
            </a:r>
          </a:p>
          <a:p>
            <a:pPr marL="0" indent="0">
              <a:buNone/>
            </a:pPr>
            <a:endParaRPr lang="en-US" dirty="0"/>
          </a:p>
          <a:p>
            <a:r>
              <a:rPr lang="en-US" dirty="0"/>
              <a:t>incentives to acquire and use information</a:t>
            </a:r>
          </a:p>
          <a:p>
            <a:r>
              <a:rPr lang="en-US" dirty="0"/>
              <a:t>costs of disclosure</a:t>
            </a:r>
          </a:p>
          <a:p>
            <a:r>
              <a:rPr lang="en-US" dirty="0"/>
              <a:t>litigation costs</a:t>
            </a:r>
          </a:p>
          <a:p>
            <a:endParaRPr lang="en-US" dirty="0"/>
          </a:p>
        </p:txBody>
      </p:sp>
    </p:spTree>
    <p:extLst>
      <p:ext uri="{BB962C8B-B14F-4D97-AF65-F5344CB8AC3E}">
        <p14:creationId xmlns:p14="http://schemas.microsoft.com/office/powerpoint/2010/main" val="1365278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Psenicska</a:t>
            </a:r>
            <a:r>
              <a:rPr lang="en-US" dirty="0"/>
              <a:t> v. Twentieth Century Fox Film</a:t>
            </a:r>
          </a:p>
        </p:txBody>
      </p:sp>
      <p:sp>
        <p:nvSpPr>
          <p:cNvPr id="3" name="Content Placeholder 2"/>
          <p:cNvSpPr>
            <a:spLocks noGrp="1"/>
          </p:cNvSpPr>
          <p:nvPr>
            <p:ph sz="quarter" idx="1"/>
          </p:nvPr>
        </p:nvSpPr>
        <p:spPr/>
        <p:txBody>
          <a:bodyPr/>
          <a:lstStyle/>
          <a:p>
            <a:r>
              <a:rPr lang="en-US" dirty="0"/>
              <a:t>What were the plaintiffs’ claims?</a:t>
            </a:r>
          </a:p>
          <a:p>
            <a:r>
              <a:rPr lang="en-US" dirty="0"/>
              <a:t>Did the Release bar the plaintiffs’ claims?</a:t>
            </a:r>
          </a:p>
          <a:p>
            <a:r>
              <a:rPr lang="en-US" dirty="0"/>
              <a:t>What was the basis for the claim of fraudulent inducement?</a:t>
            </a:r>
          </a:p>
          <a:p>
            <a:r>
              <a:rPr lang="en-US" dirty="0"/>
              <a:t>Which provisions limited liability for fraud?</a:t>
            </a:r>
          </a:p>
          <a:p>
            <a:r>
              <a:rPr lang="en-US" dirty="0"/>
              <a:t>Did the plaintiffs assent to those provisions?</a:t>
            </a:r>
          </a:p>
          <a:p>
            <a:r>
              <a:rPr lang="en-US" dirty="0"/>
              <a:t>Are there legitimate reasons for Twentieth Century Fox to use such provisions?</a:t>
            </a:r>
          </a:p>
        </p:txBody>
      </p:sp>
    </p:spTree>
    <p:extLst>
      <p:ext uri="{BB962C8B-B14F-4D97-AF65-F5344CB8AC3E}">
        <p14:creationId xmlns:p14="http://schemas.microsoft.com/office/powerpoint/2010/main" val="3013694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Disclaimers of liability for misrepresentation</a:t>
            </a:r>
          </a:p>
        </p:txBody>
      </p:sp>
      <p:sp>
        <p:nvSpPr>
          <p:cNvPr id="3" name="Content Placeholder 2"/>
          <p:cNvSpPr>
            <a:spLocks noGrp="1"/>
          </p:cNvSpPr>
          <p:nvPr>
            <p:ph sz="quarter" idx="1"/>
          </p:nvPr>
        </p:nvSpPr>
        <p:spPr>
          <a:xfrm>
            <a:off x="457200" y="1219200"/>
            <a:ext cx="8229600" cy="5181600"/>
          </a:xfrm>
        </p:spPr>
        <p:txBody>
          <a:bodyPr>
            <a:normAutofit fontScale="92500" lnSpcReduction="20000"/>
          </a:bodyPr>
          <a:lstStyle/>
          <a:p>
            <a:r>
              <a:rPr lang="en-US" sz="2800" dirty="0"/>
              <a:t>Merger clause: </a:t>
            </a:r>
          </a:p>
          <a:p>
            <a:pPr marL="274638" lvl="1" indent="0">
              <a:buNone/>
            </a:pPr>
            <a:r>
              <a:rPr lang="en-US" sz="2800" dirty="0"/>
              <a:t>“This Agreement represents the entire agreement between the parties regarding the subject matter herein. There are no representations, warranties, other statements or understandings other than those expressly set forth in the Agreement.”</a:t>
            </a:r>
          </a:p>
          <a:p>
            <a:r>
              <a:rPr lang="en-US" sz="2800" dirty="0"/>
              <a:t>Statement of non-reliance:</a:t>
            </a:r>
          </a:p>
          <a:p>
            <a:pPr marL="274638" lvl="1" indent="0">
              <a:buNone/>
            </a:pPr>
            <a:r>
              <a:rPr lang="en-US" sz="2800" dirty="0"/>
              <a:t>“Participant is not relying upon any promises or statements made by anyone about [the nature of the Film]”</a:t>
            </a:r>
          </a:p>
          <a:p>
            <a:r>
              <a:rPr lang="en-US" sz="2800" dirty="0"/>
              <a:t>Waiver of right to sue:</a:t>
            </a:r>
          </a:p>
          <a:p>
            <a:pPr marL="274638" lvl="1" indent="0">
              <a:buNone/>
            </a:pPr>
            <a:r>
              <a:rPr lang="en-US" sz="2800" dirty="0"/>
              <a:t>Participant “waives, and agrees not to bring” any claims “that include assertions of…fraud (such as any alleged deception or surprise about this film).”</a:t>
            </a:r>
          </a:p>
          <a:p>
            <a:pPr marL="0" indent="0">
              <a:buNone/>
            </a:pPr>
            <a:endParaRPr lang="en-US" dirty="0"/>
          </a:p>
          <a:p>
            <a:endParaRPr lang="en-US" dirty="0"/>
          </a:p>
        </p:txBody>
      </p:sp>
    </p:spTree>
    <p:extLst>
      <p:ext uri="{BB962C8B-B14F-4D97-AF65-F5344CB8AC3E}">
        <p14:creationId xmlns:p14="http://schemas.microsoft.com/office/powerpoint/2010/main" val="1210102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Should it be possible to contract out of liability for fraud?</a:t>
            </a:r>
          </a:p>
        </p:txBody>
      </p:sp>
      <p:sp>
        <p:nvSpPr>
          <p:cNvPr id="3" name="Content Placeholder 2"/>
          <p:cNvSpPr>
            <a:spLocks noGrp="1"/>
          </p:cNvSpPr>
          <p:nvPr>
            <p:ph sz="quarter" idx="1"/>
          </p:nvPr>
        </p:nvSpPr>
        <p:spPr/>
        <p:txBody>
          <a:bodyPr/>
          <a:lstStyle/>
          <a:p>
            <a:r>
              <a:rPr lang="en-US" dirty="0"/>
              <a:t>It is typically both fair and efficient for the maker of a representation to bear the risk of known inaccuracies because they can mitigate the risk at low cost.</a:t>
            </a:r>
          </a:p>
          <a:p>
            <a:r>
              <a:rPr lang="en-US" dirty="0"/>
              <a:t>Respect for party autonomy favors enforcement of contracts opting out of liability.</a:t>
            </a:r>
          </a:p>
          <a:p>
            <a:r>
              <a:rPr lang="en-US" dirty="0"/>
              <a:t>It may be efficient to limit liability for fraud in order to:</a:t>
            </a:r>
          </a:p>
          <a:p>
            <a:pPr lvl="1"/>
            <a:r>
              <a:rPr lang="en-US" sz="2600" dirty="0"/>
              <a:t>Limit litigation costs (especially if non-legal sanctions are potent)</a:t>
            </a:r>
          </a:p>
          <a:p>
            <a:pPr lvl="1"/>
            <a:r>
              <a:rPr lang="en-US" sz="2600" dirty="0"/>
              <a:t>Limit agency costs</a:t>
            </a:r>
          </a:p>
        </p:txBody>
      </p:sp>
    </p:spTree>
    <p:extLst>
      <p:ext uri="{BB962C8B-B14F-4D97-AF65-F5344CB8AC3E}">
        <p14:creationId xmlns:p14="http://schemas.microsoft.com/office/powerpoint/2010/main" val="2581637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2035</TotalTime>
  <Words>1099</Words>
  <Application>Microsoft Office PowerPoint</Application>
  <PresentationFormat>On-screen Show (4:3)</PresentationFormat>
  <Paragraphs>143</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Bookman Old Style</vt:lpstr>
      <vt:lpstr>Calibri</vt:lpstr>
      <vt:lpstr>Gill Sans MT</vt:lpstr>
      <vt:lpstr>Times New Roman</vt:lpstr>
      <vt:lpstr>Wingdings</vt:lpstr>
      <vt:lpstr>Wingdings 3</vt:lpstr>
      <vt:lpstr>Origin</vt:lpstr>
      <vt:lpstr>Class 12: Misrepresentation</vt:lpstr>
      <vt:lpstr>Key questions</vt:lpstr>
      <vt:lpstr>Topics</vt:lpstr>
      <vt:lpstr>Policy considerations: misrepresentation</vt:lpstr>
      <vt:lpstr>Misrepresentation and related claims</vt:lpstr>
      <vt:lpstr>Reliance on assertions of opinion</vt:lpstr>
      <vt:lpstr>Reliance on assertions of opinion</vt:lpstr>
      <vt:lpstr>Speakers of Sports v. ProServ (521)</vt:lpstr>
      <vt:lpstr>Vokes v. Arthur Murray (523)</vt:lpstr>
      <vt:lpstr>Hong Kong banker wins back millions for dance lessons</vt:lpstr>
      <vt:lpstr>Liability for non-disclosure</vt:lpstr>
      <vt:lpstr>Liability for non-disclosure</vt:lpstr>
      <vt:lpstr>Swinton v. Whitinsville Sav. Bank (510)</vt:lpstr>
      <vt:lpstr>How to assume liability for nondisclosure</vt:lpstr>
      <vt:lpstr>Kannavos v. Annino (513)</vt:lpstr>
      <vt:lpstr>Disclaimers of liability for non-disclosure</vt:lpstr>
      <vt:lpstr>Policy considerations: non-disclosure</vt:lpstr>
      <vt:lpstr>Psenicska v. Twentieth Century Fox Film</vt:lpstr>
      <vt:lpstr>Disclaimers of liability for misrepresentation</vt:lpstr>
      <vt:lpstr>Should it be possible to contract out of liability for fraud?</vt:lpstr>
    </vt:vector>
  </TitlesOfParts>
  <Company>NYU School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13: Misrepresentation</dc:title>
  <dc:creator>Davis, Kevin</dc:creator>
  <cp:lastModifiedBy>Davis, Kevin</cp:lastModifiedBy>
  <cp:revision>55</cp:revision>
  <dcterms:created xsi:type="dcterms:W3CDTF">2014-10-08T17:55:27Z</dcterms:created>
  <dcterms:modified xsi:type="dcterms:W3CDTF">2026-10-01T14:49:07Z</dcterms:modified>
</cp:coreProperties>
</file>