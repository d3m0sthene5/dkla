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20"/>
  </p:handoutMasterIdLst>
  <p:sldIdLst>
    <p:sldId id="257" r:id="rId2"/>
    <p:sldId id="259" r:id="rId3"/>
    <p:sldId id="258" r:id="rId4"/>
    <p:sldId id="260" r:id="rId5"/>
    <p:sldId id="261" r:id="rId6"/>
    <p:sldId id="262" r:id="rId7"/>
    <p:sldId id="305" r:id="rId8"/>
    <p:sldId id="309" r:id="rId9"/>
    <p:sldId id="307" r:id="rId10"/>
    <p:sldId id="264" r:id="rId11"/>
    <p:sldId id="275" r:id="rId12"/>
    <p:sldId id="268" r:id="rId13"/>
    <p:sldId id="269" r:id="rId14"/>
    <p:sldId id="274" r:id="rId15"/>
    <p:sldId id="270" r:id="rId16"/>
    <p:sldId id="271" r:id="rId17"/>
    <p:sldId id="272" r:id="rId18"/>
    <p:sldId id="273" r:id="rId19"/>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A09869A2-DDF4-4AB4-8F60-8DB6806C8046}" type="datetimeFigureOut">
              <a:rPr lang="en-US" smtClean="0"/>
              <a:t>8/24/2026</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D7D22A7D-C066-4E1A-8BF1-64538E613ED3}" type="slidenum">
              <a:rPr lang="en-US" smtClean="0"/>
              <a:t>‹#›</a:t>
            </a:fld>
            <a:endParaRPr lang="en-US"/>
          </a:p>
        </p:txBody>
      </p:sp>
    </p:spTree>
    <p:extLst>
      <p:ext uri="{BB962C8B-B14F-4D97-AF65-F5344CB8AC3E}">
        <p14:creationId xmlns:p14="http://schemas.microsoft.com/office/powerpoint/2010/main" val="27421002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8/24/2026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30013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8/24/2026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81289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8/24/2026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725025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8/24/2026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797200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8/24/2026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332114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8/24/2026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726268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8/24/2026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703154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8/24/2026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543455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8/24/2026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12405616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8/24/2026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3146283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8/24/2026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35604872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4215004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8/24/2026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3718550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apple.com/legal/internet-services/itunes/dev/stdeul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Class 1: Overview</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0981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Administration and logistics</a:t>
            </a:r>
          </a:p>
        </p:txBody>
      </p:sp>
      <p:sp>
        <p:nvSpPr>
          <p:cNvPr id="3" name="Content Placeholder 2"/>
          <p:cNvSpPr>
            <a:spLocks noGrp="1"/>
          </p:cNvSpPr>
          <p:nvPr>
            <p:ph sz="quarter" idx="1"/>
          </p:nvPr>
        </p:nvSpPr>
        <p:spPr/>
        <p:txBody>
          <a:bodyPr>
            <a:normAutofit/>
          </a:bodyPr>
          <a:lstStyle/>
          <a:p>
            <a:r>
              <a:rPr lang="en-US" dirty="0"/>
              <a:t>Materials</a:t>
            </a:r>
          </a:p>
          <a:p>
            <a:r>
              <a:rPr lang="en-US" dirty="0"/>
              <a:t>Notice of inability to participate fully</a:t>
            </a:r>
          </a:p>
          <a:p>
            <a:r>
              <a:rPr lang="en-US" dirty="0"/>
              <a:t>Laptops for note-taking</a:t>
            </a:r>
          </a:p>
          <a:p>
            <a:r>
              <a:rPr lang="en-US" dirty="0"/>
              <a:t>Slides posted on Brightspace</a:t>
            </a:r>
          </a:p>
          <a:p>
            <a:r>
              <a:rPr lang="en-US" dirty="0"/>
              <a:t>Office hours</a:t>
            </a:r>
          </a:p>
          <a:p>
            <a:r>
              <a:rPr lang="en-US" dirty="0"/>
              <a:t>Review sessions</a:t>
            </a:r>
          </a:p>
          <a:p>
            <a:endParaRPr lang="en-US" dirty="0"/>
          </a:p>
        </p:txBody>
      </p:sp>
    </p:spTree>
    <p:extLst>
      <p:ext uri="{BB962C8B-B14F-4D97-AF65-F5344CB8AC3E}">
        <p14:creationId xmlns:p14="http://schemas.microsoft.com/office/powerpoint/2010/main" val="2709877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sz="quarter" idx="1"/>
          </p:nvPr>
        </p:nvSpPr>
        <p:spPr/>
        <p:txBody>
          <a:bodyPr/>
          <a:lstStyle/>
          <a:p>
            <a:r>
              <a:rPr lang="en-US" dirty="0"/>
              <a:t>Why study contract law?</a:t>
            </a:r>
          </a:p>
          <a:p>
            <a:r>
              <a:rPr lang="en-US" dirty="0"/>
              <a:t>What are we going to study?</a:t>
            </a:r>
          </a:p>
          <a:p>
            <a:r>
              <a:rPr lang="en-US" dirty="0"/>
              <a:t>What are you expected to learn?</a:t>
            </a:r>
          </a:p>
          <a:p>
            <a:r>
              <a:rPr lang="en-US" dirty="0"/>
              <a:t>Introductory cases</a:t>
            </a:r>
          </a:p>
          <a:p>
            <a:endParaRPr lang="en-US" dirty="0"/>
          </a:p>
        </p:txBody>
      </p:sp>
    </p:spTree>
    <p:extLst>
      <p:ext uri="{BB962C8B-B14F-4D97-AF65-F5344CB8AC3E}">
        <p14:creationId xmlns:p14="http://schemas.microsoft.com/office/powerpoint/2010/main" val="3254203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study contract law?</a:t>
            </a:r>
          </a:p>
        </p:txBody>
      </p:sp>
      <p:sp>
        <p:nvSpPr>
          <p:cNvPr id="3" name="Content Placeholder 2"/>
          <p:cNvSpPr>
            <a:spLocks noGrp="1"/>
          </p:cNvSpPr>
          <p:nvPr>
            <p:ph sz="quarter" idx="1"/>
          </p:nvPr>
        </p:nvSpPr>
        <p:spPr/>
        <p:txBody>
          <a:bodyPr/>
          <a:lstStyle/>
          <a:p>
            <a:r>
              <a:rPr lang="en-US" dirty="0"/>
              <a:t>Contracts are everywhere</a:t>
            </a:r>
          </a:p>
          <a:p>
            <a:r>
              <a:rPr lang="en-US" dirty="0"/>
              <a:t>Contract law often trumps</a:t>
            </a:r>
          </a:p>
          <a:p>
            <a:r>
              <a:rPr lang="en-US" dirty="0"/>
              <a:t>Economic, moral and political significance</a:t>
            </a:r>
          </a:p>
          <a:p>
            <a:pPr lvl="1"/>
            <a:r>
              <a:rPr lang="en-US" dirty="0"/>
              <a:t>Autonomy</a:t>
            </a:r>
          </a:p>
          <a:p>
            <a:pPr lvl="1"/>
            <a:r>
              <a:rPr lang="en-US" dirty="0"/>
              <a:t>Efficiency</a:t>
            </a:r>
          </a:p>
          <a:p>
            <a:pPr lvl="1"/>
            <a:r>
              <a:rPr lang="en-US" dirty="0"/>
              <a:t>Fairness</a:t>
            </a:r>
          </a:p>
          <a:p>
            <a:pPr lvl="1"/>
            <a:r>
              <a:rPr lang="en-US" dirty="0"/>
              <a:t>Distributive justice</a:t>
            </a:r>
          </a:p>
          <a:p>
            <a:r>
              <a:rPr lang="en-US" dirty="0"/>
              <a:t>Professional benefits</a:t>
            </a:r>
          </a:p>
          <a:p>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7722" y="3124200"/>
            <a:ext cx="4746147" cy="2674852"/>
          </a:xfrm>
          <a:prstGeom prst="rect">
            <a:avLst/>
          </a:prstGeom>
          <a:ln>
            <a:solidFill>
              <a:schemeClr val="tx1"/>
            </a:solidFill>
          </a:ln>
        </p:spPr>
      </p:pic>
    </p:spTree>
    <p:extLst>
      <p:ext uri="{BB962C8B-B14F-4D97-AF65-F5344CB8AC3E}">
        <p14:creationId xmlns:p14="http://schemas.microsoft.com/office/powerpoint/2010/main" val="783377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Vonnegut on transactional lawyers</a:t>
            </a:r>
          </a:p>
        </p:txBody>
      </p:sp>
      <p:sp>
        <p:nvSpPr>
          <p:cNvPr id="3" name="Content Placeholder 2"/>
          <p:cNvSpPr>
            <a:spLocks noGrp="1"/>
          </p:cNvSpPr>
          <p:nvPr>
            <p:ph sz="quarter" idx="1"/>
          </p:nvPr>
        </p:nvSpPr>
        <p:spPr/>
        <p:txBody>
          <a:bodyPr/>
          <a:lstStyle/>
          <a:p>
            <a:pPr marL="0" indent="0">
              <a:buNone/>
            </a:pPr>
            <a:r>
              <a:rPr lang="en-US" dirty="0"/>
              <a:t>“In every big transaction... there is a magic moment during which a man has surrendered a treasure, and during which the man who is due to receive it has not yet done so.   An alert lawyer will make that moment his own, possessing the treasure for a magic microsecond, taking a little of it, passing it on.  If the man who is to receive the treasure is unused to wealth, has an inferiority complex and shapeless feelings of guilt, as most people do, the lawyer can often take as much as half the bundle, and still receive the recipient’s blubbering thanks.”</a:t>
            </a:r>
          </a:p>
        </p:txBody>
      </p:sp>
    </p:spTree>
    <p:extLst>
      <p:ext uri="{BB962C8B-B14F-4D97-AF65-F5344CB8AC3E}">
        <p14:creationId xmlns:p14="http://schemas.microsoft.com/office/powerpoint/2010/main" val="135700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you expected to learn?</a:t>
            </a:r>
          </a:p>
        </p:txBody>
      </p:sp>
      <p:sp>
        <p:nvSpPr>
          <p:cNvPr id="3" name="Content Placeholder 2"/>
          <p:cNvSpPr>
            <a:spLocks noGrp="1"/>
          </p:cNvSpPr>
          <p:nvPr>
            <p:ph sz="quarter" idx="1"/>
          </p:nvPr>
        </p:nvSpPr>
        <p:spPr/>
        <p:txBody>
          <a:bodyPr/>
          <a:lstStyle/>
          <a:p>
            <a:r>
              <a:rPr lang="en-US" dirty="0"/>
              <a:t>How to litigate contractual disputes.</a:t>
            </a:r>
          </a:p>
          <a:p>
            <a:r>
              <a:rPr lang="en-US" dirty="0"/>
              <a:t>How to draft contracts.</a:t>
            </a:r>
          </a:p>
        </p:txBody>
      </p:sp>
    </p:spTree>
    <p:extLst>
      <p:ext uri="{BB962C8B-B14F-4D97-AF65-F5344CB8AC3E}">
        <p14:creationId xmlns:p14="http://schemas.microsoft.com/office/powerpoint/2010/main" val="4215218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we going to study?</a:t>
            </a:r>
          </a:p>
        </p:txBody>
      </p:sp>
      <p:sp>
        <p:nvSpPr>
          <p:cNvPr id="5" name="Content Placeholder 4"/>
          <p:cNvSpPr>
            <a:spLocks noGrp="1"/>
          </p:cNvSpPr>
          <p:nvPr>
            <p:ph sz="quarter" idx="1"/>
          </p:nvPr>
        </p:nvSpPr>
        <p:spPr/>
        <p:txBody>
          <a:bodyPr/>
          <a:lstStyle/>
          <a:p>
            <a:r>
              <a:rPr lang="en-US" dirty="0"/>
              <a:t>Is there an enforceable promise?</a:t>
            </a:r>
          </a:p>
          <a:p>
            <a:r>
              <a:rPr lang="en-US" dirty="0"/>
              <a:t>Has it been breached?</a:t>
            </a:r>
          </a:p>
          <a:p>
            <a:r>
              <a:rPr lang="en-US" dirty="0"/>
              <a:t>Has performance been excused?</a:t>
            </a:r>
          </a:p>
          <a:p>
            <a:r>
              <a:rPr lang="en-US" dirty="0"/>
              <a:t>How should the promise be enforced?</a:t>
            </a:r>
          </a:p>
          <a:p>
            <a:endParaRPr lang="en-US" dirty="0"/>
          </a:p>
        </p:txBody>
      </p:sp>
    </p:spTree>
    <p:extLst>
      <p:ext uri="{BB962C8B-B14F-4D97-AF65-F5344CB8AC3E}">
        <p14:creationId xmlns:p14="http://schemas.microsoft.com/office/powerpoint/2010/main" val="776944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we going to study?</a:t>
            </a:r>
          </a:p>
        </p:txBody>
      </p:sp>
      <p:sp>
        <p:nvSpPr>
          <p:cNvPr id="3" name="Content Placeholder 2"/>
          <p:cNvSpPr>
            <a:spLocks noGrp="1"/>
          </p:cNvSpPr>
          <p:nvPr>
            <p:ph sz="quarter" idx="1"/>
          </p:nvPr>
        </p:nvSpPr>
        <p:spPr>
          <a:xfrm>
            <a:off x="304800" y="1156008"/>
            <a:ext cx="4041648" cy="5092392"/>
          </a:xfrm>
        </p:spPr>
        <p:txBody>
          <a:bodyPr>
            <a:normAutofit fontScale="25000" lnSpcReduction="20000"/>
          </a:bodyPr>
          <a:lstStyle/>
          <a:p>
            <a:pPr>
              <a:buFont typeface="Wingdings" pitchFamily="2" charset="2"/>
              <a:buChar char="Ø"/>
            </a:pPr>
            <a:r>
              <a:rPr lang="en-US" sz="6400" dirty="0"/>
              <a:t>Formation</a:t>
            </a:r>
          </a:p>
          <a:p>
            <a:pPr>
              <a:spcBef>
                <a:spcPts val="0"/>
              </a:spcBef>
              <a:buFont typeface="Wingdings" pitchFamily="2" charset="2"/>
              <a:buChar char="Ø"/>
            </a:pPr>
            <a:endParaRPr lang="en-US" sz="6400" dirty="0"/>
          </a:p>
          <a:p>
            <a:pPr>
              <a:spcBef>
                <a:spcPts val="0"/>
              </a:spcBef>
              <a:buFont typeface="Wingdings" pitchFamily="2" charset="2"/>
              <a:buChar char="Ø"/>
            </a:pPr>
            <a:endParaRPr lang="en-US" sz="6400" dirty="0"/>
          </a:p>
          <a:p>
            <a:pPr>
              <a:spcBef>
                <a:spcPts val="0"/>
              </a:spcBef>
              <a:buFont typeface="Wingdings" pitchFamily="2" charset="2"/>
              <a:buChar char="Ø"/>
            </a:pPr>
            <a:endParaRPr lang="en-US" sz="6400" dirty="0"/>
          </a:p>
          <a:p>
            <a:pPr>
              <a:spcBef>
                <a:spcPts val="0"/>
              </a:spcBef>
              <a:buFont typeface="Wingdings" pitchFamily="2" charset="2"/>
              <a:buChar char="Ø"/>
            </a:pPr>
            <a:endParaRPr lang="en-US" sz="6400" dirty="0"/>
          </a:p>
          <a:p>
            <a:pPr>
              <a:spcBef>
                <a:spcPts val="0"/>
              </a:spcBef>
              <a:buFont typeface="Wingdings" pitchFamily="2" charset="2"/>
              <a:buChar char="Ø"/>
            </a:pPr>
            <a:endParaRPr lang="en-US" sz="6400" dirty="0"/>
          </a:p>
          <a:p>
            <a:pPr>
              <a:spcBef>
                <a:spcPts val="1200"/>
              </a:spcBef>
              <a:buFont typeface="Wingdings" pitchFamily="2" charset="2"/>
              <a:buChar char="Ø"/>
            </a:pPr>
            <a:r>
              <a:rPr lang="en-US" sz="6400" dirty="0"/>
              <a:t>Validity</a:t>
            </a:r>
          </a:p>
          <a:p>
            <a:pPr>
              <a:buFont typeface="Wingdings" pitchFamily="2" charset="2"/>
              <a:buChar char="Ø"/>
            </a:pPr>
            <a:endParaRPr lang="en-US" sz="6400" dirty="0"/>
          </a:p>
          <a:p>
            <a:pPr>
              <a:spcBef>
                <a:spcPts val="1200"/>
              </a:spcBef>
              <a:buFont typeface="Wingdings" pitchFamily="2" charset="2"/>
              <a:buChar char="Ø"/>
            </a:pPr>
            <a:endParaRPr lang="en-US" sz="6400" dirty="0"/>
          </a:p>
          <a:p>
            <a:pPr>
              <a:spcBef>
                <a:spcPts val="1200"/>
              </a:spcBef>
              <a:buFont typeface="Wingdings" pitchFamily="2" charset="2"/>
              <a:buChar char="Ø"/>
            </a:pPr>
            <a:endParaRPr lang="en-US" sz="6400" dirty="0"/>
          </a:p>
          <a:p>
            <a:pPr>
              <a:spcBef>
                <a:spcPts val="800"/>
              </a:spcBef>
              <a:buFont typeface="Wingdings" pitchFamily="2" charset="2"/>
              <a:buChar char="Ø"/>
            </a:pPr>
            <a:r>
              <a:rPr lang="en-US" sz="6400" dirty="0"/>
              <a:t>Interpretation</a:t>
            </a:r>
          </a:p>
          <a:p>
            <a:pPr>
              <a:spcBef>
                <a:spcPts val="1200"/>
              </a:spcBef>
              <a:buFont typeface="Wingdings" pitchFamily="2" charset="2"/>
              <a:buChar char="Ø"/>
            </a:pPr>
            <a:endParaRPr lang="en-US" sz="6400" dirty="0"/>
          </a:p>
          <a:p>
            <a:pPr marL="182880">
              <a:spcBef>
                <a:spcPts val="1800"/>
              </a:spcBef>
              <a:buFont typeface="Wingdings" pitchFamily="2" charset="2"/>
              <a:buChar char="Ø"/>
            </a:pPr>
            <a:r>
              <a:rPr lang="en-US" sz="6400" dirty="0"/>
              <a:t>Excuses</a:t>
            </a:r>
          </a:p>
          <a:p>
            <a:pPr>
              <a:spcBef>
                <a:spcPts val="1200"/>
              </a:spcBef>
              <a:buFont typeface="Wingdings" pitchFamily="2" charset="2"/>
              <a:buChar char="Ø"/>
            </a:pPr>
            <a:endParaRPr lang="en-US" sz="6400" dirty="0"/>
          </a:p>
          <a:p>
            <a:pPr>
              <a:buFont typeface="Wingdings" pitchFamily="2" charset="2"/>
              <a:buChar char="Ø"/>
            </a:pPr>
            <a:endParaRPr lang="en-US" sz="6400" dirty="0"/>
          </a:p>
          <a:p>
            <a:pPr>
              <a:buFont typeface="Wingdings" pitchFamily="2" charset="2"/>
              <a:buChar char="Ø"/>
            </a:pPr>
            <a:endParaRPr lang="en-US" sz="6400" dirty="0"/>
          </a:p>
          <a:p>
            <a:pPr>
              <a:spcBef>
                <a:spcPts val="1600"/>
              </a:spcBef>
              <a:buFont typeface="Wingdings" pitchFamily="2" charset="2"/>
              <a:buChar char="Ø"/>
            </a:pPr>
            <a:r>
              <a:rPr lang="en-US" sz="6400" dirty="0"/>
              <a:t>Remedies</a:t>
            </a:r>
          </a:p>
          <a:p>
            <a:pPr>
              <a:buFont typeface="Wingdings" pitchFamily="2" charset="2"/>
              <a:buChar char="Ø"/>
            </a:pPr>
            <a:endParaRPr lang="en-US" dirty="0"/>
          </a:p>
          <a:p>
            <a:pPr>
              <a:buFont typeface="Wingdings" pitchFamily="2" charset="2"/>
              <a:buChar char="Ø"/>
            </a:pPr>
            <a:endParaRPr lang="en-US" dirty="0"/>
          </a:p>
          <a:p>
            <a:pPr>
              <a:buFont typeface="Wingdings" pitchFamily="2" charset="2"/>
              <a:buChar char="Ø"/>
            </a:pPr>
            <a:endParaRPr lang="en-US" dirty="0"/>
          </a:p>
        </p:txBody>
      </p:sp>
      <p:sp>
        <p:nvSpPr>
          <p:cNvPr id="4" name="Content Placeholder 3"/>
          <p:cNvSpPr>
            <a:spLocks noGrp="1"/>
          </p:cNvSpPr>
          <p:nvPr>
            <p:ph sz="quarter" idx="2"/>
          </p:nvPr>
        </p:nvSpPr>
        <p:spPr>
          <a:xfrm>
            <a:off x="2209800" y="1143000"/>
            <a:ext cx="5105400" cy="5105400"/>
          </a:xfrm>
        </p:spPr>
        <p:txBody>
          <a:bodyPr>
            <a:normAutofit fontScale="25000" lnSpcReduction="20000"/>
          </a:bodyPr>
          <a:lstStyle/>
          <a:p>
            <a:pPr lvl="1"/>
            <a:r>
              <a:rPr lang="en-US" sz="6400" dirty="0"/>
              <a:t>Mutual assent/offer and acceptance</a:t>
            </a:r>
          </a:p>
          <a:p>
            <a:pPr lvl="1"/>
            <a:r>
              <a:rPr lang="en-US" sz="6400" dirty="0"/>
              <a:t>Consideration</a:t>
            </a:r>
          </a:p>
          <a:p>
            <a:pPr lvl="1"/>
            <a:r>
              <a:rPr lang="en-US" sz="6400" dirty="0"/>
              <a:t>Formal requirements</a:t>
            </a:r>
          </a:p>
          <a:p>
            <a:pPr lvl="1"/>
            <a:r>
              <a:rPr lang="en-US" sz="6400" dirty="0"/>
              <a:t>Third party beneficiaries</a:t>
            </a:r>
          </a:p>
          <a:p>
            <a:pPr marL="274320" lvl="1" indent="0">
              <a:buNone/>
            </a:pPr>
            <a:endParaRPr lang="en-US" sz="6400" dirty="0"/>
          </a:p>
          <a:p>
            <a:pPr lvl="1"/>
            <a:r>
              <a:rPr lang="en-US" sz="6400" dirty="0"/>
              <a:t>Duress</a:t>
            </a:r>
          </a:p>
          <a:p>
            <a:pPr lvl="1"/>
            <a:r>
              <a:rPr lang="en-US" sz="6400" dirty="0"/>
              <a:t>Misrepresentation</a:t>
            </a:r>
          </a:p>
          <a:p>
            <a:pPr lvl="1"/>
            <a:r>
              <a:rPr lang="en-US" sz="6400" dirty="0" err="1"/>
              <a:t>Unconscionability</a:t>
            </a:r>
            <a:endParaRPr lang="en-US" sz="6400" dirty="0"/>
          </a:p>
          <a:p>
            <a:pPr lvl="1"/>
            <a:r>
              <a:rPr lang="en-US" sz="6400" dirty="0"/>
              <a:t>Public policy</a:t>
            </a:r>
          </a:p>
          <a:p>
            <a:pPr marL="274320" lvl="1" indent="0">
              <a:buNone/>
            </a:pPr>
            <a:endParaRPr lang="en-US" sz="6400" dirty="0"/>
          </a:p>
          <a:p>
            <a:pPr lvl="1"/>
            <a:r>
              <a:rPr lang="en-US" sz="6400" dirty="0" err="1"/>
              <a:t>Parol</a:t>
            </a:r>
            <a:r>
              <a:rPr lang="en-US" sz="6400" dirty="0"/>
              <a:t> evidence rule / use of extrinsic evidence</a:t>
            </a:r>
          </a:p>
          <a:p>
            <a:pPr lvl="1"/>
            <a:r>
              <a:rPr lang="en-US" sz="6400" dirty="0"/>
              <a:t>Rules of construction</a:t>
            </a:r>
          </a:p>
          <a:p>
            <a:pPr lvl="1"/>
            <a:endParaRPr lang="en-US" sz="6400" dirty="0"/>
          </a:p>
          <a:p>
            <a:pPr lvl="1"/>
            <a:r>
              <a:rPr lang="en-US" sz="6400" dirty="0"/>
              <a:t>Conditions</a:t>
            </a:r>
          </a:p>
          <a:p>
            <a:pPr lvl="1"/>
            <a:r>
              <a:rPr lang="en-US" sz="6400" dirty="0"/>
              <a:t>Mistake</a:t>
            </a:r>
          </a:p>
          <a:p>
            <a:pPr lvl="1"/>
            <a:r>
              <a:rPr lang="en-US" sz="6400" dirty="0"/>
              <a:t>Impracticability</a:t>
            </a:r>
          </a:p>
          <a:p>
            <a:pPr lvl="1"/>
            <a:r>
              <a:rPr lang="en-US" sz="6400" dirty="0"/>
              <a:t>Frustration</a:t>
            </a:r>
          </a:p>
          <a:p>
            <a:pPr lvl="1"/>
            <a:endParaRPr lang="en-US" sz="6400" dirty="0"/>
          </a:p>
          <a:p>
            <a:pPr lvl="1"/>
            <a:r>
              <a:rPr lang="en-US" sz="6400" dirty="0"/>
              <a:t>Specific relief</a:t>
            </a:r>
          </a:p>
          <a:p>
            <a:pPr lvl="1"/>
            <a:r>
              <a:rPr lang="en-US" sz="6400" dirty="0"/>
              <a:t>Damages, including limitations</a:t>
            </a:r>
            <a:endParaRPr lang="en-US" dirty="0"/>
          </a:p>
        </p:txBody>
      </p:sp>
      <p:sp>
        <p:nvSpPr>
          <p:cNvPr id="9" name="TextBox 8"/>
          <p:cNvSpPr txBox="1"/>
          <p:nvPr/>
        </p:nvSpPr>
        <p:spPr>
          <a:xfrm>
            <a:off x="5334000" y="1676400"/>
            <a:ext cx="3657600" cy="1846659"/>
          </a:xfrm>
          <a:prstGeom prst="rect">
            <a:avLst/>
          </a:prstGeom>
          <a:noFill/>
          <a:ln>
            <a:solidFill>
              <a:schemeClr val="tx1"/>
            </a:solidFill>
          </a:ln>
        </p:spPr>
        <p:txBody>
          <a:bodyPr wrap="square" rtlCol="0">
            <a:spAutoFit/>
          </a:bodyPr>
          <a:lstStyle/>
          <a:p>
            <a:r>
              <a:rPr lang="en-US" sz="2400" dirty="0">
                <a:solidFill>
                  <a:prstClr val="black"/>
                </a:solidFill>
              </a:rPr>
              <a:t>Related causes of action</a:t>
            </a:r>
          </a:p>
          <a:p>
            <a:pPr marL="285750" indent="-285750">
              <a:buFont typeface="Wingdings" pitchFamily="2" charset="2"/>
              <a:buChar char="Ø"/>
            </a:pPr>
            <a:r>
              <a:rPr lang="en-US" dirty="0">
                <a:solidFill>
                  <a:prstClr val="black"/>
                </a:solidFill>
              </a:rPr>
              <a:t>Promissory estoppel</a:t>
            </a:r>
          </a:p>
          <a:p>
            <a:pPr marL="285750" indent="-285750">
              <a:buFont typeface="Wingdings" pitchFamily="2" charset="2"/>
              <a:buChar char="Ø"/>
            </a:pPr>
            <a:r>
              <a:rPr lang="en-US" dirty="0">
                <a:solidFill>
                  <a:prstClr val="black"/>
                </a:solidFill>
              </a:rPr>
              <a:t>Restitution</a:t>
            </a:r>
          </a:p>
          <a:p>
            <a:pPr marL="285750" indent="-285750">
              <a:buFont typeface="Wingdings" pitchFamily="2" charset="2"/>
              <a:buChar char="Ø"/>
            </a:pPr>
            <a:r>
              <a:rPr lang="en-US" dirty="0">
                <a:solidFill>
                  <a:prstClr val="black"/>
                </a:solidFill>
              </a:rPr>
              <a:t>Misrepresentation</a:t>
            </a:r>
          </a:p>
          <a:p>
            <a:pPr marL="285750" indent="-285750">
              <a:buFont typeface="Wingdings" pitchFamily="2" charset="2"/>
              <a:buChar char="Ø"/>
            </a:pPr>
            <a:r>
              <a:rPr lang="en-US" dirty="0">
                <a:solidFill>
                  <a:prstClr val="black"/>
                </a:solidFill>
              </a:rPr>
              <a:t>Tortious interference</a:t>
            </a:r>
          </a:p>
          <a:p>
            <a:pPr marL="285750" indent="-285750">
              <a:buFont typeface="Wingdings" pitchFamily="2" charset="2"/>
              <a:buChar char="Ø"/>
            </a:pPr>
            <a:r>
              <a:rPr lang="en-US" dirty="0">
                <a:solidFill>
                  <a:prstClr val="black"/>
                </a:solidFill>
              </a:rPr>
              <a:t>Negligence</a:t>
            </a:r>
          </a:p>
        </p:txBody>
      </p:sp>
    </p:spTree>
    <p:extLst>
      <p:ext uri="{BB962C8B-B14F-4D97-AF65-F5344CB8AC3E}">
        <p14:creationId xmlns:p14="http://schemas.microsoft.com/office/powerpoint/2010/main" val="157272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Sources of US Contract Law</a:t>
            </a:r>
          </a:p>
        </p:txBody>
      </p:sp>
      <p:sp>
        <p:nvSpPr>
          <p:cNvPr id="5" name="Content Placeholder 4"/>
          <p:cNvSpPr>
            <a:spLocks noGrp="1"/>
          </p:cNvSpPr>
          <p:nvPr>
            <p:ph sz="quarter" idx="1"/>
          </p:nvPr>
        </p:nvSpPr>
        <p:spPr>
          <a:xfrm>
            <a:off x="457200" y="1219200"/>
            <a:ext cx="8299142" cy="4937760"/>
          </a:xfrm>
        </p:spPr>
        <p:txBody>
          <a:bodyPr>
            <a:normAutofit fontScale="92500" lnSpcReduction="10000"/>
          </a:bodyPr>
          <a:lstStyle/>
          <a:p>
            <a:r>
              <a:rPr lang="en-US" dirty="0"/>
              <a:t>Treaties</a:t>
            </a:r>
          </a:p>
          <a:p>
            <a:pPr lvl="1"/>
            <a:r>
              <a:rPr lang="en-US" dirty="0"/>
              <a:t>E.g., United Nations Convention on Contracts for the International Sale of Goods</a:t>
            </a:r>
          </a:p>
          <a:p>
            <a:r>
              <a:rPr lang="en-US" dirty="0"/>
              <a:t>Federal legislation</a:t>
            </a:r>
          </a:p>
          <a:p>
            <a:r>
              <a:rPr lang="en-US" dirty="0"/>
              <a:t>Federal common law</a:t>
            </a:r>
          </a:p>
          <a:p>
            <a:r>
              <a:rPr lang="en-US" dirty="0"/>
              <a:t>State legislation </a:t>
            </a:r>
          </a:p>
          <a:p>
            <a:pPr lvl="1"/>
            <a:r>
              <a:rPr lang="en-US" dirty="0"/>
              <a:t>Uniform Commercial Code </a:t>
            </a:r>
          </a:p>
          <a:p>
            <a:pPr lvl="2"/>
            <a:r>
              <a:rPr lang="en-US" dirty="0"/>
              <a:t>E.g.  Article 2 (sale of goods)</a:t>
            </a:r>
          </a:p>
          <a:p>
            <a:pPr lvl="1"/>
            <a:r>
              <a:rPr lang="en-US" dirty="0"/>
              <a:t>New York General Obligations Law</a:t>
            </a:r>
          </a:p>
          <a:p>
            <a:r>
              <a:rPr lang="en-US" dirty="0"/>
              <a:t>State common law</a:t>
            </a:r>
          </a:p>
          <a:p>
            <a:pPr lvl="1"/>
            <a:r>
              <a:rPr lang="en-US" dirty="0"/>
              <a:t>Non-uniform</a:t>
            </a:r>
          </a:p>
          <a:p>
            <a:pPr lvl="1"/>
            <a:r>
              <a:rPr lang="en-US" dirty="0"/>
              <a:t>Includes both common law and equity</a:t>
            </a:r>
          </a:p>
          <a:p>
            <a:pPr lvl="1"/>
            <a:r>
              <a:rPr lang="en-US" dirty="0"/>
              <a:t>Synthesized in Restatement, Second, Contracts</a:t>
            </a:r>
          </a:p>
        </p:txBody>
      </p:sp>
      <p:sp>
        <p:nvSpPr>
          <p:cNvPr id="2" name="TextBox 1"/>
          <p:cNvSpPr txBox="1"/>
          <p:nvPr/>
        </p:nvSpPr>
        <p:spPr>
          <a:xfrm>
            <a:off x="5784542" y="2057400"/>
            <a:ext cx="3054658" cy="2215991"/>
          </a:xfrm>
          <a:prstGeom prst="rect">
            <a:avLst/>
          </a:prstGeom>
          <a:noFill/>
          <a:ln w="3175">
            <a:solidFill>
              <a:schemeClr val="tx1"/>
            </a:solidFill>
          </a:ln>
        </p:spPr>
        <p:txBody>
          <a:bodyPr wrap="square" rtlCol="0">
            <a:spAutoFit/>
          </a:bodyPr>
          <a:lstStyle/>
          <a:p>
            <a:pPr algn="ctr"/>
            <a:r>
              <a:rPr lang="en-US" sz="2400" dirty="0">
                <a:solidFill>
                  <a:prstClr val="black"/>
                </a:solidFill>
              </a:rPr>
              <a:t>Modes of Adjudication</a:t>
            </a:r>
          </a:p>
          <a:p>
            <a:pPr marL="285750" indent="-285750">
              <a:buFont typeface="Wingdings" pitchFamily="2" charset="2"/>
              <a:buChar char="Ø"/>
            </a:pPr>
            <a:r>
              <a:rPr lang="en-US" dirty="0">
                <a:solidFill>
                  <a:prstClr val="black"/>
                </a:solidFill>
              </a:rPr>
              <a:t>Federal court*</a:t>
            </a:r>
          </a:p>
          <a:p>
            <a:pPr marL="285750" indent="-285750">
              <a:buFont typeface="Wingdings" pitchFamily="2" charset="2"/>
              <a:buChar char="Ø"/>
            </a:pPr>
            <a:r>
              <a:rPr lang="en-US" dirty="0">
                <a:solidFill>
                  <a:prstClr val="black"/>
                </a:solidFill>
              </a:rPr>
              <a:t>State court*</a:t>
            </a:r>
          </a:p>
          <a:p>
            <a:pPr marL="285750" indent="-285750">
              <a:buFont typeface="Wingdings" pitchFamily="2" charset="2"/>
              <a:buChar char="Ø"/>
            </a:pPr>
            <a:r>
              <a:rPr lang="en-US" dirty="0">
                <a:solidFill>
                  <a:prstClr val="black"/>
                </a:solidFill>
              </a:rPr>
              <a:t>Arbitration</a:t>
            </a:r>
          </a:p>
          <a:p>
            <a:endParaRPr lang="en-US" dirty="0">
              <a:solidFill>
                <a:prstClr val="black"/>
              </a:solidFill>
            </a:endParaRPr>
          </a:p>
          <a:p>
            <a:r>
              <a:rPr lang="en-US" dirty="0">
                <a:solidFill>
                  <a:prstClr val="black"/>
                </a:solidFill>
              </a:rPr>
              <a:t>*Note possibility of jury trial.</a:t>
            </a:r>
          </a:p>
        </p:txBody>
      </p:sp>
    </p:spTree>
    <p:extLst>
      <p:ext uri="{BB962C8B-B14F-4D97-AF65-F5344CB8AC3E}">
        <p14:creationId xmlns:p14="http://schemas.microsoft.com/office/powerpoint/2010/main" val="1282156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82000" cy="990600"/>
          </a:xfrm>
        </p:spPr>
        <p:txBody>
          <a:bodyPr>
            <a:normAutofit fontScale="90000"/>
          </a:bodyPr>
          <a:lstStyle/>
          <a:p>
            <a:r>
              <a:rPr lang="en-US" dirty="0">
                <a:hlinkClick r:id="rId2"/>
              </a:rPr>
              <a:t>Apple App Store End User License Agreement</a:t>
            </a:r>
            <a:endParaRPr lang="en-US" dirty="0"/>
          </a:p>
        </p:txBody>
      </p:sp>
      <p:sp>
        <p:nvSpPr>
          <p:cNvPr id="3" name="Content Placeholder 2"/>
          <p:cNvSpPr>
            <a:spLocks noGrp="1"/>
          </p:cNvSpPr>
          <p:nvPr>
            <p:ph sz="quarter" idx="1"/>
          </p:nvPr>
        </p:nvSpPr>
        <p:spPr/>
        <p:txBody>
          <a:bodyPr>
            <a:normAutofit/>
          </a:bodyPr>
          <a:lstStyle/>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82C2DE31-BE8B-CD8C-AD3A-8B0C692FCA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9503" y="1782438"/>
            <a:ext cx="5817394" cy="4667250"/>
          </a:xfrm>
          <a:prstGeom prst="rect">
            <a:avLst/>
          </a:prstGeom>
          <a:noFill/>
        </p:spPr>
      </p:pic>
      <p:sp>
        <p:nvSpPr>
          <p:cNvPr id="6" name="TextBox 5">
            <a:extLst>
              <a:ext uri="{FF2B5EF4-FFF2-40B4-BE49-F238E27FC236}">
                <a16:creationId xmlns:a16="http://schemas.microsoft.com/office/drawing/2014/main" id="{1619BA98-1CA7-11B3-48E4-30F5A2326D64}"/>
              </a:ext>
            </a:extLst>
          </p:cNvPr>
          <p:cNvSpPr txBox="1"/>
          <p:nvPr/>
        </p:nvSpPr>
        <p:spPr>
          <a:xfrm>
            <a:off x="6324600" y="1414392"/>
            <a:ext cx="2514600" cy="2031325"/>
          </a:xfrm>
          <a:prstGeom prst="rect">
            <a:avLst/>
          </a:prstGeom>
          <a:noFill/>
          <a:ln>
            <a:solidFill>
              <a:schemeClr val="tx2"/>
            </a:solidFill>
          </a:ln>
        </p:spPr>
        <p:txBody>
          <a:bodyPr wrap="square" rtlCol="0">
            <a:spAutoFit/>
          </a:bodyPr>
          <a:lstStyle/>
          <a:p>
            <a:pPr algn="ctr"/>
            <a:r>
              <a:rPr lang="en-US" b="1" dirty="0"/>
              <a:t>Apple App Store</a:t>
            </a:r>
          </a:p>
          <a:p>
            <a:pPr marL="285750" indent="-285750">
              <a:buFont typeface="Arial" panose="020B0604020202020204" pitchFamily="34" charset="0"/>
              <a:buChar char="•"/>
            </a:pPr>
            <a:r>
              <a:rPr lang="en-US" dirty="0"/>
              <a:t>Approx 2 million apps</a:t>
            </a:r>
          </a:p>
          <a:p>
            <a:pPr marL="285750" indent="-285750">
              <a:buFont typeface="Arial" panose="020B0604020202020204" pitchFamily="34" charset="0"/>
              <a:buChar char="•"/>
            </a:pPr>
            <a:r>
              <a:rPr lang="en-US" dirty="0"/>
              <a:t>“facilitated $1.3 trillion in billings and sales” (2024)</a:t>
            </a:r>
          </a:p>
          <a:p>
            <a:pPr marL="285750" indent="-285750">
              <a:buFont typeface="Arial" panose="020B0604020202020204" pitchFamily="34" charset="0"/>
              <a:buChar char="•"/>
            </a:pPr>
            <a:r>
              <a:rPr lang="en-US" dirty="0"/>
              <a:t>97.7% of apps use default EULA</a:t>
            </a:r>
          </a:p>
        </p:txBody>
      </p:sp>
    </p:spTree>
    <p:extLst>
      <p:ext uri="{BB962C8B-B14F-4D97-AF65-F5344CB8AC3E}">
        <p14:creationId xmlns:p14="http://schemas.microsoft.com/office/powerpoint/2010/main" val="1185844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82000" cy="990600"/>
          </a:xfrm>
        </p:spPr>
        <p:txBody>
          <a:bodyPr>
            <a:normAutofit fontScale="90000"/>
          </a:bodyPr>
          <a:lstStyle/>
          <a:p>
            <a:r>
              <a:rPr lang="en-US" dirty="0"/>
              <a:t>Apple App Store End User License Agreement</a:t>
            </a:r>
          </a:p>
        </p:txBody>
      </p:sp>
      <p:sp>
        <p:nvSpPr>
          <p:cNvPr id="3" name="Content Placeholder 2"/>
          <p:cNvSpPr>
            <a:spLocks noGrp="1"/>
          </p:cNvSpPr>
          <p:nvPr>
            <p:ph sz="quarter" idx="1"/>
          </p:nvPr>
        </p:nvSpPr>
        <p:spPr/>
        <p:txBody>
          <a:bodyPr>
            <a:normAutofit/>
          </a:bodyPr>
          <a:lstStyle/>
          <a:p>
            <a:r>
              <a:rPr lang="en-US" dirty="0"/>
              <a:t>What if the app developer fails to perform?</a:t>
            </a:r>
          </a:p>
          <a:p>
            <a:r>
              <a:rPr lang="en-US" dirty="0"/>
              <a:t>Do you have a claim in contract?</a:t>
            </a:r>
          </a:p>
          <a:p>
            <a:pPr lvl="1"/>
            <a:r>
              <a:rPr lang="en-US" dirty="0"/>
              <a:t>Is there a contract?</a:t>
            </a:r>
          </a:p>
          <a:p>
            <a:pPr lvl="1"/>
            <a:r>
              <a:rPr lang="en-US" dirty="0"/>
              <a:t>Has it been breached?</a:t>
            </a:r>
          </a:p>
          <a:p>
            <a:pPr lvl="1"/>
            <a:r>
              <a:rPr lang="en-US" dirty="0"/>
              <a:t>Has performance been excused?</a:t>
            </a:r>
          </a:p>
          <a:p>
            <a:pPr lvl="1"/>
            <a:r>
              <a:rPr lang="en-US" dirty="0"/>
              <a:t>How will it be enforced?</a:t>
            </a:r>
          </a:p>
          <a:p>
            <a:r>
              <a:rPr lang="en-US" dirty="0"/>
              <a:t>What if you fail to perform?</a:t>
            </a:r>
          </a:p>
          <a:p>
            <a:r>
              <a:rPr lang="en-US" dirty="0"/>
              <a:t>What procedural rules will govern any lawsuit?</a:t>
            </a:r>
          </a:p>
          <a:p>
            <a:r>
              <a:rPr lang="en-US" dirty="0"/>
              <a:t>Where will the adjudicator find the applicable legal rules?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951446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Hawkins v. McGee (2)</a:t>
            </a:r>
          </a:p>
        </p:txBody>
      </p:sp>
      <p:sp>
        <p:nvSpPr>
          <p:cNvPr id="3" name="Content Placeholder 2"/>
          <p:cNvSpPr>
            <a:spLocks noGrp="1"/>
          </p:cNvSpPr>
          <p:nvPr>
            <p:ph sz="quarter" idx="1"/>
          </p:nvPr>
        </p:nvSpPr>
        <p:spPr/>
        <p:txBody>
          <a:bodyPr/>
          <a:lstStyle/>
          <a:p>
            <a:r>
              <a:rPr lang="en-US" dirty="0"/>
              <a:t>What happened in this case?</a:t>
            </a:r>
          </a:p>
          <a:p>
            <a:r>
              <a:rPr lang="en-US" dirty="0"/>
              <a:t>Was there an enforceable promise?  Why?</a:t>
            </a:r>
          </a:p>
          <a:p>
            <a:r>
              <a:rPr lang="en-US" dirty="0"/>
              <a:t>Was it breached?</a:t>
            </a:r>
          </a:p>
          <a:p>
            <a:r>
              <a:rPr lang="en-US" dirty="0"/>
              <a:t>How will the promise be enforced?</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975024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Hawkins v. McGee (2)</a:t>
            </a:r>
          </a:p>
        </p:txBody>
      </p:sp>
      <p:sp>
        <p:nvSpPr>
          <p:cNvPr id="3" name="Content Placeholder 2"/>
          <p:cNvSpPr>
            <a:spLocks noGrp="1"/>
          </p:cNvSpPr>
          <p:nvPr>
            <p:ph sz="quarter" idx="1"/>
          </p:nvPr>
        </p:nvSpPr>
        <p:spPr/>
        <p:txBody>
          <a:bodyPr/>
          <a:lstStyle/>
          <a:p>
            <a:r>
              <a:rPr lang="en-US" dirty="0"/>
              <a:t>What happened in this case?</a:t>
            </a:r>
          </a:p>
          <a:p>
            <a:r>
              <a:rPr lang="en-US" dirty="0"/>
              <a:t>Was there an enforceable promise?  Why?</a:t>
            </a:r>
          </a:p>
          <a:p>
            <a:r>
              <a:rPr lang="en-US" dirty="0"/>
              <a:t>Was it breached?</a:t>
            </a:r>
          </a:p>
          <a:p>
            <a:endParaRPr lang="en-US" dirty="0"/>
          </a:p>
          <a:p>
            <a:pPr marL="0" indent="0">
              <a:buNone/>
            </a:pPr>
            <a:r>
              <a:rPr lang="en-US" dirty="0"/>
              <a:t>“Three or four days, not over four; then the boy can go home and it will be just a few days when he will go back to work with a good hand.”</a:t>
            </a:r>
          </a:p>
          <a:p>
            <a:pPr marL="0" indent="0">
              <a:buNone/>
            </a:pPr>
            <a:endParaRPr lang="en-US" dirty="0"/>
          </a:p>
          <a:p>
            <a:pPr marL="0" indent="0">
              <a:buNone/>
            </a:pPr>
            <a:r>
              <a:rPr lang="en-US" dirty="0"/>
              <a:t>“I will guarantee to make the hand a hundred per cent perfect hand or a hundred per cent good hand.” </a:t>
            </a:r>
          </a:p>
          <a:p>
            <a:pPr marL="0" indent="0">
              <a:buNone/>
            </a:pP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750992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Hawkins v. McGee (11)</a:t>
            </a:r>
          </a:p>
        </p:txBody>
      </p:sp>
      <p:sp>
        <p:nvSpPr>
          <p:cNvPr id="3" name="Content Placeholder 2"/>
          <p:cNvSpPr>
            <a:spLocks noGrp="1"/>
          </p:cNvSpPr>
          <p:nvPr>
            <p:ph sz="quarter" idx="1"/>
          </p:nvPr>
        </p:nvSpPr>
        <p:spPr>
          <a:xfrm>
            <a:off x="457200" y="1219200"/>
            <a:ext cx="8458200" cy="4937760"/>
          </a:xfrm>
        </p:spPr>
        <p:txBody>
          <a:bodyPr/>
          <a:lstStyle/>
          <a:p>
            <a:r>
              <a:rPr lang="en-US" dirty="0"/>
              <a:t>What happened in this case?</a:t>
            </a:r>
          </a:p>
          <a:p>
            <a:r>
              <a:rPr lang="en-US" dirty="0"/>
              <a:t>Was there an enforceable promise?  Why?</a:t>
            </a:r>
          </a:p>
          <a:p>
            <a:r>
              <a:rPr lang="en-US" dirty="0"/>
              <a:t>Was it breached?</a:t>
            </a:r>
          </a:p>
          <a:p>
            <a:r>
              <a:rPr lang="en-US" dirty="0"/>
              <a:t>How will the promise be enforced?</a:t>
            </a:r>
          </a:p>
          <a:p>
            <a:pPr marL="0" indent="0">
              <a:buNone/>
            </a:pPr>
            <a:r>
              <a:rPr lang="en-US" dirty="0"/>
              <a:t>				</a:t>
            </a:r>
          </a:p>
          <a:p>
            <a:pPr marL="0" indent="0">
              <a:buNone/>
            </a:pPr>
            <a:r>
              <a:rPr lang="en-US" dirty="0"/>
              <a:t>			Operation pain, 100% perfect/good hand</a:t>
            </a:r>
          </a:p>
          <a:p>
            <a:pPr marL="0" indent="0">
              <a:buNone/>
            </a:pPr>
            <a:r>
              <a:rPr lang="en-US" dirty="0"/>
              <a:t>Scarred hand</a:t>
            </a:r>
          </a:p>
          <a:p>
            <a:pPr marL="0" indent="0">
              <a:buNone/>
            </a:pPr>
            <a:r>
              <a:rPr lang="en-US" dirty="0"/>
              <a:t>			Operation pain, hairy hand</a:t>
            </a:r>
          </a:p>
          <a:p>
            <a:pPr marL="1920240" lvl="8" indent="0">
              <a:buNone/>
            </a:pPr>
            <a:endParaRPr lang="en-US" dirty="0"/>
          </a:p>
          <a:p>
            <a:endParaRPr lang="en-US" dirty="0"/>
          </a:p>
          <a:p>
            <a:endParaRPr lang="en-US" dirty="0"/>
          </a:p>
          <a:p>
            <a:endParaRPr lang="en-US" dirty="0"/>
          </a:p>
        </p:txBody>
      </p:sp>
      <p:cxnSp>
        <p:nvCxnSpPr>
          <p:cNvPr id="5" name="Straight Arrow Connector 4"/>
          <p:cNvCxnSpPr/>
          <p:nvPr/>
        </p:nvCxnSpPr>
        <p:spPr>
          <a:xfrm>
            <a:off x="2590800" y="4419600"/>
            <a:ext cx="609600" cy="3810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2590800" y="3886200"/>
            <a:ext cx="609600" cy="342900"/>
          </a:xfrm>
          <a:prstGeom prst="straightConnector1">
            <a:avLst/>
          </a:prstGeom>
          <a:ln>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0529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Bayliner</a:t>
            </a:r>
            <a:r>
              <a:rPr lang="en-US" dirty="0"/>
              <a:t> Marine Corp. v. Crow (4)</a:t>
            </a:r>
          </a:p>
        </p:txBody>
      </p:sp>
      <p:sp>
        <p:nvSpPr>
          <p:cNvPr id="3" name="Content Placeholder 2"/>
          <p:cNvSpPr>
            <a:spLocks noGrp="1"/>
          </p:cNvSpPr>
          <p:nvPr>
            <p:ph sz="quarter" idx="1"/>
          </p:nvPr>
        </p:nvSpPr>
        <p:spPr/>
        <p:txBody>
          <a:bodyPr/>
          <a:lstStyle/>
          <a:p>
            <a:r>
              <a:rPr lang="en-US" dirty="0"/>
              <a:t>What happened in this case?</a:t>
            </a:r>
          </a:p>
          <a:p>
            <a:r>
              <a:rPr lang="en-US" dirty="0"/>
              <a:t>Was there an enforceable promise?  Why?</a:t>
            </a:r>
          </a:p>
        </p:txBody>
      </p:sp>
    </p:spTree>
    <p:extLst>
      <p:ext uri="{BB962C8B-B14F-4D97-AF65-F5344CB8AC3E}">
        <p14:creationId xmlns:p14="http://schemas.microsoft.com/office/powerpoint/2010/main" val="519937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Bayliner</a:t>
            </a:r>
            <a:r>
              <a:rPr lang="en-US" dirty="0"/>
              <a:t> Marine Corp. v. Crow (4)</a:t>
            </a:r>
          </a:p>
        </p:txBody>
      </p:sp>
      <p:sp>
        <p:nvSpPr>
          <p:cNvPr id="3" name="Content Placeholder 2"/>
          <p:cNvSpPr>
            <a:spLocks noGrp="1"/>
          </p:cNvSpPr>
          <p:nvPr>
            <p:ph sz="quarter" idx="1"/>
          </p:nvPr>
        </p:nvSpPr>
        <p:spPr/>
        <p:txBody>
          <a:bodyPr/>
          <a:lstStyle/>
          <a:p>
            <a:r>
              <a:rPr lang="en-US" dirty="0"/>
              <a:t>What happened in this case?</a:t>
            </a:r>
          </a:p>
          <a:p>
            <a:r>
              <a:rPr lang="en-US" dirty="0"/>
              <a:t>Was there an enforceable promise?  Why?</a:t>
            </a:r>
          </a:p>
          <a:p>
            <a:pPr lvl="1"/>
            <a:r>
              <a:rPr lang="en-US" dirty="0"/>
              <a:t>What rules were applied? </a:t>
            </a:r>
          </a:p>
          <a:p>
            <a:pPr marL="274320" lvl="1" indent="0">
              <a:buNone/>
            </a:pPr>
            <a:endParaRPr lang="en-US" dirty="0"/>
          </a:p>
          <a:p>
            <a:r>
              <a:rPr lang="en-GB" dirty="0"/>
              <a:t>What if the salesperson had said: “in my opinion, this boat will go 30 miles per hour, no trouble”?</a:t>
            </a:r>
          </a:p>
          <a:p>
            <a:r>
              <a:rPr lang="en-GB" dirty="0"/>
              <a:t>What if there was no statement regarding speed but the boat had a maximum speed of two miles per hour?</a:t>
            </a: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030190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UCC § 2-314</a:t>
            </a:r>
            <a:br>
              <a:rPr lang="en-US" dirty="0"/>
            </a:br>
            <a:r>
              <a:rPr lang="en-US" dirty="0"/>
              <a:t>IMPLIED WARRANTY: MERCHANTABILITY</a:t>
            </a:r>
          </a:p>
        </p:txBody>
      </p:sp>
      <p:sp>
        <p:nvSpPr>
          <p:cNvPr id="3" name="Content Placeholder 2"/>
          <p:cNvSpPr>
            <a:spLocks noGrp="1"/>
          </p:cNvSpPr>
          <p:nvPr>
            <p:ph sz="quarter" idx="1"/>
          </p:nvPr>
        </p:nvSpPr>
        <p:spPr>
          <a:xfrm>
            <a:off x="457200" y="1219200"/>
            <a:ext cx="8610600" cy="5105400"/>
          </a:xfrm>
        </p:spPr>
        <p:txBody>
          <a:bodyPr>
            <a:noAutofit/>
          </a:bodyPr>
          <a:lstStyle/>
          <a:p>
            <a:pPr marL="0" indent="0">
              <a:buNone/>
            </a:pPr>
            <a:r>
              <a:rPr lang="en-US" sz="1900" dirty="0"/>
              <a:t>(1) Unless excluded or modified (Section 2-316), a warranty that the goods shall be merchantable is implied in a contract for their sale if the seller is a merchant with respect to goods of that kind.  Under this section the serving for value of food or drink to be consumed either on the premises or elsewhere is a sale.</a:t>
            </a:r>
          </a:p>
          <a:p>
            <a:endParaRPr lang="en-US" sz="1900" dirty="0"/>
          </a:p>
          <a:p>
            <a:pPr marL="0" indent="0">
              <a:buNone/>
            </a:pPr>
            <a:r>
              <a:rPr lang="en-US" sz="1900" dirty="0"/>
              <a:t>(2) Goods to be merchantable must be at least such as</a:t>
            </a:r>
          </a:p>
          <a:p>
            <a:pPr marL="0" indent="0">
              <a:buNone/>
            </a:pPr>
            <a:r>
              <a:rPr lang="en-US" sz="1900" dirty="0"/>
              <a:t>(a) pass without objection in the trade under the contract description;  and</a:t>
            </a:r>
          </a:p>
          <a:p>
            <a:pPr marL="0" indent="0">
              <a:buNone/>
            </a:pPr>
            <a:r>
              <a:rPr lang="en-US" sz="1900" dirty="0"/>
              <a:t>(b) in the case of fungible goods, are of fair average quality within the description;  and</a:t>
            </a:r>
          </a:p>
          <a:p>
            <a:pPr marL="0" indent="0">
              <a:buNone/>
            </a:pPr>
            <a:r>
              <a:rPr lang="en-US" sz="1900" dirty="0"/>
              <a:t>(c) are fit for the ordinary purposes for which such goods are used;  and</a:t>
            </a:r>
          </a:p>
          <a:p>
            <a:pPr marL="0" indent="0">
              <a:buNone/>
            </a:pPr>
            <a:r>
              <a:rPr lang="en-US" sz="1900" dirty="0"/>
              <a:t>(d) run, within the variations permitted by the agreement, of even kind,  quality and quantity within each unit and among all units involved;  and</a:t>
            </a:r>
          </a:p>
          <a:p>
            <a:pPr marL="0" indent="0">
              <a:buNone/>
            </a:pPr>
            <a:r>
              <a:rPr lang="en-US" sz="1900" dirty="0"/>
              <a:t>(e) are adequately contained, packaged, and labeled as the agreement may require; and</a:t>
            </a:r>
          </a:p>
          <a:p>
            <a:pPr marL="0" indent="0">
              <a:buNone/>
            </a:pPr>
            <a:r>
              <a:rPr lang="en-US" sz="1900" dirty="0"/>
              <a:t>(f) conform to the promise or affirmations of fact made on the container or label if any.</a:t>
            </a:r>
          </a:p>
        </p:txBody>
      </p:sp>
    </p:spTree>
    <p:extLst>
      <p:ext uri="{BB962C8B-B14F-4D97-AF65-F5344CB8AC3E}">
        <p14:creationId xmlns:p14="http://schemas.microsoft.com/office/powerpoint/2010/main" val="1204447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for next class</a:t>
            </a:r>
          </a:p>
        </p:txBody>
      </p:sp>
      <p:sp>
        <p:nvSpPr>
          <p:cNvPr id="3" name="Content Placeholder 2"/>
          <p:cNvSpPr>
            <a:spLocks noGrp="1"/>
          </p:cNvSpPr>
          <p:nvPr>
            <p:ph sz="quarter" idx="1"/>
          </p:nvPr>
        </p:nvSpPr>
        <p:spPr/>
        <p:txBody>
          <a:bodyPr/>
          <a:lstStyle/>
          <a:p>
            <a:r>
              <a:rPr lang="en-GB" dirty="0"/>
              <a:t>Applying the Interests, p. 18</a:t>
            </a:r>
            <a:endParaRPr lang="en-US" dirty="0"/>
          </a:p>
        </p:txBody>
      </p:sp>
    </p:spTree>
    <p:extLst>
      <p:ext uri="{BB962C8B-B14F-4D97-AF65-F5344CB8AC3E}">
        <p14:creationId xmlns:p14="http://schemas.microsoft.com/office/powerpoint/2010/main" val="27609618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5231</TotalTime>
  <Words>972</Words>
  <Application>Microsoft Office PowerPoint</Application>
  <PresentationFormat>On-screen Show (4:3)</PresentationFormat>
  <Paragraphs>176</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Bookman Old Style</vt:lpstr>
      <vt:lpstr>Calibri</vt:lpstr>
      <vt:lpstr>Gill Sans MT</vt:lpstr>
      <vt:lpstr>Wingdings</vt:lpstr>
      <vt:lpstr>Wingdings 3</vt:lpstr>
      <vt:lpstr>Origin</vt:lpstr>
      <vt:lpstr>Class 1: Overview</vt:lpstr>
      <vt:lpstr>Administration and logistics</vt:lpstr>
      <vt:lpstr>Topics</vt:lpstr>
      <vt:lpstr>Why study contract law?</vt:lpstr>
      <vt:lpstr>Vonnegut on transactional lawyers</vt:lpstr>
      <vt:lpstr>What are you expected to learn?</vt:lpstr>
      <vt:lpstr>What are we going to study?</vt:lpstr>
      <vt:lpstr>What are we going to study?</vt:lpstr>
      <vt:lpstr>Sources of US Contract Law</vt:lpstr>
      <vt:lpstr>Apple App Store End User License Agreement</vt:lpstr>
      <vt:lpstr>Apple App Store End User License Agreement</vt:lpstr>
      <vt:lpstr>Hawkins v. McGee (2)</vt:lpstr>
      <vt:lpstr>Hawkins v. McGee (2)</vt:lpstr>
      <vt:lpstr>Hawkins v. McGee (11)</vt:lpstr>
      <vt:lpstr>Bayliner Marine Corp. v. Crow (4)</vt:lpstr>
      <vt:lpstr>Bayliner Marine Corp. v. Crow (4)</vt:lpstr>
      <vt:lpstr>UCC § 2-314 IMPLIED WARRANTY: MERCHANTABILITY</vt:lpstr>
      <vt:lpstr>Problems for next class</vt:lpstr>
    </vt:vector>
  </TitlesOfParts>
  <Company>NYU School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 Introduction</dc:title>
  <dc:creator>Davis, Kevin</dc:creator>
  <cp:lastModifiedBy>Kevin E. Davis</cp:lastModifiedBy>
  <cp:revision>55</cp:revision>
  <cp:lastPrinted>2014-08-27T17:42:32Z</cp:lastPrinted>
  <dcterms:created xsi:type="dcterms:W3CDTF">2014-08-27T17:40:57Z</dcterms:created>
  <dcterms:modified xsi:type="dcterms:W3CDTF">2026-08-25T14:36:06Z</dcterms:modified>
</cp:coreProperties>
</file>