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6" r:id="rId3"/>
  </p:sldMasterIdLst>
  <p:sldIdLst>
    <p:sldId id="257" r:id="rId4"/>
    <p:sldId id="258" r:id="rId5"/>
    <p:sldId id="259" r:id="rId6"/>
    <p:sldId id="272" r:id="rId7"/>
    <p:sldId id="281" r:id="rId8"/>
    <p:sldId id="261" r:id="rId9"/>
    <p:sldId id="273" r:id="rId10"/>
    <p:sldId id="266" r:id="rId11"/>
    <p:sldId id="277" r:id="rId12"/>
    <p:sldId id="263" r:id="rId13"/>
    <p:sldId id="262" r:id="rId14"/>
    <p:sldId id="264" r:id="rId15"/>
    <p:sldId id="279" r:id="rId16"/>
    <p:sldId id="278" r:id="rId17"/>
    <p:sldId id="27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496105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277499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9/14/2026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01397195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62430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02558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486041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820339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701194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9/14/2026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95904614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2393277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1516179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716274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906593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79818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9/14/2026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66228212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848907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793303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5884048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6431707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499227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9/14/2026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54510623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16553748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916297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64547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FEF36688-1E24-4AA1-B140-4E20A235A82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12155198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F36688-1E24-4AA1-B140-4E20A235A82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847144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EF36688-1E24-4AA1-B140-4E20A235A82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22946422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F36688-1E24-4AA1-B140-4E20A235A82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25728707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F36688-1E24-4AA1-B140-4E20A235A829}"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15747318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F36688-1E24-4AA1-B140-4E20A235A829}"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1902855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F36688-1E24-4AA1-B140-4E20A235A829}"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37356699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EF36688-1E24-4AA1-B140-4E20A235A82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1028491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EF36688-1E24-4AA1-B140-4E20A235A82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17339830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F36688-1E24-4AA1-B140-4E20A235A82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38357155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F36688-1E24-4AA1-B140-4E20A235A82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BA55A2-2287-4C5F-A694-6E6AC8BB677E}" type="slidenum">
              <a:rPr lang="en-US" smtClean="0"/>
              <a:t>‹#›</a:t>
            </a:fld>
            <a:endParaRPr lang="en-US"/>
          </a:p>
        </p:txBody>
      </p:sp>
    </p:spTree>
    <p:extLst>
      <p:ext uri="{BB962C8B-B14F-4D97-AF65-F5344CB8AC3E}">
        <p14:creationId xmlns:p14="http://schemas.microsoft.com/office/powerpoint/2010/main" val="3485523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140948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90898471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EF36688-1E24-4AA1-B140-4E20A235A829}" type="datetimeFigureOut">
              <a:rPr lang="en-US" smtClean="0"/>
              <a:t>9/14/2026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7BA55A2-2287-4C5F-A694-6E6AC8BB677E}" type="slidenum">
              <a:rPr lang="en-US" smtClean="0"/>
              <a:t>‹#›</a:t>
            </a:fld>
            <a:endParaRPr lang="en-US"/>
          </a:p>
        </p:txBody>
      </p:sp>
    </p:spTree>
    <p:extLst>
      <p:ext uri="{BB962C8B-B14F-4D97-AF65-F5344CB8AC3E}">
        <p14:creationId xmlns:p14="http://schemas.microsoft.com/office/powerpoint/2010/main" val="1188360086"/>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U_n5SNrMaL8"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normAutofit fontScale="90000"/>
          </a:bodyPr>
          <a:lstStyle/>
          <a:p>
            <a:pPr eaLnBrk="1" hangingPunct="1"/>
            <a:r>
              <a:rPr lang="en-US" altLang="en-US" dirty="0"/>
              <a:t>Class 7: Offer and Acceptance</a:t>
            </a:r>
            <a:br>
              <a:rPr lang="en-US" altLang="en-US" dirty="0"/>
            </a:br>
            <a:endParaRPr lang="en-US" altLang="en-US" dirty="0"/>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1661996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questions</a:t>
            </a:r>
          </a:p>
        </p:txBody>
      </p:sp>
      <p:sp>
        <p:nvSpPr>
          <p:cNvPr id="5" name="Content Placeholder 4"/>
          <p:cNvSpPr>
            <a:spLocks noGrp="1"/>
          </p:cNvSpPr>
          <p:nvPr>
            <p:ph sz="quarter" idx="1"/>
          </p:nvPr>
        </p:nvSpPr>
        <p:spPr/>
        <p:txBody>
          <a:bodyPr/>
          <a:lstStyle/>
          <a:p>
            <a:r>
              <a:rPr lang="en-US" altLang="en-US" b="1" dirty="0"/>
              <a:t>Is there an enforceable promise?</a:t>
            </a:r>
          </a:p>
          <a:p>
            <a:r>
              <a:rPr lang="en-US" altLang="en-US" dirty="0"/>
              <a:t>Has it been breached?</a:t>
            </a:r>
          </a:p>
          <a:p>
            <a:r>
              <a:rPr lang="en-US" altLang="en-US" dirty="0"/>
              <a:t>Has performance been excused?</a:t>
            </a:r>
          </a:p>
          <a:p>
            <a:r>
              <a:rPr lang="en-US" altLang="en-US" dirty="0"/>
              <a:t>How should it be enforced?</a:t>
            </a:r>
          </a:p>
        </p:txBody>
      </p:sp>
    </p:spTree>
    <p:extLst>
      <p:ext uri="{BB962C8B-B14F-4D97-AF65-F5344CB8AC3E}">
        <p14:creationId xmlns:p14="http://schemas.microsoft.com/office/powerpoint/2010/main" val="3514627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a:t>Topics</a:t>
            </a:r>
          </a:p>
        </p:txBody>
      </p:sp>
      <p:sp>
        <p:nvSpPr>
          <p:cNvPr id="10243" name="Content Placeholder 2"/>
          <p:cNvSpPr>
            <a:spLocks noGrp="1"/>
          </p:cNvSpPr>
          <p:nvPr>
            <p:ph sz="quarter" idx="1"/>
          </p:nvPr>
        </p:nvSpPr>
        <p:spPr>
          <a:xfrm>
            <a:off x="457200" y="1219200"/>
            <a:ext cx="8229600" cy="4937125"/>
          </a:xfrm>
        </p:spPr>
        <p:txBody>
          <a:bodyPr>
            <a:normAutofit/>
          </a:bodyPr>
          <a:lstStyle/>
          <a:p>
            <a:pPr eaLnBrk="1" hangingPunct="1"/>
            <a:r>
              <a:rPr lang="en-US" altLang="en-US" dirty="0"/>
              <a:t>What is an offer?</a:t>
            </a:r>
          </a:p>
          <a:p>
            <a:pPr eaLnBrk="1" hangingPunct="1"/>
            <a:r>
              <a:rPr lang="en-US" altLang="en-US" dirty="0"/>
              <a:t>What constitutes acceptance?</a:t>
            </a:r>
          </a:p>
          <a:p>
            <a:pPr lvl="1"/>
            <a:r>
              <a:rPr lang="en-US" altLang="en-US" dirty="0"/>
              <a:t>Ambiguous acceptances</a:t>
            </a:r>
          </a:p>
          <a:p>
            <a:pPr lvl="1"/>
            <a:r>
              <a:rPr lang="en-US" altLang="en-US" dirty="0"/>
              <a:t>Acceptance without notification</a:t>
            </a:r>
          </a:p>
          <a:p>
            <a:pPr lvl="1"/>
            <a:r>
              <a:rPr lang="en-US" altLang="en-US" dirty="0"/>
              <a:t>Acceptance by part performance</a:t>
            </a:r>
          </a:p>
          <a:p>
            <a:pPr eaLnBrk="1" hangingPunct="1"/>
            <a:r>
              <a:rPr lang="en-US" altLang="en-US" dirty="0"/>
              <a:t>Policy considerations, e.g.:</a:t>
            </a:r>
          </a:p>
          <a:p>
            <a:pPr lvl="1" eaLnBrk="1" hangingPunct="1"/>
            <a:r>
              <a:rPr lang="en-US" altLang="en-US" dirty="0"/>
              <a:t>Intentions of parties, taking account of risk of judicial error</a:t>
            </a:r>
          </a:p>
          <a:p>
            <a:pPr lvl="1" eaLnBrk="1" hangingPunct="1"/>
            <a:r>
              <a:rPr lang="en-US" altLang="en-US" dirty="0"/>
              <a:t>Communication costs</a:t>
            </a:r>
          </a:p>
          <a:p>
            <a:pPr lvl="1" eaLnBrk="1" hangingPunct="1"/>
            <a:r>
              <a:rPr lang="en-US" altLang="en-US" dirty="0"/>
              <a:t>Litigation costs</a:t>
            </a:r>
          </a:p>
          <a:p>
            <a:pPr lvl="1" eaLnBrk="1" hangingPunct="1"/>
            <a:r>
              <a:rPr lang="en-US" altLang="en-US" dirty="0"/>
              <a:t>Fairness</a:t>
            </a:r>
          </a:p>
        </p:txBody>
      </p:sp>
    </p:spTree>
    <p:extLst>
      <p:ext uri="{BB962C8B-B14F-4D97-AF65-F5344CB8AC3E}">
        <p14:creationId xmlns:p14="http://schemas.microsoft.com/office/powerpoint/2010/main" val="37938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offer?</a:t>
            </a:r>
          </a:p>
        </p:txBody>
      </p:sp>
      <p:sp>
        <p:nvSpPr>
          <p:cNvPr id="3" name="Content Placeholder 2"/>
          <p:cNvSpPr>
            <a:spLocks noGrp="1"/>
          </p:cNvSpPr>
          <p:nvPr>
            <p:ph sz="quarter" idx="1"/>
          </p:nvPr>
        </p:nvSpPr>
        <p:spPr/>
        <p:txBody>
          <a:bodyPr>
            <a:normAutofit lnSpcReduction="10000"/>
          </a:bodyPr>
          <a:lstStyle/>
          <a:p>
            <a:pPr marL="0" indent="0">
              <a:buNone/>
            </a:pPr>
            <a:r>
              <a:rPr lang="en-US" dirty="0"/>
              <a:t>Restatement 2d § 24</a:t>
            </a:r>
          </a:p>
          <a:p>
            <a:pPr marL="0" indent="0">
              <a:buNone/>
            </a:pPr>
            <a:endParaRPr lang="en-US" dirty="0"/>
          </a:p>
          <a:p>
            <a:pPr marL="0" indent="0">
              <a:buNone/>
            </a:pPr>
            <a:r>
              <a:rPr lang="en-US" dirty="0"/>
              <a:t>An offer is the manifestation of willingness to enter into a bargain so made as to justify another person in understanding that his assent to that bargain is invited and will conclude it.</a:t>
            </a:r>
          </a:p>
          <a:p>
            <a:pPr marL="0" indent="0">
              <a:buNone/>
            </a:pPr>
            <a:endParaRPr lang="en-US" dirty="0"/>
          </a:p>
          <a:p>
            <a:r>
              <a:rPr lang="en-US" dirty="0"/>
              <a:t>Court routinely distinguish quotes and ‘invitations to treat’ from offers.</a:t>
            </a:r>
          </a:p>
          <a:p>
            <a:pPr lvl="1"/>
            <a:r>
              <a:rPr lang="en-US" dirty="0"/>
              <a:t>See e.g., </a:t>
            </a:r>
            <a:r>
              <a:rPr lang="en-US" dirty="0">
                <a:hlinkClick r:id="rId2"/>
              </a:rPr>
              <a:t>Leonard v. </a:t>
            </a:r>
            <a:r>
              <a:rPr lang="en-US" dirty="0" err="1">
                <a:hlinkClick r:id="rId2"/>
              </a:rPr>
              <a:t>Pepsico</a:t>
            </a:r>
            <a:r>
              <a:rPr lang="en-US" dirty="0"/>
              <a:t>. </a:t>
            </a:r>
          </a:p>
          <a:p>
            <a:r>
              <a:rPr lang="en-US" dirty="0"/>
              <a:t>Statements that are not offers may be tortious or violations of consumer protection statutes.</a:t>
            </a:r>
          </a:p>
        </p:txBody>
      </p:sp>
    </p:spTree>
    <p:extLst>
      <p:ext uri="{BB962C8B-B14F-4D97-AF65-F5344CB8AC3E}">
        <p14:creationId xmlns:p14="http://schemas.microsoft.com/office/powerpoint/2010/main" val="3037217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9C71B-FE66-0ED1-FEAB-BE6A4BA6B490}"/>
              </a:ext>
            </a:extLst>
          </p:cNvPr>
          <p:cNvSpPr>
            <a:spLocks noGrp="1"/>
          </p:cNvSpPr>
          <p:nvPr>
            <p:ph type="title"/>
          </p:nvPr>
        </p:nvSpPr>
        <p:spPr/>
        <p:txBody>
          <a:bodyPr>
            <a:normAutofit/>
          </a:bodyPr>
          <a:lstStyle/>
          <a:p>
            <a:r>
              <a:rPr lang="en-US" dirty="0"/>
              <a:t>Lefkowitz v. Great Minneapolis (200)</a:t>
            </a:r>
          </a:p>
        </p:txBody>
      </p:sp>
      <p:sp>
        <p:nvSpPr>
          <p:cNvPr id="3" name="Content Placeholder 2">
            <a:extLst>
              <a:ext uri="{FF2B5EF4-FFF2-40B4-BE49-F238E27FC236}">
                <a16:creationId xmlns:a16="http://schemas.microsoft.com/office/drawing/2014/main" id="{B4661F08-F4F3-0CE1-AEC4-5C1FFC7C393D}"/>
              </a:ext>
            </a:extLst>
          </p:cNvPr>
          <p:cNvSpPr>
            <a:spLocks noGrp="1"/>
          </p:cNvSpPr>
          <p:nvPr>
            <p:ph sz="quarter" idx="1"/>
          </p:nvPr>
        </p:nvSpPr>
        <p:spPr/>
        <p:txBody>
          <a:bodyPr/>
          <a:lstStyle/>
          <a:p>
            <a:r>
              <a:rPr lang="en-US" dirty="0"/>
              <a:t>Why are advertisements not usually treated as offers?</a:t>
            </a:r>
          </a:p>
          <a:p>
            <a:r>
              <a:rPr lang="en-US" dirty="0"/>
              <a:t>Is it reasonable to rely on advertisements?</a:t>
            </a:r>
          </a:p>
          <a:p>
            <a:r>
              <a:rPr lang="en-US" dirty="0"/>
              <a:t>Were these advertisements offers? Why?</a:t>
            </a:r>
          </a:p>
          <a:p>
            <a:r>
              <a:rPr lang="en-US" dirty="0"/>
              <a:t>Were the offers accepted?</a:t>
            </a:r>
          </a:p>
          <a:p>
            <a:r>
              <a:rPr lang="en-US" dirty="0"/>
              <a:t>How will Great Minneapolis respond?</a:t>
            </a:r>
          </a:p>
          <a:p>
            <a:endParaRPr lang="en-US" dirty="0"/>
          </a:p>
          <a:p>
            <a:endParaRPr lang="en-US" dirty="0"/>
          </a:p>
        </p:txBody>
      </p:sp>
    </p:spTree>
    <p:extLst>
      <p:ext uri="{BB962C8B-B14F-4D97-AF65-F5344CB8AC3E}">
        <p14:creationId xmlns:p14="http://schemas.microsoft.com/office/powerpoint/2010/main" val="572097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constitutes acceptance?</a:t>
            </a:r>
          </a:p>
        </p:txBody>
      </p:sp>
      <p:sp>
        <p:nvSpPr>
          <p:cNvPr id="3" name="Content Placeholder 2"/>
          <p:cNvSpPr>
            <a:spLocks noGrp="1"/>
          </p:cNvSpPr>
          <p:nvPr>
            <p:ph sz="quarter" idx="1"/>
          </p:nvPr>
        </p:nvSpPr>
        <p:spPr/>
        <p:txBody>
          <a:bodyPr>
            <a:normAutofit lnSpcReduction="10000"/>
          </a:bodyPr>
          <a:lstStyle/>
          <a:p>
            <a:r>
              <a:rPr lang="en-US" dirty="0"/>
              <a:t>An acceptance is a manifestation of assent to the terms of an offer.</a:t>
            </a:r>
          </a:p>
          <a:p>
            <a:r>
              <a:rPr lang="en-US" dirty="0"/>
              <a:t>The offer may define what qualifies as acceptance – ‘the offeror is master of the offer.’</a:t>
            </a:r>
          </a:p>
          <a:p>
            <a:r>
              <a:rPr lang="en-US" dirty="0"/>
              <a:t>An acceptance must be on the same terms as the offer and must be unconditional.</a:t>
            </a:r>
          </a:p>
          <a:p>
            <a:r>
              <a:rPr lang="en-US" dirty="0"/>
              <a:t>Acceptance may involve either a promise or performance.</a:t>
            </a:r>
          </a:p>
          <a:p>
            <a:r>
              <a:rPr lang="en-US" dirty="0"/>
              <a:t>Silence ordinarily is not acceptance.</a:t>
            </a:r>
          </a:p>
          <a:p>
            <a:r>
              <a:rPr lang="en-US" dirty="0"/>
              <a:t>Acceptance is effective upon dispatch by reasonable means (except in the case of options).</a:t>
            </a:r>
          </a:p>
          <a:p>
            <a:r>
              <a:rPr lang="en-US" dirty="0"/>
              <a:t>Notification of acceptance by promise is ordinarily required.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582546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Notification of acceptance by performance</a:t>
            </a:r>
          </a:p>
        </p:txBody>
      </p:sp>
      <p:sp>
        <p:nvSpPr>
          <p:cNvPr id="3" name="Content Placeholder 2"/>
          <p:cNvSpPr>
            <a:spLocks noGrp="1"/>
          </p:cNvSpPr>
          <p:nvPr>
            <p:ph sz="quarter" idx="1"/>
          </p:nvPr>
        </p:nvSpPr>
        <p:spPr>
          <a:xfrm>
            <a:off x="457199" y="1219200"/>
            <a:ext cx="8534401" cy="4937760"/>
          </a:xfrm>
        </p:spPr>
        <p:txBody>
          <a:bodyPr>
            <a:noAutofit/>
          </a:bodyPr>
          <a:lstStyle/>
          <a:p>
            <a:pPr marL="0" indent="0">
              <a:buNone/>
            </a:pPr>
            <a:r>
              <a:rPr lang="en-US" sz="2300" dirty="0"/>
              <a:t>§ 54 Acceptance by Performance; Necessity of Notification to Offeror</a:t>
            </a:r>
          </a:p>
          <a:p>
            <a:pPr marL="0" indent="0">
              <a:buNone/>
            </a:pPr>
            <a:r>
              <a:rPr lang="en-US" sz="2300" dirty="0"/>
              <a:t>(1) Where an offer invites an offeree to accept by rendering a performance, no notification is necessary to make such an acceptance effective unless the offer requests such a notification.</a:t>
            </a:r>
          </a:p>
          <a:p>
            <a:pPr marL="0" indent="0">
              <a:buNone/>
            </a:pPr>
            <a:r>
              <a:rPr lang="en-US" sz="2300" dirty="0"/>
              <a:t>(2) If an offeree who accepts by rendering a performance has reason to know that the offeror has no adequate means of learning of the performance with reasonable promptness and certainty, the contractual duty of the offeror is discharged unless</a:t>
            </a:r>
          </a:p>
          <a:p>
            <a:pPr marL="0" indent="0">
              <a:buNone/>
            </a:pPr>
            <a:r>
              <a:rPr lang="en-US" sz="2300" dirty="0"/>
              <a:t>(a) the offeree exercises reasonable diligence to notify the offeror of acceptance, or</a:t>
            </a:r>
          </a:p>
          <a:p>
            <a:pPr marL="0" indent="0">
              <a:buNone/>
            </a:pPr>
            <a:r>
              <a:rPr lang="en-US" sz="2300" dirty="0"/>
              <a:t>(b) the offeror learns of the performance within a reasonable time, or</a:t>
            </a:r>
          </a:p>
          <a:p>
            <a:pPr marL="0" indent="0">
              <a:buNone/>
            </a:pPr>
            <a:r>
              <a:rPr lang="en-US" sz="2300" dirty="0"/>
              <a:t>(c) the offer indicates that notification of acceptance is not required.</a:t>
            </a:r>
          </a:p>
        </p:txBody>
      </p:sp>
    </p:spTree>
    <p:extLst>
      <p:ext uri="{BB962C8B-B14F-4D97-AF65-F5344CB8AC3E}">
        <p14:creationId xmlns:p14="http://schemas.microsoft.com/office/powerpoint/2010/main" val="1196594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Termination of the power of acceptance</a:t>
            </a:r>
          </a:p>
        </p:txBody>
      </p:sp>
      <p:sp>
        <p:nvSpPr>
          <p:cNvPr id="3" name="Content Placeholder 2"/>
          <p:cNvSpPr>
            <a:spLocks noGrp="1"/>
          </p:cNvSpPr>
          <p:nvPr>
            <p:ph sz="quarter" idx="1"/>
          </p:nvPr>
        </p:nvSpPr>
        <p:spPr/>
        <p:txBody>
          <a:bodyPr/>
          <a:lstStyle/>
          <a:p>
            <a:r>
              <a:rPr lang="en-US" dirty="0"/>
              <a:t>Lapse</a:t>
            </a:r>
          </a:p>
          <a:p>
            <a:pPr lvl="1"/>
            <a:r>
              <a:rPr lang="en-US" dirty="0"/>
              <a:t>If no period is specified in the offer, it lapses after a reasonable time.</a:t>
            </a:r>
          </a:p>
          <a:p>
            <a:r>
              <a:rPr lang="en-US" dirty="0"/>
              <a:t>Revocation</a:t>
            </a:r>
          </a:p>
          <a:p>
            <a:r>
              <a:rPr lang="en-US" dirty="0"/>
              <a:t>Rejection/counter-offer</a:t>
            </a:r>
          </a:p>
          <a:p>
            <a:r>
              <a:rPr lang="en-US" dirty="0"/>
              <a:t>Death or supervening incapacity of the offeror</a:t>
            </a:r>
          </a:p>
          <a:p>
            <a:endParaRPr lang="en-US" dirty="0"/>
          </a:p>
          <a:p>
            <a:pPr marL="0" indent="0">
              <a:buNone/>
            </a:pPr>
            <a:r>
              <a:rPr lang="en-US" dirty="0"/>
              <a:t>Note that the last three events may not terminate the power to accept an irrevocable offer.</a:t>
            </a:r>
          </a:p>
          <a:p>
            <a:endParaRPr lang="en-US" dirty="0"/>
          </a:p>
        </p:txBody>
      </p:sp>
    </p:spTree>
    <p:extLst>
      <p:ext uri="{BB962C8B-B14F-4D97-AF65-F5344CB8AC3E}">
        <p14:creationId xmlns:p14="http://schemas.microsoft.com/office/powerpoint/2010/main" val="966313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Wucherpfennig</a:t>
            </a:r>
            <a:r>
              <a:rPr lang="en-US" dirty="0"/>
              <a:t> v. Dooley (214)</a:t>
            </a:r>
          </a:p>
        </p:txBody>
      </p:sp>
      <p:sp>
        <p:nvSpPr>
          <p:cNvPr id="3" name="Content Placeholder 2"/>
          <p:cNvSpPr>
            <a:spLocks noGrp="1"/>
          </p:cNvSpPr>
          <p:nvPr>
            <p:ph sz="quarter" idx="1"/>
          </p:nvPr>
        </p:nvSpPr>
        <p:spPr/>
        <p:txBody>
          <a:bodyPr/>
          <a:lstStyle/>
          <a:p>
            <a:pPr marL="0" indent="0">
              <a:buNone/>
            </a:pPr>
            <a:r>
              <a:rPr lang="en-US" dirty="0"/>
              <a:t>Jan. 4:  “Now if Donald wants to buy my share of the real estate I will sell it to him for $200 an acre, provided it is a cash deal &amp; handled promptly.”</a:t>
            </a:r>
          </a:p>
          <a:p>
            <a:pPr marL="0" indent="0">
              <a:buNone/>
            </a:pPr>
            <a:r>
              <a:rPr lang="en-US" dirty="0"/>
              <a:t>Jan. 13: Donald “interested.”</a:t>
            </a:r>
          </a:p>
          <a:p>
            <a:pPr marL="0" indent="0">
              <a:buNone/>
            </a:pPr>
            <a:r>
              <a:rPr lang="en-US" dirty="0"/>
              <a:t>Feb. 17: “…we are therefore ready to proceed with this transaction. Please let me know the exact dollar amount that you expect to receive…”</a:t>
            </a:r>
          </a:p>
          <a:p>
            <a:pPr marL="0" indent="0">
              <a:buNone/>
            </a:pPr>
            <a:r>
              <a:rPr lang="en-US" dirty="0"/>
              <a:t>March 9: Revocation</a:t>
            </a:r>
          </a:p>
          <a:p>
            <a:pPr marL="0" indent="0">
              <a:buNone/>
            </a:pPr>
            <a:endParaRPr lang="en-US" dirty="0"/>
          </a:p>
          <a:p>
            <a:pPr marL="0" indent="0">
              <a:buNone/>
            </a:pPr>
            <a:r>
              <a:rPr lang="en-US" dirty="0"/>
              <a:t>Was the initial letter an offer?</a:t>
            </a:r>
          </a:p>
          <a:p>
            <a:pPr marL="0" indent="0">
              <a:buNone/>
            </a:pPr>
            <a:r>
              <a:rPr lang="en-US" dirty="0"/>
              <a:t>Was the letter of Feb. 17 an acceptance?</a:t>
            </a:r>
          </a:p>
        </p:txBody>
      </p:sp>
    </p:spTree>
    <p:extLst>
      <p:ext uri="{BB962C8B-B14F-4D97-AF65-F5344CB8AC3E}">
        <p14:creationId xmlns:p14="http://schemas.microsoft.com/office/powerpoint/2010/main" val="104942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Problem: Awesome Acceptance? (221)</a:t>
            </a:r>
          </a:p>
        </p:txBody>
      </p:sp>
      <p:sp>
        <p:nvSpPr>
          <p:cNvPr id="3" name="Content Placeholder 2"/>
          <p:cNvSpPr>
            <a:spLocks noGrp="1"/>
          </p:cNvSpPr>
          <p:nvPr>
            <p:ph sz="quarter" idx="1"/>
          </p:nvPr>
        </p:nvSpPr>
        <p:spPr/>
        <p:txBody>
          <a:bodyPr>
            <a:normAutofit lnSpcReduction="10000"/>
          </a:bodyPr>
          <a:lstStyle/>
          <a:p>
            <a:pPr marL="0" indent="0">
              <a:buNone/>
            </a:pPr>
            <a:r>
              <a:rPr lang="en-US" dirty="0" err="1"/>
              <a:t>pedramcx</a:t>
            </a:r>
            <a:r>
              <a:rPr lang="en-US" dirty="0"/>
              <a:t> (2:50:08 PM): We can do 2000 orders/day by Friday if I have your blessing</a:t>
            </a:r>
          </a:p>
          <a:p>
            <a:pPr marL="0" indent="0" algn="ctr">
              <a:buNone/>
            </a:pPr>
            <a:r>
              <a:rPr lang="en-US" dirty="0"/>
              <a:t>…</a:t>
            </a:r>
          </a:p>
          <a:p>
            <a:pPr marL="0" indent="0">
              <a:buNone/>
            </a:pPr>
            <a:r>
              <a:rPr lang="en-US" dirty="0" err="1"/>
              <a:t>pedramcx</a:t>
            </a:r>
            <a:r>
              <a:rPr lang="en-US" dirty="0"/>
              <a:t> (2:52:13 PM): those 2000 leads are going to be generated by our best affiliate and he's legit</a:t>
            </a:r>
          </a:p>
          <a:p>
            <a:pPr marL="0" indent="0" algn="ctr">
              <a:buNone/>
            </a:pPr>
            <a:r>
              <a:rPr lang="en-US" dirty="0"/>
              <a:t>…</a:t>
            </a:r>
          </a:p>
          <a:p>
            <a:pPr marL="0" indent="0">
              <a:buNone/>
            </a:pPr>
            <a:r>
              <a:rPr lang="en-US" dirty="0" err="1"/>
              <a:t>nicktouris</a:t>
            </a:r>
            <a:r>
              <a:rPr lang="en-US" dirty="0"/>
              <a:t> (4:43:09 PM): NO LIMIT</a:t>
            </a:r>
          </a:p>
          <a:p>
            <a:pPr marL="0" indent="0">
              <a:buNone/>
            </a:pPr>
            <a:r>
              <a:rPr lang="en-US" dirty="0" err="1"/>
              <a:t>pedramcx</a:t>
            </a:r>
            <a:r>
              <a:rPr lang="en-US" dirty="0"/>
              <a:t> (4:43:21 PM): awesome!</a:t>
            </a:r>
          </a:p>
          <a:p>
            <a:pPr marL="0" indent="0">
              <a:buNone/>
            </a:pPr>
            <a:endParaRPr lang="en-US" dirty="0"/>
          </a:p>
          <a:p>
            <a:r>
              <a:rPr lang="en-US" dirty="0"/>
              <a:t>What was the offer? Was there an acceptance?</a:t>
            </a:r>
          </a:p>
          <a:p>
            <a:r>
              <a:rPr lang="en-US" dirty="0"/>
              <a:t>Should it be possible to modify a contract by IM?</a:t>
            </a:r>
          </a:p>
          <a:p>
            <a:pPr marL="0" indent="0">
              <a:buNone/>
            </a:pPr>
            <a:endParaRPr lang="en-US" dirty="0"/>
          </a:p>
        </p:txBody>
      </p:sp>
    </p:spTree>
    <p:extLst>
      <p:ext uri="{BB962C8B-B14F-4D97-AF65-F5344CB8AC3E}">
        <p14:creationId xmlns:p14="http://schemas.microsoft.com/office/powerpoint/2010/main" val="1689757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International Filter Co. v. Conroe, Gin, Ice &amp; Light (217)</a:t>
            </a:r>
          </a:p>
        </p:txBody>
      </p:sp>
      <p:sp>
        <p:nvSpPr>
          <p:cNvPr id="3" name="Content Placeholder 2"/>
          <p:cNvSpPr>
            <a:spLocks noGrp="1"/>
          </p:cNvSpPr>
          <p:nvPr>
            <p:ph sz="quarter" idx="1"/>
          </p:nvPr>
        </p:nvSpPr>
        <p:spPr/>
        <p:txBody>
          <a:bodyPr>
            <a:normAutofit lnSpcReduction="10000"/>
          </a:bodyPr>
          <a:lstStyle/>
          <a:p>
            <a:pPr marL="0" indent="0">
              <a:buNone/>
            </a:pPr>
            <a:r>
              <a:rPr lang="en-US" dirty="0"/>
              <a:t>“This proposal…becomes a contract when accepted by the purchaser and approved by an executive officer of the International Filter company…This proposal is submitted for prompt acceptance...”</a:t>
            </a:r>
          </a:p>
          <a:p>
            <a:pPr marL="0" indent="0">
              <a:buNone/>
            </a:pPr>
            <a:endParaRPr lang="en-US" dirty="0"/>
          </a:p>
          <a:p>
            <a:r>
              <a:rPr lang="en-US" dirty="0"/>
              <a:t>Who was the </a:t>
            </a:r>
            <a:r>
              <a:rPr lang="en-US" dirty="0" err="1"/>
              <a:t>offeror</a:t>
            </a:r>
            <a:r>
              <a:rPr lang="en-US" dirty="0"/>
              <a:t>?</a:t>
            </a:r>
          </a:p>
          <a:p>
            <a:r>
              <a:rPr lang="en-US" dirty="0"/>
              <a:t>What constituted acceptance?</a:t>
            </a:r>
          </a:p>
          <a:p>
            <a:r>
              <a:rPr lang="en-US" dirty="0"/>
              <a:t>Why this form of acceptance?</a:t>
            </a:r>
          </a:p>
          <a:p>
            <a:r>
              <a:rPr lang="en-US" dirty="0"/>
              <a:t>Was notification of acceptance required?</a:t>
            </a:r>
          </a:p>
          <a:p>
            <a:r>
              <a:rPr lang="en-US" dirty="0"/>
              <a:t>Was notification of acceptance provided?</a:t>
            </a:r>
          </a:p>
          <a:p>
            <a:r>
              <a:rPr lang="en-US" dirty="0"/>
              <a:t>Would the letter on its own qualify as acceptance?</a:t>
            </a:r>
          </a:p>
          <a:p>
            <a:endParaRPr lang="en-US" dirty="0"/>
          </a:p>
        </p:txBody>
      </p:sp>
    </p:spTree>
    <p:extLst>
      <p:ext uri="{BB962C8B-B14F-4D97-AF65-F5344CB8AC3E}">
        <p14:creationId xmlns:p14="http://schemas.microsoft.com/office/powerpoint/2010/main" val="2553019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White v. </a:t>
            </a:r>
            <a:r>
              <a:rPr lang="en-US" dirty="0" err="1"/>
              <a:t>Corlies</a:t>
            </a:r>
            <a:r>
              <a:rPr lang="en-US" dirty="0"/>
              <a:t> &amp; Tift (222)</a:t>
            </a:r>
          </a:p>
        </p:txBody>
      </p:sp>
      <p:sp>
        <p:nvSpPr>
          <p:cNvPr id="3" name="Content Placeholder 2"/>
          <p:cNvSpPr>
            <a:spLocks noGrp="1"/>
          </p:cNvSpPr>
          <p:nvPr>
            <p:ph sz="quarter" idx="1"/>
          </p:nvPr>
        </p:nvSpPr>
        <p:spPr>
          <a:xfrm>
            <a:off x="457200" y="1219200"/>
            <a:ext cx="8382000" cy="4937760"/>
          </a:xfrm>
        </p:spPr>
        <p:txBody>
          <a:bodyPr>
            <a:normAutofit lnSpcReduction="10000"/>
          </a:bodyPr>
          <a:lstStyle/>
          <a:p>
            <a:pPr marL="0" indent="0">
              <a:buNone/>
            </a:pPr>
            <a:r>
              <a:rPr lang="en-US" dirty="0"/>
              <a:t>Sequence of events: Specifications, estimate, change in specifications, revised estimate (signed), note, beginning of performance, countermand.</a:t>
            </a:r>
          </a:p>
          <a:p>
            <a:pPr marL="0" indent="0">
              <a:buNone/>
            </a:pPr>
            <a:endParaRPr lang="en-US" dirty="0"/>
          </a:p>
          <a:p>
            <a:pPr marL="0" indent="0">
              <a:buNone/>
            </a:pPr>
            <a:r>
              <a:rPr lang="en-US" dirty="0"/>
              <a:t>“Upon an agreement to finish the fitting up of offices 57 Broadway in two weeks from date, you can begin at once.</a:t>
            </a:r>
          </a:p>
          <a:p>
            <a:pPr marL="0" indent="0">
              <a:buNone/>
            </a:pPr>
            <a:r>
              <a:rPr lang="en-US" dirty="0"/>
              <a:t>The writer will call again, probably between 5 and 6 this p.m.”</a:t>
            </a:r>
          </a:p>
          <a:p>
            <a:pPr marL="0" indent="0">
              <a:buNone/>
            </a:pPr>
            <a:endParaRPr lang="en-US" dirty="0"/>
          </a:p>
          <a:p>
            <a:r>
              <a:rPr lang="en-US" dirty="0"/>
              <a:t>What was the offer? </a:t>
            </a:r>
          </a:p>
          <a:p>
            <a:r>
              <a:rPr lang="en-US" dirty="0"/>
              <a:t>What sort of acceptance was sought?</a:t>
            </a:r>
          </a:p>
          <a:p>
            <a:r>
              <a:rPr lang="en-US" dirty="0"/>
              <a:t>Did the offeror dispense with notification of acceptance?</a:t>
            </a:r>
          </a:p>
          <a:p>
            <a:endParaRPr lang="en-US" dirty="0"/>
          </a:p>
          <a:p>
            <a:pPr marL="0" indent="0">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097033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Notification of acceptance by performance</a:t>
            </a:r>
          </a:p>
        </p:txBody>
      </p:sp>
      <p:sp>
        <p:nvSpPr>
          <p:cNvPr id="3" name="Content Placeholder 2"/>
          <p:cNvSpPr>
            <a:spLocks noGrp="1"/>
          </p:cNvSpPr>
          <p:nvPr>
            <p:ph sz="quarter" idx="1"/>
          </p:nvPr>
        </p:nvSpPr>
        <p:spPr>
          <a:xfrm>
            <a:off x="457199" y="1219200"/>
            <a:ext cx="8534401" cy="4937760"/>
          </a:xfrm>
        </p:spPr>
        <p:txBody>
          <a:bodyPr>
            <a:noAutofit/>
          </a:bodyPr>
          <a:lstStyle/>
          <a:p>
            <a:pPr marL="0" indent="0">
              <a:buNone/>
            </a:pPr>
            <a:r>
              <a:rPr lang="en-US" sz="2300" dirty="0"/>
              <a:t>§ 54 Acceptance by Performance; Necessity of Notification to Offeror</a:t>
            </a:r>
          </a:p>
          <a:p>
            <a:pPr marL="0" indent="0">
              <a:buNone/>
            </a:pPr>
            <a:r>
              <a:rPr lang="en-US" sz="2300" dirty="0"/>
              <a:t>(1) Where an offer invites an offeree to accept by rendering a performance, no notification is necessary to make such an acceptance effective unless the offer requests such a notification.</a:t>
            </a:r>
          </a:p>
          <a:p>
            <a:pPr marL="0" indent="0">
              <a:buNone/>
            </a:pPr>
            <a:r>
              <a:rPr lang="en-US" sz="2300" dirty="0"/>
              <a:t>(2) If an offeree who accepts by rendering a performance has reason to know that the offeror has no adequate means of learning of the performance with reasonable promptness and certainty, the contractual duty of the offeror is discharged unless</a:t>
            </a:r>
          </a:p>
          <a:p>
            <a:pPr marL="0" indent="0">
              <a:buNone/>
            </a:pPr>
            <a:r>
              <a:rPr lang="en-US" sz="2300" dirty="0"/>
              <a:t>(a) the offeree exercises reasonable diligence to notify the offeror of acceptance, or</a:t>
            </a:r>
          </a:p>
          <a:p>
            <a:pPr marL="0" indent="0">
              <a:buNone/>
            </a:pPr>
            <a:r>
              <a:rPr lang="en-US" sz="2300" dirty="0"/>
              <a:t>(b) the offeror learns of the performance within a reasonable time, or</a:t>
            </a:r>
          </a:p>
          <a:p>
            <a:pPr marL="0" indent="0">
              <a:buNone/>
            </a:pPr>
            <a:r>
              <a:rPr lang="en-US" sz="2300" dirty="0"/>
              <a:t>(c) the offer indicates that notification of acceptance is not required.</a:t>
            </a:r>
          </a:p>
        </p:txBody>
      </p:sp>
    </p:spTree>
    <p:extLst>
      <p:ext uri="{BB962C8B-B14F-4D97-AF65-F5344CB8AC3E}">
        <p14:creationId xmlns:p14="http://schemas.microsoft.com/office/powerpoint/2010/main" val="1569114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0"/>
            <a:ext cx="4873336" cy="6821631"/>
          </a:xfrm>
          <a:prstGeom prst="rect">
            <a:avLst/>
          </a:prstGeom>
        </p:spPr>
      </p:pic>
    </p:spTree>
    <p:extLst>
      <p:ext uri="{BB962C8B-B14F-4D97-AF65-F5344CB8AC3E}">
        <p14:creationId xmlns:p14="http://schemas.microsoft.com/office/powerpoint/2010/main" val="2152718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Carlill</a:t>
            </a:r>
            <a:r>
              <a:rPr lang="en-US" dirty="0"/>
              <a:t> v. Carbolic Smoke Ball (228)</a:t>
            </a:r>
          </a:p>
        </p:txBody>
      </p:sp>
      <p:sp>
        <p:nvSpPr>
          <p:cNvPr id="3" name="Content Placeholder 2"/>
          <p:cNvSpPr>
            <a:spLocks noGrp="1"/>
          </p:cNvSpPr>
          <p:nvPr>
            <p:ph sz="quarter" idx="1"/>
          </p:nvPr>
        </p:nvSpPr>
        <p:spPr/>
        <p:txBody>
          <a:bodyPr>
            <a:normAutofit fontScale="92500" lnSpcReduction="10000"/>
          </a:bodyPr>
          <a:lstStyle/>
          <a:p>
            <a:pPr marL="0" indent="0">
              <a:buNone/>
            </a:pPr>
            <a:r>
              <a:rPr lang="en-US" dirty="0"/>
              <a:t>“£100 reward will be paid by the Carbolic Smoke Ball Company to any person who contracts the influenza after having used the ball three times daily for two weeks according to the printed directions supplied with each ball...£1000 is deposited with the Alliance Bank, shewing our sincerity in the matter.”</a:t>
            </a:r>
          </a:p>
          <a:p>
            <a:pPr marL="0" indent="0">
              <a:buNone/>
            </a:pPr>
            <a:endParaRPr lang="en-US" dirty="0"/>
          </a:p>
          <a:p>
            <a:r>
              <a:rPr lang="en-US" dirty="0"/>
              <a:t>Was the advertisement an offer?</a:t>
            </a:r>
          </a:p>
          <a:p>
            <a:r>
              <a:rPr lang="en-US" dirty="0"/>
              <a:t>Could it be revoked before Mrs. </a:t>
            </a:r>
            <a:r>
              <a:rPr lang="en-US" dirty="0" err="1"/>
              <a:t>Carlill</a:t>
            </a:r>
            <a:r>
              <a:rPr lang="en-US" dirty="0"/>
              <a:t> notified them of her claim? </a:t>
            </a:r>
          </a:p>
          <a:p>
            <a:r>
              <a:rPr lang="en-US" dirty="0"/>
              <a:t>Could it be revoked after she bought the smoke ball but before she had used it as directed? Before she contracted influenza?</a:t>
            </a:r>
          </a:p>
          <a:p>
            <a:r>
              <a:rPr lang="en-US" dirty="0"/>
              <a:t>What was the consideration?</a:t>
            </a:r>
          </a:p>
        </p:txBody>
      </p:sp>
    </p:spTree>
    <p:extLst>
      <p:ext uri="{BB962C8B-B14F-4D97-AF65-F5344CB8AC3E}">
        <p14:creationId xmlns:p14="http://schemas.microsoft.com/office/powerpoint/2010/main" val="9746779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4274</TotalTime>
  <Words>1098</Words>
  <Application>Microsoft Office PowerPoint</Application>
  <PresentationFormat>On-screen Show (4:3)</PresentationFormat>
  <Paragraphs>109</Paragraphs>
  <Slides>15</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15</vt:i4>
      </vt:variant>
    </vt:vector>
  </HeadingPairs>
  <TitlesOfParts>
    <vt:vector size="25" baseType="lpstr">
      <vt:lpstr>Arial</vt:lpstr>
      <vt:lpstr>Bookman Old Style</vt:lpstr>
      <vt:lpstr>Calibri</vt:lpstr>
      <vt:lpstr>Calibri Light</vt:lpstr>
      <vt:lpstr>Gill Sans MT</vt:lpstr>
      <vt:lpstr>Wingdings</vt:lpstr>
      <vt:lpstr>Wingdings 3</vt:lpstr>
      <vt:lpstr>Origin</vt:lpstr>
      <vt:lpstr>1_Origin</vt:lpstr>
      <vt:lpstr>Office Theme</vt:lpstr>
      <vt:lpstr>Class 7: Offer and Acceptance </vt:lpstr>
      <vt:lpstr>Key questions</vt:lpstr>
      <vt:lpstr>Topics</vt:lpstr>
      <vt:lpstr>What is an offer?</vt:lpstr>
      <vt:lpstr>Lefkowitz v. Great Minneapolis (200)</vt:lpstr>
      <vt:lpstr>What constitutes acceptance?</vt:lpstr>
      <vt:lpstr>Notification of acceptance by performance</vt:lpstr>
      <vt:lpstr>Termination of the power of acceptance</vt:lpstr>
      <vt:lpstr>Wucherpfennig v. Dooley (214)</vt:lpstr>
      <vt:lpstr>Problem: Awesome Acceptance? (221)</vt:lpstr>
      <vt:lpstr>International Filter Co. v. Conroe, Gin, Ice &amp; Light (217)</vt:lpstr>
      <vt:lpstr>White v. Corlies &amp; Tift (222)</vt:lpstr>
      <vt:lpstr>Notification of acceptance by performance</vt:lpstr>
      <vt:lpstr>PowerPoint Presentation</vt:lpstr>
      <vt:lpstr>Carlill v. Carbolic Smoke Ball (228)</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7: Acceptance and Revocability</dc:title>
  <dc:creator>Davis, Kevin</dc:creator>
  <cp:lastModifiedBy>Davis, Kevin</cp:lastModifiedBy>
  <cp:revision>56</cp:revision>
  <dcterms:created xsi:type="dcterms:W3CDTF">2014-09-22T15:34:39Z</dcterms:created>
  <dcterms:modified xsi:type="dcterms:W3CDTF">2026-09-15T14:26:12Z</dcterms:modified>
</cp:coreProperties>
</file>