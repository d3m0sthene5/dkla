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298" r:id="rId2"/>
    <p:sldId id="301" r:id="rId3"/>
    <p:sldId id="302" r:id="rId4"/>
    <p:sldId id="303" r:id="rId5"/>
    <p:sldId id="304" r:id="rId6"/>
    <p:sldId id="309" r:id="rId7"/>
    <p:sldId id="310" r:id="rId8"/>
    <p:sldId id="311" r:id="rId9"/>
    <p:sldId id="312" r:id="rId10"/>
    <p:sldId id="313" r:id="rId11"/>
    <p:sldId id="314" r:id="rId12"/>
    <p:sldId id="315" r:id="rId13"/>
    <p:sldId id="316" r:id="rId14"/>
    <p:sldId id="317" r:id="rId15"/>
    <p:sldId id="318" r:id="rId16"/>
    <p:sldId id="319" r:id="rId17"/>
    <p:sldId id="320" r:id="rId18"/>
    <p:sldId id="294" r:id="rId19"/>
    <p:sldId id="321" r:id="rId20"/>
    <p:sldId id="322" r:id="rId21"/>
    <p:sldId id="292" r:id="rId22"/>
    <p:sldId id="293" r:id="rId23"/>
    <p:sldId id="323" r:id="rId24"/>
    <p:sldId id="269" r:id="rId25"/>
    <p:sldId id="257" r:id="rId26"/>
    <p:sldId id="259" r:id="rId27"/>
    <p:sldId id="268" r:id="rId28"/>
    <p:sldId id="258" r:id="rId29"/>
    <p:sldId id="277" r:id="rId30"/>
    <p:sldId id="324" r:id="rId31"/>
    <p:sldId id="278" r:id="rId32"/>
    <p:sldId id="279" r:id="rId33"/>
    <p:sldId id="280" r:id="rId34"/>
    <p:sldId id="281" r:id="rId3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16" autoAdjust="0"/>
    <p:restoredTop sz="94660"/>
  </p:normalViewPr>
  <p:slideViewPr>
    <p:cSldViewPr>
      <p:cViewPr varScale="1">
        <p:scale>
          <a:sx n="105" d="100"/>
          <a:sy n="105" d="100"/>
        </p:scale>
        <p:origin x="1770" y="96"/>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F01686C8-3207-4C4D-B839-3C94E565B86B}" type="datetimeFigureOut">
              <a:rPr lang="en-US" smtClean="0"/>
              <a:t>9/9/2026</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99A1D912-5AA3-464E-9710-DDD09EC2AD9C}" type="slidenum">
              <a:rPr lang="en-US" smtClean="0"/>
              <a:t>‹#›</a:t>
            </a:fld>
            <a:endParaRPr lang="en-US"/>
          </a:p>
        </p:txBody>
      </p:sp>
    </p:spTree>
    <p:extLst>
      <p:ext uri="{BB962C8B-B14F-4D97-AF65-F5344CB8AC3E}">
        <p14:creationId xmlns:p14="http://schemas.microsoft.com/office/powerpoint/2010/main" val="27502036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7CFFDDDC-3E75-4117-936F-779BD510180A}" type="datetimeFigureOut">
              <a:rPr lang="en-US" smtClean="0"/>
              <a:t>9/9/2026</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8855AAFF-1EBB-4756-ACCF-E3CC7974F5F5}" type="slidenum">
              <a:rPr lang="en-US" smtClean="0"/>
              <a:t>‹#›</a:t>
            </a:fld>
            <a:endParaRPr lang="en-US"/>
          </a:p>
        </p:txBody>
      </p:sp>
    </p:spTree>
    <p:extLst>
      <p:ext uri="{BB962C8B-B14F-4D97-AF65-F5344CB8AC3E}">
        <p14:creationId xmlns:p14="http://schemas.microsoft.com/office/powerpoint/2010/main" val="4185806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6280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8943FF-AFA0-4878-BBA3-43B921E3376F}" type="slidenum">
              <a:rPr lang="en-US"/>
              <a:pPr/>
              <a:t>24</a:t>
            </a:fld>
            <a:endParaRPr lang="en-US"/>
          </a:p>
        </p:txBody>
      </p:sp>
      <p:sp>
        <p:nvSpPr>
          <p:cNvPr id="6146" name="Rectangle 2"/>
          <p:cNvSpPr>
            <a:spLocks noGrp="1" noRot="1" noChangeAspect="1" noChangeArrowheads="1" noTextEdit="1"/>
          </p:cNvSpPr>
          <p:nvPr>
            <p:ph type="sldImg"/>
          </p:nvPr>
        </p:nvSpPr>
        <p:spPr>
          <a:ln/>
        </p:spPr>
      </p:sp>
      <p:sp>
        <p:nvSpPr>
          <p:cNvPr id="61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85737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76B3F4-F20E-4EAD-B418-2EEFFEA4DA7C}" type="slidenum">
              <a:rPr lang="en-US"/>
              <a:pPr/>
              <a:t>28</a:t>
            </a:fld>
            <a:endParaRPr lang="en-US"/>
          </a:p>
        </p:txBody>
      </p:sp>
      <p:sp>
        <p:nvSpPr>
          <p:cNvPr id="8194" name="Rectangle 2"/>
          <p:cNvSpPr>
            <a:spLocks noGrp="1" noRot="1" noChangeAspect="1" noChangeArrowheads="1" noTextEdit="1"/>
          </p:cNvSpPr>
          <p:nvPr>
            <p:ph type="sldImg"/>
          </p:nvPr>
        </p:nvSpPr>
        <p:spPr>
          <a:ln/>
        </p:spPr>
      </p:sp>
      <p:sp>
        <p:nvSpPr>
          <p:cNvPr id="81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32216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FE91ABF-9512-43D7-9833-BC107E22745A}" type="datetime1">
              <a:rPr lang="en-US" smtClean="0"/>
              <a:t>9/9/2026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257991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B231D0-8587-4AB8-B24E-1AA02DCB37CD}" type="datetime1">
              <a:rPr lang="en-US" smtClean="0"/>
              <a:t>9/9/2026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2575874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99B10C-31AF-42BB-A08E-7F13EEB64F08}" type="datetime1">
              <a:rPr lang="en-US" smtClean="0"/>
              <a:t>9/9/2026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1159787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1710C5E-318C-4C48-8725-B3153A78268E}" type="datetime1">
              <a:rPr lang="en-US" smtClean="0"/>
              <a:t>9/9/2026</a:t>
            </a:fld>
            <a:endParaRPr lang="en-US"/>
          </a:p>
        </p:txBody>
      </p:sp>
      <p:sp>
        <p:nvSpPr>
          <p:cNvPr id="6" name="Footer Placeholder 5"/>
          <p:cNvSpPr>
            <a:spLocks noGrp="1"/>
          </p:cNvSpPr>
          <p:nvPr>
            <p:ph type="ftr" sz="quarter" idx="11"/>
          </p:nvPr>
        </p:nvSpPr>
        <p:spPr/>
        <p:txBody>
          <a:bodyPr/>
          <a:lstStyle/>
          <a:p>
            <a:r>
              <a:rPr lang="en-US"/>
              <a:t>© Copyright 2026.  Peter M. Shane All rights reserved. </a:t>
            </a:r>
          </a:p>
        </p:txBody>
      </p:sp>
      <p:sp>
        <p:nvSpPr>
          <p:cNvPr id="7" name="Slide Number Placeholder 6"/>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3459880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BE6F45A-4665-4416-82B9-6B204C413699}" type="datetime1">
              <a:rPr lang="en-US" smtClean="0"/>
              <a:t>9/9/2026</a:t>
            </a:fld>
            <a:endParaRPr lang="en-US"/>
          </a:p>
        </p:txBody>
      </p:sp>
      <p:sp>
        <p:nvSpPr>
          <p:cNvPr id="8" name="Footer Placeholder 7"/>
          <p:cNvSpPr>
            <a:spLocks noGrp="1"/>
          </p:cNvSpPr>
          <p:nvPr>
            <p:ph type="ftr" sz="quarter" idx="11"/>
          </p:nvPr>
        </p:nvSpPr>
        <p:spPr/>
        <p:txBody>
          <a:bodyPr/>
          <a:lstStyle/>
          <a:p>
            <a:r>
              <a:rPr lang="en-US"/>
              <a:t>© Copyright 2026.  Peter M. Shane All rights reserved. </a:t>
            </a:r>
          </a:p>
        </p:txBody>
      </p:sp>
      <p:sp>
        <p:nvSpPr>
          <p:cNvPr id="9" name="Slide Number Placeholder 8"/>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248242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6EA267-FA55-46AD-AB7B-32F6E211878B}" type="datetime1">
              <a:rPr lang="en-US" smtClean="0"/>
              <a:t>9/9/2026</a:t>
            </a:fld>
            <a:endParaRPr lang="en-US"/>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223681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83A36D-C310-4070-8FD8-9166B88AFC24}" type="datetime1">
              <a:rPr lang="en-US" smtClean="0"/>
              <a:t>9/9/2026</a:t>
            </a:fld>
            <a:endParaRPr lang="en-US"/>
          </a:p>
        </p:txBody>
      </p:sp>
      <p:sp>
        <p:nvSpPr>
          <p:cNvPr id="3" name="Footer Placeholder 2"/>
          <p:cNvSpPr>
            <a:spLocks noGrp="1"/>
          </p:cNvSpPr>
          <p:nvPr>
            <p:ph type="ftr" sz="quarter" idx="11"/>
          </p:nvPr>
        </p:nvSpPr>
        <p:spPr/>
        <p:txBody>
          <a:bodyPr/>
          <a:lstStyle/>
          <a:p>
            <a:r>
              <a:rPr lang="en-US"/>
              <a:t>© Copyright 2026.  Peter M. Shane All rights reserved. </a:t>
            </a:r>
          </a:p>
        </p:txBody>
      </p:sp>
      <p:sp>
        <p:nvSpPr>
          <p:cNvPr id="4" name="Slide Number Placeholder 3"/>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26396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60A3F2-5273-4B30-9E07-D78D3F347B5B}" type="datetime1">
              <a:rPr lang="en-US" smtClean="0"/>
              <a:t>9/9/2026</a:t>
            </a:fld>
            <a:endParaRPr lang="en-US"/>
          </a:p>
        </p:txBody>
      </p:sp>
      <p:sp>
        <p:nvSpPr>
          <p:cNvPr id="6" name="Footer Placeholder 5"/>
          <p:cNvSpPr>
            <a:spLocks noGrp="1"/>
          </p:cNvSpPr>
          <p:nvPr>
            <p:ph type="ftr" sz="quarter" idx="11"/>
          </p:nvPr>
        </p:nvSpPr>
        <p:spPr/>
        <p:txBody>
          <a:bodyPr/>
          <a:lstStyle/>
          <a:p>
            <a:r>
              <a:rPr lang="en-US"/>
              <a:t>© Copyright 2026.  Peter M. Shane All rights reserved. </a:t>
            </a:r>
          </a:p>
        </p:txBody>
      </p:sp>
      <p:sp>
        <p:nvSpPr>
          <p:cNvPr id="7" name="Slide Number Placeholder 6"/>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2254963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87DDB0-BD3C-4E7C-B1B4-69D5FAAC3815}" type="datetime1">
              <a:rPr lang="en-US" smtClean="0"/>
              <a:t>9/9/2026</a:t>
            </a:fld>
            <a:endParaRPr lang="en-US"/>
          </a:p>
        </p:txBody>
      </p:sp>
      <p:sp>
        <p:nvSpPr>
          <p:cNvPr id="6" name="Footer Placeholder 5"/>
          <p:cNvSpPr>
            <a:spLocks noGrp="1"/>
          </p:cNvSpPr>
          <p:nvPr>
            <p:ph type="ftr" sz="quarter" idx="11"/>
          </p:nvPr>
        </p:nvSpPr>
        <p:spPr/>
        <p:txBody>
          <a:bodyPr/>
          <a:lstStyle/>
          <a:p>
            <a:r>
              <a:rPr lang="en-US"/>
              <a:t>© Copyright 2026.  Peter M. Shane All rights reserved. </a:t>
            </a:r>
          </a:p>
        </p:txBody>
      </p:sp>
      <p:sp>
        <p:nvSpPr>
          <p:cNvPr id="7" name="Slide Number Placeholder 6"/>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1629853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D288A6-6A69-410D-9C0B-2F297079E913}" type="datetime1">
              <a:rPr lang="en-US" smtClean="0"/>
              <a:t>9/9/2026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3248526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C8439B-20F9-4951-95E6-DE59994E183F}" type="datetime1">
              <a:rPr lang="en-US" smtClean="0"/>
              <a:t>9/9/2026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3575636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2BA84A-D142-47E8-8D5D-A3DB21437DE0}" type="datetime1">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Copyright 2026.  Peter M. Shane All rights reserved.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1A480E-C97D-488C-89CE-DB65B1C35FB0}" type="slidenum">
              <a:rPr lang="en-US" smtClean="0"/>
              <a:t>‹#›</a:t>
            </a:fld>
            <a:endParaRPr lang="en-US"/>
          </a:p>
        </p:txBody>
      </p:sp>
    </p:spTree>
    <p:extLst>
      <p:ext uri="{BB962C8B-B14F-4D97-AF65-F5344CB8AC3E}">
        <p14:creationId xmlns:p14="http://schemas.microsoft.com/office/powerpoint/2010/main" val="1178194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law.cornell.edu/definitions/uscode.php?width=840&amp;height=800&amp;iframe=true&amp;def_id=26-USC-1808133223-1565660032&amp;term_occur=999&amp;term_src=title:26:subtitle:E:chapter:53:subchapter:B:part:I:section:5845"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3003C-619F-0D7F-3405-BF9E899BD2A1}"/>
              </a:ext>
            </a:extLst>
          </p:cNvPr>
          <p:cNvSpPr>
            <a:spLocks noGrp="1"/>
          </p:cNvSpPr>
          <p:nvPr>
            <p:ph type="title"/>
          </p:nvPr>
        </p:nvSpPr>
        <p:spPr/>
        <p:txBody>
          <a:bodyPr/>
          <a:lstStyle/>
          <a:p>
            <a:r>
              <a:rPr lang="en-US" dirty="0"/>
              <a:t>Recap of Class 3</a:t>
            </a:r>
          </a:p>
        </p:txBody>
      </p:sp>
      <p:sp>
        <p:nvSpPr>
          <p:cNvPr id="3" name="Content Placeholder 2">
            <a:extLst>
              <a:ext uri="{FF2B5EF4-FFF2-40B4-BE49-F238E27FC236}">
                <a16:creationId xmlns:a16="http://schemas.microsoft.com/office/drawing/2014/main" id="{62D72DBC-4377-C1B4-ADB5-EFAAC18E0AA4}"/>
              </a:ext>
            </a:extLst>
          </p:cNvPr>
          <p:cNvSpPr>
            <a:spLocks noGrp="1"/>
          </p:cNvSpPr>
          <p:nvPr>
            <p:ph idx="1"/>
          </p:nvPr>
        </p:nvSpPr>
        <p:spPr/>
        <p:txBody>
          <a:bodyPr>
            <a:normAutofit fontScale="70000" lnSpcReduction="20000"/>
          </a:bodyPr>
          <a:lstStyle/>
          <a:p>
            <a:pPr marL="0" indent="0">
              <a:buNone/>
            </a:pPr>
            <a:r>
              <a:rPr lang="en-US" sz="3400" b="1" dirty="0"/>
              <a:t>Introducing the Bureaucracy</a:t>
            </a:r>
          </a:p>
          <a:p>
            <a:r>
              <a:rPr lang="en-US" dirty="0"/>
              <a:t>Why Congress may prefer agencies to courts as sources of legal implementation</a:t>
            </a:r>
          </a:p>
          <a:p>
            <a:r>
              <a:rPr lang="en-US" dirty="0"/>
              <a:t>History of agencies and executive branch growth spurts</a:t>
            </a:r>
          </a:p>
          <a:p>
            <a:r>
              <a:rPr lang="en-US" dirty="0"/>
              <a:t>“Discretion” and its control as the central preoccupation of administrative law</a:t>
            </a:r>
          </a:p>
          <a:p>
            <a:r>
              <a:rPr lang="en-US" dirty="0"/>
              <a:t>Likelihood of tension among important values</a:t>
            </a:r>
          </a:p>
          <a:p>
            <a:pPr marL="0" indent="0">
              <a:buNone/>
            </a:pPr>
            <a:r>
              <a:rPr lang="en-US" sz="3400" b="1" dirty="0"/>
              <a:t>Introducing Statutory Construction</a:t>
            </a:r>
          </a:p>
          <a:p>
            <a:r>
              <a:rPr lang="en-US" dirty="0"/>
              <a:t>Discussed role of “pragmatic enrichment” in understanding the meaning of commands</a:t>
            </a:r>
          </a:p>
          <a:p>
            <a:r>
              <a:rPr lang="en-US" dirty="0"/>
              <a:t>Noted distinction between interpretation and construction</a:t>
            </a:r>
          </a:p>
          <a:p>
            <a:r>
              <a:rPr lang="en-US" dirty="0"/>
              <a:t>Defined and contrasted intentionalism, purposivism, and textualism – also noted overlapping concern for legislative supremacy</a:t>
            </a:r>
          </a:p>
        </p:txBody>
      </p:sp>
      <p:sp>
        <p:nvSpPr>
          <p:cNvPr id="4" name="Footer Placeholder 3">
            <a:extLst>
              <a:ext uri="{FF2B5EF4-FFF2-40B4-BE49-F238E27FC236}">
                <a16:creationId xmlns:a16="http://schemas.microsoft.com/office/drawing/2014/main" id="{B2C93AB9-59E3-FE4C-0811-3986289C760B}"/>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E4CDC3BB-50D6-D1A6-B38B-F34D7CD442A7}"/>
              </a:ext>
            </a:extLst>
          </p:cNvPr>
          <p:cNvSpPr>
            <a:spLocks noGrp="1"/>
          </p:cNvSpPr>
          <p:nvPr>
            <p:ph type="sldNum" sz="quarter" idx="12"/>
          </p:nvPr>
        </p:nvSpPr>
        <p:spPr/>
        <p:txBody>
          <a:bodyPr/>
          <a:lstStyle/>
          <a:p>
            <a:fld id="{A51A480E-C97D-488C-89CE-DB65B1C35FB0}" type="slidenum">
              <a:rPr lang="en-US" smtClean="0"/>
              <a:t>1</a:t>
            </a:fld>
            <a:endParaRPr lang="en-US"/>
          </a:p>
        </p:txBody>
      </p:sp>
    </p:spTree>
    <p:extLst>
      <p:ext uri="{BB962C8B-B14F-4D97-AF65-F5344CB8AC3E}">
        <p14:creationId xmlns:p14="http://schemas.microsoft.com/office/powerpoint/2010/main" val="3110541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p:txBody>
          <a:bodyPr/>
          <a:lstStyle/>
          <a:p>
            <a:r>
              <a:rPr lang="en-US"/>
              <a:t>Contrasting Premises</a:t>
            </a:r>
          </a:p>
        </p:txBody>
      </p:sp>
      <p:sp>
        <p:nvSpPr>
          <p:cNvPr id="34819" name="Rectangle 3"/>
          <p:cNvSpPr>
            <a:spLocks noGrp="1"/>
          </p:cNvSpPr>
          <p:nvPr>
            <p:ph type="body" idx="1"/>
          </p:nvPr>
        </p:nvSpPr>
        <p:spPr/>
        <p:txBody>
          <a:bodyPr/>
          <a:lstStyle/>
          <a:p>
            <a:pPr>
              <a:lnSpc>
                <a:spcPct val="90000"/>
              </a:lnSpc>
            </a:pPr>
            <a:r>
              <a:rPr lang="en-US" sz="2800" dirty="0" err="1"/>
              <a:t>Purposivist</a:t>
            </a:r>
            <a:endParaRPr lang="en-US" sz="2800" dirty="0"/>
          </a:p>
          <a:p>
            <a:pPr lvl="1">
              <a:lnSpc>
                <a:spcPct val="90000"/>
              </a:lnSpc>
            </a:pPr>
            <a:r>
              <a:rPr lang="en-US" sz="2400" dirty="0"/>
              <a:t>Congress acts rationally to achieve its purposes</a:t>
            </a:r>
          </a:p>
          <a:p>
            <a:pPr lvl="1">
              <a:lnSpc>
                <a:spcPct val="90000"/>
              </a:lnSpc>
            </a:pPr>
            <a:r>
              <a:rPr lang="en-US" sz="2400" dirty="0"/>
              <a:t>Laws should be read in light of their purposes because legislatures may act in haste or inattentively</a:t>
            </a:r>
          </a:p>
          <a:p>
            <a:pPr>
              <a:lnSpc>
                <a:spcPct val="90000"/>
              </a:lnSpc>
            </a:pPr>
            <a:r>
              <a:rPr lang="en-US" sz="2800" dirty="0" err="1"/>
              <a:t>Textualist</a:t>
            </a:r>
            <a:endParaRPr lang="en-US" sz="2800" dirty="0"/>
          </a:p>
          <a:p>
            <a:pPr lvl="1">
              <a:lnSpc>
                <a:spcPct val="90000"/>
              </a:lnSpc>
            </a:pPr>
            <a:r>
              <a:rPr lang="en-US" sz="2400" dirty="0"/>
              <a:t>Every statute is a compromise</a:t>
            </a:r>
          </a:p>
          <a:p>
            <a:pPr lvl="1">
              <a:lnSpc>
                <a:spcPct val="90000"/>
              </a:lnSpc>
            </a:pPr>
            <a:r>
              <a:rPr lang="en-US" sz="2400" dirty="0"/>
              <a:t>Misalignments between purpose and detail likely to reflect bargains</a:t>
            </a:r>
          </a:p>
          <a:p>
            <a:pPr lvl="1">
              <a:lnSpc>
                <a:spcPct val="90000"/>
              </a:lnSpc>
            </a:pPr>
            <a:r>
              <a:rPr lang="en-US" sz="2400" dirty="0"/>
              <a:t>Fidelity to Congress = fidelity to the bargain, especially because “purpose” too slippery a guide to interpretation (statutes serve multiple purposes)</a:t>
            </a:r>
          </a:p>
        </p:txBody>
      </p:sp>
      <p:sp>
        <p:nvSpPr>
          <p:cNvPr id="2" name="Slide Number Placeholder 1"/>
          <p:cNvSpPr>
            <a:spLocks noGrp="1"/>
          </p:cNvSpPr>
          <p:nvPr>
            <p:ph type="sldNum" sz="quarter" idx="12"/>
          </p:nvPr>
        </p:nvSpPr>
        <p:spPr/>
        <p:txBody>
          <a:bodyPr/>
          <a:lstStyle/>
          <a:p>
            <a:fld id="{02C0F4E5-8638-48A8-A74A-BD294AB7105C}" type="slidenum">
              <a:rPr lang="en-US" smtClean="0"/>
              <a:t>2</a:t>
            </a:fld>
            <a:endParaRPr lang="en-US"/>
          </a:p>
        </p:txBody>
      </p:sp>
      <p:sp>
        <p:nvSpPr>
          <p:cNvPr id="3" name="Footer Placeholder 2">
            <a:extLst>
              <a:ext uri="{FF2B5EF4-FFF2-40B4-BE49-F238E27FC236}">
                <a16:creationId xmlns:a16="http://schemas.microsoft.com/office/drawing/2014/main" id="{E26025C3-E348-E185-99EF-A99487D52075}"/>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902915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09B32-0F8B-C0DD-A775-62AB6B5CB047}"/>
              </a:ext>
            </a:extLst>
          </p:cNvPr>
          <p:cNvSpPr>
            <a:spLocks noGrp="1"/>
          </p:cNvSpPr>
          <p:nvPr>
            <p:ph type="title"/>
          </p:nvPr>
        </p:nvSpPr>
        <p:spPr/>
        <p:txBody>
          <a:bodyPr/>
          <a:lstStyle/>
          <a:p>
            <a:r>
              <a:rPr lang="en-US" dirty="0"/>
              <a:t>Katzmann on Legislative History</a:t>
            </a:r>
          </a:p>
        </p:txBody>
      </p:sp>
      <p:sp>
        <p:nvSpPr>
          <p:cNvPr id="3" name="Content Placeholder 2">
            <a:extLst>
              <a:ext uri="{FF2B5EF4-FFF2-40B4-BE49-F238E27FC236}">
                <a16:creationId xmlns:a16="http://schemas.microsoft.com/office/drawing/2014/main" id="{1533365A-B17B-4537-90A9-692F105C8236}"/>
              </a:ext>
            </a:extLst>
          </p:cNvPr>
          <p:cNvSpPr>
            <a:spLocks noGrp="1"/>
          </p:cNvSpPr>
          <p:nvPr>
            <p:ph idx="1"/>
          </p:nvPr>
        </p:nvSpPr>
        <p:spPr/>
        <p:txBody>
          <a:bodyPr/>
          <a:lstStyle/>
          <a:p>
            <a:r>
              <a:rPr lang="en-US" dirty="0"/>
              <a:t>Legislators give it weight</a:t>
            </a:r>
          </a:p>
          <a:p>
            <a:r>
              <a:rPr lang="en-US" dirty="0"/>
              <a:t>Members more likely to rely on history than read text of bills</a:t>
            </a:r>
          </a:p>
          <a:p>
            <a:r>
              <a:rPr lang="en-US" dirty="0"/>
              <a:t>Committees are representative of the larger body</a:t>
            </a:r>
          </a:p>
          <a:p>
            <a:r>
              <a:rPr lang="en-US" dirty="0"/>
              <a:t>Dictionaries not often used by pro drafters</a:t>
            </a:r>
          </a:p>
          <a:p>
            <a:r>
              <a:rPr lang="en-US" dirty="0"/>
              <a:t>Creators of legislative history value credibility</a:t>
            </a:r>
          </a:p>
          <a:p>
            <a:r>
              <a:rPr lang="en-US" dirty="0"/>
              <a:t>Drafters pay little attention to canons</a:t>
            </a:r>
          </a:p>
        </p:txBody>
      </p:sp>
      <p:sp>
        <p:nvSpPr>
          <p:cNvPr id="4" name="Footer Placeholder 3">
            <a:extLst>
              <a:ext uri="{FF2B5EF4-FFF2-40B4-BE49-F238E27FC236}">
                <a16:creationId xmlns:a16="http://schemas.microsoft.com/office/drawing/2014/main" id="{06204637-5D3B-22E9-87D3-3F1D5D14E8EA}"/>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F3F05B19-E31D-7BA0-6116-8DDC8CD5BAE9}"/>
              </a:ext>
            </a:extLst>
          </p:cNvPr>
          <p:cNvSpPr>
            <a:spLocks noGrp="1"/>
          </p:cNvSpPr>
          <p:nvPr>
            <p:ph type="sldNum" sz="quarter" idx="12"/>
          </p:nvPr>
        </p:nvSpPr>
        <p:spPr/>
        <p:txBody>
          <a:bodyPr/>
          <a:lstStyle/>
          <a:p>
            <a:fld id="{367876FE-DFB2-5046-ACCA-7B7895FA01F2}" type="slidenum">
              <a:rPr lang="en-US" smtClean="0"/>
              <a:t>3</a:t>
            </a:fld>
            <a:endParaRPr lang="en-US"/>
          </a:p>
        </p:txBody>
      </p:sp>
    </p:spTree>
    <p:extLst>
      <p:ext uri="{BB962C8B-B14F-4D97-AF65-F5344CB8AC3E}">
        <p14:creationId xmlns:p14="http://schemas.microsoft.com/office/powerpoint/2010/main" val="1497375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991AE-3465-10BB-BA2F-C1EC0C759F26}"/>
              </a:ext>
            </a:extLst>
          </p:cNvPr>
          <p:cNvSpPr>
            <a:spLocks noGrp="1"/>
          </p:cNvSpPr>
          <p:nvPr>
            <p:ph type="title"/>
          </p:nvPr>
        </p:nvSpPr>
        <p:spPr/>
        <p:txBody>
          <a:bodyPr/>
          <a:lstStyle/>
          <a:p>
            <a:r>
              <a:rPr lang="en-US" dirty="0"/>
              <a:t>Two Gun Regulation Cases</a:t>
            </a:r>
          </a:p>
        </p:txBody>
      </p:sp>
      <p:sp>
        <p:nvSpPr>
          <p:cNvPr id="3" name="Content Placeholder 2">
            <a:extLst>
              <a:ext uri="{FF2B5EF4-FFF2-40B4-BE49-F238E27FC236}">
                <a16:creationId xmlns:a16="http://schemas.microsoft.com/office/drawing/2014/main" id="{89FF8C16-D7A6-C08E-4256-C4B429A4A8DE}"/>
              </a:ext>
            </a:extLst>
          </p:cNvPr>
          <p:cNvSpPr>
            <a:spLocks noGrp="1"/>
          </p:cNvSpPr>
          <p:nvPr>
            <p:ph idx="1"/>
          </p:nvPr>
        </p:nvSpPr>
        <p:spPr/>
        <p:txBody>
          <a:bodyPr/>
          <a:lstStyle/>
          <a:p>
            <a:r>
              <a:rPr lang="en-US" sz="3600" dirty="0"/>
              <a:t>Is a semiautomatic rifle equipped with a bump stock a “machine gun?”</a:t>
            </a:r>
          </a:p>
          <a:p>
            <a:r>
              <a:rPr lang="en-US" sz="3600" dirty="0"/>
              <a:t>Is a kit for assembling a gun a “firearm?”</a:t>
            </a:r>
          </a:p>
          <a:p>
            <a:r>
              <a:rPr lang="en-US" sz="3600" dirty="0"/>
              <a:t>Without reading the statutes, if you were told the answer to one of these questions was “yes,” which one would you guess?</a:t>
            </a:r>
          </a:p>
          <a:p>
            <a:endParaRPr lang="en-US" dirty="0"/>
          </a:p>
        </p:txBody>
      </p:sp>
      <p:sp>
        <p:nvSpPr>
          <p:cNvPr id="4" name="Footer Placeholder 3">
            <a:extLst>
              <a:ext uri="{FF2B5EF4-FFF2-40B4-BE49-F238E27FC236}">
                <a16:creationId xmlns:a16="http://schemas.microsoft.com/office/drawing/2014/main" id="{3B815FBB-369F-75CA-1108-928C4782A3A4}"/>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7AFEE486-9269-D5F7-15B4-8FE90FD19F30}"/>
              </a:ext>
            </a:extLst>
          </p:cNvPr>
          <p:cNvSpPr>
            <a:spLocks noGrp="1"/>
          </p:cNvSpPr>
          <p:nvPr>
            <p:ph type="sldNum" sz="quarter" idx="12"/>
          </p:nvPr>
        </p:nvSpPr>
        <p:spPr/>
        <p:txBody>
          <a:bodyPr/>
          <a:lstStyle/>
          <a:p>
            <a:fld id="{367876FE-DFB2-5046-ACCA-7B7895FA01F2}" type="slidenum">
              <a:rPr lang="en-US" smtClean="0"/>
              <a:t>4</a:t>
            </a:fld>
            <a:endParaRPr lang="en-US"/>
          </a:p>
        </p:txBody>
      </p:sp>
    </p:spTree>
    <p:extLst>
      <p:ext uri="{BB962C8B-B14F-4D97-AF65-F5344CB8AC3E}">
        <p14:creationId xmlns:p14="http://schemas.microsoft.com/office/powerpoint/2010/main" val="4060903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794D4-2196-98EB-16AF-337735FB66BD}"/>
              </a:ext>
            </a:extLst>
          </p:cNvPr>
          <p:cNvSpPr>
            <a:spLocks noGrp="1"/>
          </p:cNvSpPr>
          <p:nvPr>
            <p:ph type="title"/>
          </p:nvPr>
        </p:nvSpPr>
        <p:spPr/>
        <p:txBody>
          <a:bodyPr>
            <a:normAutofit fontScale="90000"/>
          </a:bodyPr>
          <a:lstStyle/>
          <a:p>
            <a:r>
              <a:rPr lang="en-US" i="1" dirty="0"/>
              <a:t>Garland v. Cargill </a:t>
            </a:r>
            <a:r>
              <a:rPr lang="en-US" dirty="0"/>
              <a:t>(2024) </a:t>
            </a:r>
            <a:br>
              <a:rPr lang="en-US" dirty="0"/>
            </a:br>
            <a:r>
              <a:rPr lang="en-US" dirty="0"/>
              <a:t>What is the issue?</a:t>
            </a:r>
          </a:p>
        </p:txBody>
      </p:sp>
      <p:sp>
        <p:nvSpPr>
          <p:cNvPr id="3" name="Content Placeholder 2">
            <a:extLst>
              <a:ext uri="{FF2B5EF4-FFF2-40B4-BE49-F238E27FC236}">
                <a16:creationId xmlns:a16="http://schemas.microsoft.com/office/drawing/2014/main" id="{EB8DC35A-C0F4-500C-0FD5-E428C47B0FB0}"/>
              </a:ext>
            </a:extLst>
          </p:cNvPr>
          <p:cNvSpPr>
            <a:spLocks noGrp="1"/>
          </p:cNvSpPr>
          <p:nvPr>
            <p:ph idx="1"/>
          </p:nvPr>
        </p:nvSpPr>
        <p:spPr/>
        <p:txBody>
          <a:bodyPr>
            <a:normAutofit lnSpcReduction="10000"/>
          </a:bodyPr>
          <a:lstStyle/>
          <a:p>
            <a:r>
              <a:rPr lang="en-US" dirty="0"/>
              <a:t>Does a bump stock—an accessory for a semiautomatic rifle that allows the shooter to rapidly reengage the trigger (and therefore achieve a high rate of fire)—convert the rifle into a “machinegun?”</a:t>
            </a:r>
          </a:p>
          <a:p>
            <a:r>
              <a:rPr lang="en-US" dirty="0"/>
              <a:t>Why does it matter?</a:t>
            </a:r>
          </a:p>
          <a:p>
            <a:pPr lvl="1"/>
            <a:r>
              <a:rPr lang="en-US" dirty="0"/>
              <a:t> The GCA of 1968 makes it unlawful for any person to transfer or possess a machinegun unless it was lawfully possessed prior to the effective date of the statute.</a:t>
            </a:r>
          </a:p>
        </p:txBody>
      </p:sp>
      <p:sp>
        <p:nvSpPr>
          <p:cNvPr id="4" name="Footer Placeholder 3">
            <a:extLst>
              <a:ext uri="{FF2B5EF4-FFF2-40B4-BE49-F238E27FC236}">
                <a16:creationId xmlns:a16="http://schemas.microsoft.com/office/drawing/2014/main" id="{15544DA1-7074-5115-9270-E55F01B59DB6}"/>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79E68349-C158-A9A1-808E-E39ABCBE75D6}"/>
              </a:ext>
            </a:extLst>
          </p:cNvPr>
          <p:cNvSpPr>
            <a:spLocks noGrp="1"/>
          </p:cNvSpPr>
          <p:nvPr>
            <p:ph type="sldNum" sz="quarter" idx="12"/>
          </p:nvPr>
        </p:nvSpPr>
        <p:spPr/>
        <p:txBody>
          <a:bodyPr/>
          <a:lstStyle/>
          <a:p>
            <a:fld id="{367876FE-DFB2-5046-ACCA-7B7895FA01F2}" type="slidenum">
              <a:rPr lang="en-US" smtClean="0"/>
              <a:t>5</a:t>
            </a:fld>
            <a:endParaRPr lang="en-US"/>
          </a:p>
        </p:txBody>
      </p:sp>
    </p:spTree>
    <p:extLst>
      <p:ext uri="{BB962C8B-B14F-4D97-AF65-F5344CB8AC3E}">
        <p14:creationId xmlns:p14="http://schemas.microsoft.com/office/powerpoint/2010/main" val="3492076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F7A99-B89D-D782-0CA0-EF1C8A52E6F9}"/>
              </a:ext>
            </a:extLst>
          </p:cNvPr>
          <p:cNvSpPr>
            <a:spLocks noGrp="1"/>
          </p:cNvSpPr>
          <p:nvPr>
            <p:ph type="title"/>
          </p:nvPr>
        </p:nvSpPr>
        <p:spPr/>
        <p:txBody>
          <a:bodyPr/>
          <a:lstStyle/>
          <a:p>
            <a:r>
              <a:rPr lang="en-US" dirty="0"/>
              <a:t>Lower Court Proceedings</a:t>
            </a:r>
          </a:p>
        </p:txBody>
      </p:sp>
      <p:sp>
        <p:nvSpPr>
          <p:cNvPr id="3" name="Content Placeholder 2">
            <a:extLst>
              <a:ext uri="{FF2B5EF4-FFF2-40B4-BE49-F238E27FC236}">
                <a16:creationId xmlns:a16="http://schemas.microsoft.com/office/drawing/2014/main" id="{703E073B-4FC4-4B83-4BD7-C7B66041B327}"/>
              </a:ext>
            </a:extLst>
          </p:cNvPr>
          <p:cNvSpPr>
            <a:spLocks noGrp="1"/>
          </p:cNvSpPr>
          <p:nvPr>
            <p:ph idx="1"/>
          </p:nvPr>
        </p:nvSpPr>
        <p:spPr/>
        <p:txBody>
          <a:bodyPr/>
          <a:lstStyle/>
          <a:p>
            <a:r>
              <a:rPr lang="en-US" dirty="0"/>
              <a:t>Bump stock owner loses in the District Court</a:t>
            </a:r>
          </a:p>
          <a:p>
            <a:r>
              <a:rPr lang="en-US" dirty="0"/>
              <a:t>Court of Appeals first affirms, then reverses </a:t>
            </a:r>
            <a:r>
              <a:rPr lang="en-US" i="1" dirty="0"/>
              <a:t>en banc</a:t>
            </a:r>
          </a:p>
          <a:p>
            <a:pPr lvl="1"/>
            <a:r>
              <a:rPr lang="en-US" i="1" dirty="0"/>
              <a:t>Majority:</a:t>
            </a:r>
            <a:r>
              <a:rPr lang="en-US" dirty="0"/>
              <a:t> If statute is ambiguous, “rule of lenity” means the bump stock owner wins</a:t>
            </a:r>
          </a:p>
          <a:p>
            <a:pPr lvl="1"/>
            <a:r>
              <a:rPr lang="en-US" i="1" dirty="0"/>
              <a:t>Plurality:  </a:t>
            </a:r>
            <a:r>
              <a:rPr lang="en-US" dirty="0"/>
              <a:t>Bump stocks don’t fit the statutory definition</a:t>
            </a:r>
            <a:endParaRPr lang="en-US" i="1" dirty="0"/>
          </a:p>
        </p:txBody>
      </p:sp>
      <p:sp>
        <p:nvSpPr>
          <p:cNvPr id="4" name="Footer Placeholder 3">
            <a:extLst>
              <a:ext uri="{FF2B5EF4-FFF2-40B4-BE49-F238E27FC236}">
                <a16:creationId xmlns:a16="http://schemas.microsoft.com/office/drawing/2014/main" id="{27115543-C6DB-9E76-F1D3-C1D8686E3800}"/>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F80890FB-CEAF-1516-7C0F-CA3520CBFBA6}"/>
              </a:ext>
            </a:extLst>
          </p:cNvPr>
          <p:cNvSpPr>
            <a:spLocks noGrp="1"/>
          </p:cNvSpPr>
          <p:nvPr>
            <p:ph type="sldNum" sz="quarter" idx="12"/>
          </p:nvPr>
        </p:nvSpPr>
        <p:spPr/>
        <p:txBody>
          <a:bodyPr/>
          <a:lstStyle/>
          <a:p>
            <a:fld id="{367876FE-DFB2-5046-ACCA-7B7895FA01F2}" type="slidenum">
              <a:rPr lang="en-US" smtClean="0"/>
              <a:t>6</a:t>
            </a:fld>
            <a:endParaRPr lang="en-US"/>
          </a:p>
        </p:txBody>
      </p:sp>
    </p:spTree>
    <p:extLst>
      <p:ext uri="{BB962C8B-B14F-4D97-AF65-F5344CB8AC3E}">
        <p14:creationId xmlns:p14="http://schemas.microsoft.com/office/powerpoint/2010/main" val="2035433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D8A09-037F-AE76-EB03-B33B16B19F59}"/>
              </a:ext>
            </a:extLst>
          </p:cNvPr>
          <p:cNvSpPr>
            <a:spLocks noGrp="1"/>
          </p:cNvSpPr>
          <p:nvPr>
            <p:ph type="title"/>
          </p:nvPr>
        </p:nvSpPr>
        <p:spPr/>
        <p:txBody>
          <a:bodyPr>
            <a:normAutofit/>
          </a:bodyPr>
          <a:lstStyle/>
          <a:p>
            <a:r>
              <a:rPr lang="en-US" dirty="0"/>
              <a:t>26 U.S.C. § 5845</a:t>
            </a:r>
          </a:p>
        </p:txBody>
      </p:sp>
      <p:sp>
        <p:nvSpPr>
          <p:cNvPr id="3" name="Content Placeholder 2">
            <a:extLst>
              <a:ext uri="{FF2B5EF4-FFF2-40B4-BE49-F238E27FC236}">
                <a16:creationId xmlns:a16="http://schemas.microsoft.com/office/drawing/2014/main" id="{A6EC5CA3-B598-820D-341B-81A4BFFE6A59}"/>
              </a:ext>
            </a:extLst>
          </p:cNvPr>
          <p:cNvSpPr>
            <a:spLocks noGrp="1"/>
          </p:cNvSpPr>
          <p:nvPr>
            <p:ph idx="1"/>
          </p:nvPr>
        </p:nvSpPr>
        <p:spPr/>
        <p:txBody>
          <a:bodyPr>
            <a:normAutofit fontScale="85000" lnSpcReduction="10000"/>
          </a:bodyPr>
          <a:lstStyle/>
          <a:p>
            <a:r>
              <a:rPr lang="en-US" b="1" dirty="0"/>
              <a:t>(b)</a:t>
            </a:r>
            <a:r>
              <a:rPr lang="en-US" b="1" cap="small" dirty="0"/>
              <a:t>Machinegun. </a:t>
            </a:r>
            <a:r>
              <a:rPr lang="en-US" dirty="0"/>
              <a:t>The term “</a:t>
            </a:r>
            <a:r>
              <a:rPr lang="en-US" dirty="0">
                <a:hlinkClick r:id="rId2"/>
              </a:rPr>
              <a:t>machinegun</a:t>
            </a:r>
            <a:r>
              <a:rPr lang="en-US" dirty="0"/>
              <a:t>” means any weapon which shoots, is designed to shoot, or </a:t>
            </a:r>
            <a:r>
              <a:rPr lang="en-US" u="sng" dirty="0">
                <a:solidFill>
                  <a:srgbClr val="FF0000"/>
                </a:solidFill>
              </a:rPr>
              <a:t>can be readily restored to shoot</a:t>
            </a:r>
            <a:r>
              <a:rPr lang="en-US" dirty="0"/>
              <a:t>, </a:t>
            </a:r>
            <a:r>
              <a:rPr lang="en-US" u="sng" dirty="0">
                <a:solidFill>
                  <a:srgbClr val="7030A0"/>
                </a:solidFill>
              </a:rPr>
              <a:t>automatically</a:t>
            </a:r>
            <a:r>
              <a:rPr lang="en-US" dirty="0"/>
              <a:t> more than one shot, without manual reloading, by </a:t>
            </a:r>
            <a:r>
              <a:rPr lang="en-US" u="sng" dirty="0">
                <a:solidFill>
                  <a:srgbClr val="FF0000"/>
                </a:solidFill>
              </a:rPr>
              <a:t>a single function of the trigger</a:t>
            </a:r>
            <a:r>
              <a:rPr lang="en-US" dirty="0"/>
              <a:t>. The term shall also include the frame or receiver of any such weapon, any part designed and intended solely and exclusively, or combination of parts designed and intended, for use in converting a weapon into a </a:t>
            </a:r>
            <a:r>
              <a:rPr lang="en-US" dirty="0">
                <a:hlinkClick r:id="rId2"/>
              </a:rPr>
              <a:t>machinegun</a:t>
            </a:r>
            <a:r>
              <a:rPr lang="en-US" dirty="0"/>
              <a:t>, and any combination of parts from which a </a:t>
            </a:r>
            <a:r>
              <a:rPr lang="en-US" dirty="0">
                <a:hlinkClick r:id="rId2"/>
              </a:rPr>
              <a:t>machinegun</a:t>
            </a:r>
            <a:r>
              <a:rPr lang="en-US" dirty="0"/>
              <a:t> can be assembled if such parts are in the possession or under the control of a person.</a:t>
            </a:r>
          </a:p>
          <a:p>
            <a:endParaRPr lang="en-US" dirty="0"/>
          </a:p>
        </p:txBody>
      </p:sp>
      <p:sp>
        <p:nvSpPr>
          <p:cNvPr id="4" name="Footer Placeholder 3">
            <a:extLst>
              <a:ext uri="{FF2B5EF4-FFF2-40B4-BE49-F238E27FC236}">
                <a16:creationId xmlns:a16="http://schemas.microsoft.com/office/drawing/2014/main" id="{FF3EB0C5-FEAD-5F43-42EF-5EB0F9D03D25}"/>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8894E43B-CC55-D36E-6E26-1E5F982F9013}"/>
              </a:ext>
            </a:extLst>
          </p:cNvPr>
          <p:cNvSpPr>
            <a:spLocks noGrp="1"/>
          </p:cNvSpPr>
          <p:nvPr>
            <p:ph type="sldNum" sz="quarter" idx="12"/>
          </p:nvPr>
        </p:nvSpPr>
        <p:spPr/>
        <p:txBody>
          <a:bodyPr/>
          <a:lstStyle/>
          <a:p>
            <a:fld id="{367876FE-DFB2-5046-ACCA-7B7895FA01F2}" type="slidenum">
              <a:rPr lang="en-US" smtClean="0"/>
              <a:t>7</a:t>
            </a:fld>
            <a:endParaRPr lang="en-US"/>
          </a:p>
        </p:txBody>
      </p:sp>
    </p:spTree>
    <p:extLst>
      <p:ext uri="{BB962C8B-B14F-4D97-AF65-F5344CB8AC3E}">
        <p14:creationId xmlns:p14="http://schemas.microsoft.com/office/powerpoint/2010/main" val="4134030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C6177-66D5-A25E-CBD9-ABD64C49C67D}"/>
              </a:ext>
            </a:extLst>
          </p:cNvPr>
          <p:cNvSpPr>
            <a:spLocks noGrp="1"/>
          </p:cNvSpPr>
          <p:nvPr>
            <p:ph type="title"/>
          </p:nvPr>
        </p:nvSpPr>
        <p:spPr/>
        <p:txBody>
          <a:bodyPr>
            <a:normAutofit/>
          </a:bodyPr>
          <a:lstStyle/>
          <a:p>
            <a:r>
              <a:rPr lang="en-US" dirty="0"/>
              <a:t>The Role of the Agency</a:t>
            </a:r>
          </a:p>
        </p:txBody>
      </p:sp>
      <p:sp>
        <p:nvSpPr>
          <p:cNvPr id="3" name="Content Placeholder 2">
            <a:extLst>
              <a:ext uri="{FF2B5EF4-FFF2-40B4-BE49-F238E27FC236}">
                <a16:creationId xmlns:a16="http://schemas.microsoft.com/office/drawing/2014/main" id="{4BA9F582-ED44-9408-D6C9-FB7AB76C282F}"/>
              </a:ext>
            </a:extLst>
          </p:cNvPr>
          <p:cNvSpPr>
            <a:spLocks noGrp="1"/>
          </p:cNvSpPr>
          <p:nvPr>
            <p:ph idx="1"/>
          </p:nvPr>
        </p:nvSpPr>
        <p:spPr/>
        <p:txBody>
          <a:bodyPr>
            <a:normAutofit fontScale="77500" lnSpcReduction="20000"/>
          </a:bodyPr>
          <a:lstStyle/>
          <a:p>
            <a:r>
              <a:rPr lang="en-US" dirty="0"/>
              <a:t>ATF issued a rule defining machineguns to include </a:t>
            </a:r>
            <a:r>
              <a:rPr lang="en-US" dirty="0" err="1"/>
              <a:t>bumpstocks</a:t>
            </a:r>
            <a:r>
              <a:rPr lang="en-US" dirty="0"/>
              <a:t>: “[T]he term ‘automatically’ as it modifies ‘shoots, is designed to shoot, or can be readily restored to shoot,’ means functioning as the result of a self-acting or self-regulating mechanism that allows the firing of multiple rounds through a single function of the trigger; and ‘single function of the trigger’ means a single pull of the trigger and analogous motions. The term ‘machinegun’ includes a bump-stock-type device, i.e., a device that allows a semi-automatic firearm to shoot more than one shot with a single pull of the trigger by harnessing the recoil energy of the semi-automatic firearm to which it is affixed so that the trigger resets and continues firing without additional physical manipulation of the trigger by the shooter.”</a:t>
            </a:r>
          </a:p>
        </p:txBody>
      </p:sp>
      <p:sp>
        <p:nvSpPr>
          <p:cNvPr id="4" name="Footer Placeholder 3">
            <a:extLst>
              <a:ext uri="{FF2B5EF4-FFF2-40B4-BE49-F238E27FC236}">
                <a16:creationId xmlns:a16="http://schemas.microsoft.com/office/drawing/2014/main" id="{B7E66DED-F6C1-E4E2-7114-8907020D1ABD}"/>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1CD22B44-5600-3A9B-CA3B-B0E2066AD889}"/>
              </a:ext>
            </a:extLst>
          </p:cNvPr>
          <p:cNvSpPr>
            <a:spLocks noGrp="1"/>
          </p:cNvSpPr>
          <p:nvPr>
            <p:ph type="sldNum" sz="quarter" idx="12"/>
          </p:nvPr>
        </p:nvSpPr>
        <p:spPr/>
        <p:txBody>
          <a:bodyPr/>
          <a:lstStyle/>
          <a:p>
            <a:fld id="{367876FE-DFB2-5046-ACCA-7B7895FA01F2}" type="slidenum">
              <a:rPr lang="en-US" smtClean="0"/>
              <a:t>8</a:t>
            </a:fld>
            <a:endParaRPr lang="en-US"/>
          </a:p>
        </p:txBody>
      </p:sp>
    </p:spTree>
    <p:extLst>
      <p:ext uri="{BB962C8B-B14F-4D97-AF65-F5344CB8AC3E}">
        <p14:creationId xmlns:p14="http://schemas.microsoft.com/office/powerpoint/2010/main" val="158495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88F6C-1FC4-5C13-0267-CEFD1109EFF6}"/>
              </a:ext>
            </a:extLst>
          </p:cNvPr>
          <p:cNvSpPr>
            <a:spLocks noGrp="1"/>
          </p:cNvSpPr>
          <p:nvPr>
            <p:ph type="title"/>
          </p:nvPr>
        </p:nvSpPr>
        <p:spPr/>
        <p:txBody>
          <a:bodyPr/>
          <a:lstStyle/>
          <a:p>
            <a:r>
              <a:rPr lang="en-US" dirty="0"/>
              <a:t>ATF’s Interpretation</a:t>
            </a:r>
          </a:p>
        </p:txBody>
      </p:sp>
      <p:sp>
        <p:nvSpPr>
          <p:cNvPr id="3" name="Content Placeholder 2">
            <a:extLst>
              <a:ext uri="{FF2B5EF4-FFF2-40B4-BE49-F238E27FC236}">
                <a16:creationId xmlns:a16="http://schemas.microsoft.com/office/drawing/2014/main" id="{DA06BBC6-8E1F-74B8-2DD3-953FF5A321BD}"/>
              </a:ext>
            </a:extLst>
          </p:cNvPr>
          <p:cNvSpPr>
            <a:spLocks noGrp="1"/>
          </p:cNvSpPr>
          <p:nvPr>
            <p:ph idx="1"/>
          </p:nvPr>
        </p:nvSpPr>
        <p:spPr/>
        <p:txBody>
          <a:bodyPr>
            <a:normAutofit fontScale="77500" lnSpcReduction="20000"/>
          </a:bodyPr>
          <a:lstStyle/>
          <a:p>
            <a:r>
              <a:rPr lang="en-US" dirty="0"/>
              <a:t>Interprets “single function of the trigger” to mean “a single pull of the trigger and analogous motions.” </a:t>
            </a:r>
          </a:p>
          <a:p>
            <a:r>
              <a:rPr lang="en-US" dirty="0"/>
              <a:t>A shooter using a bump stock, it asserts, must pull the trigger only one time to initiate a bump-firing sequence of multiple shots. </a:t>
            </a:r>
          </a:p>
          <a:p>
            <a:r>
              <a:rPr lang="en-US" dirty="0"/>
              <a:t>This initial trigger pull sets off a sequence—fire, recoil, bump, fire—that allows the weapon to continue firing “without additional physical manipulation of the trigger by the shooter.” </a:t>
            </a:r>
          </a:p>
          <a:p>
            <a:r>
              <a:rPr lang="en-US" dirty="0"/>
              <a:t>All the shooter must do is keep their trigger finger stationary on the bump stock's ledge and maintain constant forward pressure on the front grip to continue firing. </a:t>
            </a:r>
          </a:p>
        </p:txBody>
      </p:sp>
      <p:sp>
        <p:nvSpPr>
          <p:cNvPr id="4" name="Footer Placeholder 3">
            <a:extLst>
              <a:ext uri="{FF2B5EF4-FFF2-40B4-BE49-F238E27FC236}">
                <a16:creationId xmlns:a16="http://schemas.microsoft.com/office/drawing/2014/main" id="{418916EF-2750-8481-EE39-6CCF0B8F75AF}"/>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DEBC0B1D-6A64-82C2-A3F1-F111CE933B53}"/>
              </a:ext>
            </a:extLst>
          </p:cNvPr>
          <p:cNvSpPr>
            <a:spLocks noGrp="1"/>
          </p:cNvSpPr>
          <p:nvPr>
            <p:ph type="sldNum" sz="quarter" idx="12"/>
          </p:nvPr>
        </p:nvSpPr>
        <p:spPr/>
        <p:txBody>
          <a:bodyPr/>
          <a:lstStyle/>
          <a:p>
            <a:fld id="{367876FE-DFB2-5046-ACCA-7B7895FA01F2}" type="slidenum">
              <a:rPr lang="en-US" smtClean="0"/>
              <a:t>9</a:t>
            </a:fld>
            <a:endParaRPr lang="en-US"/>
          </a:p>
        </p:txBody>
      </p:sp>
    </p:spTree>
    <p:extLst>
      <p:ext uri="{BB962C8B-B14F-4D97-AF65-F5344CB8AC3E}">
        <p14:creationId xmlns:p14="http://schemas.microsoft.com/office/powerpoint/2010/main" val="1160854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D04E1-004E-A32E-0847-1F963BB8AF0B}"/>
              </a:ext>
            </a:extLst>
          </p:cNvPr>
          <p:cNvSpPr>
            <a:spLocks noGrp="1"/>
          </p:cNvSpPr>
          <p:nvPr>
            <p:ph type="title"/>
          </p:nvPr>
        </p:nvSpPr>
        <p:spPr/>
        <p:txBody>
          <a:bodyPr/>
          <a:lstStyle/>
          <a:p>
            <a:r>
              <a:rPr lang="en-US" dirty="0"/>
              <a:t>Why majority overturns?</a:t>
            </a:r>
          </a:p>
        </p:txBody>
      </p:sp>
      <p:sp>
        <p:nvSpPr>
          <p:cNvPr id="3" name="Content Placeholder 2">
            <a:extLst>
              <a:ext uri="{FF2B5EF4-FFF2-40B4-BE49-F238E27FC236}">
                <a16:creationId xmlns:a16="http://schemas.microsoft.com/office/drawing/2014/main" id="{7F06FADC-762F-017B-A15C-25A6DC769323}"/>
              </a:ext>
            </a:extLst>
          </p:cNvPr>
          <p:cNvSpPr>
            <a:spLocks noGrp="1"/>
          </p:cNvSpPr>
          <p:nvPr>
            <p:ph idx="1"/>
          </p:nvPr>
        </p:nvSpPr>
        <p:spPr/>
        <p:txBody>
          <a:bodyPr>
            <a:normAutofit fontScale="77500" lnSpcReduction="20000"/>
          </a:bodyPr>
          <a:lstStyle/>
          <a:p>
            <a:r>
              <a:rPr lang="en-US" dirty="0"/>
              <a:t>A semiautomatic rifle equipped with a bump stock does not fire more than one shot “by a single function of the trigger.” </a:t>
            </a:r>
          </a:p>
          <a:p>
            <a:pPr lvl="1"/>
            <a:r>
              <a:rPr lang="en-US" dirty="0"/>
              <a:t>Uses dictionary definitions of “function” and “trigger” (IIA)</a:t>
            </a:r>
          </a:p>
          <a:p>
            <a:r>
              <a:rPr lang="en-US" dirty="0"/>
              <a:t>A semiautomatic rifle without a bump stock could be a machinegun under the same theory.</a:t>
            </a:r>
          </a:p>
          <a:p>
            <a:pPr lvl="1"/>
            <a:r>
              <a:rPr lang="en-US" dirty="0"/>
              <a:t>A semiautomatic rifle with a bump stock is indistinguishable from another weapon that ATF concedes cannot fire multiple shots “automatically”: the Ithaca Model 37 shotgun. </a:t>
            </a:r>
          </a:p>
          <a:p>
            <a:r>
              <a:rPr lang="en-US" dirty="0"/>
              <a:t>Even if a semiautomatic rifle with a bump stock could fire more than one shot “by a single function of the trigger,” it would not do so “automatically.”</a:t>
            </a:r>
          </a:p>
          <a:p>
            <a:pPr lvl="1"/>
            <a:r>
              <a:rPr lang="en-US" dirty="0"/>
              <a:t>Requires precise amount of forward pressure on the rifle’s front grip</a:t>
            </a:r>
          </a:p>
          <a:p>
            <a:endParaRPr lang="en-US" dirty="0"/>
          </a:p>
        </p:txBody>
      </p:sp>
      <p:sp>
        <p:nvSpPr>
          <p:cNvPr id="4" name="Footer Placeholder 3">
            <a:extLst>
              <a:ext uri="{FF2B5EF4-FFF2-40B4-BE49-F238E27FC236}">
                <a16:creationId xmlns:a16="http://schemas.microsoft.com/office/drawing/2014/main" id="{C64C2DCC-5530-5C35-16C8-5760CF3929A8}"/>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61DE5D41-5EEB-3C49-9907-9EFF94AEDA8B}"/>
              </a:ext>
            </a:extLst>
          </p:cNvPr>
          <p:cNvSpPr>
            <a:spLocks noGrp="1"/>
          </p:cNvSpPr>
          <p:nvPr>
            <p:ph type="sldNum" sz="quarter" idx="12"/>
          </p:nvPr>
        </p:nvSpPr>
        <p:spPr/>
        <p:txBody>
          <a:bodyPr/>
          <a:lstStyle/>
          <a:p>
            <a:fld id="{367876FE-DFB2-5046-ACCA-7B7895FA01F2}" type="slidenum">
              <a:rPr lang="en-US" smtClean="0"/>
              <a:t>10</a:t>
            </a:fld>
            <a:endParaRPr lang="en-US"/>
          </a:p>
        </p:txBody>
      </p:sp>
    </p:spTree>
    <p:extLst>
      <p:ext uri="{BB962C8B-B14F-4D97-AF65-F5344CB8AC3E}">
        <p14:creationId xmlns:p14="http://schemas.microsoft.com/office/powerpoint/2010/main" val="2656935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39A2-FD48-D52D-5A7F-8E2DE997064E}"/>
              </a:ext>
            </a:extLst>
          </p:cNvPr>
          <p:cNvSpPr>
            <a:spLocks noGrp="1"/>
          </p:cNvSpPr>
          <p:nvPr>
            <p:ph type="title"/>
          </p:nvPr>
        </p:nvSpPr>
        <p:spPr/>
        <p:txBody>
          <a:bodyPr/>
          <a:lstStyle/>
          <a:p>
            <a:r>
              <a:rPr lang="en-US" dirty="0"/>
              <a:t>Reasons for Dissenting</a:t>
            </a:r>
          </a:p>
        </p:txBody>
      </p:sp>
      <p:sp>
        <p:nvSpPr>
          <p:cNvPr id="3" name="Content Placeholder 2">
            <a:extLst>
              <a:ext uri="{FF2B5EF4-FFF2-40B4-BE49-F238E27FC236}">
                <a16:creationId xmlns:a16="http://schemas.microsoft.com/office/drawing/2014/main" id="{F27F586B-7A82-ADEB-22BD-C1D4D0D149C8}"/>
              </a:ext>
            </a:extLst>
          </p:cNvPr>
          <p:cNvSpPr>
            <a:spLocks noGrp="1"/>
          </p:cNvSpPr>
          <p:nvPr>
            <p:ph idx="1"/>
          </p:nvPr>
        </p:nvSpPr>
        <p:spPr/>
        <p:txBody>
          <a:bodyPr>
            <a:normAutofit lnSpcReduction="10000"/>
          </a:bodyPr>
          <a:lstStyle/>
          <a:p>
            <a:r>
              <a:rPr lang="en-US" dirty="0"/>
              <a:t>A shooter using a bump stock must pull the trigger only one time to initiate a bump-firing sequence of multiple shots. </a:t>
            </a:r>
          </a:p>
          <a:p>
            <a:r>
              <a:rPr lang="en-US" dirty="0"/>
              <a:t>Because the trigger's internal mechanism must reset each time a weapon fires, the majority reads each reset as a new “function.” That reading fixates on a firearm's internal mechanics while ignoring the human act on the trigger referenced by the statute.</a:t>
            </a:r>
          </a:p>
        </p:txBody>
      </p:sp>
      <p:sp>
        <p:nvSpPr>
          <p:cNvPr id="4" name="Footer Placeholder 3">
            <a:extLst>
              <a:ext uri="{FF2B5EF4-FFF2-40B4-BE49-F238E27FC236}">
                <a16:creationId xmlns:a16="http://schemas.microsoft.com/office/drawing/2014/main" id="{E7CEB84E-01F7-96D1-6C1C-14D8FC57E442}"/>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F733C9A6-332B-2D88-5F4A-0A22560737CC}"/>
              </a:ext>
            </a:extLst>
          </p:cNvPr>
          <p:cNvSpPr>
            <a:spLocks noGrp="1"/>
          </p:cNvSpPr>
          <p:nvPr>
            <p:ph type="sldNum" sz="quarter" idx="12"/>
          </p:nvPr>
        </p:nvSpPr>
        <p:spPr/>
        <p:txBody>
          <a:bodyPr/>
          <a:lstStyle/>
          <a:p>
            <a:fld id="{367876FE-DFB2-5046-ACCA-7B7895FA01F2}" type="slidenum">
              <a:rPr lang="en-US" smtClean="0"/>
              <a:t>11</a:t>
            </a:fld>
            <a:endParaRPr lang="en-US"/>
          </a:p>
        </p:txBody>
      </p:sp>
    </p:spTree>
    <p:extLst>
      <p:ext uri="{BB962C8B-B14F-4D97-AF65-F5344CB8AC3E}">
        <p14:creationId xmlns:p14="http://schemas.microsoft.com/office/powerpoint/2010/main" val="3491238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0F116-B1DC-100F-126F-436E664CDD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572F84-9642-5C27-9C77-59D09906AB20}"/>
              </a:ext>
            </a:extLst>
          </p:cNvPr>
          <p:cNvSpPr>
            <a:spLocks noGrp="1"/>
          </p:cNvSpPr>
          <p:nvPr>
            <p:ph type="title"/>
          </p:nvPr>
        </p:nvSpPr>
        <p:spPr/>
        <p:txBody>
          <a:bodyPr/>
          <a:lstStyle/>
          <a:p>
            <a:r>
              <a:rPr lang="en-US" dirty="0"/>
              <a:t>Reasons for Dissenting - 2</a:t>
            </a:r>
          </a:p>
        </p:txBody>
      </p:sp>
      <p:sp>
        <p:nvSpPr>
          <p:cNvPr id="3" name="Content Placeholder 2">
            <a:extLst>
              <a:ext uri="{FF2B5EF4-FFF2-40B4-BE49-F238E27FC236}">
                <a16:creationId xmlns:a16="http://schemas.microsoft.com/office/drawing/2014/main" id="{A55705DF-5995-3D7D-C1EE-B8ECEFE2EC72}"/>
              </a:ext>
            </a:extLst>
          </p:cNvPr>
          <p:cNvSpPr>
            <a:spLocks noGrp="1"/>
          </p:cNvSpPr>
          <p:nvPr>
            <p:ph idx="1"/>
          </p:nvPr>
        </p:nvSpPr>
        <p:spPr/>
        <p:txBody>
          <a:bodyPr>
            <a:normAutofit fontScale="77500" lnSpcReduction="20000"/>
          </a:bodyPr>
          <a:lstStyle/>
          <a:p>
            <a:r>
              <a:rPr lang="en-US" dirty="0"/>
              <a:t>Evidence of contemporaneous usage including congressional testimony of NRA president</a:t>
            </a:r>
          </a:p>
          <a:p>
            <a:r>
              <a:rPr lang="en-US" dirty="0"/>
              <a:t>“The majority cannot disregard these statements as evidence of legislative purpose. They are, along with contemporaneous dictionary definitions, some of the best evidence of contemporaneous understanding.”</a:t>
            </a:r>
          </a:p>
          <a:p>
            <a:r>
              <a:rPr lang="en-US" dirty="0"/>
              <a:t>“[T]here is no commonsense difference between a firearm where a shooter must hold down a trigger or flip a switch to initiate rapid fire and one where a shooter must push on the front grip or barrel to do the same.”</a:t>
            </a:r>
          </a:p>
          <a:p>
            <a:r>
              <a:rPr lang="en-US" dirty="0"/>
              <a:t>“[T]he best way to respect congressional intent is to adhere to the ordinary understanding of the terms Congress uses.”</a:t>
            </a:r>
          </a:p>
        </p:txBody>
      </p:sp>
      <p:sp>
        <p:nvSpPr>
          <p:cNvPr id="4" name="Footer Placeholder 3">
            <a:extLst>
              <a:ext uri="{FF2B5EF4-FFF2-40B4-BE49-F238E27FC236}">
                <a16:creationId xmlns:a16="http://schemas.microsoft.com/office/drawing/2014/main" id="{8E0C61CC-0AD1-5673-A059-D99DA5B4AD49}"/>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4A56A163-F6DF-8659-4B86-D8D5A059B591}"/>
              </a:ext>
            </a:extLst>
          </p:cNvPr>
          <p:cNvSpPr>
            <a:spLocks noGrp="1"/>
          </p:cNvSpPr>
          <p:nvPr>
            <p:ph type="sldNum" sz="quarter" idx="12"/>
          </p:nvPr>
        </p:nvSpPr>
        <p:spPr/>
        <p:txBody>
          <a:bodyPr/>
          <a:lstStyle/>
          <a:p>
            <a:fld id="{367876FE-DFB2-5046-ACCA-7B7895FA01F2}" type="slidenum">
              <a:rPr lang="en-US" smtClean="0"/>
              <a:t>12</a:t>
            </a:fld>
            <a:endParaRPr lang="en-US"/>
          </a:p>
        </p:txBody>
      </p:sp>
    </p:spTree>
    <p:extLst>
      <p:ext uri="{BB962C8B-B14F-4D97-AF65-F5344CB8AC3E}">
        <p14:creationId xmlns:p14="http://schemas.microsoft.com/office/powerpoint/2010/main" val="899849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9B348-2284-A505-92AA-EF15A96C7A9F}"/>
              </a:ext>
            </a:extLst>
          </p:cNvPr>
          <p:cNvSpPr>
            <a:spLocks noGrp="1"/>
          </p:cNvSpPr>
          <p:nvPr>
            <p:ph type="title"/>
          </p:nvPr>
        </p:nvSpPr>
        <p:spPr/>
        <p:txBody>
          <a:bodyPr>
            <a:normAutofit fontScale="90000"/>
          </a:bodyPr>
          <a:lstStyle/>
          <a:p>
            <a:r>
              <a:rPr lang="en-US" dirty="0"/>
              <a:t>Presumption Against Ineffectiveness</a:t>
            </a:r>
          </a:p>
        </p:txBody>
      </p:sp>
      <p:sp>
        <p:nvSpPr>
          <p:cNvPr id="3" name="Content Placeholder 2">
            <a:extLst>
              <a:ext uri="{FF2B5EF4-FFF2-40B4-BE49-F238E27FC236}">
                <a16:creationId xmlns:a16="http://schemas.microsoft.com/office/drawing/2014/main" id="{A9FEB2F2-DAB6-C0AB-E348-1930B31B5183}"/>
              </a:ext>
            </a:extLst>
          </p:cNvPr>
          <p:cNvSpPr>
            <a:spLocks noGrp="1"/>
          </p:cNvSpPr>
          <p:nvPr>
            <p:ph idx="1"/>
          </p:nvPr>
        </p:nvSpPr>
        <p:spPr/>
        <p:txBody>
          <a:bodyPr/>
          <a:lstStyle/>
          <a:p>
            <a:r>
              <a:rPr lang="en-US" dirty="0"/>
              <a:t>“This Court has repeatedly avoided interpretations of a statute that would facilitate its ready ‘evasion’ or ‘enable offenders to elude its provisions in the most easy manner.’”</a:t>
            </a:r>
          </a:p>
          <a:p>
            <a:r>
              <a:rPr lang="en-US" dirty="0"/>
              <a:t>“The presumption against ineffectiveness ensures that a text's manifest purpose is furthered, not hindered.”</a:t>
            </a:r>
          </a:p>
        </p:txBody>
      </p:sp>
      <p:sp>
        <p:nvSpPr>
          <p:cNvPr id="4" name="Footer Placeholder 3">
            <a:extLst>
              <a:ext uri="{FF2B5EF4-FFF2-40B4-BE49-F238E27FC236}">
                <a16:creationId xmlns:a16="http://schemas.microsoft.com/office/drawing/2014/main" id="{BF8B8ADB-E1BC-20DA-BB90-D3D09276DF33}"/>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0DA008D6-0724-D63F-1630-21C03FA0FE32}"/>
              </a:ext>
            </a:extLst>
          </p:cNvPr>
          <p:cNvSpPr>
            <a:spLocks noGrp="1"/>
          </p:cNvSpPr>
          <p:nvPr>
            <p:ph type="sldNum" sz="quarter" idx="12"/>
          </p:nvPr>
        </p:nvSpPr>
        <p:spPr/>
        <p:txBody>
          <a:bodyPr/>
          <a:lstStyle/>
          <a:p>
            <a:fld id="{367876FE-DFB2-5046-ACCA-7B7895FA01F2}" type="slidenum">
              <a:rPr lang="en-US" smtClean="0"/>
              <a:t>13</a:t>
            </a:fld>
            <a:endParaRPr lang="en-US"/>
          </a:p>
        </p:txBody>
      </p:sp>
    </p:spTree>
    <p:extLst>
      <p:ext uri="{BB962C8B-B14F-4D97-AF65-F5344CB8AC3E}">
        <p14:creationId xmlns:p14="http://schemas.microsoft.com/office/powerpoint/2010/main" val="2454587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D8D29-881C-890A-B935-8EAC4098A441}"/>
              </a:ext>
            </a:extLst>
          </p:cNvPr>
          <p:cNvSpPr>
            <a:spLocks noGrp="1"/>
          </p:cNvSpPr>
          <p:nvPr>
            <p:ph type="title"/>
          </p:nvPr>
        </p:nvSpPr>
        <p:spPr/>
        <p:txBody>
          <a:bodyPr/>
          <a:lstStyle/>
          <a:p>
            <a:r>
              <a:rPr lang="en-US" dirty="0"/>
              <a:t>Note: No Deference to ATF</a:t>
            </a:r>
          </a:p>
        </p:txBody>
      </p:sp>
      <p:sp>
        <p:nvSpPr>
          <p:cNvPr id="3" name="Content Placeholder 2">
            <a:extLst>
              <a:ext uri="{FF2B5EF4-FFF2-40B4-BE49-F238E27FC236}">
                <a16:creationId xmlns:a16="http://schemas.microsoft.com/office/drawing/2014/main" id="{45FBDB83-CE91-5728-4057-C7EC16ECB4B7}"/>
              </a:ext>
            </a:extLst>
          </p:cNvPr>
          <p:cNvSpPr>
            <a:spLocks noGrp="1"/>
          </p:cNvSpPr>
          <p:nvPr>
            <p:ph idx="1"/>
          </p:nvPr>
        </p:nvSpPr>
        <p:spPr/>
        <p:txBody>
          <a:bodyPr>
            <a:normAutofit fontScale="92500" lnSpcReduction="20000"/>
          </a:bodyPr>
          <a:lstStyle/>
          <a:p>
            <a:r>
              <a:rPr lang="en-US" dirty="0"/>
              <a:t>Possible reason for deference: Agency expertise</a:t>
            </a:r>
          </a:p>
          <a:p>
            <a:r>
              <a:rPr lang="en-US" dirty="0"/>
              <a:t>Public reaction after a gunman fired on a crowd attending an outdoor music festival in Las Vegas, killing 58 people and wounding over 500 more in October 2017</a:t>
            </a:r>
          </a:p>
          <a:p>
            <a:r>
              <a:rPr lang="en-US" dirty="0"/>
              <a:t>Possible reason not to defer: Agency changed its stance</a:t>
            </a:r>
          </a:p>
          <a:p>
            <a:pPr lvl="1"/>
            <a:r>
              <a:rPr lang="en-US" dirty="0"/>
              <a:t>On more than 10 separate occasions over several administrations, ATF consistently concluded that rifles equipped with bump stocks cannot “automatically” fire more than one shot “by a single function of the trigger.”</a:t>
            </a:r>
          </a:p>
        </p:txBody>
      </p:sp>
      <p:sp>
        <p:nvSpPr>
          <p:cNvPr id="4" name="Footer Placeholder 3">
            <a:extLst>
              <a:ext uri="{FF2B5EF4-FFF2-40B4-BE49-F238E27FC236}">
                <a16:creationId xmlns:a16="http://schemas.microsoft.com/office/drawing/2014/main" id="{35E51D98-CED4-D36E-848C-43C97182C381}"/>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34EDE800-85C3-1321-27F7-809289097054}"/>
              </a:ext>
            </a:extLst>
          </p:cNvPr>
          <p:cNvSpPr>
            <a:spLocks noGrp="1"/>
          </p:cNvSpPr>
          <p:nvPr>
            <p:ph type="sldNum" sz="quarter" idx="12"/>
          </p:nvPr>
        </p:nvSpPr>
        <p:spPr/>
        <p:txBody>
          <a:bodyPr/>
          <a:lstStyle/>
          <a:p>
            <a:fld id="{367876FE-DFB2-5046-ACCA-7B7895FA01F2}" type="slidenum">
              <a:rPr lang="en-US" smtClean="0"/>
              <a:t>14</a:t>
            </a:fld>
            <a:endParaRPr lang="en-US"/>
          </a:p>
        </p:txBody>
      </p:sp>
    </p:spTree>
    <p:extLst>
      <p:ext uri="{BB962C8B-B14F-4D97-AF65-F5344CB8AC3E}">
        <p14:creationId xmlns:p14="http://schemas.microsoft.com/office/powerpoint/2010/main" val="122794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8198B-71E4-8D86-66B0-31CC6326AFD9}"/>
              </a:ext>
            </a:extLst>
          </p:cNvPr>
          <p:cNvSpPr>
            <a:spLocks noGrp="1"/>
          </p:cNvSpPr>
          <p:nvPr>
            <p:ph type="title"/>
          </p:nvPr>
        </p:nvSpPr>
        <p:spPr/>
        <p:txBody>
          <a:bodyPr>
            <a:normAutofit fontScale="90000"/>
          </a:bodyPr>
          <a:lstStyle/>
          <a:p>
            <a:r>
              <a:rPr lang="en-US" i="1" dirty="0"/>
              <a:t>Bondi v. </a:t>
            </a:r>
            <a:r>
              <a:rPr lang="en-US" i="1" dirty="0" err="1"/>
              <a:t>Vanderstok</a:t>
            </a:r>
            <a:r>
              <a:rPr lang="en-US" i="1" dirty="0"/>
              <a:t> </a:t>
            </a:r>
            <a:r>
              <a:rPr lang="en-US" dirty="0"/>
              <a:t>(2025)</a:t>
            </a:r>
            <a:br>
              <a:rPr lang="en-US" dirty="0"/>
            </a:br>
            <a:r>
              <a:rPr lang="en-US" dirty="0"/>
              <a:t>28 U.S.C. § 921(a)</a:t>
            </a:r>
          </a:p>
        </p:txBody>
      </p:sp>
      <p:sp>
        <p:nvSpPr>
          <p:cNvPr id="3" name="Content Placeholder 2">
            <a:extLst>
              <a:ext uri="{FF2B5EF4-FFF2-40B4-BE49-F238E27FC236}">
                <a16:creationId xmlns:a16="http://schemas.microsoft.com/office/drawing/2014/main" id="{A2526CE3-DD21-A184-B8C0-FA60FF15D8CC}"/>
              </a:ext>
            </a:extLst>
          </p:cNvPr>
          <p:cNvSpPr>
            <a:spLocks noGrp="1"/>
          </p:cNvSpPr>
          <p:nvPr>
            <p:ph idx="1"/>
          </p:nvPr>
        </p:nvSpPr>
        <p:spPr/>
        <p:txBody>
          <a:bodyPr/>
          <a:lstStyle/>
          <a:p>
            <a:r>
              <a:rPr lang="en-US" dirty="0"/>
              <a:t>(3)The term “firearm” means (A) </a:t>
            </a:r>
            <a:r>
              <a:rPr lang="en-US" dirty="0">
                <a:solidFill>
                  <a:srgbClr val="FF0000"/>
                </a:solidFill>
              </a:rPr>
              <a:t>any weapon </a:t>
            </a:r>
            <a:r>
              <a:rPr lang="en-US" dirty="0"/>
              <a:t>(including a starter gun) which will or is designed to or </a:t>
            </a:r>
            <a:r>
              <a:rPr lang="en-US" dirty="0">
                <a:solidFill>
                  <a:srgbClr val="FF0000"/>
                </a:solidFill>
              </a:rPr>
              <a:t>may readily be converted </a:t>
            </a:r>
            <a:r>
              <a:rPr lang="en-US" dirty="0"/>
              <a:t>to expel a projectile by the action of an explosive; </a:t>
            </a:r>
            <a:r>
              <a:rPr lang="en-US" dirty="0">
                <a:solidFill>
                  <a:srgbClr val="FF0000"/>
                </a:solidFill>
              </a:rPr>
              <a:t>(B) the frame or receiver of any such weapon</a:t>
            </a:r>
            <a:r>
              <a:rPr lang="en-US" dirty="0"/>
              <a:t>; (C) any firearm muffler or firearm silencer; or (D) any destructive device. Such term does not include an antique firearm.</a:t>
            </a:r>
          </a:p>
        </p:txBody>
      </p:sp>
      <p:sp>
        <p:nvSpPr>
          <p:cNvPr id="4" name="Footer Placeholder 3">
            <a:extLst>
              <a:ext uri="{FF2B5EF4-FFF2-40B4-BE49-F238E27FC236}">
                <a16:creationId xmlns:a16="http://schemas.microsoft.com/office/drawing/2014/main" id="{87FF8BA6-B7F8-C0D2-92FF-0FB370D4B347}"/>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CE5D9545-EAD9-0703-FC80-5F59754BE1F8}"/>
              </a:ext>
            </a:extLst>
          </p:cNvPr>
          <p:cNvSpPr>
            <a:spLocks noGrp="1"/>
          </p:cNvSpPr>
          <p:nvPr>
            <p:ph type="sldNum" sz="quarter" idx="12"/>
          </p:nvPr>
        </p:nvSpPr>
        <p:spPr/>
        <p:txBody>
          <a:bodyPr/>
          <a:lstStyle/>
          <a:p>
            <a:fld id="{367876FE-DFB2-5046-ACCA-7B7895FA01F2}" type="slidenum">
              <a:rPr lang="en-US" smtClean="0"/>
              <a:t>15</a:t>
            </a:fld>
            <a:endParaRPr lang="en-US"/>
          </a:p>
        </p:txBody>
      </p:sp>
    </p:spTree>
    <p:extLst>
      <p:ext uri="{BB962C8B-B14F-4D97-AF65-F5344CB8AC3E}">
        <p14:creationId xmlns:p14="http://schemas.microsoft.com/office/powerpoint/2010/main" val="3455245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140F9-DB80-1AC2-CCB1-9188DF2FE7EA}"/>
              </a:ext>
            </a:extLst>
          </p:cNvPr>
          <p:cNvSpPr>
            <a:spLocks noGrp="1"/>
          </p:cNvSpPr>
          <p:nvPr>
            <p:ph type="title"/>
          </p:nvPr>
        </p:nvSpPr>
        <p:spPr/>
        <p:txBody>
          <a:bodyPr/>
          <a:lstStyle/>
          <a:p>
            <a:r>
              <a:rPr lang="en-US" dirty="0"/>
              <a:t>What’s are the Issues?</a:t>
            </a:r>
          </a:p>
        </p:txBody>
      </p:sp>
      <p:sp>
        <p:nvSpPr>
          <p:cNvPr id="3" name="Content Placeholder 2">
            <a:extLst>
              <a:ext uri="{FF2B5EF4-FFF2-40B4-BE49-F238E27FC236}">
                <a16:creationId xmlns:a16="http://schemas.microsoft.com/office/drawing/2014/main" id="{1A8CA6D2-3F47-342D-390B-AE5BAE41521B}"/>
              </a:ext>
            </a:extLst>
          </p:cNvPr>
          <p:cNvSpPr>
            <a:spLocks noGrp="1"/>
          </p:cNvSpPr>
          <p:nvPr>
            <p:ph idx="1"/>
          </p:nvPr>
        </p:nvSpPr>
        <p:spPr/>
        <p:txBody>
          <a:bodyPr>
            <a:normAutofit/>
          </a:bodyPr>
          <a:lstStyle/>
          <a:p>
            <a:r>
              <a:rPr lang="en-US" dirty="0"/>
              <a:t>Whether certain firearms kits = “firearms” under the definition</a:t>
            </a:r>
          </a:p>
          <a:p>
            <a:pPr lvl="1"/>
            <a:r>
              <a:rPr lang="en-US" dirty="0"/>
              <a:t>If so, the guns assembled through the kits must have serial numbers</a:t>
            </a:r>
          </a:p>
          <a:p>
            <a:r>
              <a:rPr lang="en-US" dirty="0"/>
              <a:t>District Court and the Court of Appeals both decided for the gun manufacturers who brought a facial challenge to the ATF rule</a:t>
            </a:r>
          </a:p>
        </p:txBody>
      </p:sp>
      <p:sp>
        <p:nvSpPr>
          <p:cNvPr id="4" name="Footer Placeholder 3">
            <a:extLst>
              <a:ext uri="{FF2B5EF4-FFF2-40B4-BE49-F238E27FC236}">
                <a16:creationId xmlns:a16="http://schemas.microsoft.com/office/drawing/2014/main" id="{2A3F7B2F-45B5-DA00-1D8F-6DDC2DCC8B26}"/>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9AA12D2F-A148-7AD0-F7CF-CA6BDEA4CA61}"/>
              </a:ext>
            </a:extLst>
          </p:cNvPr>
          <p:cNvSpPr>
            <a:spLocks noGrp="1"/>
          </p:cNvSpPr>
          <p:nvPr>
            <p:ph type="sldNum" sz="quarter" idx="12"/>
          </p:nvPr>
        </p:nvSpPr>
        <p:spPr/>
        <p:txBody>
          <a:bodyPr/>
          <a:lstStyle/>
          <a:p>
            <a:fld id="{367876FE-DFB2-5046-ACCA-7B7895FA01F2}" type="slidenum">
              <a:rPr lang="en-US" smtClean="0"/>
              <a:t>16</a:t>
            </a:fld>
            <a:endParaRPr lang="en-US"/>
          </a:p>
        </p:txBody>
      </p:sp>
    </p:spTree>
    <p:extLst>
      <p:ext uri="{BB962C8B-B14F-4D97-AF65-F5344CB8AC3E}">
        <p14:creationId xmlns:p14="http://schemas.microsoft.com/office/powerpoint/2010/main" val="3478705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65EE8-0E04-1CB8-0BF2-5195D677B796}"/>
              </a:ext>
            </a:extLst>
          </p:cNvPr>
          <p:cNvSpPr>
            <a:spLocks noGrp="1"/>
          </p:cNvSpPr>
          <p:nvPr>
            <p:ph type="title"/>
          </p:nvPr>
        </p:nvSpPr>
        <p:spPr/>
        <p:txBody>
          <a:bodyPr>
            <a:normAutofit fontScale="90000"/>
          </a:bodyPr>
          <a:lstStyle/>
          <a:p>
            <a:r>
              <a:rPr lang="en-US" dirty="0"/>
              <a:t>Agency Rule Elaborates on the Statutory Definition</a:t>
            </a:r>
          </a:p>
        </p:txBody>
      </p:sp>
      <p:sp>
        <p:nvSpPr>
          <p:cNvPr id="3" name="Content Placeholder 2">
            <a:extLst>
              <a:ext uri="{FF2B5EF4-FFF2-40B4-BE49-F238E27FC236}">
                <a16:creationId xmlns:a16="http://schemas.microsoft.com/office/drawing/2014/main" id="{EDAD902E-A32D-94C9-B5CF-BFFFE47E36B6}"/>
              </a:ext>
            </a:extLst>
          </p:cNvPr>
          <p:cNvSpPr>
            <a:spLocks noGrp="1"/>
          </p:cNvSpPr>
          <p:nvPr>
            <p:ph idx="1"/>
          </p:nvPr>
        </p:nvSpPr>
        <p:spPr/>
        <p:txBody>
          <a:bodyPr>
            <a:normAutofit fontScale="77500" lnSpcReduction="20000"/>
          </a:bodyPr>
          <a:lstStyle/>
          <a:p>
            <a:r>
              <a:rPr lang="en-US" dirty="0"/>
              <a:t>ATF Rules: Any weapon, including a starter gun, which will or is designed to or may readily be converted to expel a projectile by the action of an explosive; the frame or receiver of any such weapon; any firearm muffler or firearm silencer; or any destructive device; but the term shall not include an antique firearm. In the case of a licensed collector, the term shall mean only curios and relics. </a:t>
            </a:r>
            <a:r>
              <a:rPr lang="en-US" u="sng" dirty="0">
                <a:solidFill>
                  <a:srgbClr val="FF0000"/>
                </a:solidFill>
              </a:rPr>
              <a:t>The term shall include a weapon parts kit that is designed to or may readily be completed, assembled, restored, or otherwise converted to expel a projectile by the action of an explosive. </a:t>
            </a:r>
            <a:r>
              <a:rPr lang="en-US" dirty="0"/>
              <a:t>The term shall not include a weapon, including a weapon parts kit, in which the frame or receiver of such weapon is destroyed as described in the definition "frame or receiver."</a:t>
            </a:r>
          </a:p>
        </p:txBody>
      </p:sp>
      <p:sp>
        <p:nvSpPr>
          <p:cNvPr id="4" name="Footer Placeholder 3">
            <a:extLst>
              <a:ext uri="{FF2B5EF4-FFF2-40B4-BE49-F238E27FC236}">
                <a16:creationId xmlns:a16="http://schemas.microsoft.com/office/drawing/2014/main" id="{2917D59A-DAA6-4852-CF93-EFC73A2E576B}"/>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DBEC0863-70BC-50DC-CFD2-4A407543FBB3}"/>
              </a:ext>
            </a:extLst>
          </p:cNvPr>
          <p:cNvSpPr>
            <a:spLocks noGrp="1"/>
          </p:cNvSpPr>
          <p:nvPr>
            <p:ph type="sldNum" sz="quarter" idx="12"/>
          </p:nvPr>
        </p:nvSpPr>
        <p:spPr/>
        <p:txBody>
          <a:bodyPr/>
          <a:lstStyle/>
          <a:p>
            <a:fld id="{367876FE-DFB2-5046-ACCA-7B7895FA01F2}" type="slidenum">
              <a:rPr lang="en-US" smtClean="0"/>
              <a:t>17</a:t>
            </a:fld>
            <a:endParaRPr lang="en-US"/>
          </a:p>
        </p:txBody>
      </p:sp>
    </p:spTree>
    <p:extLst>
      <p:ext uri="{BB962C8B-B14F-4D97-AF65-F5344CB8AC3E}">
        <p14:creationId xmlns:p14="http://schemas.microsoft.com/office/powerpoint/2010/main" val="1041748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2CA51-88DD-6B0A-A7D0-CEEB6F7F91D8}"/>
              </a:ext>
            </a:extLst>
          </p:cNvPr>
          <p:cNvSpPr>
            <a:spLocks noGrp="1"/>
          </p:cNvSpPr>
          <p:nvPr>
            <p:ph type="title"/>
          </p:nvPr>
        </p:nvSpPr>
        <p:spPr/>
        <p:txBody>
          <a:bodyPr/>
          <a:lstStyle/>
          <a:p>
            <a:r>
              <a:rPr lang="en-US" dirty="0"/>
              <a:t>Why did ATF decide to cover kits?</a:t>
            </a:r>
          </a:p>
        </p:txBody>
      </p:sp>
      <p:sp>
        <p:nvSpPr>
          <p:cNvPr id="3" name="Content Placeholder 2">
            <a:extLst>
              <a:ext uri="{FF2B5EF4-FFF2-40B4-BE49-F238E27FC236}">
                <a16:creationId xmlns:a16="http://schemas.microsoft.com/office/drawing/2014/main" id="{ABB6985D-5DB1-57AB-EE79-37922AA7D909}"/>
              </a:ext>
            </a:extLst>
          </p:cNvPr>
          <p:cNvSpPr>
            <a:spLocks noGrp="1"/>
          </p:cNvSpPr>
          <p:nvPr>
            <p:ph idx="1"/>
          </p:nvPr>
        </p:nvSpPr>
        <p:spPr/>
        <p:txBody>
          <a:bodyPr>
            <a:normAutofit fontScale="85000" lnSpcReduction="10000"/>
          </a:bodyPr>
          <a:lstStyle/>
          <a:p>
            <a:r>
              <a:rPr lang="en-US" dirty="0"/>
              <a:t>These mandates serve at least two ends. The background-check requirement seeks to keep “guns out of the hands of criminals.” The licensing, recordkeeping, and serialization requirements, meanwhile, aim “to assist law enforcement authorities in investigating serious crimes,” by permitting them “to determine where, by whom, or when” a firearm was manufactured and to whom it was “sold or otherwise transferred.”</a:t>
            </a:r>
          </a:p>
          <a:p>
            <a:r>
              <a:rPr lang="en-US" dirty="0"/>
              <a:t>Recent years . . . have witnessed profound changes in how guns are made and sold. </a:t>
            </a:r>
          </a:p>
        </p:txBody>
      </p:sp>
      <p:sp>
        <p:nvSpPr>
          <p:cNvPr id="4" name="Footer Placeholder 3">
            <a:extLst>
              <a:ext uri="{FF2B5EF4-FFF2-40B4-BE49-F238E27FC236}">
                <a16:creationId xmlns:a16="http://schemas.microsoft.com/office/drawing/2014/main" id="{977F8F39-4352-C9BB-0C43-051BFA6033DC}"/>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DD002D39-D3C7-12EE-45F1-30D6A70D230F}"/>
              </a:ext>
            </a:extLst>
          </p:cNvPr>
          <p:cNvSpPr>
            <a:spLocks noGrp="1"/>
          </p:cNvSpPr>
          <p:nvPr>
            <p:ph type="sldNum" sz="quarter" idx="12"/>
          </p:nvPr>
        </p:nvSpPr>
        <p:spPr/>
        <p:txBody>
          <a:bodyPr/>
          <a:lstStyle/>
          <a:p>
            <a:fld id="{367876FE-DFB2-5046-ACCA-7B7895FA01F2}" type="slidenum">
              <a:rPr lang="en-US" smtClean="0"/>
              <a:t>18</a:t>
            </a:fld>
            <a:endParaRPr lang="en-US"/>
          </a:p>
        </p:txBody>
      </p:sp>
    </p:spTree>
    <p:extLst>
      <p:ext uri="{BB962C8B-B14F-4D97-AF65-F5344CB8AC3E}">
        <p14:creationId xmlns:p14="http://schemas.microsoft.com/office/powerpoint/2010/main" val="2822763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EC79F-15DA-6E4B-C095-1AF52FB05981}"/>
              </a:ext>
            </a:extLst>
          </p:cNvPr>
          <p:cNvSpPr>
            <a:spLocks noGrp="1"/>
          </p:cNvSpPr>
          <p:nvPr>
            <p:ph type="title"/>
          </p:nvPr>
        </p:nvSpPr>
        <p:spPr/>
        <p:txBody>
          <a:bodyPr/>
          <a:lstStyle/>
          <a:p>
            <a:r>
              <a:rPr lang="en-US" dirty="0"/>
              <a:t>Why majority upholds?</a:t>
            </a:r>
          </a:p>
        </p:txBody>
      </p:sp>
      <p:sp>
        <p:nvSpPr>
          <p:cNvPr id="3" name="Content Placeholder 2">
            <a:extLst>
              <a:ext uri="{FF2B5EF4-FFF2-40B4-BE49-F238E27FC236}">
                <a16:creationId xmlns:a16="http://schemas.microsoft.com/office/drawing/2014/main" id="{C2480B94-2E04-838F-1658-0EB1639A6E8E}"/>
              </a:ext>
            </a:extLst>
          </p:cNvPr>
          <p:cNvSpPr>
            <a:spLocks noGrp="1"/>
          </p:cNvSpPr>
          <p:nvPr>
            <p:ph idx="1"/>
          </p:nvPr>
        </p:nvSpPr>
        <p:spPr/>
        <p:txBody>
          <a:bodyPr/>
          <a:lstStyle/>
          <a:p>
            <a:r>
              <a:rPr lang="en-US" dirty="0"/>
              <a:t>The term “weapon” is an artifact noun—a word for a thing created by humans. Artifact nouns are typically “characterized by an intended function,” rather than by “some ineffable ‘natural essence.’ ” S. Grimm &amp; B. Levin, Artifact Nouns: Reference and Countability, in 2 Proceedings of the 47th Annual Meeting of the North East Linguistic Society (NELS 47) 55 (2017)</a:t>
            </a:r>
          </a:p>
        </p:txBody>
      </p:sp>
      <p:sp>
        <p:nvSpPr>
          <p:cNvPr id="4" name="Footer Placeholder 3">
            <a:extLst>
              <a:ext uri="{FF2B5EF4-FFF2-40B4-BE49-F238E27FC236}">
                <a16:creationId xmlns:a16="http://schemas.microsoft.com/office/drawing/2014/main" id="{C2FC2CE5-4ED2-986A-B3EE-EC8BB7104854}"/>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E9DE4E12-3B6D-219A-3C4C-B34EE1F80DD6}"/>
              </a:ext>
            </a:extLst>
          </p:cNvPr>
          <p:cNvSpPr>
            <a:spLocks noGrp="1"/>
          </p:cNvSpPr>
          <p:nvPr>
            <p:ph type="sldNum" sz="quarter" idx="12"/>
          </p:nvPr>
        </p:nvSpPr>
        <p:spPr/>
        <p:txBody>
          <a:bodyPr/>
          <a:lstStyle/>
          <a:p>
            <a:fld id="{367876FE-DFB2-5046-ACCA-7B7895FA01F2}" type="slidenum">
              <a:rPr lang="en-US" smtClean="0"/>
              <a:t>19</a:t>
            </a:fld>
            <a:endParaRPr lang="en-US"/>
          </a:p>
        </p:txBody>
      </p:sp>
    </p:spTree>
    <p:extLst>
      <p:ext uri="{BB962C8B-B14F-4D97-AF65-F5344CB8AC3E}">
        <p14:creationId xmlns:p14="http://schemas.microsoft.com/office/powerpoint/2010/main" val="506851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2BDA6-6263-89EE-93A9-CFDE65F2F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E5EA7-428A-9756-2CB1-62B8C19D639A}"/>
              </a:ext>
            </a:extLst>
          </p:cNvPr>
          <p:cNvSpPr>
            <a:spLocks noGrp="1"/>
          </p:cNvSpPr>
          <p:nvPr>
            <p:ph type="title"/>
          </p:nvPr>
        </p:nvSpPr>
        <p:spPr/>
        <p:txBody>
          <a:bodyPr/>
          <a:lstStyle/>
          <a:p>
            <a:r>
              <a:rPr lang="en-US" dirty="0"/>
              <a:t>Why majority upholds? - 2</a:t>
            </a:r>
          </a:p>
        </p:txBody>
      </p:sp>
      <p:sp>
        <p:nvSpPr>
          <p:cNvPr id="3" name="Content Placeholder 2">
            <a:extLst>
              <a:ext uri="{FF2B5EF4-FFF2-40B4-BE49-F238E27FC236}">
                <a16:creationId xmlns:a16="http://schemas.microsoft.com/office/drawing/2014/main" id="{8AD50C6E-7503-9C97-4A30-C1E678EDD2E1}"/>
              </a:ext>
            </a:extLst>
          </p:cNvPr>
          <p:cNvSpPr>
            <a:spLocks noGrp="1"/>
          </p:cNvSpPr>
          <p:nvPr>
            <p:ph idx="1"/>
          </p:nvPr>
        </p:nvSpPr>
        <p:spPr/>
        <p:txBody>
          <a:bodyPr>
            <a:normAutofit fontScale="92500"/>
          </a:bodyPr>
          <a:lstStyle/>
          <a:p>
            <a:r>
              <a:rPr lang="en-US" dirty="0"/>
              <a:t>Firearms: [A]s a matter of everyday speech, [a] rifle is a weapon, whether disassembled or combat ready. In the same way and for the same reason, an ordinary speaker might well describe the “Buy Build Shoot” kit as a “weapon.”</a:t>
            </a:r>
          </a:p>
          <a:p>
            <a:r>
              <a:rPr lang="en-US" dirty="0"/>
              <a:t>Analogy to starter guns</a:t>
            </a:r>
          </a:p>
          <a:p>
            <a:pPr lvl="1"/>
            <a:r>
              <a:rPr lang="en-US" dirty="0"/>
              <a:t>Not a “weapon” until converted</a:t>
            </a:r>
          </a:p>
          <a:p>
            <a:pPr lvl="1"/>
            <a:r>
              <a:rPr lang="en-US" dirty="0"/>
              <a:t>Many kits no harder than starter guns to convert into weapons</a:t>
            </a:r>
          </a:p>
        </p:txBody>
      </p:sp>
      <p:sp>
        <p:nvSpPr>
          <p:cNvPr id="4" name="Footer Placeholder 3">
            <a:extLst>
              <a:ext uri="{FF2B5EF4-FFF2-40B4-BE49-F238E27FC236}">
                <a16:creationId xmlns:a16="http://schemas.microsoft.com/office/drawing/2014/main" id="{264AAA76-E631-233D-C79D-97D2B08D76B8}"/>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18C2455D-C11E-E813-9B66-7501D926C7D6}"/>
              </a:ext>
            </a:extLst>
          </p:cNvPr>
          <p:cNvSpPr>
            <a:spLocks noGrp="1"/>
          </p:cNvSpPr>
          <p:nvPr>
            <p:ph type="sldNum" sz="quarter" idx="12"/>
          </p:nvPr>
        </p:nvSpPr>
        <p:spPr/>
        <p:txBody>
          <a:bodyPr/>
          <a:lstStyle/>
          <a:p>
            <a:fld id="{367876FE-DFB2-5046-ACCA-7B7895FA01F2}" type="slidenum">
              <a:rPr lang="en-US" smtClean="0"/>
              <a:t>20</a:t>
            </a:fld>
            <a:endParaRPr lang="en-US"/>
          </a:p>
        </p:txBody>
      </p:sp>
    </p:spTree>
    <p:extLst>
      <p:ext uri="{BB962C8B-B14F-4D97-AF65-F5344CB8AC3E}">
        <p14:creationId xmlns:p14="http://schemas.microsoft.com/office/powerpoint/2010/main" val="1667087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46478-A666-CF06-7389-124D6DD1C7E4}"/>
              </a:ext>
            </a:extLst>
          </p:cNvPr>
          <p:cNvSpPr>
            <a:spLocks noGrp="1"/>
          </p:cNvSpPr>
          <p:nvPr>
            <p:ph type="title"/>
          </p:nvPr>
        </p:nvSpPr>
        <p:spPr/>
        <p:txBody>
          <a:bodyPr>
            <a:normAutofit fontScale="90000"/>
          </a:bodyPr>
          <a:lstStyle/>
          <a:p>
            <a:r>
              <a:rPr lang="en-US" dirty="0"/>
              <a:t>Gun Control Act v. </a:t>
            </a:r>
            <a:br>
              <a:rPr lang="en-US" dirty="0"/>
            </a:br>
            <a:r>
              <a:rPr lang="en-US" dirty="0"/>
              <a:t>National Firearms Act</a:t>
            </a:r>
          </a:p>
        </p:txBody>
      </p:sp>
      <p:sp>
        <p:nvSpPr>
          <p:cNvPr id="3" name="Content Placeholder 2">
            <a:extLst>
              <a:ext uri="{FF2B5EF4-FFF2-40B4-BE49-F238E27FC236}">
                <a16:creationId xmlns:a16="http://schemas.microsoft.com/office/drawing/2014/main" id="{88D0C30F-43D3-04FA-8F2A-EC78F090411B}"/>
              </a:ext>
            </a:extLst>
          </p:cNvPr>
          <p:cNvSpPr>
            <a:spLocks noGrp="1"/>
          </p:cNvSpPr>
          <p:nvPr>
            <p:ph idx="1"/>
          </p:nvPr>
        </p:nvSpPr>
        <p:spPr/>
        <p:txBody>
          <a:bodyPr>
            <a:normAutofit fontScale="92500" lnSpcReduction="10000"/>
          </a:bodyPr>
          <a:lstStyle/>
          <a:p>
            <a:r>
              <a:rPr lang="en-US" dirty="0"/>
              <a:t>“A statute's text and context are critical to determining whether (and to what extent) Congress used an artifact noun to reach unfinished objects. And, without doubt, the NFA and the GCA are different statutes passed at different times to address different problems using different language. Our analysis of the GCA thus does not begin to suggest that ATF possesses authority to regulate AR–15 receivers as machineguns under the NFA.” [Not in excerpt]</a:t>
            </a:r>
          </a:p>
        </p:txBody>
      </p:sp>
      <p:sp>
        <p:nvSpPr>
          <p:cNvPr id="4" name="Footer Placeholder 3">
            <a:extLst>
              <a:ext uri="{FF2B5EF4-FFF2-40B4-BE49-F238E27FC236}">
                <a16:creationId xmlns:a16="http://schemas.microsoft.com/office/drawing/2014/main" id="{9D9415B7-4136-5F12-7B2A-8227BD1F4012}"/>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75AF84D5-8F72-1553-25DE-91BF28A65773}"/>
              </a:ext>
            </a:extLst>
          </p:cNvPr>
          <p:cNvSpPr>
            <a:spLocks noGrp="1"/>
          </p:cNvSpPr>
          <p:nvPr>
            <p:ph type="sldNum" sz="quarter" idx="12"/>
          </p:nvPr>
        </p:nvSpPr>
        <p:spPr/>
        <p:txBody>
          <a:bodyPr/>
          <a:lstStyle/>
          <a:p>
            <a:fld id="{367876FE-DFB2-5046-ACCA-7B7895FA01F2}" type="slidenum">
              <a:rPr lang="en-US" smtClean="0"/>
              <a:t>21</a:t>
            </a:fld>
            <a:endParaRPr lang="en-US"/>
          </a:p>
        </p:txBody>
      </p:sp>
    </p:spTree>
    <p:extLst>
      <p:ext uri="{BB962C8B-B14F-4D97-AF65-F5344CB8AC3E}">
        <p14:creationId xmlns:p14="http://schemas.microsoft.com/office/powerpoint/2010/main" val="2144087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D1F27-854A-C3BF-6EEE-D94AFF3931C0}"/>
              </a:ext>
            </a:extLst>
          </p:cNvPr>
          <p:cNvSpPr>
            <a:spLocks noGrp="1"/>
          </p:cNvSpPr>
          <p:nvPr>
            <p:ph type="title"/>
          </p:nvPr>
        </p:nvSpPr>
        <p:spPr/>
        <p:txBody>
          <a:bodyPr/>
          <a:lstStyle/>
          <a:p>
            <a:r>
              <a:rPr lang="en-US" dirty="0"/>
              <a:t>Role of Statutory Canons</a:t>
            </a:r>
          </a:p>
        </p:txBody>
      </p:sp>
      <p:sp>
        <p:nvSpPr>
          <p:cNvPr id="3" name="Content Placeholder 2">
            <a:extLst>
              <a:ext uri="{FF2B5EF4-FFF2-40B4-BE49-F238E27FC236}">
                <a16:creationId xmlns:a16="http://schemas.microsoft.com/office/drawing/2014/main" id="{6C9E4AA1-0D60-B54E-20CB-11829F5E5265}"/>
              </a:ext>
            </a:extLst>
          </p:cNvPr>
          <p:cNvSpPr>
            <a:spLocks noGrp="1"/>
          </p:cNvSpPr>
          <p:nvPr>
            <p:ph idx="1"/>
          </p:nvPr>
        </p:nvSpPr>
        <p:spPr/>
        <p:txBody>
          <a:bodyPr/>
          <a:lstStyle/>
          <a:p>
            <a:r>
              <a:rPr lang="en-US" dirty="0"/>
              <a:t>Neither lenity nor avoidance has any role to play where “text, context, and structure” decide the case. </a:t>
            </a:r>
          </a:p>
          <a:p>
            <a:pPr lvl="1"/>
            <a:r>
              <a:rPr lang="en-US" dirty="0"/>
              <a:t>Rule of lenity</a:t>
            </a:r>
          </a:p>
          <a:p>
            <a:pPr lvl="1"/>
            <a:r>
              <a:rPr lang="en-US" dirty="0"/>
              <a:t>Constitutional avoidance canon</a:t>
            </a:r>
          </a:p>
        </p:txBody>
      </p:sp>
      <p:sp>
        <p:nvSpPr>
          <p:cNvPr id="4" name="Footer Placeholder 3">
            <a:extLst>
              <a:ext uri="{FF2B5EF4-FFF2-40B4-BE49-F238E27FC236}">
                <a16:creationId xmlns:a16="http://schemas.microsoft.com/office/drawing/2014/main" id="{97D7CD70-6774-64AA-46D5-4D4E60BA307D}"/>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6171FEDB-AE6D-8D95-B1C3-C349514E3981}"/>
              </a:ext>
            </a:extLst>
          </p:cNvPr>
          <p:cNvSpPr>
            <a:spLocks noGrp="1"/>
          </p:cNvSpPr>
          <p:nvPr>
            <p:ph type="sldNum" sz="quarter" idx="12"/>
          </p:nvPr>
        </p:nvSpPr>
        <p:spPr/>
        <p:txBody>
          <a:bodyPr/>
          <a:lstStyle/>
          <a:p>
            <a:fld id="{367876FE-DFB2-5046-ACCA-7B7895FA01F2}" type="slidenum">
              <a:rPr lang="en-US" smtClean="0"/>
              <a:t>22</a:t>
            </a:fld>
            <a:endParaRPr lang="en-US"/>
          </a:p>
        </p:txBody>
      </p:sp>
    </p:spTree>
    <p:extLst>
      <p:ext uri="{BB962C8B-B14F-4D97-AF65-F5344CB8AC3E}">
        <p14:creationId xmlns:p14="http://schemas.microsoft.com/office/powerpoint/2010/main" val="910907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2EC92-C2F0-C3B6-9868-C3E8DDC84664}"/>
              </a:ext>
            </a:extLst>
          </p:cNvPr>
          <p:cNvSpPr>
            <a:spLocks noGrp="1"/>
          </p:cNvSpPr>
          <p:nvPr>
            <p:ph type="title"/>
          </p:nvPr>
        </p:nvSpPr>
        <p:spPr/>
        <p:txBody>
          <a:bodyPr/>
          <a:lstStyle/>
          <a:p>
            <a:r>
              <a:rPr lang="en-US" dirty="0"/>
              <a:t>Dissenting Argument - Thomas</a:t>
            </a:r>
          </a:p>
        </p:txBody>
      </p:sp>
      <p:sp>
        <p:nvSpPr>
          <p:cNvPr id="3" name="Content Placeholder 2">
            <a:extLst>
              <a:ext uri="{FF2B5EF4-FFF2-40B4-BE49-F238E27FC236}">
                <a16:creationId xmlns:a16="http://schemas.microsoft.com/office/drawing/2014/main" id="{299CBDA1-96EF-2938-A039-B7059784A336}"/>
              </a:ext>
            </a:extLst>
          </p:cNvPr>
          <p:cNvSpPr>
            <a:spLocks noGrp="1"/>
          </p:cNvSpPr>
          <p:nvPr>
            <p:ph idx="1"/>
          </p:nvPr>
        </p:nvSpPr>
        <p:spPr/>
        <p:txBody>
          <a:bodyPr>
            <a:normAutofit/>
          </a:bodyPr>
          <a:lstStyle/>
          <a:p>
            <a:r>
              <a:rPr lang="en-US" sz="2400" dirty="0"/>
              <a:t>The majority proceeds under the faulty premise that our standard rules of statutory interpretation do not apply to “a word for a thing created by humans.” </a:t>
            </a:r>
          </a:p>
          <a:p>
            <a:pPr marL="0" indent="0">
              <a:buNone/>
            </a:pPr>
            <a:r>
              <a:rPr lang="en-US" sz="2400" dirty="0"/>
              <a:t>Omitted from the excerpt:</a:t>
            </a:r>
          </a:p>
          <a:p>
            <a:r>
              <a:rPr lang="en-US" sz="2400" dirty="0"/>
              <a:t>Other statutes address collections of parts specifically</a:t>
            </a:r>
          </a:p>
          <a:p>
            <a:r>
              <a:rPr lang="en-US" sz="2400" dirty="0"/>
              <a:t>“Firearms,” as used in other statutes, could not reasonably include kits</a:t>
            </a:r>
          </a:p>
          <a:p>
            <a:r>
              <a:rPr lang="en-US" sz="2400" dirty="0"/>
              <a:t>GCA mentions only certain parts explicitly</a:t>
            </a:r>
          </a:p>
          <a:p>
            <a:r>
              <a:rPr lang="en-US" sz="2400" dirty="0"/>
              <a:t>Statutory definition of “frame” does not mention conversion</a:t>
            </a:r>
          </a:p>
        </p:txBody>
      </p:sp>
      <p:sp>
        <p:nvSpPr>
          <p:cNvPr id="4" name="Footer Placeholder 3">
            <a:extLst>
              <a:ext uri="{FF2B5EF4-FFF2-40B4-BE49-F238E27FC236}">
                <a16:creationId xmlns:a16="http://schemas.microsoft.com/office/drawing/2014/main" id="{4CBD9951-F791-E7BD-D676-68436363DE37}"/>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3412A016-B276-AB54-E625-A01B90A78FC0}"/>
              </a:ext>
            </a:extLst>
          </p:cNvPr>
          <p:cNvSpPr>
            <a:spLocks noGrp="1"/>
          </p:cNvSpPr>
          <p:nvPr>
            <p:ph type="sldNum" sz="quarter" idx="12"/>
          </p:nvPr>
        </p:nvSpPr>
        <p:spPr/>
        <p:txBody>
          <a:bodyPr/>
          <a:lstStyle/>
          <a:p>
            <a:fld id="{367876FE-DFB2-5046-ACCA-7B7895FA01F2}" type="slidenum">
              <a:rPr lang="en-US" smtClean="0"/>
              <a:t>23</a:t>
            </a:fld>
            <a:endParaRPr lang="en-US"/>
          </a:p>
        </p:txBody>
      </p:sp>
    </p:spTree>
    <p:extLst>
      <p:ext uri="{BB962C8B-B14F-4D97-AF65-F5344CB8AC3E}">
        <p14:creationId xmlns:p14="http://schemas.microsoft.com/office/powerpoint/2010/main" val="2926500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r>
              <a:rPr lang="en-US" sz="4000" dirty="0"/>
              <a:t>Some Persistent Puzzles</a:t>
            </a:r>
          </a:p>
        </p:txBody>
      </p:sp>
      <p:sp>
        <p:nvSpPr>
          <p:cNvPr id="5123" name="Rectangle 3"/>
          <p:cNvSpPr>
            <a:spLocks noGrp="1" noChangeArrowheads="1"/>
          </p:cNvSpPr>
          <p:nvPr>
            <p:ph type="body" idx="1"/>
          </p:nvPr>
        </p:nvSpPr>
        <p:spPr>
          <a:xfrm>
            <a:off x="457200" y="1371600"/>
            <a:ext cx="8229600" cy="4525963"/>
          </a:xfrm>
        </p:spPr>
        <p:txBody>
          <a:bodyPr/>
          <a:lstStyle/>
          <a:p>
            <a:pPr>
              <a:lnSpc>
                <a:spcPct val="80000"/>
              </a:lnSpc>
            </a:pPr>
            <a:r>
              <a:rPr lang="en-US" sz="2400" dirty="0"/>
              <a:t>Should judges apply statutes according to their “letter” or “their spirit?”</a:t>
            </a:r>
          </a:p>
          <a:p>
            <a:pPr lvl="1">
              <a:lnSpc>
                <a:spcPct val="80000"/>
              </a:lnSpc>
            </a:pPr>
            <a:r>
              <a:rPr lang="en-US" sz="2400" dirty="0"/>
              <a:t>What is “spirit?”</a:t>
            </a:r>
          </a:p>
          <a:p>
            <a:pPr lvl="2">
              <a:lnSpc>
                <a:spcPct val="80000"/>
              </a:lnSpc>
            </a:pPr>
            <a:r>
              <a:rPr lang="en-US" sz="2000" dirty="0"/>
              <a:t>The legislators’ subjective or imputed intentions</a:t>
            </a:r>
          </a:p>
          <a:p>
            <a:pPr lvl="2">
              <a:lnSpc>
                <a:spcPct val="80000"/>
              </a:lnSpc>
            </a:pPr>
            <a:r>
              <a:rPr lang="en-US" sz="2000" dirty="0"/>
              <a:t>The “objective” purpose of the statute</a:t>
            </a:r>
          </a:p>
          <a:p>
            <a:pPr lvl="2">
              <a:lnSpc>
                <a:spcPct val="80000"/>
              </a:lnSpc>
            </a:pPr>
            <a:r>
              <a:rPr lang="en-US" sz="2000" dirty="0"/>
              <a:t>Public policy as identified by the judges</a:t>
            </a:r>
          </a:p>
          <a:p>
            <a:pPr lvl="3">
              <a:lnSpc>
                <a:spcPct val="80000"/>
              </a:lnSpc>
            </a:pPr>
            <a:r>
              <a:rPr lang="en-US" sz="1800" dirty="0"/>
              <a:t>Based in common law?</a:t>
            </a:r>
          </a:p>
          <a:p>
            <a:pPr lvl="3">
              <a:lnSpc>
                <a:spcPct val="80000"/>
              </a:lnSpc>
            </a:pPr>
            <a:r>
              <a:rPr lang="en-US" sz="1800" dirty="0"/>
              <a:t>Based on social values?</a:t>
            </a:r>
          </a:p>
          <a:p>
            <a:pPr>
              <a:lnSpc>
                <a:spcPct val="80000"/>
              </a:lnSpc>
            </a:pPr>
            <a:r>
              <a:rPr lang="en-US" sz="2400" dirty="0"/>
              <a:t>Big puzzles</a:t>
            </a:r>
          </a:p>
          <a:p>
            <a:pPr lvl="1">
              <a:lnSpc>
                <a:spcPct val="80000"/>
              </a:lnSpc>
            </a:pPr>
            <a:r>
              <a:rPr lang="en-US" sz="2000" dirty="0"/>
              <a:t>Is there ever evidence of intentions or purpose more compelling than the text?  How then to explain that Congress historically overrules more textualist interpretations than purposive interpretations?  </a:t>
            </a:r>
          </a:p>
          <a:p>
            <a:pPr lvl="1">
              <a:lnSpc>
                <a:spcPct val="80000"/>
              </a:lnSpc>
            </a:pPr>
            <a:r>
              <a:rPr lang="en-US" sz="2000" dirty="0"/>
              <a:t>What does it mean to hew to the text when, in case after case, judges who purport to agree on method disagree on meaning?  </a:t>
            </a:r>
          </a:p>
        </p:txBody>
      </p:sp>
      <p:sp>
        <p:nvSpPr>
          <p:cNvPr id="2" name="Slide Number Placeholder 1"/>
          <p:cNvSpPr>
            <a:spLocks noGrp="1"/>
          </p:cNvSpPr>
          <p:nvPr>
            <p:ph type="sldNum" sz="quarter" idx="12"/>
          </p:nvPr>
        </p:nvSpPr>
        <p:spPr/>
        <p:txBody>
          <a:bodyPr/>
          <a:lstStyle/>
          <a:p>
            <a:fld id="{03C2B117-1C95-4F55-818D-5341971D30B6}" type="slidenum">
              <a:rPr lang="en-US" smtClean="0"/>
              <a:pPr/>
              <a:t>24</a:t>
            </a:fld>
            <a:endParaRPr lang="en-US"/>
          </a:p>
        </p:txBody>
      </p:sp>
      <p:sp>
        <p:nvSpPr>
          <p:cNvPr id="3" name="Footer Placeholder 2">
            <a:extLst>
              <a:ext uri="{FF2B5EF4-FFF2-40B4-BE49-F238E27FC236}">
                <a16:creationId xmlns:a16="http://schemas.microsoft.com/office/drawing/2014/main" id="{0CDD6ABB-4EA2-6349-3BB8-931C4C7B3D06}"/>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737918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Trends in Use of Legislative History</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5424" y="1786731"/>
            <a:ext cx="7413151" cy="415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a:extLst>
              <a:ext uri="{FF2B5EF4-FFF2-40B4-BE49-F238E27FC236}">
                <a16:creationId xmlns:a16="http://schemas.microsoft.com/office/drawing/2014/main" id="{2844814B-8A53-DCBE-E473-316C6439A61D}"/>
              </a:ext>
            </a:extLst>
          </p:cNvPr>
          <p:cNvSpPr>
            <a:spLocks noGrp="1"/>
          </p:cNvSpPr>
          <p:nvPr>
            <p:ph type="ftr" sz="quarter" idx="11"/>
          </p:nvPr>
        </p:nvSpPr>
        <p:spPr/>
        <p:txBody>
          <a:bodyPr/>
          <a:lstStyle/>
          <a:p>
            <a:r>
              <a:rPr lang="en-US"/>
              <a:t>© Copyright 2026.  Peter M. Shane All rights reserved. </a:t>
            </a:r>
          </a:p>
        </p:txBody>
      </p:sp>
      <p:sp>
        <p:nvSpPr>
          <p:cNvPr id="4" name="Slide Number Placeholder 3">
            <a:extLst>
              <a:ext uri="{FF2B5EF4-FFF2-40B4-BE49-F238E27FC236}">
                <a16:creationId xmlns:a16="http://schemas.microsoft.com/office/drawing/2014/main" id="{710A9E8F-9482-1D7E-C824-12586B4FE763}"/>
              </a:ext>
            </a:extLst>
          </p:cNvPr>
          <p:cNvSpPr>
            <a:spLocks noGrp="1"/>
          </p:cNvSpPr>
          <p:nvPr>
            <p:ph type="sldNum" sz="quarter" idx="12"/>
          </p:nvPr>
        </p:nvSpPr>
        <p:spPr/>
        <p:txBody>
          <a:bodyPr/>
          <a:lstStyle/>
          <a:p>
            <a:fld id="{A51A480E-C97D-488C-89CE-DB65B1C35FB0}" type="slidenum">
              <a:rPr lang="en-US" smtClean="0"/>
              <a:t>25</a:t>
            </a:fld>
            <a:endParaRPr lang="en-US"/>
          </a:p>
        </p:txBody>
      </p:sp>
    </p:spTree>
    <p:extLst>
      <p:ext uri="{BB962C8B-B14F-4D97-AF65-F5344CB8AC3E}">
        <p14:creationId xmlns:p14="http://schemas.microsoft.com/office/powerpoint/2010/main" val="3664782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a:t>
            </a:r>
            <a:r>
              <a:rPr lang="en-US"/>
              <a:t>Legislative History</a:t>
            </a:r>
          </a:p>
        </p:txBody>
      </p:sp>
      <p:sp>
        <p:nvSpPr>
          <p:cNvPr id="3" name="Content Placeholder 2"/>
          <p:cNvSpPr>
            <a:spLocks noGrp="1"/>
          </p:cNvSpPr>
          <p:nvPr>
            <p:ph idx="1"/>
          </p:nvPr>
        </p:nvSpPr>
        <p:spPr/>
        <p:txBody>
          <a:bodyPr>
            <a:normAutofit fontScale="92500" lnSpcReduction="20000"/>
          </a:bodyPr>
          <a:lstStyle/>
          <a:p>
            <a:r>
              <a:rPr lang="en-US" dirty="0"/>
              <a:t>1860-1940: Increasing, but still sporadic use</a:t>
            </a:r>
          </a:p>
          <a:p>
            <a:r>
              <a:rPr lang="en-US" dirty="0"/>
              <a:t>1940s to mid-1980s: Heyday of legislative history use</a:t>
            </a:r>
          </a:p>
          <a:p>
            <a:pPr lvl="1"/>
            <a:r>
              <a:rPr lang="en-US" dirty="0"/>
              <a:t>Manning and Stephenson suggestions:</a:t>
            </a:r>
          </a:p>
          <a:p>
            <a:pPr lvl="2"/>
            <a:r>
              <a:rPr lang="en-US" dirty="0"/>
              <a:t>Statutes more plentiful and open-ended</a:t>
            </a:r>
          </a:p>
          <a:p>
            <a:pPr lvl="2"/>
            <a:r>
              <a:rPr lang="en-US" dirty="0"/>
              <a:t>Different conceptions of judicial role? (Partnership in lawmaking?)</a:t>
            </a:r>
          </a:p>
          <a:p>
            <a:pPr lvl="1"/>
            <a:r>
              <a:rPr lang="en-US" dirty="0"/>
              <a:t>Other possibilities</a:t>
            </a:r>
          </a:p>
          <a:p>
            <a:pPr lvl="2"/>
            <a:r>
              <a:rPr lang="en-US" dirty="0"/>
              <a:t>Improved quality of histories</a:t>
            </a:r>
          </a:p>
          <a:p>
            <a:pPr lvl="2"/>
            <a:r>
              <a:rPr lang="en-US" dirty="0"/>
              <a:t>Access gave DOJ an advocacy advantage</a:t>
            </a:r>
          </a:p>
          <a:p>
            <a:r>
              <a:rPr lang="en-US" dirty="0"/>
              <a:t>1980s-Present:  A resurgence of textualism</a:t>
            </a:r>
          </a:p>
        </p:txBody>
      </p:sp>
      <p:sp>
        <p:nvSpPr>
          <p:cNvPr id="4" name="Footer Placeholder 3">
            <a:extLst>
              <a:ext uri="{FF2B5EF4-FFF2-40B4-BE49-F238E27FC236}">
                <a16:creationId xmlns:a16="http://schemas.microsoft.com/office/drawing/2014/main" id="{637E40FA-07CB-43CA-168B-C04247048CA7}"/>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B52E1812-6681-8780-707B-47E92A2FA622}"/>
              </a:ext>
            </a:extLst>
          </p:cNvPr>
          <p:cNvSpPr>
            <a:spLocks noGrp="1"/>
          </p:cNvSpPr>
          <p:nvPr>
            <p:ph type="sldNum" sz="quarter" idx="12"/>
          </p:nvPr>
        </p:nvSpPr>
        <p:spPr/>
        <p:txBody>
          <a:bodyPr/>
          <a:lstStyle/>
          <a:p>
            <a:fld id="{A51A480E-C97D-488C-89CE-DB65B1C35FB0}" type="slidenum">
              <a:rPr lang="en-US" smtClean="0"/>
              <a:t>26</a:t>
            </a:fld>
            <a:endParaRPr lang="en-US"/>
          </a:p>
        </p:txBody>
      </p:sp>
    </p:spTree>
    <p:extLst>
      <p:ext uri="{BB962C8B-B14F-4D97-AF65-F5344CB8AC3E}">
        <p14:creationId xmlns:p14="http://schemas.microsoft.com/office/powerpoint/2010/main" val="555954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Priority of Legislative History Sources</a:t>
            </a:r>
          </a:p>
        </p:txBody>
      </p:sp>
      <p:sp>
        <p:nvSpPr>
          <p:cNvPr id="3" name="Content Placeholder 2"/>
          <p:cNvSpPr>
            <a:spLocks noGrp="1"/>
          </p:cNvSpPr>
          <p:nvPr>
            <p:ph idx="1"/>
          </p:nvPr>
        </p:nvSpPr>
        <p:spPr/>
        <p:txBody>
          <a:bodyPr>
            <a:normAutofit fontScale="92500" lnSpcReduction="10000"/>
          </a:bodyPr>
          <a:lstStyle/>
          <a:p>
            <a:r>
              <a:rPr lang="en-US" dirty="0"/>
              <a:t>Conference committee reports</a:t>
            </a:r>
          </a:p>
          <a:p>
            <a:r>
              <a:rPr lang="en-US" dirty="0"/>
              <a:t>One-house committee reports</a:t>
            </a:r>
          </a:p>
          <a:p>
            <a:r>
              <a:rPr lang="en-US" dirty="0"/>
              <a:t>Statements by legislative sponsors</a:t>
            </a:r>
          </a:p>
          <a:p>
            <a:r>
              <a:rPr lang="en-US" dirty="0"/>
              <a:t>Changes in multiple versions of a bill; rejected proposals</a:t>
            </a:r>
          </a:p>
          <a:p>
            <a:r>
              <a:rPr lang="en-US" dirty="0"/>
              <a:t>Statements by legislators in floor debate</a:t>
            </a:r>
          </a:p>
          <a:p>
            <a:r>
              <a:rPr lang="en-US" dirty="0"/>
              <a:t>Statements during hearings</a:t>
            </a:r>
          </a:p>
          <a:p>
            <a:r>
              <a:rPr lang="en-US" dirty="0"/>
              <a:t>Legislative silence – </a:t>
            </a:r>
            <a:r>
              <a:rPr lang="en-US"/>
              <a:t>dogs that don’t bark</a:t>
            </a:r>
            <a:endParaRPr lang="en-US" dirty="0"/>
          </a:p>
          <a:p>
            <a:r>
              <a:rPr lang="en-US" dirty="0"/>
              <a:t>Post-enactment activity</a:t>
            </a:r>
          </a:p>
        </p:txBody>
      </p:sp>
      <p:sp>
        <p:nvSpPr>
          <p:cNvPr id="4" name="Footer Placeholder 3">
            <a:extLst>
              <a:ext uri="{FF2B5EF4-FFF2-40B4-BE49-F238E27FC236}">
                <a16:creationId xmlns:a16="http://schemas.microsoft.com/office/drawing/2014/main" id="{4F9F8AC4-ED5D-431A-A524-53499B8757A9}"/>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259617CD-C133-B16B-1653-54372C4167BE}"/>
              </a:ext>
            </a:extLst>
          </p:cNvPr>
          <p:cNvSpPr>
            <a:spLocks noGrp="1"/>
          </p:cNvSpPr>
          <p:nvPr>
            <p:ph type="sldNum" sz="quarter" idx="12"/>
          </p:nvPr>
        </p:nvSpPr>
        <p:spPr/>
        <p:txBody>
          <a:bodyPr/>
          <a:lstStyle/>
          <a:p>
            <a:fld id="{A51A480E-C97D-488C-89CE-DB65B1C35FB0}" type="slidenum">
              <a:rPr lang="en-US" smtClean="0"/>
              <a:t>27</a:t>
            </a:fld>
            <a:endParaRPr lang="en-US"/>
          </a:p>
        </p:txBody>
      </p:sp>
    </p:spTree>
    <p:extLst>
      <p:ext uri="{BB962C8B-B14F-4D97-AF65-F5344CB8AC3E}">
        <p14:creationId xmlns:p14="http://schemas.microsoft.com/office/powerpoint/2010/main" val="1374125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Legislative History</a:t>
            </a:r>
          </a:p>
        </p:txBody>
      </p:sp>
      <p:sp>
        <p:nvSpPr>
          <p:cNvPr id="7171" name="Rectangle 3"/>
          <p:cNvSpPr>
            <a:spLocks noGrp="1" noChangeArrowheads="1"/>
          </p:cNvSpPr>
          <p:nvPr>
            <p:ph type="body" idx="1"/>
          </p:nvPr>
        </p:nvSpPr>
        <p:spPr/>
        <p:txBody>
          <a:bodyPr/>
          <a:lstStyle/>
          <a:p>
            <a:pPr>
              <a:lnSpc>
                <a:spcPct val="90000"/>
              </a:lnSpc>
            </a:pPr>
            <a:r>
              <a:rPr lang="en-US" dirty="0"/>
              <a:t>Potential uses</a:t>
            </a:r>
          </a:p>
          <a:p>
            <a:pPr lvl="1">
              <a:lnSpc>
                <a:spcPct val="90000"/>
              </a:lnSpc>
            </a:pPr>
            <a:r>
              <a:rPr lang="en-US" dirty="0"/>
              <a:t>To discern how a word was being used?</a:t>
            </a:r>
          </a:p>
          <a:p>
            <a:pPr lvl="1">
              <a:lnSpc>
                <a:spcPct val="90000"/>
              </a:lnSpc>
            </a:pPr>
            <a:r>
              <a:rPr lang="en-US" dirty="0"/>
              <a:t>To ascertain intent on a specific issue?</a:t>
            </a:r>
          </a:p>
          <a:p>
            <a:pPr lvl="1">
              <a:lnSpc>
                <a:spcPct val="90000"/>
              </a:lnSpc>
            </a:pPr>
            <a:r>
              <a:rPr lang="en-US" dirty="0"/>
              <a:t>To ascertain purpose – e.g., by discerning the problem that motivated the legislation?</a:t>
            </a:r>
          </a:p>
          <a:p>
            <a:pPr>
              <a:lnSpc>
                <a:spcPct val="90000"/>
              </a:lnSpc>
            </a:pPr>
            <a:r>
              <a:rPr lang="en-US" dirty="0"/>
              <a:t>Questions</a:t>
            </a:r>
          </a:p>
          <a:p>
            <a:pPr lvl="1">
              <a:lnSpc>
                <a:spcPct val="90000"/>
              </a:lnSpc>
            </a:pPr>
            <a:r>
              <a:rPr lang="en-US" dirty="0"/>
              <a:t>Are all of these equally appropriate/ inappropriate?</a:t>
            </a:r>
          </a:p>
          <a:p>
            <a:pPr lvl="1">
              <a:lnSpc>
                <a:spcPct val="90000"/>
              </a:lnSpc>
            </a:pPr>
            <a:r>
              <a:rPr lang="en-US" dirty="0"/>
              <a:t>How to weigh different sources?</a:t>
            </a:r>
          </a:p>
        </p:txBody>
      </p:sp>
      <p:sp>
        <p:nvSpPr>
          <p:cNvPr id="2" name="Slide Number Placeholder 1"/>
          <p:cNvSpPr>
            <a:spLocks noGrp="1"/>
          </p:cNvSpPr>
          <p:nvPr>
            <p:ph type="sldNum" sz="quarter" idx="12"/>
          </p:nvPr>
        </p:nvSpPr>
        <p:spPr/>
        <p:txBody>
          <a:bodyPr/>
          <a:lstStyle/>
          <a:p>
            <a:fld id="{03C2B117-1C95-4F55-818D-5341971D30B6}" type="slidenum">
              <a:rPr lang="en-US" smtClean="0"/>
              <a:pPr/>
              <a:t>28</a:t>
            </a:fld>
            <a:endParaRPr lang="en-US"/>
          </a:p>
        </p:txBody>
      </p:sp>
      <p:sp>
        <p:nvSpPr>
          <p:cNvPr id="3" name="Footer Placeholder 2">
            <a:extLst>
              <a:ext uri="{FF2B5EF4-FFF2-40B4-BE49-F238E27FC236}">
                <a16:creationId xmlns:a16="http://schemas.microsoft.com/office/drawing/2014/main" id="{9D570CB6-3C96-0A36-876F-77FE5DB653DC}"/>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662371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1">
                                            <p:txEl>
                                              <p:pRg st="1" end="1"/>
                                            </p:txEl>
                                          </p:spTgt>
                                        </p:tgtEl>
                                        <p:attrNameLst>
                                          <p:attrName>style.visibility</p:attrName>
                                        </p:attrNameLst>
                                      </p:cBhvr>
                                      <p:to>
                                        <p:strVal val="visible"/>
                                      </p:to>
                                    </p:set>
                                    <p:anim calcmode="lin" valueType="num">
                                      <p:cBhvr additive="base">
                                        <p:cTn id="13" dur="500" fill="hold"/>
                                        <p:tgtEl>
                                          <p:spTgt spid="71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1">
                                            <p:txEl>
                                              <p:pRg st="2" end="2"/>
                                            </p:txEl>
                                          </p:spTgt>
                                        </p:tgtEl>
                                        <p:attrNameLst>
                                          <p:attrName>style.visibility</p:attrName>
                                        </p:attrNameLst>
                                      </p:cBhvr>
                                      <p:to>
                                        <p:strVal val="visible"/>
                                      </p:to>
                                    </p:set>
                                    <p:anim calcmode="lin" valueType="num">
                                      <p:cBhvr additive="base">
                                        <p:cTn id="19" dur="500" fill="hold"/>
                                        <p:tgtEl>
                                          <p:spTgt spid="717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171">
                                            <p:txEl>
                                              <p:pRg st="3" end="3"/>
                                            </p:txEl>
                                          </p:spTgt>
                                        </p:tgtEl>
                                        <p:attrNameLst>
                                          <p:attrName>style.visibility</p:attrName>
                                        </p:attrNameLst>
                                      </p:cBhvr>
                                      <p:to>
                                        <p:strVal val="visible"/>
                                      </p:to>
                                    </p:set>
                                    <p:anim calcmode="lin" valueType="num">
                                      <p:cBhvr additive="base">
                                        <p:cTn id="25" dur="500" fill="hold"/>
                                        <p:tgtEl>
                                          <p:spTgt spid="717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171">
                                            <p:txEl>
                                              <p:pRg st="4" end="4"/>
                                            </p:txEl>
                                          </p:spTgt>
                                        </p:tgtEl>
                                        <p:attrNameLst>
                                          <p:attrName>style.visibility</p:attrName>
                                        </p:attrNameLst>
                                      </p:cBhvr>
                                      <p:to>
                                        <p:strVal val="visible"/>
                                      </p:to>
                                    </p:set>
                                    <p:anim calcmode="lin" valueType="num">
                                      <p:cBhvr additive="base">
                                        <p:cTn id="31" dur="500" fill="hold"/>
                                        <p:tgtEl>
                                          <p:spTgt spid="717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171">
                                            <p:txEl>
                                              <p:pRg st="5" end="5"/>
                                            </p:txEl>
                                          </p:spTgt>
                                        </p:tgtEl>
                                        <p:attrNameLst>
                                          <p:attrName>style.visibility</p:attrName>
                                        </p:attrNameLst>
                                      </p:cBhvr>
                                      <p:to>
                                        <p:strVal val="visible"/>
                                      </p:to>
                                    </p:set>
                                    <p:anim calcmode="lin" valueType="num">
                                      <p:cBhvr additive="base">
                                        <p:cTn id="37" dur="500" fill="hold"/>
                                        <p:tgtEl>
                                          <p:spTgt spid="717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17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171">
                                            <p:txEl>
                                              <p:pRg st="6" end="6"/>
                                            </p:txEl>
                                          </p:spTgt>
                                        </p:tgtEl>
                                        <p:attrNameLst>
                                          <p:attrName>style.visibility</p:attrName>
                                        </p:attrNameLst>
                                      </p:cBhvr>
                                      <p:to>
                                        <p:strVal val="visible"/>
                                      </p:to>
                                    </p:set>
                                    <p:anim calcmode="lin" valueType="num">
                                      <p:cBhvr additive="base">
                                        <p:cTn id="43" dur="500" fill="hold"/>
                                        <p:tgtEl>
                                          <p:spTgt spid="717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17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Train v. CPIRG (1976)</a:t>
            </a:r>
          </a:p>
        </p:txBody>
      </p:sp>
      <p:sp>
        <p:nvSpPr>
          <p:cNvPr id="3" name="Content Placeholder 2"/>
          <p:cNvSpPr>
            <a:spLocks noGrp="1"/>
          </p:cNvSpPr>
          <p:nvPr>
            <p:ph idx="1"/>
          </p:nvPr>
        </p:nvSpPr>
        <p:spPr/>
        <p:txBody>
          <a:bodyPr>
            <a:normAutofit fontScale="70000" lnSpcReduction="20000"/>
          </a:bodyPr>
          <a:lstStyle/>
          <a:p>
            <a:r>
              <a:rPr lang="en-US" dirty="0"/>
              <a:t>Federal Water Pollution Control Act authorizes "citizen suits" against the Administrator of EPA for failure to perform nondiscretionary duties under the FWPCA</a:t>
            </a:r>
          </a:p>
          <a:p>
            <a:r>
              <a:rPr lang="en-US" dirty="0"/>
              <a:t>Respondents are Colorado-based organizations and Colorado residents </a:t>
            </a:r>
          </a:p>
          <a:p>
            <a:r>
              <a:rPr lang="en-US" dirty="0"/>
              <a:t>Claim potential harm from the discharge of radioactive effluents from two nuclear plants operated under radioactive effluent standards imposed by the Atomic Energy Commission (now the Nuclear Regulatory Commission)  pursuant to the Atomic Energy Act</a:t>
            </a:r>
          </a:p>
          <a:p>
            <a:r>
              <a:rPr lang="en-US" dirty="0"/>
              <a:t>EPA won’t issue standards of its own to govern the discharge of any radioactive materials subject to regulation under the AEA</a:t>
            </a:r>
          </a:p>
          <a:p>
            <a:r>
              <a:rPr lang="en-US" dirty="0"/>
              <a:t>CPIRG argues that the definition of a "pollutant" under the FWPCA encompasses all radioactive materials, including those regulated under the terms of the AEA</a:t>
            </a:r>
          </a:p>
        </p:txBody>
      </p:sp>
      <p:sp>
        <p:nvSpPr>
          <p:cNvPr id="4" name="Footer Placeholder 3">
            <a:extLst>
              <a:ext uri="{FF2B5EF4-FFF2-40B4-BE49-F238E27FC236}">
                <a16:creationId xmlns:a16="http://schemas.microsoft.com/office/drawing/2014/main" id="{7C519A94-B50A-8BDB-ADCF-E95B861CA0A1}"/>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64983E8F-1098-3147-60CF-2077EE7D765F}"/>
              </a:ext>
            </a:extLst>
          </p:cNvPr>
          <p:cNvSpPr>
            <a:spLocks noGrp="1"/>
          </p:cNvSpPr>
          <p:nvPr>
            <p:ph type="sldNum" sz="quarter" idx="12"/>
          </p:nvPr>
        </p:nvSpPr>
        <p:spPr/>
        <p:txBody>
          <a:bodyPr/>
          <a:lstStyle/>
          <a:p>
            <a:fld id="{A51A480E-C97D-488C-89CE-DB65B1C35FB0}" type="slidenum">
              <a:rPr lang="en-US" smtClean="0"/>
              <a:t>29</a:t>
            </a:fld>
            <a:endParaRPr lang="en-US"/>
          </a:p>
        </p:txBody>
      </p:sp>
    </p:spTree>
    <p:extLst>
      <p:ext uri="{BB962C8B-B14F-4D97-AF65-F5344CB8AC3E}">
        <p14:creationId xmlns:p14="http://schemas.microsoft.com/office/powerpoint/2010/main" val="573624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786F7-E834-9D9B-1086-D59DAFD92BAF}"/>
              </a:ext>
            </a:extLst>
          </p:cNvPr>
          <p:cNvSpPr>
            <a:spLocks noGrp="1"/>
          </p:cNvSpPr>
          <p:nvPr>
            <p:ph type="title"/>
          </p:nvPr>
        </p:nvSpPr>
        <p:spPr/>
        <p:txBody>
          <a:bodyPr/>
          <a:lstStyle/>
          <a:p>
            <a:r>
              <a:rPr lang="en-US" dirty="0"/>
              <a:t>What AEA Covers</a:t>
            </a:r>
          </a:p>
        </p:txBody>
      </p:sp>
      <p:sp>
        <p:nvSpPr>
          <p:cNvPr id="3" name="Content Placeholder 2">
            <a:extLst>
              <a:ext uri="{FF2B5EF4-FFF2-40B4-BE49-F238E27FC236}">
                <a16:creationId xmlns:a16="http://schemas.microsoft.com/office/drawing/2014/main" id="{2EE62DF5-6531-33EA-E203-0AE106233FE4}"/>
              </a:ext>
            </a:extLst>
          </p:cNvPr>
          <p:cNvSpPr>
            <a:spLocks noGrp="1"/>
          </p:cNvSpPr>
          <p:nvPr>
            <p:ph idx="1"/>
          </p:nvPr>
        </p:nvSpPr>
        <p:spPr/>
        <p:txBody>
          <a:bodyPr>
            <a:normAutofit fontScale="62500" lnSpcReduction="20000"/>
          </a:bodyPr>
          <a:lstStyle/>
          <a:p>
            <a:r>
              <a:rPr lang="en-US" dirty="0"/>
              <a:t>“The term ‘</a:t>
            </a:r>
            <a:r>
              <a:rPr lang="en-US" b="1" dirty="0"/>
              <a:t>source material</a:t>
            </a:r>
            <a:r>
              <a:rPr lang="en-US" dirty="0"/>
              <a:t>’ means (1) uranium, thorium, or any other material which is determined by the Commission pursuant to the provisions of section 2091 of this title to be source material; or (2) ores containing one or more of the foregoing materials, in such concentration as the Commission may by regulation determine from time to time.” 42 U.S.C. s 2014(z).</a:t>
            </a:r>
          </a:p>
          <a:p>
            <a:r>
              <a:rPr lang="en-US" dirty="0"/>
              <a:t>“The term ‘</a:t>
            </a:r>
            <a:r>
              <a:rPr lang="en-US" b="1" dirty="0"/>
              <a:t>special nuclear material</a:t>
            </a:r>
            <a:r>
              <a:rPr lang="en-US" dirty="0"/>
              <a:t>’ means (1) plutonium, uranium enriched in the isotope 233 or in the isotope 235, and any other material which the Commission, pursuant to the provisions of section 2071 of this title, determines to be special nuclear material, but does not include source material; or (2) any material artificially enriched by any of the foregoing, but does not include source material.” 42 U.S.C. s 2014(aa).</a:t>
            </a:r>
          </a:p>
          <a:p>
            <a:r>
              <a:rPr lang="en-US" dirty="0"/>
              <a:t>“The term ‘</a:t>
            </a:r>
            <a:r>
              <a:rPr lang="en-US" b="1" dirty="0"/>
              <a:t>byproduct material</a:t>
            </a:r>
            <a:r>
              <a:rPr lang="en-US" dirty="0"/>
              <a:t>’ means any radioactive material (except special nuclear material) yielded in or made radioactive by exposure to the radiation incident to the process of producing or utilizing special nuclear material.” 42 U.S.C. s 2014(e).</a:t>
            </a:r>
          </a:p>
        </p:txBody>
      </p:sp>
      <p:sp>
        <p:nvSpPr>
          <p:cNvPr id="4" name="Footer Placeholder 3">
            <a:extLst>
              <a:ext uri="{FF2B5EF4-FFF2-40B4-BE49-F238E27FC236}">
                <a16:creationId xmlns:a16="http://schemas.microsoft.com/office/drawing/2014/main" id="{F57AF00A-BDAE-9CF7-8263-92C715EC6F2D}"/>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F3736DDC-9E79-695E-E3C7-42B7FB96CC38}"/>
              </a:ext>
            </a:extLst>
          </p:cNvPr>
          <p:cNvSpPr>
            <a:spLocks noGrp="1"/>
          </p:cNvSpPr>
          <p:nvPr>
            <p:ph type="sldNum" sz="quarter" idx="12"/>
          </p:nvPr>
        </p:nvSpPr>
        <p:spPr/>
        <p:txBody>
          <a:bodyPr/>
          <a:lstStyle/>
          <a:p>
            <a:fld id="{A51A480E-C97D-488C-89CE-DB65B1C35FB0}" type="slidenum">
              <a:rPr lang="en-US" smtClean="0"/>
              <a:t>30</a:t>
            </a:fld>
            <a:endParaRPr lang="en-US"/>
          </a:p>
        </p:txBody>
      </p:sp>
    </p:spTree>
    <p:extLst>
      <p:ext uri="{BB962C8B-B14F-4D97-AF65-F5344CB8AC3E}">
        <p14:creationId xmlns:p14="http://schemas.microsoft.com/office/powerpoint/2010/main" val="539745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FWCPA Text</a:t>
            </a:r>
          </a:p>
        </p:txBody>
      </p:sp>
      <p:sp>
        <p:nvSpPr>
          <p:cNvPr id="3" name="Content Placeholder 2"/>
          <p:cNvSpPr>
            <a:spLocks noGrp="1"/>
          </p:cNvSpPr>
          <p:nvPr>
            <p:ph idx="1"/>
          </p:nvPr>
        </p:nvSpPr>
        <p:spPr/>
        <p:txBody>
          <a:bodyPr/>
          <a:lstStyle/>
          <a:p>
            <a:r>
              <a:rPr lang="en-US" dirty="0"/>
              <a:t>13 U.S.C. § 1362(6): The term “pollutant” means dredged spoil, solid waste, incinerator residue, sewage, garbage, sewage sludge, munitions, chemical wastes, biological materials, </a:t>
            </a:r>
            <a:r>
              <a:rPr lang="en-US" b="1" dirty="0"/>
              <a:t>radioactive materials</a:t>
            </a:r>
            <a:r>
              <a:rPr lang="en-US" dirty="0"/>
              <a:t>, heat, wrecked or discarded equipment, rock, sand, cellar dirt and industrial, municipal, and agricultural waste discharged into water</a:t>
            </a:r>
          </a:p>
        </p:txBody>
      </p:sp>
      <p:sp>
        <p:nvSpPr>
          <p:cNvPr id="4" name="Footer Placeholder 3">
            <a:extLst>
              <a:ext uri="{FF2B5EF4-FFF2-40B4-BE49-F238E27FC236}">
                <a16:creationId xmlns:a16="http://schemas.microsoft.com/office/drawing/2014/main" id="{3FD2EB82-CC5B-7E15-6C66-BBEA5A9595A3}"/>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1EE22E06-4AE9-2BD8-DEF9-2ED779CAC3D8}"/>
              </a:ext>
            </a:extLst>
          </p:cNvPr>
          <p:cNvSpPr>
            <a:spLocks noGrp="1"/>
          </p:cNvSpPr>
          <p:nvPr>
            <p:ph type="sldNum" sz="quarter" idx="12"/>
          </p:nvPr>
        </p:nvSpPr>
        <p:spPr/>
        <p:txBody>
          <a:bodyPr/>
          <a:lstStyle/>
          <a:p>
            <a:fld id="{A51A480E-C97D-488C-89CE-DB65B1C35FB0}" type="slidenum">
              <a:rPr lang="en-US" smtClean="0"/>
              <a:t>31</a:t>
            </a:fld>
            <a:endParaRPr lang="en-US"/>
          </a:p>
        </p:txBody>
      </p:sp>
    </p:spTree>
    <p:extLst>
      <p:ext uri="{BB962C8B-B14F-4D97-AF65-F5344CB8AC3E}">
        <p14:creationId xmlns:p14="http://schemas.microsoft.com/office/powerpoint/2010/main" val="18356051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difference does it make who regulates??</a:t>
            </a:r>
          </a:p>
        </p:txBody>
      </p:sp>
      <p:sp>
        <p:nvSpPr>
          <p:cNvPr id="3" name="Content Placeholder 2"/>
          <p:cNvSpPr>
            <a:spLocks noGrp="1"/>
          </p:cNvSpPr>
          <p:nvPr>
            <p:ph idx="1"/>
          </p:nvPr>
        </p:nvSpPr>
        <p:spPr/>
        <p:txBody>
          <a:bodyPr>
            <a:normAutofit fontScale="92500" lnSpcReduction="10000"/>
          </a:bodyPr>
          <a:lstStyle/>
          <a:p>
            <a:r>
              <a:rPr lang="en-US" dirty="0"/>
              <a:t>AEC:  Requires licensees to “make every reasonable effort to maintain . . .releases of radioactive materials in effluents . . . as low as is reasonably achievable” 10 C.F.R. § 50.34(a)</a:t>
            </a:r>
          </a:p>
          <a:p>
            <a:r>
              <a:rPr lang="en-US" dirty="0"/>
              <a:t>Under FWPCA, effluent discharge requires a permit and permits require polluters to use the “best practicable control technology currently available” by 7/1/77 and “best available control technology economically achievable” by 7/1/83 33 U.S.C. § 1311(b).</a:t>
            </a:r>
          </a:p>
        </p:txBody>
      </p:sp>
      <p:sp>
        <p:nvSpPr>
          <p:cNvPr id="4" name="Footer Placeholder 3">
            <a:extLst>
              <a:ext uri="{FF2B5EF4-FFF2-40B4-BE49-F238E27FC236}">
                <a16:creationId xmlns:a16="http://schemas.microsoft.com/office/drawing/2014/main" id="{0355B622-9CA4-324A-6987-8E4FD7EB67B4}"/>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11B91B63-92F9-4A3C-7AEF-C9FF27DD752C}"/>
              </a:ext>
            </a:extLst>
          </p:cNvPr>
          <p:cNvSpPr>
            <a:spLocks noGrp="1"/>
          </p:cNvSpPr>
          <p:nvPr>
            <p:ph type="sldNum" sz="quarter" idx="12"/>
          </p:nvPr>
        </p:nvSpPr>
        <p:spPr/>
        <p:txBody>
          <a:bodyPr/>
          <a:lstStyle/>
          <a:p>
            <a:fld id="{A51A480E-C97D-488C-89CE-DB65B1C35FB0}" type="slidenum">
              <a:rPr lang="en-US" smtClean="0"/>
              <a:t>32</a:t>
            </a:fld>
            <a:endParaRPr lang="en-US"/>
          </a:p>
        </p:txBody>
      </p:sp>
    </p:spTree>
    <p:extLst>
      <p:ext uri="{BB962C8B-B14F-4D97-AF65-F5344CB8AC3E}">
        <p14:creationId xmlns:p14="http://schemas.microsoft.com/office/powerpoint/2010/main" val="1837417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Evidence Used from Legislative History</a:t>
            </a:r>
          </a:p>
        </p:txBody>
      </p:sp>
      <p:sp>
        <p:nvSpPr>
          <p:cNvPr id="3" name="Content Placeholder 2"/>
          <p:cNvSpPr>
            <a:spLocks noGrp="1"/>
          </p:cNvSpPr>
          <p:nvPr>
            <p:ph idx="1"/>
          </p:nvPr>
        </p:nvSpPr>
        <p:spPr/>
        <p:txBody>
          <a:bodyPr>
            <a:normAutofit fontScale="85000" lnSpcReduction="20000"/>
          </a:bodyPr>
          <a:lstStyle/>
          <a:p>
            <a:r>
              <a:rPr lang="en-US" dirty="0"/>
              <a:t>House Committee Report gives limited reading to the definition of pollutant even though nothing in the text modifies “radioactive materials”</a:t>
            </a:r>
          </a:p>
          <a:p>
            <a:r>
              <a:rPr lang="en-US" dirty="0"/>
              <a:t>Senate floor discussion between primary sponsor of FWPCA and Chairman of Joint Committee on Atomic Energy</a:t>
            </a:r>
          </a:p>
          <a:p>
            <a:r>
              <a:rPr lang="en-US" dirty="0"/>
              <a:t>House defeated amendment that would have allowed states to regulate radioactive discharges</a:t>
            </a:r>
          </a:p>
          <a:p>
            <a:r>
              <a:rPr lang="en-US" dirty="0"/>
              <a:t>Conference Committee report doesn’t challenge limited reading</a:t>
            </a:r>
          </a:p>
          <a:p>
            <a:r>
              <a:rPr lang="en-US" dirty="0"/>
              <a:t>Floor statement by member of the Conference Committee echoes </a:t>
            </a:r>
            <a:r>
              <a:rPr lang="en-US" dirty="0" err="1"/>
              <a:t>Pastore</a:t>
            </a:r>
            <a:r>
              <a:rPr lang="en-US" dirty="0"/>
              <a:t>-Muskie colloquy</a:t>
            </a:r>
          </a:p>
        </p:txBody>
      </p:sp>
      <p:sp>
        <p:nvSpPr>
          <p:cNvPr id="4" name="Footer Placeholder 3">
            <a:extLst>
              <a:ext uri="{FF2B5EF4-FFF2-40B4-BE49-F238E27FC236}">
                <a16:creationId xmlns:a16="http://schemas.microsoft.com/office/drawing/2014/main" id="{562DE635-0E79-C2F6-1777-F9C4E5E34EE9}"/>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194005F0-62AD-DCE5-31F5-2041D3672E36}"/>
              </a:ext>
            </a:extLst>
          </p:cNvPr>
          <p:cNvSpPr>
            <a:spLocks noGrp="1"/>
          </p:cNvSpPr>
          <p:nvPr>
            <p:ph type="sldNum" sz="quarter" idx="12"/>
          </p:nvPr>
        </p:nvSpPr>
        <p:spPr/>
        <p:txBody>
          <a:bodyPr/>
          <a:lstStyle/>
          <a:p>
            <a:fld id="{A51A480E-C97D-488C-89CE-DB65B1C35FB0}" type="slidenum">
              <a:rPr lang="en-US" smtClean="0"/>
              <a:t>33</a:t>
            </a:fld>
            <a:endParaRPr lang="en-US"/>
          </a:p>
        </p:txBody>
      </p:sp>
    </p:spTree>
    <p:extLst>
      <p:ext uri="{BB962C8B-B14F-4D97-AF65-F5344CB8AC3E}">
        <p14:creationId xmlns:p14="http://schemas.microsoft.com/office/powerpoint/2010/main" val="2193749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Any Other Evidence (Context)?</a:t>
            </a:r>
          </a:p>
        </p:txBody>
      </p:sp>
      <p:sp>
        <p:nvSpPr>
          <p:cNvPr id="3" name="Content Placeholder 2"/>
          <p:cNvSpPr>
            <a:spLocks noGrp="1"/>
          </p:cNvSpPr>
          <p:nvPr>
            <p:ph idx="1"/>
          </p:nvPr>
        </p:nvSpPr>
        <p:spPr/>
        <p:txBody>
          <a:bodyPr/>
          <a:lstStyle/>
          <a:p>
            <a:r>
              <a:rPr lang="en-US" dirty="0"/>
              <a:t>Structure of regulatory programs very different because FWCPA envisions state involvement</a:t>
            </a:r>
          </a:p>
          <a:p>
            <a:r>
              <a:rPr lang="en-US" dirty="0"/>
              <a:t>Difference between regulating nuclear power industry as such and regulating radioactive materials from other economic activities</a:t>
            </a:r>
          </a:p>
        </p:txBody>
      </p:sp>
      <p:sp>
        <p:nvSpPr>
          <p:cNvPr id="4" name="Footer Placeholder 3">
            <a:extLst>
              <a:ext uri="{FF2B5EF4-FFF2-40B4-BE49-F238E27FC236}">
                <a16:creationId xmlns:a16="http://schemas.microsoft.com/office/drawing/2014/main" id="{41B6FCFB-79E1-0B79-585B-05AE34E7551A}"/>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033A1F0E-D20A-7868-49F6-9AEE2F023909}"/>
              </a:ext>
            </a:extLst>
          </p:cNvPr>
          <p:cNvSpPr>
            <a:spLocks noGrp="1"/>
          </p:cNvSpPr>
          <p:nvPr>
            <p:ph type="sldNum" sz="quarter" idx="12"/>
          </p:nvPr>
        </p:nvSpPr>
        <p:spPr/>
        <p:txBody>
          <a:bodyPr/>
          <a:lstStyle/>
          <a:p>
            <a:fld id="{A51A480E-C97D-488C-89CE-DB65B1C35FB0}" type="slidenum">
              <a:rPr lang="en-US" smtClean="0"/>
              <a:t>34</a:t>
            </a:fld>
            <a:endParaRPr lang="en-US"/>
          </a:p>
        </p:txBody>
      </p:sp>
    </p:spTree>
    <p:extLst>
      <p:ext uri="{BB962C8B-B14F-4D97-AF65-F5344CB8AC3E}">
        <p14:creationId xmlns:p14="http://schemas.microsoft.com/office/powerpoint/2010/main" val="195301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1884</TotalTime>
  <Words>3354</Words>
  <Application>Microsoft Office PowerPoint</Application>
  <PresentationFormat>On-screen Show (4:3)</PresentationFormat>
  <Paragraphs>234</Paragraphs>
  <Slides>34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Aptos</vt:lpstr>
      <vt:lpstr>Arial</vt:lpstr>
      <vt:lpstr>Calibri</vt:lpstr>
      <vt:lpstr>Office Theme</vt:lpstr>
      <vt:lpstr>Recap of Class 3</vt:lpstr>
      <vt:lpstr>Contrasting Premises</vt:lpstr>
      <vt:lpstr>Katzmann on Legislative History</vt:lpstr>
      <vt:lpstr>Two Gun Regulation Cases</vt:lpstr>
      <vt:lpstr>Garland v. Cargill (2024)  What is the issue?</vt:lpstr>
      <vt:lpstr>Lower Court Proceedings</vt:lpstr>
      <vt:lpstr>26 U.S.C. § 5845</vt:lpstr>
      <vt:lpstr>The Role of the Agency</vt:lpstr>
      <vt:lpstr>ATF’s Interpretation</vt:lpstr>
      <vt:lpstr>Why majority overturns?</vt:lpstr>
      <vt:lpstr>Reasons for Dissenting</vt:lpstr>
      <vt:lpstr>Reasons for Dissenting - 2</vt:lpstr>
      <vt:lpstr>Presumption Against Ineffectiveness</vt:lpstr>
      <vt:lpstr>Note: No Deference to ATF</vt:lpstr>
      <vt:lpstr>Bondi v. Vanderstok (2025) 28 U.S.C. § 921(a)</vt:lpstr>
      <vt:lpstr>What’s are the Issues?</vt:lpstr>
      <vt:lpstr>Agency Rule Elaborates on the Statutory Definition</vt:lpstr>
      <vt:lpstr>Why did ATF decide to cover kits?</vt:lpstr>
      <vt:lpstr>Why majority upholds?</vt:lpstr>
      <vt:lpstr>Why majority upholds? - 2</vt:lpstr>
      <vt:lpstr>Gun Control Act v.  National Firearms Act</vt:lpstr>
      <vt:lpstr>Role of Statutory Canons</vt:lpstr>
      <vt:lpstr>Dissenting Argument - Thomas</vt:lpstr>
      <vt:lpstr>Some Persistent Puzzles</vt:lpstr>
      <vt:lpstr>Trends in Use of Legislative History</vt:lpstr>
      <vt:lpstr>History of Legislative History</vt:lpstr>
      <vt:lpstr>Priority of Legislative History Sources</vt:lpstr>
      <vt:lpstr>Legislative History</vt:lpstr>
      <vt:lpstr>Train v. CPIRG (1976)</vt:lpstr>
      <vt:lpstr>What AEA Covers</vt:lpstr>
      <vt:lpstr>The FWCPA Text</vt:lpstr>
      <vt:lpstr>What difference does it make who regulates??</vt:lpstr>
      <vt:lpstr>Evidence Used from Legislative History</vt:lpstr>
      <vt:lpstr>Any Other Evidence (Context)?</vt:lpstr>
    </vt:vector>
  </TitlesOfParts>
  <Company>OSU Moritz College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Trends in Use of Legislative History</dc:title>
  <dc:creator>Peter Shane</dc:creator>
  <cp:lastModifiedBy>Shane, Peter</cp:lastModifiedBy>
  <cp:revision>26</cp:revision>
  <cp:lastPrinted>2025-09-08T14:38:47Z</cp:lastPrinted>
  <dcterms:created xsi:type="dcterms:W3CDTF">2017-01-09T16:50:51Z</dcterms:created>
  <dcterms:modified xsi:type="dcterms:W3CDTF">2026-09-09T19:34:06Z</dcterms:modified>
</cp:coreProperties>
</file>